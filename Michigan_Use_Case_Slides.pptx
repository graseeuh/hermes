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2"/>
  </p:notesMasterIdLst>
  <p:sldIdLst>
    <p:sldId id="285" r:id="rId3"/>
    <p:sldId id="279" r:id="rId4"/>
    <p:sldId id="281" r:id="rId5"/>
    <p:sldId id="282" r:id="rId6"/>
    <p:sldId id="283" r:id="rId7"/>
    <p:sldId id="284" r:id="rId8"/>
    <p:sldId id="291" r:id="rId9"/>
    <p:sldId id="287" r:id="rId10"/>
    <p:sldId id="261" r:id="rId11"/>
    <p:sldId id="275" r:id="rId12"/>
    <p:sldId id="288" r:id="rId13"/>
    <p:sldId id="290" r:id="rId14"/>
    <p:sldId id="264" r:id="rId15"/>
    <p:sldId id="289" r:id="rId16"/>
    <p:sldId id="276" r:id="rId17"/>
    <p:sldId id="277" r:id="rId18"/>
    <p:sldId id="274" r:id="rId19"/>
    <p:sldId id="267" r:id="rId20"/>
    <p:sldId id="273" r:id="rId21"/>
    <p:sldId id="292" r:id="rId32"/>
    <p:sldId id="293" r:id="rId33"/>
    <p:sldId id="29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uidelines" id="{DDD48C01-B026-4B6D-A914-D20A32117825}">
          <p14:sldIdLst>
            <p14:sldId id="285"/>
            <p14:sldId id="279"/>
            <p14:sldId id="281"/>
            <p14:sldId id="282"/>
            <p14:sldId id="283"/>
            <p14:sldId id="284"/>
            <p14:sldId id="291"/>
            <p14:sldId id="287"/>
          </p14:sldIdLst>
        </p14:section>
        <p14:section name="Presentation" id="{D096BDF2-302C-458D-8E99-977910712164}">
          <p14:sldIdLst>
            <p14:sldId id="261"/>
            <p14:sldId id="275"/>
            <p14:sldId id="288"/>
            <p14:sldId id="290"/>
            <p14:sldId id="264"/>
            <p14:sldId id="289"/>
            <p14:sldId id="276"/>
            <p14:sldId id="277"/>
            <p14:sldId id="274"/>
            <p14:sldId id="267"/>
            <p14:sldId id="27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45" autoAdjust="0"/>
    <p:restoredTop sz="96056" autoAdjust="0"/>
  </p:normalViewPr>
  <p:slideViewPr>
    <p:cSldViewPr snapToGrid="0">
      <p:cViewPr varScale="1">
        <p:scale>
          <a:sx n="99" d="100"/>
          <a:sy n="99" d="100"/>
        </p:scale>
        <p:origin x="90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8/10/relationships/authors" Target="authors.xml"/><Relationship Id="rId28" Type="http://schemas.openxmlformats.org/officeDocument/2006/relationships/customXml" Target="../customXml/item1.xml"/><Relationship Id="rId29" Type="http://schemas.openxmlformats.org/officeDocument/2006/relationships/customXml" Target="../customXml/item2.xml"/><Relationship Id="rId30" Type="http://schemas.openxmlformats.org/officeDocument/2006/relationships/customXml" Target="../customXml/item3.xml"/><Relationship Id="rId31" Type="http://schemas.openxmlformats.org/officeDocument/2006/relationships/customXml" Target="../customXml/item4.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dirty="0"/>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4/29/2026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dirty="0"/>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4/29/2026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dirty="0"/>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4/29/2026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endParaRPr lang="en-US" dirty="0"/>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dirty="0"/>
              <a:t>Confidential. Not to be copied, distributed, or reproduced without prior approval. </a:t>
            </a:r>
            <a:br>
              <a:rPr lang="en-US" dirty="0"/>
            </a:br>
            <a:r>
              <a:rPr lang="en-US" dirty="0"/>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endParaRPr lang="en-US"/>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4/29/2026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dirty="0"/>
              <a:t>Confidential. Not to be copied, distributed, or reproduced without prior approval. </a:t>
            </a:r>
            <a:br>
              <a:rPr lang="en-US" dirty="0"/>
            </a:br>
            <a:r>
              <a:rPr lang="en-US" dirty="0"/>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dirty="0"/>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4/29/2026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endParaRPr lang="en-US" dirty="0"/>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dirty="0"/>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endParaRPr lang="en-US" dirty="0"/>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dirty="0"/>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dirty="0"/>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4/29/2026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dirty="0"/>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dirty="0"/>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dirty="0"/>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endParaRPr lang="en-US" dirty="0"/>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dirty="0"/>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4/29/2026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4/29/2026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dirty="0" err="1"/>
              <a:t>SubTitle</a:t>
            </a:r>
            <a:endParaRPr lang="en-US" dirty="0"/>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dirty="0"/>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dirty="0"/>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4/29/2026</a:t>
            </a:fld>
            <a:endParaRPr lang="en-US" dirty="0"/>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dirty="0"/>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dirty="0"/>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4/29/2026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dirty="0"/>
              <a:t>Click to edit </a:t>
            </a:r>
            <a:br>
              <a:rPr lang="en-US" dirty="0"/>
            </a:br>
            <a:r>
              <a:rPr lang="en-US" dirty="0"/>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dirty="0"/>
              <a:t>Click to edit Master text styles or click icon to add graphic or table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4/29/2026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endParaRPr lang="en-US" dirty="0"/>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dirty="0"/>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7">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dirty="0"/>
              <a:t>Click to edit </a:t>
            </a:r>
            <a:br>
              <a:rPr lang="en-US" dirty="0"/>
            </a:br>
            <a:r>
              <a:rPr lang="en-US" dirty="0"/>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4/29/2026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endParaRPr lang="en-US" dirty="0"/>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dirty="0"/>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dirty="0"/>
              <a:t>APTIM PowerPoint </a:t>
            </a:r>
            <a:br>
              <a:rPr lang="en-US" dirty="0"/>
            </a:br>
            <a:r>
              <a:rPr lang="en-US" dirty="0"/>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300561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dirty="0"/>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About</a:t>
            </a:r>
          </a:p>
          <a:p>
            <a:r>
              <a:rPr lang="en-US" dirty="0"/>
              <a:t>Please use this template only to create your APTIM PowerPoint presentations. Do not share this template externally.</a:t>
            </a:r>
          </a:p>
          <a:p>
            <a:r>
              <a:rPr lang="en-US" dirty="0"/>
              <a:t>The most updated presentation template can be found on </a:t>
            </a:r>
            <a:r>
              <a:rPr lang="en-US" dirty="0">
                <a:hlinkClick r:id="rId2"/>
              </a:rPr>
              <a:t>Marketing &amp; Communication’s </a:t>
            </a:r>
            <a:r>
              <a:rPr lang="en-US" dirty="0" err="1">
                <a:hlinkClick r:id="rId2"/>
              </a:rPr>
              <a:t>APTNet</a:t>
            </a:r>
            <a:r>
              <a:rPr lang="en-US" dirty="0">
                <a:hlinkClick r:id="rId2"/>
              </a:rPr>
              <a:t> site</a:t>
            </a:r>
            <a:r>
              <a:rPr lang="en-US" dirty="0"/>
              <a:t>.</a:t>
            </a:r>
          </a:p>
          <a:p>
            <a:endParaRPr lang="en-US" dirty="0"/>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Formatting</a:t>
            </a:r>
          </a:p>
          <a:p>
            <a:pPr marL="0" indent="0">
              <a:buNone/>
            </a:pPr>
            <a:r>
              <a:rPr lang="en-US" dirty="0"/>
              <a:t>The presentation has pre-built templates. Use one of these template slides when creating a new slide. (See instructions on following slides.) They have been pre-built for the APTIM brand with fonts, colors, and graphics.</a:t>
            </a:r>
          </a:p>
          <a:p>
            <a:r>
              <a:rPr lang="en-US" b="1" dirty="0">
                <a:solidFill>
                  <a:schemeClr val="accent1"/>
                </a:solidFill>
              </a:rPr>
              <a:t>Font should be Arial</a:t>
            </a:r>
            <a:r>
              <a:rPr lang="en-US" dirty="0"/>
              <a:t>.</a:t>
            </a:r>
          </a:p>
          <a:p>
            <a:r>
              <a:rPr lang="en-US" dirty="0"/>
              <a:t>Colors should follow the built-in APTIM color scheme. This palette can be found under View&gt;Slide Master&gt;Colors. Select “</a:t>
            </a:r>
            <a:r>
              <a:rPr lang="en-US" b="1" dirty="0">
                <a:solidFill>
                  <a:schemeClr val="accent1"/>
                </a:solidFill>
              </a:rPr>
              <a:t>2025_APTIM_Colors</a:t>
            </a:r>
            <a:r>
              <a:rPr lang="en-US" dirty="0"/>
              <a:t>” to set your default palette under the Home tab.</a:t>
            </a:r>
          </a:p>
          <a:p>
            <a:endParaRPr lang="en-US" dirty="0"/>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2</a:t>
            </a:fld>
            <a:endParaRPr lang="en-US"/>
          </a:p>
        </p:txBody>
      </p:sp>
    </p:spTree>
    <p:extLst>
      <p:ext uri="{BB962C8B-B14F-4D97-AF65-F5344CB8AC3E}">
        <p14:creationId xmlns:p14="http://schemas.microsoft.com/office/powerpoint/2010/main" val="2893604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dirty="0"/>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How to Use</a:t>
            </a:r>
          </a:p>
          <a:p>
            <a:r>
              <a:rPr lang="en-US" b="1" dirty="0">
                <a:solidFill>
                  <a:schemeClr val="accent1"/>
                </a:solidFill>
              </a:rPr>
              <a:t>Save a copy of this PowerPoint template</a:t>
            </a:r>
            <a:r>
              <a:rPr lang="en-US" dirty="0"/>
              <a:t> to your files to begin.</a:t>
            </a:r>
          </a:p>
          <a:p>
            <a:r>
              <a:rPr lang="en-US" dirty="0"/>
              <a:t>Do not modify the Slide Master.</a:t>
            </a:r>
          </a:p>
          <a:p>
            <a:r>
              <a:rPr lang="en-US" dirty="0"/>
              <a:t>Use the instructions on the following slides to build your presentation.</a:t>
            </a:r>
          </a:p>
          <a:p>
            <a:r>
              <a:rPr lang="en-US" dirty="0"/>
              <a:t>Remember to </a:t>
            </a:r>
            <a:r>
              <a:rPr lang="en-US" b="1" dirty="0">
                <a:solidFill>
                  <a:schemeClr val="accent1"/>
                </a:solidFill>
              </a:rPr>
              <a:t>delete this slide and any other unused slides</a:t>
            </a:r>
            <a:r>
              <a:rPr lang="en-US" dirty="0"/>
              <a:t> provided in this template upon submission or use.</a:t>
            </a:r>
          </a:p>
          <a:p>
            <a:r>
              <a:rPr lang="en-US" dirty="0"/>
              <a:t>Always </a:t>
            </a:r>
            <a:r>
              <a:rPr lang="en-US" b="1" dirty="0">
                <a:solidFill>
                  <a:schemeClr val="accent1"/>
                </a:solidFill>
              </a:rPr>
              <a:t>use spellcheck</a:t>
            </a:r>
            <a:r>
              <a:rPr lang="en-US" dirty="0"/>
              <a:t>.</a:t>
            </a:r>
          </a:p>
          <a:p>
            <a:endParaRPr lang="en-US" dirty="0"/>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Contact the Marketing &amp; </a:t>
            </a:r>
            <a:br>
              <a:rPr lang="en-US" b="1" dirty="0">
                <a:solidFill>
                  <a:schemeClr val="accent3"/>
                </a:solidFill>
              </a:rPr>
            </a:br>
            <a:r>
              <a:rPr lang="en-US" b="1" dirty="0">
                <a:solidFill>
                  <a:schemeClr val="accent3"/>
                </a:solidFill>
              </a:rPr>
              <a:t>Communications Team</a:t>
            </a:r>
          </a:p>
          <a:p>
            <a:r>
              <a:rPr lang="en-US" dirty="0"/>
              <a:t>If you would like your final draft presentation to be reviewed for style, grammar, and/or design, please submit a </a:t>
            </a:r>
            <a:r>
              <a:rPr lang="en-US" dirty="0">
                <a:hlinkClick r:id="rId2"/>
              </a:rPr>
              <a:t>Marketing &amp; Communications request</a:t>
            </a:r>
            <a:r>
              <a:rPr lang="en-US" dirty="0"/>
              <a:t>.</a:t>
            </a:r>
          </a:p>
          <a:p>
            <a:r>
              <a:rPr lang="en-US" dirty="0"/>
              <a:t>If there is a new slide that you would like to have created, please </a:t>
            </a:r>
            <a:r>
              <a:rPr lang="en-US" dirty="0">
                <a:hlinkClick r:id="rId2"/>
              </a:rPr>
              <a:t>submit a request</a:t>
            </a:r>
            <a:r>
              <a:rPr lang="en-US" dirty="0"/>
              <a:t>. Note that it will have to be approved to become part of the overall template.</a:t>
            </a:r>
          </a:p>
          <a:p>
            <a:pPr marL="0" indent="0">
              <a:buNone/>
            </a:pPr>
            <a:endParaRPr lang="en-US" dirty="0"/>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a:t>
            </a:fld>
            <a:endParaRPr lang="en-US"/>
          </a:p>
        </p:txBody>
      </p:sp>
    </p:spTree>
    <p:extLst>
      <p:ext uri="{BB962C8B-B14F-4D97-AF65-F5344CB8AC3E}">
        <p14:creationId xmlns:p14="http://schemas.microsoft.com/office/powerpoint/2010/main" val="20555952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dirty="0"/>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Zoom View</a:t>
            </a:r>
          </a:p>
          <a:p>
            <a:pPr marL="0" indent="0">
              <a:buNone/>
            </a:pPr>
            <a:r>
              <a:rPr lang="en-US" b="1" dirty="0">
                <a:solidFill>
                  <a:schemeClr val="accent1"/>
                </a:solidFill>
              </a:rPr>
              <a:t>Press and hold Ctrl key while turning the mouse</a:t>
            </a:r>
            <a:r>
              <a:rPr lang="en-US" b="1" dirty="0"/>
              <a:t> wheel </a:t>
            </a:r>
            <a:r>
              <a:rPr lang="en-US" dirty="0"/>
              <a:t>to zoom in or out.</a:t>
            </a:r>
          </a:p>
          <a:p>
            <a:pPr marL="0" indent="0">
              <a:buNone/>
            </a:pPr>
            <a:r>
              <a:rPr lang="en-US" b="1" dirty="0">
                <a:solidFill>
                  <a:schemeClr val="accent3"/>
                </a:solidFill>
              </a:rPr>
              <a:t>Insert Slides</a:t>
            </a:r>
          </a:p>
          <a:p>
            <a:pPr marL="0" indent="0">
              <a:buNone/>
            </a:pPr>
            <a:r>
              <a:rPr lang="en-US" dirty="0"/>
              <a:t>Under the Home tab, </a:t>
            </a:r>
            <a:r>
              <a:rPr lang="en-US" b="1" dirty="0">
                <a:solidFill>
                  <a:schemeClr val="accent1"/>
                </a:solidFill>
              </a:rPr>
              <a:t>click the arrow next to New Slide</a:t>
            </a:r>
            <a:r>
              <a:rPr lang="en-US" dirty="0"/>
              <a:t>. Then, choose from any of the APTIM THEME-branded slide templates.</a:t>
            </a:r>
          </a:p>
          <a:p>
            <a:pPr marL="0" indent="0">
              <a:buNone/>
            </a:pPr>
            <a:r>
              <a:rPr lang="en-US" b="1" dirty="0">
                <a:solidFill>
                  <a:schemeClr val="accent3"/>
                </a:solidFill>
              </a:rPr>
              <a:t>Add Text</a:t>
            </a:r>
          </a:p>
          <a:p>
            <a:pPr marL="0" indent="0">
              <a:buNone/>
            </a:pPr>
            <a:r>
              <a:rPr lang="en-US" dirty="0"/>
              <a:t>To use the default text styles in the template when pasting text from another source, </a:t>
            </a:r>
            <a:r>
              <a:rPr lang="en-US" b="1" dirty="0">
                <a:solidFill>
                  <a:schemeClr val="accent1"/>
                </a:solidFill>
              </a:rPr>
              <a:t>right-click to show the Paste Options</a:t>
            </a:r>
            <a:r>
              <a:rPr lang="en-US" dirty="0"/>
              <a:t> and </a:t>
            </a:r>
            <a:r>
              <a:rPr lang="en-US" b="1" dirty="0">
                <a:solidFill>
                  <a:schemeClr val="accent1"/>
                </a:solidFill>
              </a:rPr>
              <a:t>select Keep Text Only. </a:t>
            </a:r>
          </a:p>
          <a:p>
            <a:endParaRPr lang="en-US" dirty="0"/>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Clear Formatting</a:t>
            </a:r>
          </a:p>
          <a:p>
            <a:pPr marL="0" indent="0">
              <a:buNone/>
            </a:pPr>
            <a:r>
              <a:rPr lang="en-US" dirty="0"/>
              <a:t>To remove all formatting from selected text, press </a:t>
            </a:r>
            <a:r>
              <a:rPr lang="en-US" b="1" dirty="0">
                <a:solidFill>
                  <a:schemeClr val="accent1"/>
                </a:solidFill>
              </a:rPr>
              <a:t>Control (Ctrl)+Space Bar.</a:t>
            </a:r>
          </a:p>
          <a:p>
            <a:pPr marL="0" indent="0">
              <a:buNone/>
            </a:pPr>
            <a:r>
              <a:rPr lang="en-US" b="1" dirty="0">
                <a:solidFill>
                  <a:schemeClr val="accent3"/>
                </a:solidFill>
              </a:rPr>
              <a:t>Font Size</a:t>
            </a:r>
          </a:p>
          <a:p>
            <a:pPr marL="0" indent="0">
              <a:buNone/>
            </a:pPr>
            <a:r>
              <a:rPr lang="en-US" dirty="0"/>
              <a:t>Standard font size is 18pt for body text. The font sizes for bullets are 18, 16, 14, and 12pt in descending order of indentation.</a:t>
            </a:r>
          </a:p>
          <a:p>
            <a:pPr marL="0" indent="0">
              <a:buNone/>
            </a:pPr>
            <a:r>
              <a:rPr lang="en-US" b="1" dirty="0">
                <a:solidFill>
                  <a:schemeClr val="accent1"/>
                </a:solidFill>
              </a:rPr>
              <a:t>Please adhere to these sizes and do not increase or decrease</a:t>
            </a:r>
            <a:r>
              <a:rPr lang="en-US" dirty="0"/>
              <a:t> </a:t>
            </a:r>
            <a:r>
              <a:rPr lang="en-US" b="1" dirty="0">
                <a:solidFill>
                  <a:schemeClr val="accent1"/>
                </a:solidFill>
              </a:rPr>
              <a:t>the font sizes.</a:t>
            </a:r>
          </a:p>
          <a:p>
            <a:r>
              <a:rPr lang="en-US" dirty="0"/>
              <a:t>If your text is too lengthy to fit on the slide, edit the text or add another slide. </a:t>
            </a:r>
          </a:p>
          <a:p>
            <a:r>
              <a:rPr lang="en-US" dirty="0"/>
              <a:t>The absolute minimum font size is 14pt except for fourth- and fifth-level bullets.</a:t>
            </a:r>
          </a:p>
          <a:p>
            <a:pPr marL="0" indent="0">
              <a:buNone/>
            </a:pPr>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dirty="0"/>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dirty="0">
                <a:solidFill>
                  <a:schemeClr val="accent3"/>
                </a:solidFill>
              </a:rPr>
              <a:t>Bullets</a:t>
            </a:r>
          </a:p>
          <a:p>
            <a:r>
              <a:rPr lang="en-US" dirty="0"/>
              <a:t>If your original text includes bullets, we recommend that you </a:t>
            </a:r>
            <a:r>
              <a:rPr lang="en-US" b="1" dirty="0">
                <a:solidFill>
                  <a:schemeClr val="accent1"/>
                </a:solidFill>
              </a:rPr>
              <a:t>remove the bullets within the source document prior to copying and pasting into your PowerPoint</a:t>
            </a:r>
            <a:r>
              <a:rPr lang="en-US" dirty="0"/>
              <a:t>.</a:t>
            </a:r>
          </a:p>
          <a:p>
            <a:r>
              <a:rPr lang="en-US" b="1" dirty="0">
                <a:solidFill>
                  <a:schemeClr val="accent1"/>
                </a:solidFill>
              </a:rPr>
              <a:t>Use the Decrease and Increase List Level buttons</a:t>
            </a:r>
            <a:r>
              <a:rPr lang="en-US" dirty="0"/>
              <a:t> (to the right of Numbering on the Home tab) to create second-, third-, etc., level bullets.</a:t>
            </a:r>
          </a:p>
          <a:p>
            <a:endParaRPr lang="en-US" dirty="0"/>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Bullet Formatting</a:t>
            </a:r>
          </a:p>
          <a:p>
            <a:pPr marL="0" indent="0">
              <a:buNone/>
            </a:pPr>
            <a:r>
              <a:rPr lang="en-US" dirty="0"/>
              <a:t>Follow the rules in the Bullets section of the </a:t>
            </a:r>
            <a:r>
              <a:rPr lang="en-US" b="1" dirty="0">
                <a:solidFill>
                  <a:schemeClr val="accent1"/>
                </a:solidFill>
                <a:hlinkClick r:id="rId2"/>
              </a:rPr>
              <a:t>APTIM Written Style Guide</a:t>
            </a:r>
            <a:r>
              <a:rPr lang="en-US" dirty="0"/>
              <a:t>:</a:t>
            </a:r>
          </a:p>
          <a:p>
            <a:r>
              <a:rPr lang="en-US" dirty="0"/>
              <a:t>All bullets should start with a </a:t>
            </a:r>
            <a:r>
              <a:rPr lang="en-US" b="1" dirty="0">
                <a:solidFill>
                  <a:schemeClr val="accent1"/>
                </a:solidFill>
              </a:rPr>
              <a:t>capitalized letter</a:t>
            </a:r>
            <a:r>
              <a:rPr lang="en-US" dirty="0"/>
              <a:t>.</a:t>
            </a:r>
          </a:p>
          <a:p>
            <a:r>
              <a:rPr lang="en-US" dirty="0"/>
              <a:t>For lists with brief items of four words or fewer that are not complete sentences, follow the rules of title capitalization. Do not use punctuation. This is APTIM’s preference.</a:t>
            </a:r>
          </a:p>
          <a:p>
            <a:r>
              <a:rPr lang="en-US" dirty="0"/>
              <a:t>For lists with items of five words or more that are NOT complete sentences, do not use punctuation.</a:t>
            </a:r>
          </a:p>
          <a:p>
            <a:r>
              <a:rPr lang="en-US" dirty="0"/>
              <a:t>For lists with items that are complete sentences, use punctuation.</a:t>
            </a:r>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dirty="0"/>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dirty="0">
                <a:solidFill>
                  <a:schemeClr val="accent3"/>
                </a:solidFill>
              </a:rPr>
              <a:t>Insert Photos Within a Shape</a:t>
            </a:r>
          </a:p>
          <a:p>
            <a:pPr marL="0" indent="0">
              <a:buNone/>
            </a:pPr>
            <a:r>
              <a:rPr lang="en-US" dirty="0"/>
              <a:t>To add a photo to fit within a shape on a template slide, place your cursor over the edge of the shape.</a:t>
            </a:r>
          </a:p>
          <a:p>
            <a:r>
              <a:rPr lang="en-US" b="1" dirty="0">
                <a:solidFill>
                  <a:schemeClr val="accent1"/>
                </a:solidFill>
              </a:rPr>
              <a:t>Right click.</a:t>
            </a:r>
          </a:p>
          <a:p>
            <a:r>
              <a:rPr lang="en-US" b="1" dirty="0">
                <a:solidFill>
                  <a:schemeClr val="accent1"/>
                </a:solidFill>
              </a:rPr>
              <a:t>Click the arrow next to Fill.</a:t>
            </a:r>
          </a:p>
          <a:p>
            <a:r>
              <a:rPr lang="en-US" b="1" dirty="0">
                <a:solidFill>
                  <a:schemeClr val="accent1"/>
                </a:solidFill>
              </a:rPr>
              <a:t>Click Picture.</a:t>
            </a:r>
          </a:p>
          <a:p>
            <a:r>
              <a:rPr lang="en-US" b="1" dirty="0">
                <a:solidFill>
                  <a:schemeClr val="accent1"/>
                </a:solidFill>
              </a:rPr>
              <a:t>Click From File.</a:t>
            </a:r>
          </a:p>
          <a:p>
            <a:r>
              <a:rPr lang="en-US" b="1" dirty="0">
                <a:solidFill>
                  <a:schemeClr val="accent1"/>
                </a:solidFill>
              </a:rPr>
              <a:t>Locate photo within files. </a:t>
            </a:r>
          </a:p>
          <a:p>
            <a:r>
              <a:rPr lang="en-US" b="1" dirty="0">
                <a:solidFill>
                  <a:schemeClr val="accent1"/>
                </a:solidFill>
              </a:rPr>
              <a:t>Click Insert.</a:t>
            </a:r>
          </a:p>
          <a:p>
            <a:pPr marL="0" indent="0">
              <a:buNone/>
            </a:pPr>
            <a:r>
              <a:rPr lang="en-US" dirty="0"/>
              <a:t>To move the photo, right click on the photo and select Crop. Then drag the photo within the frame.</a:t>
            </a:r>
          </a:p>
          <a:p>
            <a:endParaRPr lang="en-US" dirty="0"/>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dirty="0">
                <a:solidFill>
                  <a:schemeClr val="accent3"/>
                </a:solidFill>
              </a:rPr>
              <a:t>Keep Objects in Proportion when Resizing</a:t>
            </a:r>
          </a:p>
          <a:p>
            <a:r>
              <a:rPr lang="en-US" b="1" dirty="0">
                <a:solidFill>
                  <a:schemeClr val="accent1"/>
                </a:solidFill>
              </a:rPr>
              <a:t>Press and hold the Shift key while dragging one of the handles</a:t>
            </a:r>
            <a:r>
              <a:rPr lang="en-US" dirty="0">
                <a:solidFill>
                  <a:schemeClr val="accent1"/>
                </a:solidFill>
              </a:rPr>
              <a:t> </a:t>
            </a:r>
            <a:r>
              <a:rPr lang="en-US" dirty="0"/>
              <a:t>to keep an object, graphic, or photo in proportion while resizing it.</a:t>
            </a:r>
          </a:p>
          <a:p>
            <a:pPr marL="0" indent="0">
              <a:buNone/>
            </a:pPr>
            <a:r>
              <a:rPr lang="en-US" b="1" dirty="0">
                <a:solidFill>
                  <a:schemeClr val="accent3"/>
                </a:solidFill>
              </a:rPr>
              <a:t>Draw Straight Lines</a:t>
            </a:r>
          </a:p>
          <a:p>
            <a:r>
              <a:rPr lang="en-US" b="1" dirty="0">
                <a:solidFill>
                  <a:schemeClr val="accent1"/>
                </a:solidFill>
              </a:rPr>
              <a:t>Press and hold the Shift key</a:t>
            </a:r>
            <a:r>
              <a:rPr lang="en-US" dirty="0">
                <a:solidFill>
                  <a:schemeClr val="accent1"/>
                </a:solidFill>
              </a:rPr>
              <a:t> </a:t>
            </a:r>
            <a:r>
              <a:rPr lang="en-US" dirty="0"/>
              <a:t>while inserting or drawing lines. This will keep your lines vertical, horizontal, or at a 45-degree angle.</a:t>
            </a:r>
          </a:p>
          <a:p>
            <a:pPr marL="0" indent="0">
              <a:buNone/>
            </a:pPr>
            <a:r>
              <a:rPr lang="en-US" b="1" dirty="0">
                <a:solidFill>
                  <a:schemeClr val="accent3"/>
                </a:solidFill>
              </a:rPr>
              <a:t>Group &amp; Ungroup Objects</a:t>
            </a:r>
          </a:p>
          <a:p>
            <a:r>
              <a:rPr lang="en-US" dirty="0"/>
              <a:t>To</a:t>
            </a:r>
            <a:r>
              <a:rPr lang="en-US" dirty="0">
                <a:solidFill>
                  <a:schemeClr val="accent1"/>
                </a:solidFill>
              </a:rPr>
              <a:t> group objects, </a:t>
            </a:r>
            <a:r>
              <a:rPr lang="en-US" b="1" dirty="0">
                <a:solidFill>
                  <a:schemeClr val="accent1"/>
                </a:solidFill>
              </a:rPr>
              <a:t>press </a:t>
            </a:r>
            <a:r>
              <a:rPr lang="en-US" b="1" dirty="0" err="1">
                <a:solidFill>
                  <a:schemeClr val="accent1"/>
                </a:solidFill>
              </a:rPr>
              <a:t>Ctrl+G</a:t>
            </a:r>
            <a:r>
              <a:rPr lang="en-US" dirty="0">
                <a:solidFill>
                  <a:schemeClr val="accent1"/>
                </a:solidFill>
              </a:rPr>
              <a:t>. </a:t>
            </a:r>
          </a:p>
          <a:p>
            <a:r>
              <a:rPr lang="en-US" dirty="0"/>
              <a:t>To </a:t>
            </a:r>
            <a:r>
              <a:rPr lang="en-US" dirty="0">
                <a:solidFill>
                  <a:schemeClr val="accent1"/>
                </a:solidFill>
              </a:rPr>
              <a:t>ungroup objects, </a:t>
            </a:r>
            <a:r>
              <a:rPr lang="en-US" b="1" dirty="0">
                <a:solidFill>
                  <a:schemeClr val="accent1"/>
                </a:solidFill>
              </a:rPr>
              <a:t>press </a:t>
            </a:r>
            <a:r>
              <a:rPr lang="en-US" b="1" dirty="0" err="1">
                <a:solidFill>
                  <a:schemeClr val="accent1"/>
                </a:solidFill>
              </a:rPr>
              <a:t>Ctrl+Shift+G</a:t>
            </a:r>
            <a:r>
              <a:rPr lang="en-US" b="1" dirty="0">
                <a:solidFill>
                  <a:schemeClr val="accent1"/>
                </a:solidFill>
              </a:rPr>
              <a:t>.</a:t>
            </a:r>
          </a:p>
          <a:p>
            <a:endParaRPr lang="en-US" b="1" dirty="0">
              <a:solidFill>
                <a:schemeClr val="accent3"/>
              </a:solidFill>
            </a:endParaRPr>
          </a:p>
          <a:p>
            <a:pPr marL="0" indent="0">
              <a:buNone/>
            </a:pPr>
            <a:endParaRPr lang="en-US" dirty="0"/>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6</a:t>
            </a:fld>
            <a:endParaRPr lang="en-US"/>
          </a:p>
        </p:txBody>
      </p:sp>
    </p:spTree>
    <p:extLst>
      <p:ext uri="{BB962C8B-B14F-4D97-AF65-F5344CB8AC3E}">
        <p14:creationId xmlns:p14="http://schemas.microsoft.com/office/powerpoint/2010/main" val="1862705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dirty="0"/>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dirty="0">
                <a:solidFill>
                  <a:schemeClr val="accent3"/>
                </a:solidFill>
              </a:rPr>
              <a:t>Crop Photos</a:t>
            </a:r>
          </a:p>
          <a:p>
            <a:pPr>
              <a:spcBef>
                <a:spcPts val="0"/>
              </a:spcBef>
              <a:spcAft>
                <a:spcPts val="500"/>
              </a:spcAft>
            </a:pPr>
            <a:r>
              <a:rPr lang="en-US" b="1" dirty="0">
                <a:solidFill>
                  <a:schemeClr val="accent1"/>
                </a:solidFill>
              </a:rPr>
              <a:t>Click on the photo </a:t>
            </a:r>
            <a:r>
              <a:rPr lang="en-US" dirty="0"/>
              <a:t>to Select it.  </a:t>
            </a:r>
          </a:p>
          <a:p>
            <a:pPr>
              <a:spcBef>
                <a:spcPts val="0"/>
              </a:spcBef>
              <a:spcAft>
                <a:spcPts val="500"/>
              </a:spcAft>
            </a:pPr>
            <a:r>
              <a:rPr lang="en-US" dirty="0"/>
              <a:t>Click the </a:t>
            </a:r>
            <a:r>
              <a:rPr lang="en-US" b="1" dirty="0">
                <a:solidFill>
                  <a:schemeClr val="accent1"/>
                </a:solidFill>
              </a:rPr>
              <a:t>Picture Format Tab</a:t>
            </a:r>
            <a:r>
              <a:rPr lang="en-US" dirty="0"/>
              <a:t>. </a:t>
            </a:r>
          </a:p>
          <a:p>
            <a:pPr>
              <a:spcBef>
                <a:spcPts val="0"/>
              </a:spcBef>
              <a:spcAft>
                <a:spcPts val="500"/>
              </a:spcAft>
            </a:pPr>
            <a:r>
              <a:rPr lang="en-US" b="1" dirty="0">
                <a:solidFill>
                  <a:schemeClr val="accent1"/>
                </a:solidFill>
              </a:rPr>
              <a:t>Select the Crop tool</a:t>
            </a:r>
            <a:r>
              <a:rPr lang="en-US" dirty="0"/>
              <a:t> in the Size Group.</a:t>
            </a:r>
          </a:p>
          <a:p>
            <a:pPr>
              <a:spcBef>
                <a:spcPts val="0"/>
              </a:spcBef>
              <a:spcAft>
                <a:spcPts val="500"/>
              </a:spcAft>
            </a:pPr>
            <a:r>
              <a:rPr lang="en-US" dirty="0"/>
              <a:t>A drop-down menu appears. </a:t>
            </a:r>
            <a:r>
              <a:rPr lang="en-US" b="1" dirty="0">
                <a:solidFill>
                  <a:schemeClr val="accent1"/>
                </a:solidFill>
              </a:rPr>
              <a:t>Select Crop</a:t>
            </a:r>
            <a:r>
              <a:rPr lang="en-US" dirty="0"/>
              <a:t>. The handles around the photo turn to black bars; when the cursor is moved over the handles, it changes to look like a “T.” </a:t>
            </a:r>
          </a:p>
          <a:p>
            <a:pPr>
              <a:spcBef>
                <a:spcPts val="0"/>
              </a:spcBef>
              <a:spcAft>
                <a:spcPts val="500"/>
              </a:spcAft>
            </a:pPr>
            <a:r>
              <a:rPr lang="en-US" b="1" dirty="0">
                <a:solidFill>
                  <a:schemeClr val="accent1"/>
                </a:solidFill>
              </a:rPr>
              <a:t>Click and drag the handles</a:t>
            </a:r>
            <a:r>
              <a:rPr lang="en-US" dirty="0"/>
              <a:t> to show only the desired areas of the photo.</a:t>
            </a:r>
          </a:p>
          <a:p>
            <a:pPr>
              <a:spcBef>
                <a:spcPts val="0"/>
              </a:spcBef>
            </a:pPr>
            <a:r>
              <a:rPr lang="en-US" b="1" dirty="0">
                <a:solidFill>
                  <a:schemeClr val="accent1"/>
                </a:solidFill>
              </a:rPr>
              <a:t>Click Crop</a:t>
            </a:r>
            <a:r>
              <a:rPr lang="en-US" dirty="0"/>
              <a:t> again.</a:t>
            </a:r>
          </a:p>
          <a:p>
            <a:pPr marL="0" indent="0">
              <a:buNone/>
            </a:pPr>
            <a:r>
              <a:rPr lang="en-US" b="1" dirty="0">
                <a:solidFill>
                  <a:schemeClr val="accent3"/>
                </a:solidFill>
              </a:rPr>
              <a:t>Crop Photos to a Shape</a:t>
            </a:r>
          </a:p>
          <a:p>
            <a:pPr>
              <a:spcBef>
                <a:spcPts val="0"/>
              </a:spcBef>
              <a:spcAft>
                <a:spcPts val="500"/>
              </a:spcAft>
            </a:pPr>
            <a:r>
              <a:rPr lang="en-US" b="1" dirty="0">
                <a:solidFill>
                  <a:schemeClr val="accent1"/>
                </a:solidFill>
              </a:rPr>
              <a:t>Follow steps 1–3</a:t>
            </a:r>
            <a:r>
              <a:rPr lang="en-US" dirty="0"/>
              <a:t> for Crop Photos.</a:t>
            </a:r>
          </a:p>
          <a:p>
            <a:pPr>
              <a:spcBef>
                <a:spcPts val="0"/>
              </a:spcBef>
              <a:spcAft>
                <a:spcPts val="500"/>
              </a:spcAft>
            </a:pPr>
            <a:r>
              <a:rPr lang="en-US" dirty="0"/>
              <a:t>From the drop-down menu, select </a:t>
            </a:r>
            <a:r>
              <a:rPr lang="en-US" b="1" dirty="0">
                <a:solidFill>
                  <a:schemeClr val="accent1"/>
                </a:solidFill>
              </a:rPr>
              <a:t>Crop to Shape</a:t>
            </a:r>
            <a:r>
              <a:rPr lang="en-US" dirty="0"/>
              <a:t>.</a:t>
            </a:r>
          </a:p>
          <a:p>
            <a:pPr>
              <a:spcBef>
                <a:spcPts val="0"/>
              </a:spcBef>
              <a:spcAft>
                <a:spcPts val="500"/>
              </a:spcAft>
            </a:pPr>
            <a:r>
              <a:rPr lang="en-US" dirty="0"/>
              <a:t>From the drop down, </a:t>
            </a:r>
            <a:r>
              <a:rPr lang="en-US" b="1" dirty="0">
                <a:solidFill>
                  <a:schemeClr val="accent1"/>
                </a:solidFill>
              </a:rPr>
              <a:t>choose the shape</a:t>
            </a:r>
            <a:r>
              <a:rPr lang="en-US" dirty="0"/>
              <a:t>.</a:t>
            </a:r>
          </a:p>
          <a:p>
            <a:pPr>
              <a:spcBef>
                <a:spcPts val="0"/>
              </a:spcBef>
              <a:spcAft>
                <a:spcPts val="500"/>
              </a:spcAft>
            </a:pPr>
            <a:r>
              <a:rPr lang="en-US" b="1" dirty="0">
                <a:solidFill>
                  <a:schemeClr val="accent1"/>
                </a:solidFill>
              </a:rPr>
              <a:t>Click Crop</a:t>
            </a:r>
            <a:r>
              <a:rPr lang="en-US" dirty="0"/>
              <a:t> again.</a:t>
            </a:r>
          </a:p>
          <a:p>
            <a:pPr marL="0" indent="0">
              <a:buNone/>
            </a:pPr>
            <a:endParaRPr lang="en-US" b="1" dirty="0">
              <a:solidFill>
                <a:schemeClr val="accent3"/>
              </a:solidFill>
            </a:endParaRPr>
          </a:p>
          <a:p>
            <a:pPr marL="0" indent="0">
              <a:buNone/>
            </a:pPr>
            <a:endParaRPr lang="en-US" dirty="0"/>
          </a:p>
          <a:p>
            <a:endParaRPr lang="en-US" dirty="0"/>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dirty="0"/>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dirty="0">
                <a:solidFill>
                  <a:schemeClr val="accent3"/>
                </a:solidFill>
              </a:rPr>
              <a:t>Adding Text Over an Image</a:t>
            </a:r>
          </a:p>
          <a:p>
            <a:pPr marL="0" indent="0">
              <a:spcBef>
                <a:spcPts val="0"/>
              </a:spcBef>
              <a:spcAft>
                <a:spcPts val="500"/>
              </a:spcAft>
              <a:buNone/>
            </a:pPr>
            <a:r>
              <a:rPr lang="en-US" dirty="0"/>
              <a:t>If there is a need to add text over an image, the brightness and contrast may need to be adjusted so the text is legible.</a:t>
            </a:r>
          </a:p>
          <a:p>
            <a:pPr>
              <a:spcBef>
                <a:spcPts val="0"/>
              </a:spcBef>
              <a:spcAft>
                <a:spcPts val="500"/>
              </a:spcAft>
            </a:pPr>
            <a:r>
              <a:rPr lang="en-US" dirty="0"/>
              <a:t>Click on the </a:t>
            </a:r>
            <a:r>
              <a:rPr lang="en-US" b="1" dirty="0">
                <a:solidFill>
                  <a:schemeClr val="accent1"/>
                </a:solidFill>
              </a:rPr>
              <a:t>photo to Select it</a:t>
            </a:r>
            <a:r>
              <a:rPr lang="en-US" dirty="0"/>
              <a:t>.  </a:t>
            </a:r>
          </a:p>
          <a:p>
            <a:pPr>
              <a:spcBef>
                <a:spcPts val="0"/>
              </a:spcBef>
              <a:spcAft>
                <a:spcPts val="500"/>
              </a:spcAft>
            </a:pPr>
            <a:r>
              <a:rPr lang="en-US" dirty="0"/>
              <a:t>Click the </a:t>
            </a:r>
            <a:r>
              <a:rPr lang="en-US" b="1" dirty="0">
                <a:solidFill>
                  <a:schemeClr val="accent1"/>
                </a:solidFill>
              </a:rPr>
              <a:t>Picture Format</a:t>
            </a:r>
            <a:r>
              <a:rPr lang="en-US" dirty="0"/>
              <a:t> tab. </a:t>
            </a:r>
          </a:p>
          <a:p>
            <a:pPr>
              <a:spcBef>
                <a:spcPts val="0"/>
              </a:spcBef>
              <a:spcAft>
                <a:spcPts val="500"/>
              </a:spcAft>
            </a:pPr>
            <a:r>
              <a:rPr lang="en-US" dirty="0"/>
              <a:t>Select </a:t>
            </a:r>
            <a:r>
              <a:rPr lang="en-US" b="1" dirty="0">
                <a:solidFill>
                  <a:schemeClr val="accent1"/>
                </a:solidFill>
              </a:rPr>
              <a:t>Corrections</a:t>
            </a:r>
            <a:r>
              <a:rPr lang="en-US" dirty="0"/>
              <a:t>.</a:t>
            </a:r>
          </a:p>
          <a:p>
            <a:pPr>
              <a:spcBef>
                <a:spcPts val="0"/>
              </a:spcBef>
              <a:spcAft>
                <a:spcPts val="500"/>
              </a:spcAft>
            </a:pPr>
            <a:r>
              <a:rPr lang="en-US" dirty="0"/>
              <a:t>Select </a:t>
            </a:r>
            <a:r>
              <a:rPr lang="en-US" b="1" dirty="0">
                <a:solidFill>
                  <a:schemeClr val="accent1"/>
                </a:solidFill>
              </a:rPr>
              <a:t>Brightness -20% and Contrast: 0%</a:t>
            </a:r>
            <a:r>
              <a:rPr lang="en-US" dirty="0"/>
              <a:t> (Normal)</a:t>
            </a:r>
          </a:p>
          <a:p>
            <a:pPr>
              <a:spcBef>
                <a:spcPts val="0"/>
              </a:spcBef>
              <a:spcAft>
                <a:spcPts val="500"/>
              </a:spcAft>
            </a:pPr>
            <a:r>
              <a:rPr lang="en-US" dirty="0"/>
              <a:t>Highlight your text box and change the color of the text to white on a dark image or leave as grey on a light image. </a:t>
            </a:r>
          </a:p>
          <a:p>
            <a:pPr marL="0" indent="0">
              <a:buNone/>
            </a:pPr>
            <a:endParaRPr lang="en-US" b="1" dirty="0">
              <a:solidFill>
                <a:schemeClr val="accent3"/>
              </a:solidFill>
            </a:endParaRPr>
          </a:p>
          <a:p>
            <a:pPr marL="0" indent="0">
              <a:buNone/>
            </a:pPr>
            <a:endParaRPr lang="en-US" dirty="0"/>
          </a:p>
          <a:p>
            <a:endParaRPr lang="en-US" dirty="0"/>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dirty="0"/>
              <a:t>Presentation Title</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dirty="0"/>
              <a:t>Subtitle or Presenters</a:t>
            </a:r>
          </a:p>
          <a:p>
            <a:r>
              <a:rPr lang="en-US" dirty="0"/>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9</a:t>
            </a:fld>
            <a:endParaRPr lang="en-US"/>
          </a:p>
        </p:txBody>
      </p:sp>
    </p:spTree>
    <p:extLst>
      <p:ext uri="{BB962C8B-B14F-4D97-AF65-F5344CB8AC3E}">
        <p14:creationId xmlns:p14="http://schemas.microsoft.com/office/powerpoint/2010/main" val="22381475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a:lstStyle/>
          <a:p>
            <a:endParaRPr lang="en-US" dirty="0"/>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10</a:t>
            </a:fld>
            <a:endParaRPr lang="en-US"/>
          </a:p>
        </p:txBody>
      </p:sp>
    </p:spTree>
    <p:extLst>
      <p:ext uri="{BB962C8B-B14F-4D97-AF65-F5344CB8AC3E}">
        <p14:creationId xmlns:p14="http://schemas.microsoft.com/office/powerpoint/2010/main" val="423960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1559748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endParaRPr lang="en-US" dirty="0"/>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12</a:t>
            </a:fld>
            <a:endParaRPr lang="en-US"/>
          </a:p>
        </p:txBody>
      </p:sp>
    </p:spTree>
    <p:extLst>
      <p:ext uri="{BB962C8B-B14F-4D97-AF65-F5344CB8AC3E}">
        <p14:creationId xmlns:p14="http://schemas.microsoft.com/office/powerpoint/2010/main" val="3897646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dirty="0"/>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dirty="0"/>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13</a:t>
            </a:fld>
            <a:endParaRPr lang="en-US"/>
          </a:p>
        </p:txBody>
      </p:sp>
    </p:spTree>
    <p:extLst>
      <p:ext uri="{BB962C8B-B14F-4D97-AF65-F5344CB8AC3E}">
        <p14:creationId xmlns:p14="http://schemas.microsoft.com/office/powerpoint/2010/main" val="1714014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15</a:t>
            </a:fld>
            <a:endParaRPr lang="en-US"/>
          </a:p>
        </p:txBody>
      </p:sp>
    </p:spTree>
    <p:extLst>
      <p:ext uri="{BB962C8B-B14F-4D97-AF65-F5344CB8AC3E}">
        <p14:creationId xmlns:p14="http://schemas.microsoft.com/office/powerpoint/2010/main" val="3848581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16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17</a:t>
            </a:fld>
            <a:endParaRPr lang="en-US"/>
          </a:p>
        </p:txBody>
      </p:sp>
    </p:spTree>
    <p:extLst>
      <p:ext uri="{BB962C8B-B14F-4D97-AF65-F5344CB8AC3E}">
        <p14:creationId xmlns:p14="http://schemas.microsoft.com/office/powerpoint/2010/main" val="947991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dirty="0"/>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18</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dirty="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dirty="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dirty="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dirty="0">
                    <a:ln>
                      <a:noFill/>
                    </a:ln>
                    <a:solidFill>
                      <a:schemeClr val="accent1"/>
                    </a:solidFill>
                    <a:effectLst/>
                    <a:uLnTx/>
                    <a:uFillTx/>
                    <a:latin typeface="Arial" panose="020B0604020202020204"/>
                    <a:ea typeface="+mn-ea"/>
                    <a:cs typeface="+mn-cs"/>
                  </a:rPr>
                  <a:t>APTIM Chairman &amp; CE</a:t>
                </a:r>
                <a:r>
                  <a:rPr lang="en-US" sz="1100" dirty="0">
                    <a:solidFill>
                      <a:schemeClr val="accent1"/>
                    </a:solidFill>
                    <a:latin typeface="Arial" panose="020B0604020202020204"/>
                  </a:rPr>
                  <a:t>O</a:t>
                </a:r>
                <a:endParaRPr kumimoji="0" lang="en-US" sz="1800" b="0" i="0" u="none" strike="noStrike" kern="1200" cap="none" spc="0" normalizeH="0" baseline="0" noProof="0" dirty="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dirty="0">
                    <a:ln>
                      <a:noFill/>
                    </a:ln>
                    <a:solidFill>
                      <a:schemeClr val="bg1"/>
                    </a:solidFill>
                    <a:effectLst/>
                    <a:uLnTx/>
                    <a:uFillTx/>
                    <a:latin typeface="Arial" panose="020B0604020202020204"/>
                    <a:ea typeface="+mn-ea"/>
                    <a:cs typeface="+mn-cs"/>
                  </a:rPr>
                  <a:t>APTIM Chairman &amp; CE</a:t>
                </a:r>
                <a:r>
                  <a:rPr lang="en-US" sz="1100" dirty="0">
                    <a:solidFill>
                      <a:schemeClr val="bg1"/>
                    </a:solidFill>
                    <a:latin typeface="Arial" panose="020B0604020202020204"/>
                  </a:rPr>
                  <a:t>O</a:t>
                </a:r>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dirty="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pPr marR="0" algn="l" rtl="0"/>
            <a:r>
              <a:rPr lang="en-US" sz="2000" b="0" i="0" u="none" strike="noStrike" baseline="30000" dirty="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r>
              <a:rPr lang="en-US" sz="2000" b="0" i="0" u="none" strike="noStrike" baseline="30000" dirty="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dirty="0">
                <a:solidFill>
                  <a:schemeClr val="accent2"/>
                </a:solidFill>
                <a:latin typeface="Arial Black" panose="020B0A04020102020204" pitchFamily="34" charset="0"/>
              </a:rPr>
              <a:t>00%</a:t>
            </a:r>
          </a:p>
          <a:p>
            <a:r>
              <a:rPr lang="en-US" sz="2000" b="0" i="0" u="none" strike="noStrike" baseline="30000" dirty="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dirty="0"/>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19</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dirty="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dirty="0">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dirty="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dirty="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dirty="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dirty="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dirty="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dirty="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Client Use Case: Why Michigan?</a:t>
            </a: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394960"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tIns="228600" rIns="228600"/>
          <a:lstStyle/>
          <a:p>
            <a:pPr algn="ctr">
              <a:spcAft>
                <a:spcPts val="1000"/>
              </a:spcAft>
            </a:pPr>
            <a:r>
              <a:rPr b="1" sz="1800">
                <a:solidFill>
                  <a:srgbClr val="FFB71B"/>
                </a:solidFill>
                <a:latin typeface="Arial"/>
              </a:rPr>
              <a:t>Why Michigan?</a:t>
            </a:r>
            <a:r>
              <a:rPr b="1" sz="1400">
                <a:solidFill>
                  <a:srgbClr val="FFB71B"/>
                </a:solidFill>
                <a:latin typeface="Arial"/>
              </a:rPr>
              <a:t>✓  </a:t>
            </a:r>
            <a:r>
              <a:rPr sz="1400">
                <a:solidFill>
                  <a:srgbClr val="FFFFFF"/>
                </a:solidFill>
                <a:latin typeface="Arial"/>
              </a:rPr>
              <a:t>2,500 MW statewide storage target</a:t>
            </a:r>
          </a:p>
          <a:p>
            <a:pPr>
              <a:spcAft>
                <a:spcPts val="1000"/>
              </a:spcAft>
            </a:pPr>
            <a:r>
              <a:rPr b="1" sz="1400">
                <a:solidFill>
                  <a:srgbClr val="FFB71B"/>
                </a:solidFill>
                <a:latin typeface="Arial"/>
              </a:rPr>
              <a:t>✓  </a:t>
            </a:r>
            <a:r>
              <a:rPr sz="1400">
                <a:solidFill>
                  <a:srgbClr val="FFFFFF"/>
                </a:solidFill>
                <a:latin typeface="Arial"/>
              </a:rPr>
              <a:t>DTE identified 850+ MW storage need</a:t>
            </a:r>
          </a:p>
          <a:p>
            <a:pPr>
              <a:spcAft>
                <a:spcPts val="1000"/>
              </a:spcAft>
            </a:pPr>
            <a:r>
              <a:rPr b="1" sz="1400">
                <a:solidFill>
                  <a:srgbClr val="FFB71B"/>
                </a:solidFill>
                <a:latin typeface="Arial"/>
              </a:rPr>
              <a:t>✓  </a:t>
            </a:r>
            <a:r>
              <a:rPr sz="1400">
                <a:solidFill>
                  <a:srgbClr val="FFFFFF"/>
                </a:solidFill>
                <a:latin typeface="Arial"/>
              </a:rPr>
              <a:t>Growing demand from electrification and data centers</a:t>
            </a:r>
          </a:p>
          <a:p>
            <a:pPr>
              <a:spcAft>
                <a:spcPts val="1000"/>
              </a:spcAft>
            </a:pPr>
            <a:r>
              <a:rPr b="1" sz="1400">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09360" y="1508760"/>
            <a:ext cx="5394960"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tIns="228600" rIns="228600"/>
          <a:lstStyle/>
          <a:p>
            <a:pPr algn="ctr">
              <a:spcAft>
                <a:spcPts val="1000"/>
              </a:spcAft>
            </a:pPr>
            <a:r>
              <a:rPr b="1" sz="1800">
                <a:solidFill>
                  <a:srgbClr val="FFFFFF"/>
                </a:solidFill>
                <a:latin typeface="Arial"/>
              </a:rPr>
              <a:t>Why Ann Arbor?</a:t>
            </a:r>
            <a:r>
              <a:rPr b="1" sz="1400">
                <a:solidFill>
                  <a:srgbClr val="E8FFFC"/>
                </a:solidFill>
                <a:latin typeface="Arial"/>
              </a:rPr>
              <a:t>✓  </a:t>
            </a:r>
            <a:r>
              <a:rPr sz="1400">
                <a:solidFill>
                  <a:srgbClr val="FFFFFF"/>
                </a:solidFill>
                <a:latin typeface="Arial"/>
              </a:rPr>
              <a:t>DTE service territory</a:t>
            </a:r>
          </a:p>
          <a:p>
            <a:pPr>
              <a:spcAft>
                <a:spcPts val="1000"/>
              </a:spcAft>
            </a:pPr>
            <a:r>
              <a:rPr b="1" sz="1400">
                <a:solidFill>
                  <a:srgbClr val="E8FFFC"/>
                </a:solidFill>
                <a:latin typeface="Arial"/>
              </a:rPr>
              <a:t>✓  </a:t>
            </a:r>
            <a:r>
              <a:rPr sz="1400">
                <a:solidFill>
                  <a:srgbClr val="FFFFFF"/>
                </a:solidFill>
                <a:latin typeface="Arial"/>
              </a:rPr>
              <a:t>50,000+ households</a:t>
            </a:r>
          </a:p>
          <a:p>
            <a:pPr>
              <a:spcAft>
                <a:spcPts val="1000"/>
              </a:spcAft>
            </a:pPr>
            <a:r>
              <a:rPr b="1" sz="1400">
                <a:solidFill>
                  <a:srgbClr val="E8FFFC"/>
                </a:solidFill>
                <a:latin typeface="Arial"/>
              </a:rPr>
              <a:t>✓  </a:t>
            </a:r>
            <a:r>
              <a:rPr sz="1400">
                <a:solidFill>
                  <a:srgbClr val="FFFFFF"/>
                </a:solidFill>
                <a:latin typeface="Arial"/>
              </a:rPr>
              <a:t>Strong sustainability culture</a:t>
            </a:r>
          </a:p>
          <a:p>
            <a:pPr>
              <a:spcAft>
                <a:spcPts val="1000"/>
              </a:spcAft>
            </a:pPr>
            <a:r>
              <a:rPr b="1" sz="1400">
                <a:solidFill>
                  <a:srgbClr val="E8FFFC"/>
                </a:solidFill>
                <a:latin typeface="Arial"/>
              </a:rPr>
              <a:t>✓  </a:t>
            </a:r>
            <a:r>
              <a:rPr sz="1400">
                <a:solidFill>
                  <a:srgbClr val="FFFFFF"/>
                </a:solidFill>
                <a:latin typeface="Arial"/>
              </a:rPr>
              <a:t>High solar adoption potential</a:t>
            </a:r>
          </a:p>
          <a:p>
            <a:pPr>
              <a:spcAft>
                <a:spcPts val="1000"/>
              </a:spcAft>
            </a:pPr>
            <a:r>
              <a:rPr b="1" sz="1400">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400" b="1">
                <a:solidFill>
                  <a:srgbClr val="FFFFFF"/>
                </a:solidFill>
                <a:latin typeface="Arial"/>
              </a:rPr>
              <a:t>Michigan's storage mandate, growing demand, and favorable customer demographics make Ann Arbor an ideal pilot location for a utility-owned residential battery fleet.</a:t>
            </a:r>
          </a:p>
        </p:txBody>
      </p:sp>
      <p:sp>
        <p:nvSpPr>
          <p:cNvPr id="7" name="TextBox 6"/>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Michigan Pilot Deployment Model</a:t>
            </a:r>
          </a:p>
        </p:txBody>
      </p:sp>
      <p:sp>
        <p:nvSpPr>
          <p:cNvPr id="3" name="TextBox 2"/>
          <p:cNvSpPr txBox="1"/>
          <p:nvPr/>
        </p:nvSpPr>
        <p:spPr>
          <a:xfrm>
            <a:off x="457200" y="914400"/>
            <a:ext cx="11247120" cy="365760"/>
          </a:xfrm>
          <a:prstGeom prst="rect">
            <a:avLst/>
          </a:prstGeom>
          <a:noFill/>
        </p:spPr>
        <p:txBody>
          <a:bodyPr wrap="none">
            <a:spAutoFit/>
          </a:bodyPr>
          <a:lstStyle/>
          <a:p>
            <a:r>
              <a:rPr sz="1300" i="1">
                <a:solidFill>
                  <a:srgbClr val="404040"/>
                </a:solidFill>
                <a:latin typeface="Arial"/>
              </a:rPr>
              <a:t>This is exactly how the pilot would operate.</a:t>
            </a:r>
          </a:p>
        </p:txBody>
      </p:sp>
      <p:sp>
        <p:nvSpPr>
          <p:cNvPr id="4" name="Chevron 3"/>
          <p:cNvSpPr/>
          <p:nvPr/>
        </p:nvSpPr>
        <p:spPr>
          <a:xfrm>
            <a:off x="2377440" y="2834640"/>
            <a:ext cx="1600200" cy="1005840"/>
          </a:xfrm>
          <a:prstGeom prst="chevron">
            <a:avLst>
              <a:gd name="adj" fmla="val 25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320040"/>
          <a:lstStyle/>
          <a:p>
            <a:pPr algn="ctr"/>
            <a:r>
              <a:rPr b="1" sz="1300">
                <a:solidFill>
                  <a:srgbClr val="FFFFFF"/>
                </a:solidFill>
                <a:latin typeface="Arial"/>
              </a:rPr>
              <a:t>DTE Energy</a:t>
            </a:r>
          </a:p>
          <a:p>
            <a:pPr algn="ctr"/>
            <a:r>
              <a:rPr sz="900" i="1">
                <a:solidFill>
                  <a:srgbClr val="FFFFFF"/>
                </a:solidFill>
                <a:latin typeface="Arial"/>
              </a:rPr>
              <a:t>Owns Assets</a:t>
            </a:r>
          </a:p>
        </p:txBody>
      </p:sp>
      <p:sp>
        <p:nvSpPr>
          <p:cNvPr id="5" name="Chevron 4"/>
          <p:cNvSpPr/>
          <p:nvPr/>
        </p:nvSpPr>
        <p:spPr>
          <a:xfrm>
            <a:off x="3657600" y="2834640"/>
            <a:ext cx="1600200" cy="1005840"/>
          </a:xfrm>
          <a:prstGeom prst="chevron">
            <a:avLst>
              <a:gd name="adj" fmla="val 25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320040"/>
          <a:lstStyle/>
          <a:p>
            <a:pPr algn="ctr"/>
            <a:r>
              <a:rPr b="1" sz="1300">
                <a:solidFill>
                  <a:srgbClr val="FFFFFF"/>
                </a:solidFill>
                <a:latin typeface="Arial"/>
              </a:rPr>
              <a:t>APTIM</a:t>
            </a:r>
          </a:p>
          <a:p>
            <a:pPr algn="ctr"/>
            <a:r>
              <a:rPr sz="900" i="1">
                <a:solidFill>
                  <a:srgbClr val="FFFFFF"/>
                </a:solidFill>
                <a:latin typeface="Arial"/>
              </a:rPr>
              <a:t>Administers Program</a:t>
            </a:r>
          </a:p>
        </p:txBody>
      </p:sp>
      <p:sp>
        <p:nvSpPr>
          <p:cNvPr id="6" name="Chevron 5"/>
          <p:cNvSpPr/>
          <p:nvPr/>
        </p:nvSpPr>
        <p:spPr>
          <a:xfrm>
            <a:off x="4937760" y="2834640"/>
            <a:ext cx="1600200" cy="1005840"/>
          </a:xfrm>
          <a:prstGeom prst="chevron">
            <a:avLst>
              <a:gd name="adj" fmla="val 25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320040"/>
          <a:lstStyle/>
          <a:p>
            <a:pPr algn="ctr"/>
            <a:r>
              <a:rPr b="1" sz="1300">
                <a:solidFill>
                  <a:srgbClr val="FFFFFF"/>
                </a:solidFill>
                <a:latin typeface="Arial"/>
              </a:rPr>
              <a:t>Certified Installers</a:t>
            </a:r>
          </a:p>
        </p:txBody>
      </p:sp>
      <p:sp>
        <p:nvSpPr>
          <p:cNvPr id="7" name="Chevron 6"/>
          <p:cNvSpPr/>
          <p:nvPr/>
        </p:nvSpPr>
        <p:spPr>
          <a:xfrm>
            <a:off x="6217920" y="2834640"/>
            <a:ext cx="1600200" cy="1005840"/>
          </a:xfrm>
          <a:prstGeom prst="chevron">
            <a:avLst>
              <a:gd name="adj" fmla="val 25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320040"/>
          <a:lstStyle/>
          <a:p>
            <a:pPr algn="ctr"/>
            <a:r>
              <a:rPr b="1" sz="1300">
                <a:solidFill>
                  <a:srgbClr val="FFFFFF"/>
                </a:solidFill>
                <a:latin typeface="Arial"/>
              </a:rPr>
              <a:t>500 Qualified Homes</a:t>
            </a:r>
          </a:p>
        </p:txBody>
      </p:sp>
      <p:sp>
        <p:nvSpPr>
          <p:cNvPr id="8" name="Chevron 7"/>
          <p:cNvSpPr/>
          <p:nvPr/>
        </p:nvSpPr>
        <p:spPr>
          <a:xfrm>
            <a:off x="7498080" y="2834640"/>
            <a:ext cx="1600200" cy="1005840"/>
          </a:xfrm>
          <a:prstGeom prst="chevron">
            <a:avLst>
              <a:gd name="adj" fmla="val 25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320040"/>
          <a:lstStyle/>
          <a:p>
            <a:pPr algn="ctr"/>
            <a:r>
              <a:rPr b="1" sz="1300">
                <a:solidFill>
                  <a:srgbClr val="FFFFFF"/>
                </a:solidFill>
                <a:latin typeface="Arial"/>
              </a:rPr>
              <a:t>3 MW Solar + 7.5 MWh Storage</a:t>
            </a:r>
          </a:p>
        </p:txBody>
      </p:sp>
      <p:sp>
        <p:nvSpPr>
          <p:cNvPr id="9" name="Rounded Rectangle 8"/>
          <p:cNvSpPr/>
          <p:nvPr/>
        </p:nvSpPr>
        <p:spPr>
          <a:xfrm>
            <a:off x="365760" y="1417320"/>
            <a:ext cx="2880360" cy="448056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82880" tIns="182880" rIns="137160"/>
          <a:lstStyle/>
          <a:p>
            <a:pPr algn="ctr">
              <a:spcAft>
                <a:spcPts val="800"/>
              </a:spcAft>
            </a:pPr>
            <a:r>
              <a:rPr b="1" sz="1400">
                <a:solidFill>
                  <a:srgbClr val="002856"/>
                </a:solidFill>
                <a:latin typeface="Arial"/>
              </a:rPr>
              <a:t>Participant Requirements</a:t>
            </a:r>
            <a:r>
              <a:rPr b="1" sz="1200">
                <a:solidFill>
                  <a:srgbClr val="FF8200"/>
                </a:solidFill>
                <a:latin typeface="Arial"/>
              </a:rPr>
              <a:t>•  </a:t>
            </a:r>
            <a:r>
              <a:rPr sz="1200">
                <a:solidFill>
                  <a:srgbClr val="404040"/>
                </a:solidFill>
                <a:latin typeface="Arial"/>
              </a:rPr>
              <a:t>DTE customer</a:t>
            </a:r>
          </a:p>
          <a:p>
            <a:pPr>
              <a:spcAft>
                <a:spcPts val="800"/>
              </a:spcAft>
            </a:pPr>
            <a:r>
              <a:rPr b="1" sz="1200">
                <a:solidFill>
                  <a:srgbClr val="FF8200"/>
                </a:solidFill>
                <a:latin typeface="Arial"/>
              </a:rPr>
              <a:t>•  </a:t>
            </a:r>
            <a:r>
              <a:rPr sz="1200">
                <a:solidFill>
                  <a:srgbClr val="404040"/>
                </a:solidFill>
                <a:latin typeface="Arial"/>
              </a:rPr>
              <a:t>Owner occupied</a:t>
            </a:r>
          </a:p>
          <a:p>
            <a:pPr>
              <a:spcAft>
                <a:spcPts val="800"/>
              </a:spcAft>
            </a:pPr>
            <a:r>
              <a:rPr b="1" sz="1200">
                <a:solidFill>
                  <a:srgbClr val="FF8200"/>
                </a:solidFill>
                <a:latin typeface="Arial"/>
              </a:rPr>
              <a:t>•  </a:t>
            </a:r>
            <a:r>
              <a:rPr sz="1200">
                <a:solidFill>
                  <a:srgbClr val="404040"/>
                </a:solidFill>
                <a:latin typeface="Arial"/>
              </a:rPr>
              <a:t>Suitable roof condition</a:t>
            </a:r>
          </a:p>
          <a:p>
            <a:pPr>
              <a:spcAft>
                <a:spcPts val="800"/>
              </a:spcAft>
            </a:pPr>
            <a:r>
              <a:rPr b="1" sz="1200">
                <a:solidFill>
                  <a:srgbClr val="FF8200"/>
                </a:solidFill>
                <a:latin typeface="Arial"/>
              </a:rPr>
              <a:t>•  </a:t>
            </a:r>
            <a:r>
              <a:rPr sz="1200">
                <a:solidFill>
                  <a:srgbClr val="404040"/>
                </a:solidFill>
                <a:latin typeface="Arial"/>
              </a:rPr>
              <a:t>Minimal shading</a:t>
            </a:r>
          </a:p>
          <a:p>
            <a:pPr>
              <a:spcAft>
                <a:spcPts val="800"/>
              </a:spcAft>
            </a:pPr>
            <a:r>
              <a:rPr b="1" sz="1200">
                <a:solidFill>
                  <a:srgbClr val="FF8200"/>
                </a:solidFill>
                <a:latin typeface="Arial"/>
              </a:rPr>
              <a:t>•  </a:t>
            </a:r>
            <a:r>
              <a:rPr sz="1200">
                <a:solidFill>
                  <a:srgbClr val="404040"/>
                </a:solidFill>
                <a:latin typeface="Arial"/>
              </a:rPr>
              <a:t>South-facing roof preferred</a:t>
            </a:r>
          </a:p>
          <a:p>
            <a:pPr>
              <a:spcAft>
                <a:spcPts val="800"/>
              </a:spcAft>
            </a:pPr>
            <a:r>
              <a:rPr b="1" sz="1200">
                <a:solidFill>
                  <a:srgbClr val="FF8200"/>
                </a:solidFill>
                <a:latin typeface="Arial"/>
              </a:rPr>
              <a:t>•  </a:t>
            </a:r>
            <a:r>
              <a:rPr sz="1200">
                <a:solidFill>
                  <a:srgbClr val="404040"/>
                </a:solidFill>
                <a:latin typeface="Arial"/>
              </a:rPr>
              <a:t>Long-term residency likelihood</a:t>
            </a:r>
          </a:p>
        </p:txBody>
      </p:sp>
      <p:sp>
        <p:nvSpPr>
          <p:cNvPr id="10" name="Rounded Rectangle 9"/>
          <p:cNvSpPr/>
          <p:nvPr/>
        </p:nvSpPr>
        <p:spPr>
          <a:xfrm>
            <a:off x="8961120" y="1417320"/>
            <a:ext cx="2834640" cy="448056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82880" tIns="182880" rIns="137160"/>
          <a:lstStyle/>
          <a:p>
            <a:pPr algn="ctr">
              <a:spcAft>
                <a:spcPts val="800"/>
              </a:spcAft>
            </a:pPr>
            <a:r>
              <a:rPr b="1" sz="1400">
                <a:solidFill>
                  <a:srgbClr val="002856"/>
                </a:solidFill>
                <a:latin typeface="Arial"/>
              </a:rPr>
              <a:t>Pilot Specifications</a:t>
            </a:r>
            <a:r>
              <a:rPr b="1" sz="1200">
                <a:solidFill>
                  <a:srgbClr val="FF8200"/>
                </a:solidFill>
                <a:latin typeface="Arial"/>
              </a:rPr>
              <a:t>•  </a:t>
            </a:r>
            <a:r>
              <a:rPr sz="1200">
                <a:solidFill>
                  <a:srgbClr val="404040"/>
                </a:solidFill>
                <a:latin typeface="Arial"/>
              </a:rPr>
              <a:t>500 qualified homes</a:t>
            </a:r>
          </a:p>
          <a:p>
            <a:pPr>
              <a:spcAft>
                <a:spcPts val="800"/>
              </a:spcAft>
            </a:pPr>
            <a:r>
              <a:rPr b="1" sz="1200">
                <a:solidFill>
                  <a:srgbClr val="FF8200"/>
                </a:solidFill>
                <a:latin typeface="Arial"/>
              </a:rPr>
              <a:t>•  </a:t>
            </a:r>
            <a:r>
              <a:rPr sz="1200">
                <a:solidFill>
                  <a:srgbClr val="404040"/>
                </a:solidFill>
                <a:latin typeface="Arial"/>
              </a:rPr>
              <a:t>6 kW solar / home</a:t>
            </a:r>
          </a:p>
          <a:p>
            <a:pPr>
              <a:spcAft>
                <a:spcPts val="800"/>
              </a:spcAft>
            </a:pPr>
            <a:r>
              <a:rPr b="1" sz="1200">
                <a:solidFill>
                  <a:srgbClr val="FF8200"/>
                </a:solidFill>
                <a:latin typeface="Arial"/>
              </a:rPr>
              <a:t>•  </a:t>
            </a:r>
            <a:r>
              <a:rPr sz="1200">
                <a:solidFill>
                  <a:srgbClr val="404040"/>
                </a:solidFill>
                <a:latin typeface="Arial"/>
              </a:rPr>
              <a:t>15 kWh battery / home</a:t>
            </a:r>
          </a:p>
          <a:p>
            <a:pPr>
              <a:spcAft>
                <a:spcPts val="800"/>
              </a:spcAft>
            </a:pPr>
            <a:r>
              <a:rPr b="1" sz="1200">
                <a:solidFill>
                  <a:srgbClr val="FF8200"/>
                </a:solidFill>
                <a:latin typeface="Arial"/>
              </a:rPr>
              <a:t>•  </a:t>
            </a:r>
            <a:r>
              <a:rPr sz="1200">
                <a:solidFill>
                  <a:srgbClr val="404040"/>
                </a:solidFill>
                <a:latin typeface="Arial"/>
              </a:rPr>
              <a:t>3-year pilot</a:t>
            </a:r>
          </a:p>
          <a:p>
            <a:pPr>
              <a:spcAft>
                <a:spcPts val="800"/>
              </a:spcAft>
            </a:pPr>
            <a:r>
              <a:rPr b="1" sz="1200">
                <a:solidFill>
                  <a:srgbClr val="FF8200"/>
                </a:solidFill>
                <a:latin typeface="Arial"/>
              </a:rPr>
              <a:t>•  </a:t>
            </a:r>
            <a:r>
              <a:rPr sz="1200">
                <a:solidFill>
                  <a:srgbClr val="404040"/>
                </a:solidFill>
                <a:latin typeface="Arial"/>
              </a:rPr>
              <a:t>Utility-owned assets</a:t>
            </a:r>
          </a:p>
        </p:txBody>
      </p:sp>
      <p:sp>
        <p:nvSpPr>
          <p:cNvPr id="11" name="TextBox 10"/>
          <p:cNvSpPr txBox="1"/>
          <p:nvPr/>
        </p:nvSpPr>
        <p:spPr>
          <a:xfrm>
            <a:off x="3566160" y="2423160"/>
            <a:ext cx="5029200" cy="320040"/>
          </a:xfrm>
          <a:prstGeom prst="rect">
            <a:avLst/>
          </a:prstGeom>
          <a:noFill/>
        </p:spPr>
        <p:txBody>
          <a:bodyPr wrap="none">
            <a:spAutoFit/>
          </a:bodyPr>
          <a:lstStyle/>
          <a:p>
            <a:pPr algn="ctr"/>
            <a:r>
              <a:rPr b="1" sz="1100">
                <a:solidFill>
                  <a:srgbClr val="FF8200"/>
                </a:solidFill>
                <a:latin typeface="Arial"/>
              </a:rPr>
              <a:t>THE PILOT FLOW</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02856"/>
                </a:solidFill>
                <a:latin typeface="Arial"/>
              </a:rPr>
              <a:t>Michigan Pilot Business Case</a:t>
            </a:r>
          </a:p>
        </p:txBody>
      </p:sp>
      <p:sp>
        <p:nvSpPr>
          <p:cNvPr id="3" name="TextBox 2"/>
          <p:cNvSpPr txBox="1"/>
          <p:nvPr/>
        </p:nvSpPr>
        <p:spPr>
          <a:xfrm>
            <a:off x="457200" y="914400"/>
            <a:ext cx="11247120" cy="365760"/>
          </a:xfrm>
          <a:prstGeom prst="rect">
            <a:avLst/>
          </a:prstGeom>
          <a:noFill/>
        </p:spPr>
        <p:txBody>
          <a:bodyPr wrap="none">
            <a:spAutoFit/>
          </a:bodyPr>
          <a:lstStyle/>
          <a:p>
            <a:r>
              <a:rPr sz="1300" i="1">
                <a:solidFill>
                  <a:srgbClr val="404040"/>
                </a:solidFill>
                <a:latin typeface="Arial"/>
              </a:rPr>
              <a:t>The pilot creates value for DTE, homeowners, and APTIM.</a:t>
            </a:r>
          </a:p>
        </p:txBody>
      </p:sp>
      <p:sp>
        <p:nvSpPr>
          <p:cNvPr id="4" name="Rounded Rectangle 3"/>
          <p:cNvSpPr/>
          <p:nvPr/>
        </p:nvSpPr>
        <p:spPr>
          <a:xfrm>
            <a:off x="365760" y="1463040"/>
            <a:ext cx="3657600"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3657600" cy="457200"/>
          </a:xfrm>
          <a:prstGeom prst="roundRect">
            <a:avLst>
              <a:gd name="adj" fmla="val 15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Project Investment</a:t>
            </a:r>
          </a:p>
        </p:txBody>
      </p:sp>
      <p:sp>
        <p:nvSpPr>
          <p:cNvPr id="6" name="TextBox 5"/>
          <p:cNvSpPr txBox="1"/>
          <p:nvPr/>
        </p:nvSpPr>
        <p:spPr>
          <a:xfrm>
            <a:off x="502920" y="2057400"/>
            <a:ext cx="3383280" cy="3063240"/>
          </a:xfrm>
          <a:prstGeom prst="rect">
            <a:avLst/>
          </a:prstGeom>
          <a:noFill/>
        </p:spPr>
        <p:txBody>
          <a:bodyPr wrap="square">
            <a:spAutoFit/>
          </a:bodyPr>
          <a:lstStyle/>
          <a:p>
            <a:pPr>
              <a:spcAft>
                <a:spcPts val="0"/>
              </a:spcAft>
            </a:pPr>
            <a:r>
              <a:rPr b="1" sz="1600">
                <a:solidFill>
                  <a:srgbClr val="002856"/>
                </a:solidFill>
                <a:latin typeface="Arial"/>
              </a:rPr>
              <a:t>500  </a:t>
            </a:r>
          </a:p>
          <a:p>
            <a:pPr>
              <a:spcAft>
                <a:spcPts val="1000"/>
              </a:spcAft>
            </a:pPr>
            <a:r>
              <a:rPr sz="1000">
                <a:solidFill>
                  <a:srgbClr val="404040"/>
                </a:solidFill>
                <a:latin typeface="Arial"/>
              </a:rPr>
              <a:t>Homes</a:t>
            </a:r>
          </a:p>
          <a:p>
            <a:pPr>
              <a:spcAft>
                <a:spcPts val="0"/>
              </a:spcAft>
            </a:pPr>
            <a:r>
              <a:rPr b="1" sz="1600">
                <a:solidFill>
                  <a:srgbClr val="002856"/>
                </a:solidFill>
                <a:latin typeface="Arial"/>
              </a:rPr>
              <a:t>3 MW  </a:t>
            </a:r>
          </a:p>
          <a:p>
            <a:pPr>
              <a:spcAft>
                <a:spcPts val="1000"/>
              </a:spcAft>
            </a:pPr>
            <a:r>
              <a:rPr sz="1000">
                <a:solidFill>
                  <a:srgbClr val="404040"/>
                </a:solidFill>
                <a:latin typeface="Arial"/>
              </a:rPr>
              <a:t>Solar Capacity</a:t>
            </a:r>
          </a:p>
          <a:p>
            <a:pPr>
              <a:spcAft>
                <a:spcPts val="0"/>
              </a:spcAft>
            </a:pPr>
            <a:r>
              <a:rPr b="1" sz="1600">
                <a:solidFill>
                  <a:srgbClr val="002856"/>
                </a:solidFill>
                <a:latin typeface="Arial"/>
              </a:rPr>
              <a:t>7.5 MWh  </a:t>
            </a:r>
          </a:p>
          <a:p>
            <a:pPr>
              <a:spcAft>
                <a:spcPts val="1000"/>
              </a:spcAft>
            </a:pPr>
            <a:r>
              <a:rPr sz="1000">
                <a:solidFill>
                  <a:srgbClr val="404040"/>
                </a:solidFill>
                <a:latin typeface="Arial"/>
              </a:rPr>
              <a:t>Battery Capacity</a:t>
            </a:r>
          </a:p>
          <a:p>
            <a:pPr>
              <a:spcAft>
                <a:spcPts val="0"/>
              </a:spcAft>
            </a:pPr>
            <a:r>
              <a:rPr b="1" sz="1600">
                <a:solidFill>
                  <a:srgbClr val="002856"/>
                </a:solidFill>
                <a:latin typeface="Arial"/>
              </a:rPr>
              <a:t>$34,500  </a:t>
            </a:r>
          </a:p>
          <a:p>
            <a:pPr>
              <a:spcAft>
                <a:spcPts val="1000"/>
              </a:spcAft>
            </a:pPr>
            <a:r>
              <a:rPr sz="1000">
                <a:solidFill>
                  <a:srgbClr val="404040"/>
                </a:solidFill>
                <a:latin typeface="Arial"/>
              </a:rPr>
              <a:t>Cost per Home</a:t>
            </a:r>
          </a:p>
          <a:p>
            <a:pPr>
              <a:spcAft>
                <a:spcPts val="0"/>
              </a:spcAft>
            </a:pPr>
            <a:r>
              <a:rPr b="1" sz="1600">
                <a:solidFill>
                  <a:srgbClr val="002856"/>
                </a:solidFill>
                <a:latin typeface="Arial"/>
              </a:rPr>
              <a:t>$17.25M  </a:t>
            </a:r>
          </a:p>
          <a:p>
            <a:pPr>
              <a:spcAft>
                <a:spcPts val="1000"/>
              </a:spcAft>
            </a:pPr>
            <a:r>
              <a:rPr sz="1000">
                <a:solidFill>
                  <a:srgbClr val="404040"/>
                </a:solidFill>
                <a:latin typeface="Arial"/>
              </a:rPr>
              <a:t>Gross CAPEX</a:t>
            </a:r>
          </a:p>
        </p:txBody>
      </p:sp>
      <p:sp>
        <p:nvSpPr>
          <p:cNvPr id="7" name="Rounded Rectangle 6"/>
          <p:cNvSpPr/>
          <p:nvPr/>
        </p:nvSpPr>
        <p:spPr>
          <a:xfrm>
            <a:off x="4251960" y="1463040"/>
            <a:ext cx="3657600"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51960" y="1463040"/>
            <a:ext cx="3657600" cy="457200"/>
          </a:xfrm>
          <a:prstGeom prst="roundRect">
            <a:avLst>
              <a:gd name="adj" fmla="val 15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APTIM Revenue</a:t>
            </a:r>
          </a:p>
        </p:txBody>
      </p:sp>
      <p:sp>
        <p:nvSpPr>
          <p:cNvPr id="9" name="TextBox 8"/>
          <p:cNvSpPr txBox="1"/>
          <p:nvPr/>
        </p:nvSpPr>
        <p:spPr>
          <a:xfrm>
            <a:off x="4389120" y="2057400"/>
            <a:ext cx="3383280" cy="3063240"/>
          </a:xfrm>
          <a:prstGeom prst="rect">
            <a:avLst/>
          </a:prstGeom>
          <a:noFill/>
        </p:spPr>
        <p:txBody>
          <a:bodyPr wrap="square">
            <a:spAutoFit/>
          </a:bodyPr>
          <a:lstStyle/>
          <a:p>
            <a:pPr>
              <a:spcAft>
                <a:spcPts val="0"/>
              </a:spcAft>
            </a:pPr>
            <a:r>
              <a:rPr b="1" sz="1600">
                <a:solidFill>
                  <a:srgbClr val="FF8200"/>
                </a:solidFill>
                <a:latin typeface="Arial"/>
              </a:rPr>
              <a:t>$1.5M  </a:t>
            </a:r>
          </a:p>
          <a:p>
            <a:pPr>
              <a:spcAft>
                <a:spcPts val="1000"/>
              </a:spcAft>
            </a:pPr>
            <a:r>
              <a:rPr sz="1000">
                <a:solidFill>
                  <a:srgbClr val="404040"/>
                </a:solidFill>
                <a:latin typeface="Arial"/>
              </a:rPr>
              <a:t>Annual Contract</a:t>
            </a:r>
          </a:p>
          <a:p>
            <a:pPr>
              <a:spcAft>
                <a:spcPts val="0"/>
              </a:spcAft>
            </a:pPr>
            <a:r>
              <a:rPr b="1" sz="1600">
                <a:solidFill>
                  <a:srgbClr val="FF8200"/>
                </a:solidFill>
                <a:latin typeface="Arial"/>
              </a:rPr>
              <a:t>3 Years  </a:t>
            </a:r>
          </a:p>
          <a:p>
            <a:pPr>
              <a:spcAft>
                <a:spcPts val="1000"/>
              </a:spcAft>
            </a:pPr>
            <a:r>
              <a:rPr sz="1000">
                <a:solidFill>
                  <a:srgbClr val="404040"/>
                </a:solidFill>
                <a:latin typeface="Arial"/>
              </a:rPr>
              <a:t>Pilot Length</a:t>
            </a:r>
          </a:p>
          <a:p>
            <a:pPr>
              <a:spcAft>
                <a:spcPts val="0"/>
              </a:spcAft>
            </a:pPr>
            <a:r>
              <a:rPr b="1" sz="1600">
                <a:solidFill>
                  <a:srgbClr val="FF8200"/>
                </a:solidFill>
                <a:latin typeface="Arial"/>
              </a:rPr>
              <a:t>$4.5M  </a:t>
            </a:r>
          </a:p>
          <a:p>
            <a:pPr>
              <a:spcAft>
                <a:spcPts val="1000"/>
              </a:spcAft>
            </a:pPr>
            <a:r>
              <a:rPr sz="1000">
                <a:solidFill>
                  <a:srgbClr val="404040"/>
                </a:solidFill>
                <a:latin typeface="Arial"/>
              </a:rPr>
              <a:t>Total Revenue</a:t>
            </a:r>
          </a:p>
        </p:txBody>
      </p:sp>
      <p:sp>
        <p:nvSpPr>
          <p:cNvPr id="10" name="Rounded Rectangle 9"/>
          <p:cNvSpPr/>
          <p:nvPr/>
        </p:nvSpPr>
        <p:spPr>
          <a:xfrm>
            <a:off x="8138160" y="1463040"/>
            <a:ext cx="3657600"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138160" y="1463040"/>
            <a:ext cx="3657600" cy="457200"/>
          </a:xfrm>
          <a:prstGeom prst="roundRect">
            <a:avLst>
              <a:gd name="adj" fmla="val 15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FFFFF"/>
                </a:solidFill>
                <a:latin typeface="Arial"/>
              </a:rPr>
              <a:t>Customer Benefits</a:t>
            </a:r>
          </a:p>
        </p:txBody>
      </p:sp>
      <p:sp>
        <p:nvSpPr>
          <p:cNvPr id="12" name="TextBox 11"/>
          <p:cNvSpPr txBox="1"/>
          <p:nvPr/>
        </p:nvSpPr>
        <p:spPr>
          <a:xfrm>
            <a:off x="8275320" y="2103120"/>
            <a:ext cx="3383280" cy="3017520"/>
          </a:xfrm>
          <a:prstGeom prst="rect">
            <a:avLst/>
          </a:prstGeom>
          <a:noFill/>
        </p:spPr>
        <p:txBody>
          <a:bodyPr wrap="square">
            <a:spAutoFit/>
          </a:bodyPr>
          <a:lstStyle/>
          <a:p>
            <a:pPr>
              <a:spcAft>
                <a:spcPts val="1000"/>
              </a:spcAft>
            </a:pPr>
            <a:r>
              <a:rPr b="1" sz="1400">
                <a:solidFill>
                  <a:srgbClr val="00A19B"/>
                </a:solidFill>
                <a:latin typeface="Arial"/>
              </a:rPr>
              <a:t>✓  </a:t>
            </a:r>
            <a:r>
              <a:rPr sz="1400">
                <a:solidFill>
                  <a:srgbClr val="404040"/>
                </a:solidFill>
                <a:latin typeface="Arial"/>
              </a:rPr>
              <a:t>~$700 annual savings</a:t>
            </a:r>
          </a:p>
          <a:p>
            <a:pPr>
              <a:spcAft>
                <a:spcPts val="1000"/>
              </a:spcAft>
            </a:pPr>
            <a:r>
              <a:rPr b="1" sz="1400">
                <a:solidFill>
                  <a:srgbClr val="00A19B"/>
                </a:solidFill>
                <a:latin typeface="Arial"/>
              </a:rPr>
              <a:t>✓  </a:t>
            </a:r>
            <a:r>
              <a:rPr sz="1400">
                <a:solidFill>
                  <a:srgbClr val="404040"/>
                </a:solidFill>
                <a:latin typeface="Arial"/>
              </a:rPr>
              <a:t>40-50% bill reduction</a:t>
            </a:r>
          </a:p>
          <a:p>
            <a:pPr>
              <a:spcAft>
                <a:spcPts val="1000"/>
              </a:spcAft>
            </a:pPr>
            <a:r>
              <a:rPr b="1" sz="1400">
                <a:solidFill>
                  <a:srgbClr val="00A19B"/>
                </a:solidFill>
                <a:latin typeface="Arial"/>
              </a:rPr>
              <a:t>✓  </a:t>
            </a:r>
            <a:r>
              <a:rPr sz="1400">
                <a:solidFill>
                  <a:srgbClr val="404040"/>
                </a:solidFill>
                <a:latin typeface="Arial"/>
              </a:rPr>
              <a:t>Backup power</a:t>
            </a:r>
          </a:p>
          <a:p>
            <a:pPr>
              <a:spcAft>
                <a:spcPts val="1000"/>
              </a:spcAft>
            </a:pPr>
            <a:r>
              <a:rPr b="1" sz="1400">
                <a:solidFill>
                  <a:srgbClr val="00A19B"/>
                </a:solidFill>
                <a:latin typeface="Arial"/>
              </a:rPr>
              <a:t>✓  </a:t>
            </a:r>
            <a:r>
              <a:rPr sz="1400">
                <a:solidFill>
                  <a:srgbClr val="404040"/>
                </a:solidFill>
                <a:latin typeface="Arial"/>
              </a:rPr>
              <a:t>No upfront investment</a:t>
            </a:r>
          </a:p>
        </p:txBody>
      </p:sp>
      <p:sp>
        <p:nvSpPr>
          <p:cNvPr id="13" name="Rounded Rectangle 12"/>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7" ma:contentTypeDescription="Create a new document." ma:contentTypeScope="" ma:versionID="d4641c6c4f173511658f296f0e247815">
  <xsd:schema xmlns:xsd="http://www.w3.org/2001/XMLSchema" xmlns:xs="http://www.w3.org/2001/XMLSchema" xmlns:p="http://schemas.microsoft.com/office/2006/metadata/properties" xmlns:ns2="6cb61cf8-a1b1-4278-9585-9a56d9b9b454" targetNamespace="http://schemas.microsoft.com/office/2006/metadata/properties" ma:root="true" ma:fieldsID="1a9972942c6238e0919299bf21f7ef2d"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230C146-E824-4515-851C-F7A124164F59}"/>
</file>

<file path=customXml/itemProps2.xml><?xml version="1.0" encoding="utf-8"?>
<ds:datastoreItem xmlns:ds="http://schemas.openxmlformats.org/officeDocument/2006/customXml" ds:itemID="{F48DA0E0-1EA8-474F-9718-4791250C4862}"/>
</file>

<file path=customXml/itemProps3.xml><?xml version="1.0" encoding="utf-8"?>
<ds:datastoreItem xmlns:ds="http://schemas.openxmlformats.org/officeDocument/2006/customXml" ds:itemID="{2A3605C4-03E5-4AAA-A5E9-706881023D5D}"/>
</file>

<file path=customXml/itemProps4.xml><?xml version="1.0" encoding="utf-8"?>
<ds:datastoreItem xmlns:ds="http://schemas.openxmlformats.org/officeDocument/2006/customXml" ds:itemID="{C55B5BE0-1FD9-4B5D-8EE8-533F4F958440}"/>
</file>

<file path=docProps/app.xml><?xml version="1.0" encoding="utf-8"?>
<Properties xmlns="http://schemas.openxmlformats.org/officeDocument/2006/extended-properties" xmlns:vt="http://schemas.openxmlformats.org/officeDocument/2006/docPropsVTypes">
  <Template/>
  <TotalTime>1472</TotalTime>
  <Words>1593</Words>
  <Application>Microsoft Office PowerPoint</Application>
  <PresentationFormat>Widescreen</PresentationFormat>
  <Paragraphs>149</Paragraphs>
  <Slides>19</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Aptos</vt:lpstr>
      <vt:lpstr>Arial</vt:lpstr>
      <vt:lpstr>Arial Black</vt:lpstr>
      <vt:lpstr>Arial Rounded MT Bold</vt:lpstr>
      <vt:lpstr>1_APTIM THEME</vt:lpstr>
      <vt:lpstr>2_APTIM THEME TITLES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Presentation Title</vt:lpstr>
      <vt:lpstr>PowerPoint Presentation</vt:lpstr>
      <vt:lpstr>PowerPoint Presentation</vt:lpstr>
      <vt:lpstr>PowerPoint Presentation</vt:lpstr>
      <vt:lpstr>Section Title</vt:lpstr>
      <vt:lpstr>PowerPoint Presentation</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Popp, Marcia J</dc:creator>
  <cp:lastModifiedBy>Popp, Marcia J</cp:lastModifiedBy>
  <cp:revision>13</cp:revision>
  <dcterms:created xsi:type="dcterms:W3CDTF">2025-11-04T14:56:54Z</dcterms:created>
  <dcterms:modified xsi:type="dcterms:W3CDTF">2026-04-29T17:20:04Z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
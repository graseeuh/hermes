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about:</a:t>
            </a:r>
          </a:p>
          <a:p>
            <a:r>
              <a:t>- PA 235</a:t>
            </a:r>
          </a:p>
          <a:p>
            <a:r>
              <a:t>- DTE's storage requirements</a:t>
            </a:r>
          </a:p>
          <a:p>
            <a:r>
              <a:t>- Why Detroit was not selected</a:t>
            </a:r>
          </a:p>
          <a:p>
            <a:r>
              <a:t>- Why Ann Arbor provides higher probability of success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Explain:</a:t>
            </a:r>
          </a:p>
          <a:p>
            <a:r>
              <a:t>- Why 15 kWh</a:t>
            </a:r>
          </a:p>
          <a:p>
            <a:r>
              <a:t>- Why 6 kW</a:t>
            </a:r>
          </a:p>
          <a:p>
            <a:r>
              <a:t>- Why 500 homes</a:t>
            </a:r>
          </a:p>
          <a:p>
            <a:r>
              <a:t>- Why existing APTIM inspectors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2A5E"/>
                </a:solidFill>
                <a:latin typeface="Arial"/>
              </a:rPr>
              <a:t>Client Use Case: Why Michigan?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777777"/>
                </a:solidFill>
                <a:latin typeface="Arial"/>
              </a:rPr>
              <a:t>Michigan presents the strongest combination of regulatory need, storage demand, and pilot feasibility.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E87B22"/>
                </a:solidFill>
                <a:latin typeface="Arial"/>
              </a:rPr>
              <a:t>Why Michigan?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394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Arial"/>
              </a:rPr>
              <a:t>✓ 2,500 MW statewide storage target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Arial"/>
              </a:rPr>
              <a:t>✓ DTE identified 850+ MW storage need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Arial"/>
              </a:rPr>
              <a:t>✓ Growing demand from electrification and data centers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Arial"/>
              </a:rPr>
              <a:t>✓ Utility-scale battery deployment already underway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37160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E87B22"/>
                </a:solidFill>
                <a:latin typeface="Arial"/>
              </a:rPr>
              <a:t>Why Ann Arbor?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828800"/>
            <a:ext cx="5394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Arial"/>
              </a:rPr>
              <a:t>✓ DTE service territory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Arial"/>
              </a:rPr>
              <a:t>✓ 50,000+ households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Arial"/>
              </a:rPr>
              <a:t>✓ Strong sustainability culture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Arial"/>
              </a:rPr>
              <a:t>✓ High solar adoption potential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Arial"/>
              </a:rPr>
              <a:t>✓ Pilot participation target = ~1% of households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806440"/>
            <a:ext cx="11247120" cy="685800"/>
          </a:xfrm>
          <a:prstGeom prst="rect">
            <a:avLst/>
          </a:prstGeom>
          <a:solidFill>
            <a:srgbClr val="F2F4F8"/>
          </a:solidFill>
          <a:ln w="19050">
            <a:solidFill>
              <a:srgbClr val="E87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/>
            <a:r>
              <a:rPr sz="1300" i="1" b="0">
                <a:solidFill>
                  <a:srgbClr val="1B2A5E"/>
                </a:solidFill>
                <a:latin typeface="Arial"/>
              </a:rPr>
              <a:t>Michigan's storage mandate, growing demand, and favorable customer demographics make Ann Arbor an ideal pilot location for a utility-owned residential battery fleet.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888888"/>
                </a:solidFill>
                <a:latin typeface="Arial"/>
              </a:rPr>
              <a:t>Confidential. Not to be copied, distributed, or reproduced without prior approval. © 2026 APTIM -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888888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2A5E"/>
                </a:solidFill>
                <a:latin typeface="Arial"/>
              </a:rPr>
              <a:t>Michigan Pilot Deployment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777777"/>
                </a:solidFill>
                <a:latin typeface="Arial"/>
              </a:rPr>
              <a:t>This is exactly how the pilot would operate.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3280" y="1417320"/>
            <a:ext cx="5394960" cy="658368"/>
          </a:xfrm>
          <a:prstGeom prst="roundRect">
            <a:avLst/>
          </a:prstGeom>
          <a:solidFill>
            <a:srgbClr val="1B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400">
                <a:solidFill>
                  <a:srgbClr val="FFFFFF"/>
                </a:solidFill>
                <a:latin typeface="Arial"/>
              </a:rPr>
              <a:t>DTE Energy</a:t>
            </a:r>
          </a:p>
          <a:p>
            <a:pPr algn="ctr"/>
            <a:r>
              <a:rPr sz="1000" i="1">
                <a:solidFill>
                  <a:srgbClr val="FFFFFF"/>
                </a:solidFill>
                <a:latin typeface="Arial"/>
              </a:rPr>
              <a:t>(Owns Assets)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97880" y="2029968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B2A5E"/>
                </a:solidFill>
              </a:rPr>
              <a:t>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2276856"/>
            <a:ext cx="5394960" cy="658368"/>
          </a:xfrm>
          <a:prstGeom prst="roundRect">
            <a:avLst/>
          </a:prstGeom>
          <a:solidFill>
            <a:srgbClr val="E87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400">
                <a:solidFill>
                  <a:srgbClr val="FFFFFF"/>
                </a:solidFill>
                <a:latin typeface="Arial"/>
              </a:rPr>
              <a:t>APTIM</a:t>
            </a:r>
          </a:p>
          <a:p>
            <a:pPr algn="ctr"/>
            <a:r>
              <a:rPr sz="1000" i="1">
                <a:solidFill>
                  <a:srgbClr val="FFFFFF"/>
                </a:solidFill>
                <a:latin typeface="Arial"/>
              </a:rPr>
              <a:t>(Administers Program)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97880" y="2889504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B2A5E"/>
                </a:solidFill>
              </a:rPr>
              <a:t>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3136392"/>
            <a:ext cx="5394960" cy="658368"/>
          </a:xfrm>
          <a:prstGeom prst="roundRect">
            <a:avLst/>
          </a:prstGeom>
          <a:solidFill>
            <a:srgbClr val="5A7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400">
                <a:solidFill>
                  <a:srgbClr val="FFFFFF"/>
                </a:solidFill>
                <a:latin typeface="Arial"/>
              </a:rPr>
              <a:t>Certified Installers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374904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B2A5E"/>
                </a:solidFill>
              </a:rPr>
              <a:t>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3995928"/>
            <a:ext cx="5394960" cy="658368"/>
          </a:xfrm>
          <a:prstGeom prst="roundRect">
            <a:avLst/>
          </a:prstGeom>
          <a:solidFill>
            <a:srgbClr val="2E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400">
                <a:solidFill>
                  <a:srgbClr val="FFFFFF"/>
                </a:solidFill>
                <a:latin typeface="Arial"/>
              </a:rPr>
              <a:t>500 Qualified Homes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97880" y="4608576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B2A5E"/>
                </a:solidFill>
              </a:rPr>
              <a:t>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4855464"/>
            <a:ext cx="5394960" cy="658368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400">
                <a:solidFill>
                  <a:srgbClr val="FFFFFF"/>
                </a:solidFill>
                <a:latin typeface="Arial"/>
              </a:rPr>
              <a:t>3 MW Solar Fleet + 7.5 MWh Battery Fleet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417320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E87B22"/>
                </a:solidFill>
                <a:latin typeface="Arial"/>
              </a:rPr>
              <a:t>Participant Requirements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1783080"/>
            <a:ext cx="2834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• DTE customer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• Owner occupied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• Suitable roof condition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• Minimal shading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• South-facing roof preferred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• Long-term residency likelihood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6840" y="1417320"/>
            <a:ext cx="2788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E87B22"/>
                </a:solidFill>
                <a:latin typeface="Arial"/>
              </a:rPr>
              <a:t>Pilot Specifications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1783080"/>
            <a:ext cx="2788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• 500 qualified homes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• 6 kW solar / home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• 15 kWh battery / home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• 3-year pilot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• Utility-owned assets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806440"/>
            <a:ext cx="11247120" cy="685800"/>
          </a:xfrm>
          <a:prstGeom prst="rect">
            <a:avLst/>
          </a:prstGeom>
          <a:solidFill>
            <a:srgbClr val="F2F4F8"/>
          </a:solidFill>
          <a:ln w="19050">
            <a:solidFill>
              <a:srgbClr val="E87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/>
            <a:r>
              <a:rPr sz="1300" i="1" b="0">
                <a:solidFill>
                  <a:srgbClr val="1B2A5E"/>
                </a:solidFill>
                <a:latin typeface="Arial"/>
              </a:rPr>
              <a:t>APTIM leverages existing program administration, contractor management, inspection, and reporting capabilities to support DTE-owned distributed energy assets.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888888"/>
                </a:solidFill>
                <a:latin typeface="Arial"/>
              </a:rPr>
              <a:t>Confidential. Not to be copied, distributed, or reproduced without prior approval. © 2026 APTIM - All rights reserved.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888888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2A5E"/>
                </a:solidFill>
                <a:latin typeface="Arial"/>
              </a:rPr>
              <a:t>Michigan Pilot Business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777777"/>
                </a:solidFill>
                <a:latin typeface="Arial"/>
              </a:rPr>
              <a:t>The pilot creates value for DTE, homeowners, and APTIM.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E87B22"/>
                </a:solidFill>
                <a:latin typeface="Arial"/>
              </a:rPr>
              <a:t>Project Investment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737360"/>
          <a:ext cx="3657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645920"/>
              </a:tblGrid>
              <a:tr h="3962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B2A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B2A5E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Homes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500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Solar Capacity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 MW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Battery Capacity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7.5 MWh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Cost per Home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$34,500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Gross CAPEX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$17.25M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297680" y="1371600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E87B22"/>
                </a:solidFill>
                <a:latin typeface="Arial"/>
              </a:rPr>
              <a:t>APTIM Revenue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297680" y="1737360"/>
          <a:ext cx="356616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554480"/>
              </a:tblGrid>
              <a:tr h="3886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B2A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B2A5E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Annual Contract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$1.5M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Pilot Length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 Years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Total Revenue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$4.5M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138160" y="13716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E87B22"/>
                </a:solidFill>
                <a:latin typeface="Arial"/>
              </a:rPr>
              <a:t>Customer Benefits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737360"/>
            <a:ext cx="3657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  <a:latin typeface="Arial"/>
              </a:rPr>
              <a:t>✓ ~$700 annual savings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  <a:latin typeface="Arial"/>
              </a:rPr>
              <a:t>✓ 40-50% bill reduction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  <a:latin typeface="Arial"/>
              </a:rPr>
              <a:t>✓ Backup power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  <a:latin typeface="Arial"/>
              </a:rPr>
              <a:t>✓ No upfront investment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937760"/>
            <a:ext cx="11247120" cy="914400"/>
          </a:xfrm>
          <a:prstGeom prst="rect">
            <a:avLst/>
          </a:prstGeom>
          <a:solidFill>
            <a:srgbClr val="E3F2E1"/>
          </a:solidFill>
          <a:ln w="19050">
            <a:solidFill>
              <a:srgbClr val="E87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/>
            <a:r>
              <a:rPr sz="1500" i="0" b="1">
                <a:solidFill>
                  <a:srgbClr val="1B2A5E"/>
                </a:solidFill>
                <a:latin typeface="Arial"/>
              </a:rPr>
              <a:t>Launch a 500-home Ann Arbor pilot to demonstrate a scalable utility-owned solar and battery fleet model while supporting Michigan's long-term storage objectives.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888888"/>
                </a:solidFill>
                <a:latin typeface="Arial"/>
              </a:rPr>
              <a:t>Confidential. Not to be copied, distributed, or reproduced without prior approval. © 2026 APTIM - All rights reserved.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888888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
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B2A5E"/>
                </a:solidFill>
                <a:latin typeface="Arial"/>
              </a:rPr>
              <a:t>Implementation Approach: How APTIM Runs This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777777"/>
                </a:solidFill>
                <a:latin typeface="Arial"/>
              </a:rPr>
              <a:t>Four phases, from contract award to ongoing fleet operations — the same lifecycle APTIM already runs for Focus on Energy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2606040" cy="2606040"/>
          </a:xfrm>
          <a:prstGeom prst="rect">
            <a:avLst/>
          </a:prstGeom>
          <a:solidFill>
            <a:srgbClr val="1B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/>
          <a:lstStyle/>
          <a:p>
            <a:pPr algn="ctr"/>
            <a:r>
              <a:rPr b="1" sz="1500">
                <a:solidFill>
                  <a:srgbClr val="FFFFFF"/>
                </a:solidFill>
                <a:latin typeface="Arial"/>
              </a:rPr>
              <a:t>Phase 1
Win &amp; Design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Respond to utility RFP; design program rules, eligibility criteria, and rate-case support materials</a:t>
            </a:r>
          </a:p>
          <a:p>
            <a:pPr algn="ctr"/>
            <a:r>
              <a:rPr sz="1100" b="1" i="1">
                <a:solidFill>
                  <a:srgbClr val="FFFFFF"/>
                </a:solidFill>
                <a:latin typeface="Arial"/>
              </a:rPr>
              <a:t>0-6 mo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1508760"/>
            <a:ext cx="2606040" cy="2606040"/>
          </a:xfrm>
          <a:prstGeom prst="rect">
            <a:avLst/>
          </a:prstGeom>
          <a:solidFill>
            <a:srgbClr val="E87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/>
          <a:lstStyle/>
          <a:p>
            <a:pPr algn="ctr"/>
            <a:r>
              <a:rPr b="1" sz="1500">
                <a:solidFill>
                  <a:srgbClr val="FFFFFF"/>
                </a:solidFill>
                <a:latin typeface="Arial"/>
              </a:rPr>
              <a:t>Phase 2
Recruit &amp; Enroll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Identify target neighborhoods (outage-prone, high-mandate-value areas); recruit households; execute hosting agreements</a:t>
            </a:r>
          </a:p>
          <a:p>
            <a:pPr algn="ctr"/>
            <a:r>
              <a:rPr sz="1100" b="1" i="1">
                <a:solidFill>
                  <a:srgbClr val="FFFFFF"/>
                </a:solidFill>
                <a:latin typeface="Arial"/>
              </a:rPr>
              <a:t>6-12 mo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508760"/>
            <a:ext cx="2606040" cy="2606040"/>
          </a:xfrm>
          <a:prstGeom prst="rect">
            <a:avLst/>
          </a:prstGeom>
          <a:solidFill>
            <a:srgbClr val="1B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/>
          <a:lstStyle/>
          <a:p>
            <a:pPr algn="ctr"/>
            <a:r>
              <a:rPr b="1" sz="1500">
                <a:solidFill>
                  <a:srgbClr val="FFFFFF"/>
                </a:solidFill>
                <a:latin typeface="Arial"/>
              </a:rPr>
              <a:t>Phase 3
Install &amp; QA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Manage certified contractor network for installation; perform install QA; commission fleet onto dispatch software</a:t>
            </a:r>
          </a:p>
          <a:p>
            <a:pPr algn="ctr"/>
            <a:r>
              <a:rPr sz="1100" b="1" i="1">
                <a:solidFill>
                  <a:srgbClr val="FFFFFF"/>
                </a:solidFill>
                <a:latin typeface="Arial"/>
              </a:rPr>
              <a:t>12-24 mo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0" y="1508760"/>
            <a:ext cx="2606040" cy="2606040"/>
          </a:xfrm>
          <a:prstGeom prst="rect">
            <a:avLst/>
          </a:prstGeom>
          <a:solidFill>
            <a:srgbClr val="E87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/>
          <a:lstStyle/>
          <a:p>
            <a:pPr algn="ctr"/>
            <a:r>
              <a:rPr b="1" sz="1500">
                <a:solidFill>
                  <a:srgbClr val="FFFFFF"/>
                </a:solidFill>
                <a:latin typeface="Arial"/>
              </a:rPr>
              <a:t>Phase 4
Operate &amp; Report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Ongoing fleet reporting, compliance documentation, contractor continuity, regulatory filings support</a:t>
            </a:r>
          </a:p>
          <a:p>
            <a:pPr algn="ctr"/>
            <a:r>
              <a:rPr sz="1100" b="1" i="1">
                <a:solidFill>
                  <a:srgbClr val="FFFFFF"/>
                </a:solidFill>
                <a:latin typeface="Arial"/>
              </a:rPr>
              <a:t>24 mo+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246888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B2A5E"/>
                </a:solidFill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60" y="246888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B2A5E"/>
                </a:solidFill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46888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B2A5E"/>
                </a:solidFill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434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E87B22"/>
                </a:solidFill>
                <a:latin typeface="Arial"/>
              </a:rPr>
              <a:t>Division of Responsibility Throughout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0916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200">
                <a:solidFill>
                  <a:srgbClr val="1B2A5E"/>
                </a:solidFill>
                <a:latin typeface="Arial"/>
              </a:rPr>
              <a:t>APTIM Owns (all 4 phases)</a:t>
            </a:r>
            <a:r>
              <a:rPr sz="1100">
                <a:solidFill>
                  <a:srgbClr val="333333"/>
                </a:solidFill>
                <a:latin typeface="Arial"/>
              </a:rPr>
              <a:t>• Program administration &amp; compliance reporting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Contractor network management &amp; install QA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Household recruitment &amp; hosting agreements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Utility relationship &amp; regulatory filings support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70916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200">
                <a:solidFill>
                  <a:srgbClr val="1B2A5E"/>
                </a:solidFill>
                <a:latin typeface="Arial"/>
              </a:rPr>
              <a:t>Utility Owns (throughout)</a:t>
            </a:r>
            <a:r>
              <a:rPr sz="1100">
                <a:solidFill>
                  <a:srgbClr val="333333"/>
                </a:solidFill>
                <a:latin typeface="Arial"/>
              </a:rPr>
              <a:t>• Capital investment &amp; fleet ownership (rate-based)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Regulatory approval / rate case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Dispatch decisions (via software partner)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Ratepayer billing &amp; cost recovery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solidFill>
            <a:srgbClr val="FFF6E8"/>
          </a:solidFill>
          <a:ln w="12700">
            <a:solidFill>
              <a:srgbClr val="E87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000" i="1">
                <a:solidFill>
                  <a:srgbClr val="664E1A"/>
                </a:solidFill>
                <a:latin typeface="Arial"/>
              </a:rPr>
              <a:t>APTIM never owns hardware or takes on capital risk at any phase — consistent with its existing role in Focus on Energy and Entergy Energy Smart.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88888"/>
                </a:solidFill>
                <a:latin typeface="Arial"/>
              </a:rPr>
              <a:t>Confidential. Not to be copied, distributed, or reproduced without prior approval. © 2026 APTIM - All rights reserved.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8888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B2A5E"/>
                </a:solidFill>
                <a:latin typeface="Arial"/>
              </a:rPr>
              <a:t>Service Concept: The APTIM Operating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777777"/>
                </a:solidFill>
                <a:latin typeface="Arial"/>
              </a:rPr>
              <a:t>The utility owns the fleet. APTIM runs the program. The household hosts it at no cost.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3520440" cy="1371600"/>
          </a:xfrm>
          <a:prstGeom prst="rect">
            <a:avLst/>
          </a:prstGeom>
          <a:solidFill>
            <a:srgbClr val="8A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/>
          <a:lstStyle/>
          <a:p>
            <a:pPr algn="ctr"/>
            <a:r>
              <a:rPr b="1" sz="1300">
                <a:solidFill>
                  <a:srgbClr val="FFFFFF"/>
                </a:solidFill>
                <a:latin typeface="Arial"/>
              </a:rPr>
              <a:t>Hardware Maker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e.g., Tesla, Enphase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Arial"/>
              </a:rPr>
              <a:t>Manufactures battery + solar hardware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1371600"/>
            <a:ext cx="3520440" cy="1371600"/>
          </a:xfrm>
          <a:prstGeom prst="rect">
            <a:avLst/>
          </a:prstGeom>
          <a:solidFill>
            <a:srgbClr val="1B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/>
          <a:lstStyle/>
          <a:p>
            <a:pPr algn="ctr"/>
            <a:r>
              <a:rPr b="1" sz="1300">
                <a:solidFill>
                  <a:srgbClr val="FFFFFF"/>
                </a:solidFill>
                <a:latin typeface="Arial"/>
              </a:rPr>
              <a:t>Asset Owner + Dispatcher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The Utility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Arial"/>
              </a:rPr>
              <a:t>Finances, owns, rate-bases the fleet; earns regulated return; dispatches via software partner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371600"/>
            <a:ext cx="3520440" cy="1371600"/>
          </a:xfrm>
          <a:prstGeom prst="rect">
            <a:avLst/>
          </a:prstGeom>
          <a:solidFill>
            <a:srgbClr val="E87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/>
          <a:lstStyle/>
          <a:p>
            <a:pPr algn="ctr"/>
            <a:r>
              <a:rPr b="1" sz="1300">
                <a:solidFill>
                  <a:srgbClr val="FFFFFF"/>
                </a:solidFill>
                <a:latin typeface="Arial"/>
              </a:rPr>
              <a:t>Program Administrator — APTIM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APTIM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Arial"/>
              </a:rPr>
              <a:t>Runs the program end-to-end — see implementation phases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94760" y="192024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B2A5E"/>
                </a:solidFill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92024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B2A5E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926080"/>
            <a:ext cx="11247120" cy="594360"/>
          </a:xfrm>
          <a:prstGeom prst="rect">
            <a:avLst/>
          </a:prstGeom>
          <a:solidFill>
            <a:srgbClr val="FFF6E8"/>
          </a:solidFill>
          <a:ln w="12700">
            <a:solidFill>
              <a:srgbClr val="E87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100" i="1">
                <a:solidFill>
                  <a:srgbClr val="664E1A"/>
                </a:solidFill>
                <a:latin typeface="Arial"/>
              </a:rPr>
              <a:t>Who pays: the utility recovers its investment from ALL ratepayers via rate base (standard cost-of-service regulation), not a special charge to the hosting household. This is NOT a Power Purchase Agreement -- the utility owns the asset directly rather than buying output from a third-party owner.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57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87B22"/>
                </a:solidFill>
                <a:latin typeface="Arial"/>
              </a:rPr>
              <a:t>How APTIM Gets 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5486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Arial"/>
              </a:rPr>
              <a:t>• Base: level-of-effort / cost-plus fee -- consistent with APTIM's existing Focus on Energy model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Arial"/>
              </a:rPr>
              <a:t>• Differentiator: performance incentive tied to fleet uptime/dispatch reliability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Arial"/>
              </a:rPr>
              <a:t>• Exact terms negotiated through the RFP process, not fixed at this 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657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87B22"/>
                </a:solidFill>
                <a:latin typeface="Arial"/>
              </a:rPr>
              <a:t>Why APTIM Is the Right Operator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023360"/>
            <a:ext cx="5486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Arial"/>
              </a:rPr>
              <a:t>• Already runs this exact lifecycle for Focus on Energy (WI) and Energy Smart (Entergy)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Arial"/>
              </a:rPr>
              <a:t>• Existing contractor-network management capability -- the hardest part of scaling a fleet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Arial"/>
              </a:rPr>
              <a:t>• No company today packages this administrator role end-to-end (see competitive landscape)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777777"/>
                </a:solidFill>
                <a:latin typeface="Arial"/>
              </a:rPr>
              <a:t>Open items for RFP-stage negotiation: exact fee %, named installer network, interconnection process for utility-owned residential batteries.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88888"/>
                </a:solidFill>
                <a:latin typeface="Arial"/>
              </a:rPr>
              <a:t>Confidential. Not to be copied, distributed, or reproduced without prior approval. © 2026 APTIM - All rights reserved.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8888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
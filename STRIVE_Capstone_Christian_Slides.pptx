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B2A5E"/>
                </a:solidFill>
                <a:latin typeface="Arial"/>
              </a:rPr>
              <a:t>Prioritization Framework: Selecting Our Pilot State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i="1">
                <a:solidFill>
                  <a:srgbClr val="777777"/>
                </a:solidFill>
                <a:latin typeface="Arial"/>
              </a:rPr>
              <a:t>Ranked on cost, ease of implementation, timeframe, and impact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24712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2377440"/>
                <a:gridCol w="2651760"/>
                <a:gridCol w="3291840"/>
                <a:gridCol w="1371600"/>
              </a:tblGrid>
              <a:tr h="45720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State</a:t>
                      </a:r>
                    </a:p>
                  </a:txBody>
                  <a:tcPr>
                    <a:solidFill>
                      <a:srgbClr val="1B2A5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APTIM Relationship</a:t>
                      </a:r>
                    </a:p>
                  </a:txBody>
                  <a:tcPr>
                    <a:solidFill>
                      <a:srgbClr val="1B2A5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Ease of Entry</a:t>
                      </a:r>
                    </a:p>
                  </a:txBody>
                  <a:tcPr>
                    <a:solidFill>
                      <a:srgbClr val="1B2A5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Impact</a:t>
                      </a:r>
                    </a:p>
                  </a:txBody>
                  <a:tcPr>
                    <a:solidFill>
                      <a:srgbClr val="1B2A5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Role</a:t>
                      </a:r>
                    </a:p>
                  </a:txBody>
                  <a:tcPr>
                    <a:solidFill>
                      <a:srgbClr val="1B2A5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Arial"/>
                        </a:defRPr>
                      </a:pPr>
                      <a:r>
                        <a:t>California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Arial"/>
                        </a:defRPr>
                      </a:pPr>
                      <a:r>
                        <a:t>None — reference market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Arial"/>
                        </a:defRPr>
                      </a:pPr>
                      <a:r>
                        <a:t>High — mature, proven model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Arial"/>
                        </a:defRPr>
                      </a:pPr>
                      <a:r>
                        <a:t>Validates the concept works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Arial"/>
                        </a:defRPr>
                      </a:pPr>
                      <a:r>
                        <a:t>Proof It Works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Arial"/>
                        </a:defRPr>
                      </a:pPr>
                      <a:r>
                        <a:t>North Carolina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Arial"/>
                        </a:defRPr>
                      </a:pPr>
                      <a:r>
                        <a:t>None — reference market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Arial"/>
                        </a:defRPr>
                      </a:pPr>
                      <a:r>
                        <a:t>Medium — Duke moving this direction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Arial"/>
                        </a:defRPr>
                      </a:pPr>
                      <a:r>
                        <a:t>PowerPair fully subscribed/waitlisted — proves demand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Arial"/>
                        </a:defRPr>
                      </a:pPr>
                      <a:r>
                        <a:t>Proof Demand Exists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Arial"/>
                        </a:defRPr>
                      </a:pPr>
                      <a:r>
                        <a:t>Michigan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Arial"/>
                        </a:defRPr>
                      </a:pPr>
                      <a:r>
                        <a:t>None confirmed — market-entry pitch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Arial"/>
                        </a:defRPr>
                      </a:pPr>
                      <a:r>
                        <a:t>High — vertically integrated utility, statutory mandate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Arial"/>
                        </a:defRPr>
                      </a:pPr>
                      <a:r>
                        <a:t>Worst outages in nation + 2,500 MW storage mandate (2029 deadline)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Arial"/>
                        </a:defRPr>
                      </a:pPr>
                      <a:r>
                        <a:t>RECOMMENDED PILOT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457200" y="3337560"/>
            <a:ext cx="11247120" cy="502920"/>
          </a:xfrm>
          <a:prstGeom prst="rect">
            <a:avLst/>
          </a:prstGeom>
          <a:solidFill>
            <a:srgbClr val="FFF6E8"/>
          </a:solidFill>
          <a:ln w="12700">
            <a:solidFill>
              <a:srgbClr val="E87B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ctr"/>
            <a:r>
              <a:rPr sz="1100" i="1">
                <a:solidFill>
                  <a:srgbClr val="664E1A"/>
                </a:solidFill>
                <a:latin typeface="Arial"/>
              </a:rPr>
              <a:t>Note: APTIM has no confirmed existing contract in any of these three states for this exact program. This is a market-entry pitch built on regulatory/economic fit, not incumbency — unlike our Wisconsin and Louisiana relationships, held as expansion options.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3977639"/>
            <a:ext cx="11247120" cy="1965960"/>
          </a:xfrm>
          <a:prstGeom prst="rect">
            <a:avLst/>
          </a:prstGeom>
          <a:solidFill>
            <a:srgbClr val="F2F4F8"/>
          </a:solidFill>
          <a:ln w="19050">
            <a:solidFill>
              <a:srgbClr val="E87B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/>
          <a:lstStyle/>
          <a:p>
            <a:pPr algn="ctr"/>
            <a:r>
              <a:rPr b="1" sz="1500">
                <a:solidFill>
                  <a:srgbClr val="1B2A5E"/>
                </a:solidFill>
                <a:latin typeface="Arial"/>
              </a:rPr>
              <a:t>Why Michigan — Sourced Evidence</a:t>
            </a:r>
          </a:p>
          <a:p>
            <a:pPr>
              <a:spcAft>
                <a:spcPts val="300"/>
              </a:spcAft>
            </a:pPr>
            <a:r>
              <a:rPr b="1" sz="1200">
                <a:solidFill>
                  <a:srgbClr val="E87B22"/>
                </a:solidFill>
                <a:latin typeface="Arial"/>
              </a:rPr>
              <a:t>Reliability: </a:t>
            </a:r>
            <a:r>
              <a:rPr sz="1200">
                <a:solidFill>
                  <a:srgbClr val="333333"/>
                </a:solidFill>
                <a:latin typeface="Arial"/>
              </a:rPr>
              <a:t>50th of 51 states in outage duration — and outages are distribution-level, exactly what a home battery covers.</a:t>
            </a:r>
          </a:p>
          <a:p>
            <a:pPr>
              <a:spcAft>
                <a:spcPts val="300"/>
              </a:spcAft>
            </a:pPr>
            <a:r>
              <a:rPr b="1" sz="1200">
                <a:solidFill>
                  <a:srgbClr val="E87B22"/>
                </a:solidFill>
                <a:latin typeface="Arial"/>
              </a:rPr>
              <a:t>Policy hook: </a:t>
            </a:r>
            <a:r>
              <a:rPr sz="1200">
                <a:solidFill>
                  <a:srgbClr val="333333"/>
                </a:solidFill>
                <a:latin typeface="Arial"/>
              </a:rPr>
              <a:t>PA 235 (2023) mandates 2,500 MW of storage; MPSC Case No. U-21571 sets compliance petitions due Dec 31, 2029.</a:t>
            </a:r>
          </a:p>
          <a:p>
            <a:pPr>
              <a:spcAft>
                <a:spcPts val="300"/>
              </a:spcAft>
            </a:pPr>
            <a:r>
              <a:rPr b="1" sz="1200">
                <a:solidFill>
                  <a:srgbClr val="E87B22"/>
                </a:solidFill>
                <a:latin typeface="Arial"/>
              </a:rPr>
              <a:t>Utility need: </a:t>
            </a:r>
            <a:r>
              <a:rPr sz="1200">
                <a:solidFill>
                  <a:srgbClr val="333333"/>
                </a:solidFill>
                <a:latin typeface="Arial"/>
              </a:rPr>
              <a:t>DTE IRP (Case U-21193) cites 850+ MW storage need; Consumers IRP (Case U-21090) targets 75 MW by 2027, 550 MW by 2040.</a:t>
            </a:r>
          </a:p>
          <a:p>
            <a:pPr>
              <a:spcAft>
                <a:spcPts val="300"/>
              </a:spcAft>
            </a:pPr>
            <a:r>
              <a:rPr b="1" sz="1200">
                <a:solidFill>
                  <a:srgbClr val="E87B22"/>
                </a:solidFill>
                <a:latin typeface="Arial"/>
              </a:rPr>
              <a:t>Capacity value: </a:t>
            </a:r>
            <a:r>
              <a:rPr sz="1200">
                <a:solidFill>
                  <a:srgbClr val="333333"/>
                </a:solidFill>
                <a:latin typeface="Arial"/>
              </a:rPr>
              <a:t>MISO cleared Michigan's zone at $424.30/MW-day for 2026/27 (source: MISO PRA posting) — real, dated, verifiable market signal.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08076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777777"/>
                </a:solidFill>
                <a:latin typeface="Arial"/>
              </a:rPr>
              <a:t>Wisconsin (strongest APTIM relationship, weaker economics) and Illinois (best raw pricing, legally blocked for utility ownership) were evaluated and held as separate opportunities.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649224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888888"/>
                </a:solidFill>
                <a:latin typeface="Arial"/>
              </a:rPr>
              <a:t>Confidential. Not to be copied, distributed, or reproduced without prior approval. © 2026 APTIM - All rights reserved.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12880" y="649224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888888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B2A5E"/>
                </a:solidFill>
                <a:latin typeface="Arial"/>
              </a:rPr>
              <a:t>Service Concept: Utility-Owned Battery + Solar Fleet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i="1">
                <a:solidFill>
                  <a:srgbClr val="777777"/>
                </a:solidFill>
                <a:latin typeface="Arial"/>
              </a:rPr>
              <a:t>The utility owns the fleet. APTIM administers it. The household hosts it at no cost.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3520440" cy="1554480"/>
          </a:xfrm>
          <a:prstGeom prst="rect">
            <a:avLst/>
          </a:prstGeom>
          <a:solidFill>
            <a:srgbClr val="8A8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09728" rIns="137160"/>
          <a:lstStyle/>
          <a:p>
            <a:pPr algn="ctr"/>
            <a:r>
              <a:rPr b="1" sz="1300">
                <a:solidFill>
                  <a:srgbClr val="FFFFFF"/>
                </a:solidFill>
                <a:latin typeface="Arial"/>
              </a:rPr>
              <a:t>Hardware Maker</a:t>
            </a:r>
          </a:p>
          <a:p>
            <a:pPr algn="ctr"/>
            <a:r>
              <a:rPr b="1" sz="1200">
                <a:solidFill>
                  <a:srgbClr val="FFFFFF"/>
                </a:solidFill>
                <a:latin typeface="Arial"/>
              </a:rPr>
              <a:t>e.g., Tesla, Enphase</a:t>
            </a:r>
          </a:p>
          <a:p>
            <a:pPr algn="ctr"/>
            <a:r>
              <a:rPr sz="1000">
                <a:solidFill>
                  <a:srgbClr val="FFFFFF"/>
                </a:solidFill>
                <a:latin typeface="Arial"/>
              </a:rPr>
              <a:t>Manufactures the battery + solar hardware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0" y="1371600"/>
            <a:ext cx="3520440" cy="1554480"/>
          </a:xfrm>
          <a:prstGeom prst="rect">
            <a:avLst/>
          </a:prstGeom>
          <a:solidFill>
            <a:srgbClr val="1B2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09728" rIns="137160"/>
          <a:lstStyle/>
          <a:p>
            <a:pPr algn="ctr"/>
            <a:r>
              <a:rPr b="1" sz="1300">
                <a:solidFill>
                  <a:srgbClr val="FFFFFF"/>
                </a:solidFill>
                <a:latin typeface="Arial"/>
              </a:rPr>
              <a:t>Asset Owner + Dispatcher</a:t>
            </a:r>
          </a:p>
          <a:p>
            <a:pPr algn="ctr"/>
            <a:r>
              <a:rPr b="1" sz="1200">
                <a:solidFill>
                  <a:srgbClr val="FFFFFF"/>
                </a:solidFill>
                <a:latin typeface="Arial"/>
              </a:rPr>
              <a:t>The Utility</a:t>
            </a:r>
          </a:p>
          <a:p>
            <a:pPr algn="ctr"/>
            <a:r>
              <a:rPr sz="1000">
                <a:solidFill>
                  <a:srgbClr val="FFFFFF"/>
                </a:solidFill>
                <a:latin typeface="Arial"/>
              </a:rPr>
              <a:t>Finances, owns, and rate-bases the fleet; recovers cost from all ratepayers; earns regulated return; dispatches at peak via utility or partner software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0" y="1371600"/>
            <a:ext cx="3520440" cy="1554480"/>
          </a:xfrm>
          <a:prstGeom prst="rect">
            <a:avLst/>
          </a:prstGeom>
          <a:solidFill>
            <a:srgbClr val="E87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09728" rIns="137160"/>
          <a:lstStyle/>
          <a:p>
            <a:pPr algn="ctr"/>
            <a:r>
              <a:rPr b="1" sz="1300">
                <a:solidFill>
                  <a:srgbClr val="FFFFFF"/>
                </a:solidFill>
                <a:latin typeface="Arial"/>
              </a:rPr>
              <a:t>Program Administrator (APTIM)</a:t>
            </a:r>
          </a:p>
          <a:p>
            <a:pPr algn="ctr"/>
            <a:r>
              <a:rPr b="1" sz="1200">
                <a:solidFill>
                  <a:srgbClr val="FFFFFF"/>
                </a:solidFill>
                <a:latin typeface="Arial"/>
              </a:rPr>
              <a:t>APTIM</a:t>
            </a:r>
          </a:p>
          <a:p>
            <a:pPr algn="ctr"/>
            <a:r>
              <a:rPr sz="1000">
                <a:solidFill>
                  <a:srgbClr val="FFFFFF"/>
                </a:solidFill>
                <a:latin typeface="Arial"/>
              </a:rPr>
              <a:t>Site selection, household recruitment, hosting agreements, contractor network, install QA, fleet reporting, compliance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94760" y="1965960"/>
            <a:ext cx="3200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 b="1">
                <a:solidFill>
                  <a:srgbClr val="1B2A5E"/>
                </a:solidFill>
              </a:rPr>
              <a:t>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52360" y="1965960"/>
            <a:ext cx="3200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 b="1">
                <a:solidFill>
                  <a:srgbClr val="1B2A5E"/>
                </a:solidFill>
              </a:rPr>
              <a:t>→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063240"/>
            <a:ext cx="11247120" cy="594360"/>
          </a:xfrm>
          <a:prstGeom prst="rect">
            <a:avLst/>
          </a:prstGeom>
          <a:solidFill>
            <a:srgbClr val="FFF6E8"/>
          </a:solidFill>
          <a:ln w="12700">
            <a:solidFill>
              <a:srgbClr val="E87B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ctr"/>
            <a:r>
              <a:rPr sz="1100" i="1">
                <a:solidFill>
                  <a:srgbClr val="664E1A"/>
                </a:solidFill>
                <a:latin typeface="Arial"/>
              </a:rPr>
              <a:t>Who pays: the utility recovers its investment from ALL ratepayers via rate base (standard cost-of-service regulation) -- not a special charge to the hosting household. The household's "payment" for hosting is free backup power and lower bills. This is NOT a Power Purchase Agreement -- the utility owns the asset directly, it does not buy output from a third-party owner.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79476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500">
                <a:solidFill>
                  <a:srgbClr val="E87B22"/>
                </a:solidFill>
                <a:latin typeface="Arial"/>
              </a:rPr>
              <a:t>How APTIM Gets Paid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160520"/>
            <a:ext cx="5486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b="1" sz="1200">
                <a:solidFill>
                  <a:srgbClr val="1B2A5E"/>
                </a:solidFill>
                <a:latin typeface="Arial"/>
              </a:rPr>
              <a:t>Base structure: </a:t>
            </a:r>
            <a:r>
              <a:rPr sz="1200">
                <a:solidFill>
                  <a:srgbClr val="333333"/>
                </a:solidFill>
                <a:latin typeface="Arial"/>
              </a:rPr>
              <a:t>Level-of-effort / cost-plus fee -- consistent with APTIM's existing Focus on Energy model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1B2A5E"/>
                </a:solidFill>
                <a:latin typeface="Arial"/>
              </a:rPr>
              <a:t>Differentiator: </a:t>
            </a:r>
            <a:r>
              <a:rPr sz="1200">
                <a:solidFill>
                  <a:srgbClr val="333333"/>
                </a:solidFill>
                <a:latin typeface="Arial"/>
              </a:rPr>
              <a:t>Performance incentive tied to fleet uptime/dispatch reliability -- aligns APTIM's incentive with utility outcomes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1B2A5E"/>
                </a:solidFill>
                <a:latin typeface="Arial"/>
              </a:rPr>
              <a:t>Exact terms: </a:t>
            </a:r>
            <a:r>
              <a:rPr sz="1200">
                <a:solidFill>
                  <a:srgbClr val="333333"/>
                </a:solidFill>
                <a:latin typeface="Arial"/>
              </a:rPr>
              <a:t>To be negotiated through the RFP process -- not fixed at this stage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379476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500">
                <a:solidFill>
                  <a:srgbClr val="E87B22"/>
                </a:solidFill>
                <a:latin typeface="Arial"/>
              </a:rPr>
              <a:t>Why the Client Says Yes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4160520"/>
            <a:ext cx="5486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b="1" sz="1200">
                <a:solidFill>
                  <a:srgbClr val="1B2A5E"/>
                </a:solidFill>
                <a:latin typeface="Arial"/>
              </a:rPr>
              <a:t>Utility: </a:t>
            </a:r>
            <a:r>
              <a:rPr sz="1200">
                <a:solidFill>
                  <a:srgbClr val="333333"/>
                </a:solidFill>
                <a:latin typeface="Arial"/>
              </a:rPr>
              <a:t>Meets statutory storage mandate; cheaper than a new peaker plant; grows rate base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1B2A5E"/>
                </a:solidFill>
                <a:latin typeface="Arial"/>
              </a:rPr>
              <a:t>Household: </a:t>
            </a:r>
            <a:r>
              <a:rPr sz="1200">
                <a:solidFill>
                  <a:srgbClr val="333333"/>
                </a:solidFill>
                <a:latin typeface="Arial"/>
              </a:rPr>
              <a:t>Backup power in the state with the worst outages in the nation, at zero cost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1B2A5E"/>
                </a:solidFill>
                <a:latin typeface="Arial"/>
              </a:rPr>
              <a:t>Regulator: </a:t>
            </a:r>
            <a:r>
              <a:rPr sz="1200">
                <a:solidFill>
                  <a:srgbClr val="333333"/>
                </a:solidFill>
                <a:latin typeface="Arial"/>
              </a:rPr>
              <a:t>Resilience delivered without a new tax or appropriation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98932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777777"/>
                </a:solidFill>
                <a:latin typeface="Arial"/>
              </a:rPr>
              <a:t>Open items for RFP-stage negotiation: exact fee %, named installer network, interconnection process for utility-owned residential batteries (flagged as a regulatory question to work through with MPSC, not assumed).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" y="649224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888888"/>
                </a:solidFill>
                <a:latin typeface="Arial"/>
              </a:rPr>
              <a:t>Confidential. Not to be copied, distributed, or reproduced without prior approval. © 2026 APTIM - All rights reserved.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612880" y="649224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888888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
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5E"/>
                </a:solidFill>
                <a:latin typeface="Arial"/>
              </a:rPr>
              <a:t>Prioritization Framework: Selecting Our Pilot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  <a:latin typeface="Arial"/>
              </a:rPr>
              <a:t>Ranked on cost, ease of implementation, timeframe, and impact — not relationship strength alone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1463040"/>
                <a:gridCol w="402336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Ease of Entry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Timeframe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California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High — mature market, proven model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Immediate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Validates the concept works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Proof It Works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North Carolina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Medium — Duke already moving this direction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1-2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Demonstrates real customer demand (PowerPair waitlisted)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Proof Demand Exists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Michigan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High — vertically integrated utility, statutory mandate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Year 1 pilot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Worst outages in the nation + 2,500 MW storage mandate (2029 deadline)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RECOMMENDED PILOT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749039"/>
            <a:ext cx="11247120" cy="2286000"/>
          </a:xfrm>
          <a:prstGeom prst="rect">
            <a:avLst/>
          </a:prstGeom>
          <a:solidFill>
            <a:srgbClr val="F2F4F8"/>
          </a:solidFill>
          <a:ln w="19050">
            <a:solidFill>
              <a:srgbClr val="E8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b="1" sz="1600">
                <a:solidFill>
                  <a:srgbClr val="1B2A5E"/>
                </a:solidFill>
                <a:latin typeface="Arial"/>
              </a:rPr>
              <a:t>Why Michigan Wins on the Numbers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E87B22"/>
                </a:solidFill>
                <a:latin typeface="Arial"/>
              </a:rPr>
              <a:t>Reliability: </a:t>
            </a:r>
            <a:r>
              <a:rPr sz="1300">
                <a:solidFill>
                  <a:srgbClr val="333333"/>
                </a:solidFill>
                <a:latin typeface="Arial"/>
              </a:rPr>
              <a:t>50th of 51 states in outage duration (~18 hrs/customer/yr) — and outages are distribution-level, exactly what a home battery covers.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E87B22"/>
                </a:solidFill>
                <a:latin typeface="Arial"/>
              </a:rPr>
              <a:t>Policy hook: </a:t>
            </a:r>
            <a:r>
              <a:rPr sz="1300">
                <a:solidFill>
                  <a:srgbClr val="333333"/>
                </a:solidFill>
                <a:latin typeface="Arial"/>
              </a:rPr>
              <a:t>2023 state law (PA 235) mandates 2,500 MW of storage with utility compliance filings due by 2029 — a ready-made rate-basing vehicle.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E87B22"/>
                </a:solidFill>
                <a:latin typeface="Arial"/>
              </a:rPr>
              <a:t>Ownership structure: </a:t>
            </a:r>
            <a:r>
              <a:rPr sz="1300">
                <a:solidFill>
                  <a:srgbClr val="333333"/>
                </a:solidFill>
                <a:latin typeface="Arial"/>
              </a:rPr>
              <a:t>DTE and Consumers are vertically integrated and can legally rate-base batteries directly (unlike deregulated Illinois).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E87B22"/>
                </a:solidFill>
                <a:latin typeface="Arial"/>
              </a:rPr>
              <a:t>Competition: </a:t>
            </a:r>
            <a:r>
              <a:rPr sz="1300">
                <a:solidFill>
                  <a:srgbClr val="333333"/>
                </a:solidFill>
                <a:latin typeface="Arial"/>
              </a:rPr>
              <a:t>Near-greenfield — one small pilot exists; no scaled residential program.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777777"/>
                </a:solidFill>
                <a:latin typeface="Arial"/>
              </a:rPr>
              <a:t>Note: Wisconsin (strongest APTIM relationship) and Illinois (best raw capacity pricing) were evaluated and held as expansion markets — see appendix.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Arial"/>
              </a:rPr>
              <a:t>Confidential. Not to be copied, distributed, or reproduced without prior approval. © 2026 APTIM -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5E"/>
                </a:solidFill>
                <a:latin typeface="Arial"/>
              </a:rPr>
              <a:t>Service Concept: Utility-Owned Battery + Solar Fleet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  <a:latin typeface="Arial"/>
              </a:rPr>
              <a:t>The utility owns the fleet. APTIM administers it. The customer pays nothing.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3520440" cy="173736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Hardware Maker</a:t>
            </a:r>
          </a:p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Tesla / Enphase / equivalent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Makes the physical battery + solar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508760"/>
            <a:ext cx="3520440" cy="1737360"/>
          </a:xfrm>
          <a:prstGeom prst="rect">
            <a:avLst/>
          </a:prstGeom>
          <a:solidFill>
            <a:srgbClr val="1B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Asset Owner + Dispatcher</a:t>
            </a:r>
          </a:p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The Utility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Finances, owns, and rate-bases the fleet as grid infrastructure; dispatches via Tesla/EnergyHub software; captures avoided peak-capacity value ($500-$1,500/kW)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508760"/>
            <a:ext cx="3520440" cy="1737360"/>
          </a:xfrm>
          <a:prstGeom prst="rect">
            <a:avLst/>
          </a:prstGeom>
          <a:solidFill>
            <a:srgbClr val="E8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Program Administrator (APTIM)</a:t>
            </a:r>
          </a:p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APTIM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Site selection, household recruitment, hosting agreements, contractor network management, installation QA, fleet reporting, regulatory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219456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B2A5E"/>
                </a:solidFill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19456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B2A5E"/>
                </a:solidFill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E87B22"/>
                </a:solidFill>
                <a:latin typeface="Arial"/>
              </a:rPr>
              <a:t>Revenue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47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1B2A5E"/>
                </a:solidFill>
                <a:latin typeface="Arial"/>
              </a:rPr>
              <a:t>Utility earns: </a:t>
            </a:r>
            <a:r>
              <a:rPr sz="1200">
                <a:solidFill>
                  <a:srgbClr val="333333"/>
                </a:solidFill>
                <a:latin typeface="Arial"/>
              </a:rPr>
              <a:t>Regulated rate-of-return on rate-based capital, plus avoided peaker/T&amp;D deferral value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B2A5E"/>
                </a:solidFill>
                <a:latin typeface="Arial"/>
              </a:rPr>
              <a:t>APTIM earns: </a:t>
            </a:r>
            <a:r>
              <a:rPr sz="1200">
                <a:solidFill>
                  <a:srgbClr val="333333"/>
                </a:solidFill>
                <a:latin typeface="Arial"/>
              </a:rPr>
              <a:t>Level-of-effort administration fee — insulated from hardware price swings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B2A5E"/>
                </a:solidFill>
                <a:latin typeface="Arial"/>
              </a:rPr>
              <a:t>Household earns: </a:t>
            </a:r>
            <a:r>
              <a:rPr sz="1200">
                <a:solidFill>
                  <a:srgbClr val="333333"/>
                </a:solidFill>
                <a:latin typeface="Arial"/>
              </a:rPr>
              <a:t>Free backup power + lower bills; zero cost, zero maintenance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B2A5E"/>
                </a:solidFill>
                <a:latin typeface="Arial"/>
              </a:rPr>
              <a:t>O&amp;M funded by: </a:t>
            </a:r>
            <a:r>
              <a:rPr sz="1200">
                <a:solidFill>
                  <a:srgbClr val="333333"/>
                </a:solidFill>
                <a:latin typeface="Arial"/>
              </a:rPr>
              <a:t>Dispatch value ($500-$1,500/kW avoided capacity cost) — the asset funds its own upkeep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4290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E87B22"/>
                </a:solidFill>
                <a:latin typeface="Arial"/>
              </a:rPr>
              <a:t>Why the Client Says 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7947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1B2A5E"/>
                </a:solidFill>
                <a:latin typeface="Arial"/>
              </a:rPr>
              <a:t>Utility: </a:t>
            </a:r>
            <a:r>
              <a:rPr sz="1200">
                <a:solidFill>
                  <a:srgbClr val="333333"/>
                </a:solidFill>
                <a:latin typeface="Arial"/>
              </a:rPr>
              <a:t>Cheaper peak capacity than a new peaker plant; grows rate base; meets Michigan's statutory storage mandate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B2A5E"/>
                </a:solidFill>
                <a:latin typeface="Arial"/>
              </a:rPr>
              <a:t>Household: </a:t>
            </a:r>
            <a:r>
              <a:rPr sz="1200">
                <a:solidFill>
                  <a:srgbClr val="333333"/>
                </a:solidFill>
                <a:latin typeface="Arial"/>
              </a:rPr>
              <a:t>Backup power during a storm-prone state's worst-in-nation outages — at zero cost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B2A5E"/>
                </a:solidFill>
                <a:latin typeface="Arial"/>
              </a:rPr>
              <a:t>Regulator: </a:t>
            </a:r>
            <a:r>
              <a:rPr sz="1200">
                <a:solidFill>
                  <a:srgbClr val="333333"/>
                </a:solidFill>
                <a:latin typeface="Arial"/>
              </a:rPr>
              <a:t>Resilience delivered to vulnerable communities without a new tax or appropriation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Arial"/>
              </a:rPr>
              <a:t>Confidential. Not to be copied, distributed, or reproduced without prior approval. © 2026 APTIM - All rights reserved.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
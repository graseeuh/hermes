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B2A5E"/>
                </a:solidFill>
                <a:latin typeface="Arial"/>
              </a:rPr>
              <a:t>Prioritization Framework: Why Battery + Solar Administration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i="1">
                <a:solidFill>
                  <a:srgbClr val="777777"/>
                </a:solidFill>
                <a:latin typeface="Arial"/>
              </a:rPr>
              <a:t>Ranked on cost, ease of implementation, and feasibility within 1-3 years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286000"/>
                <a:gridCol w="4114800"/>
                <a:gridCol w="1554480"/>
              </a:tblGrid>
              <a:tr h="56692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Approach Considered</a:t>
                      </a:r>
                    </a:p>
                  </a:txBody>
                  <a:tcPr>
                    <a:solidFill>
                      <a:srgbClr val="1B2A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1-3 Yr Feasibility</a:t>
                      </a:r>
                    </a:p>
                  </a:txBody>
                  <a:tcPr>
                    <a:solidFill>
                      <a:srgbClr val="1B2A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Key Risk</a:t>
                      </a:r>
                    </a:p>
                  </a:txBody>
                  <a:tcPr>
                    <a:solidFill>
                      <a:srgbClr val="1B2A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Verdict</a:t>
                      </a:r>
                    </a:p>
                  </a:txBody>
                  <a:tcPr>
                    <a:solidFill>
                      <a:srgbClr val="1B2A5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Arial"/>
                        </a:defRPr>
                      </a:pPr>
                      <a:r>
                        <a:t>AI-Enabled Reporting/Documentation Tools</a:t>
                      </a:r>
                    </a:p>
                  </a:txBody>
                  <a:tcPr>
                    <a:solidFill>
                      <a:srgbClr val="FCE9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Arial"/>
                        </a:defRPr>
                      </a:pPr>
                      <a:r>
                        <a:t>Low-Medium — unproven at program scale</a:t>
                      </a:r>
                    </a:p>
                  </a:txBody>
                  <a:tcPr>
                    <a:solidFill>
                      <a:srgbClr val="FCE9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Arial"/>
                        </a:defRPr>
                      </a:pPr>
                      <a:r>
                        <a:t>Data security concerns raised internally at Town Hall (sensitive program data, no governance model yet)</a:t>
                      </a:r>
                    </a:p>
                  </a:txBody>
                  <a:tcPr>
                    <a:solidFill>
                      <a:srgbClr val="FCE9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Arial"/>
                        </a:defRPr>
                      </a:pPr>
                      <a:r>
                        <a:t>ELIMINATED</a:t>
                      </a:r>
                    </a:p>
                  </a:txBody>
                  <a:tcPr>
                    <a:solidFill>
                      <a:srgbClr val="FCE9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Arial"/>
                        </a:defRPr>
                      </a:pPr>
                      <a:r>
                        <a:t>Broad "Program Resilience Toolkit" (generic, multi-module)</a:t>
                      </a:r>
                    </a:p>
                  </a:txBody>
                  <a:tcPr>
                    <a:solidFill>
                      <a:srgbClr val="FCE9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Arial"/>
                        </a:defRPr>
                      </a:pPr>
                      <a:r>
                        <a:t>Medium — every module individually feasible, but no single concrete offer</a:t>
                      </a:r>
                    </a:p>
                  </a:txBody>
                  <a:tcPr>
                    <a:solidFill>
                      <a:srgbClr val="FCE9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Arial"/>
                        </a:defRPr>
                      </a:pPr>
                      <a:r>
                        <a:t>Leadership explicitly asked for a specific program, not a broad toolkit (Sam's guidance)</a:t>
                      </a:r>
                    </a:p>
                  </a:txBody>
                  <a:tcPr>
                    <a:solidFill>
                      <a:srgbClr val="FCE9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Arial"/>
                        </a:defRPr>
                      </a:pPr>
                      <a:r>
                        <a:t>ELIMINATED as standalone pitch</a:t>
                      </a:r>
                    </a:p>
                  </a:txBody>
                  <a:tcPr>
                    <a:solidFill>
                      <a:srgbClr val="FCE9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Arial"/>
                        </a:defRPr>
                      </a:pPr>
                      <a:r>
                        <a:t>Infrastructure Overhaul / New Generation (incl. nuclear/SMRs)</a:t>
                      </a:r>
                    </a:p>
                  </a:txBody>
                  <a:tcPr>
                    <a:solidFill>
                      <a:srgbClr val="FCE9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Arial"/>
                        </a:defRPr>
                      </a:pPr>
                      <a:r>
                        <a:t>Low — multi-decade timelines, capital scale far beyond a services pitch</a:t>
                      </a:r>
                    </a:p>
                  </a:txBody>
                  <a:tcPr>
                    <a:solidFill>
                      <a:srgbClr val="FCE9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Arial"/>
                        </a:defRPr>
                      </a:pPr>
                      <a:r>
                        <a:t>Requires owning generation assets; outside APTIM's business model entirely</a:t>
                      </a:r>
                    </a:p>
                  </a:txBody>
                  <a:tcPr>
                    <a:solidFill>
                      <a:srgbClr val="FCE9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Arial"/>
                        </a:defRPr>
                      </a:pPr>
                      <a:r>
                        <a:t>ELIMINATED</a:t>
                      </a:r>
                    </a:p>
                  </a:txBody>
                  <a:tcPr>
                    <a:solidFill>
                      <a:srgbClr val="FCE9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Arial"/>
                        </a:defRPr>
                      </a:pPr>
                      <a:r>
                        <a:t>Utility-Owned Battery + Solar Fleet, APTIM-Administered</a:t>
                      </a:r>
                    </a:p>
                  </a:txBody>
                  <a:tcPr>
                    <a:solidFill>
                      <a:srgbClr val="E3F2E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Arial"/>
                        </a:defRPr>
                      </a:pPr>
                      <a:r>
                        <a:t>High — matches an existing, proven APTIM capability</a:t>
                      </a:r>
                    </a:p>
                  </a:txBody>
                  <a:tcPr>
                    <a:solidFill>
                      <a:srgbClr val="E3F2E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Arial"/>
                        </a:defRPr>
                      </a:pPr>
                      <a:r>
                        <a:t>Requires a new utility relationship (market-entry, not incumbency) — addressed via RFP strategy</a:t>
                      </a:r>
                    </a:p>
                  </a:txBody>
                  <a:tcPr>
                    <a:solidFill>
                      <a:srgbClr val="E3F2E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Arial"/>
                        </a:defRPr>
                      </a:pPr>
                      <a:r>
                        <a:t>SELECTED</a:t>
                      </a:r>
                    </a:p>
                  </a:txBody>
                  <a:tcPr>
                    <a:solidFill>
                      <a:srgbClr val="E3F2E1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4434840"/>
            <a:ext cx="11247120" cy="1508760"/>
          </a:xfrm>
          <a:prstGeom prst="rect">
            <a:avLst/>
          </a:prstGeom>
          <a:solidFill>
            <a:srgbClr val="F2F4F8"/>
          </a:solidFill>
          <a:ln w="19050">
            <a:solidFill>
              <a:srgbClr val="E87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/>
          <a:lstStyle/>
          <a:p>
            <a:pPr algn="ctr"/>
            <a:r>
              <a:rPr b="1" sz="1400">
                <a:solidFill>
                  <a:srgbClr val="1B2A5E"/>
                </a:solidFill>
                <a:latin typeface="Arial"/>
              </a:rPr>
              <a:t>Why This Is the Most Feasible Route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APTIM already runs rebate programs and full program administration for energy efficiency across multiple states (Focus on Energy/WI, Texas SECO, NC HOMES/HEAR, Entergy LA/New Orleans) — this is a proven, repeatable core competency, not a new capability we'd need to build.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This approach applies that same administration model to a new asset type (batteries) rather than a new business function — the lowest-risk form of expansion.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No new technology, no new APTIM business line (no hardware ownership, no capital risk) — it's the same job APTIM does today, for a utility that needs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922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88888"/>
                </a:solidFill>
                <a:latin typeface="Arial"/>
              </a:rPr>
              <a:t>Confidential. Not to be copied, distributed, or reproduced without prior approval. © 2026 APTIM - All rights reserved.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88888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B2A5E"/>
                </a:solidFill>
                <a:latin typeface="Arial"/>
              </a:rPr>
              <a:t>Service Concept: The APTIM Operating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777777"/>
                </a:solidFill>
                <a:latin typeface="Arial"/>
              </a:rPr>
              <a:t>The utility owns the fleet. APTIM runs the program. The household hosts it at no cost.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3520440" cy="1554480"/>
          </a:xfrm>
          <a:prstGeom prst="rect">
            <a:avLst/>
          </a:prstGeom>
          <a:solidFill>
            <a:srgbClr val="8A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/>
          <a:lstStyle/>
          <a:p>
            <a:pPr algn="ctr"/>
            <a:r>
              <a:rPr b="1" sz="1300">
                <a:solidFill>
                  <a:srgbClr val="FFFFFF"/>
                </a:solidFill>
                <a:latin typeface="Arial"/>
              </a:rPr>
              <a:t>Hardware Maker</a:t>
            </a:r>
          </a:p>
          <a:p>
            <a:pPr algn="ctr"/>
            <a:r>
              <a:rPr b="1" sz="1200">
                <a:solidFill>
                  <a:srgbClr val="FFFFFF"/>
                </a:solidFill>
                <a:latin typeface="Arial"/>
              </a:rPr>
              <a:t>e.g., Tesla, Enphase</a:t>
            </a:r>
          </a:p>
          <a:p>
            <a:pPr algn="ctr"/>
            <a:r>
              <a:rPr sz="1000">
                <a:solidFill>
                  <a:srgbClr val="FFFFFF"/>
                </a:solidFill>
                <a:latin typeface="Arial"/>
              </a:rPr>
              <a:t>Manufactures battery + solar hardware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1371600"/>
            <a:ext cx="3520440" cy="1554480"/>
          </a:xfrm>
          <a:prstGeom prst="rect">
            <a:avLst/>
          </a:prstGeom>
          <a:solidFill>
            <a:srgbClr val="1B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/>
          <a:lstStyle/>
          <a:p>
            <a:pPr algn="ctr"/>
            <a:r>
              <a:rPr b="1" sz="1300">
                <a:solidFill>
                  <a:srgbClr val="FFFFFF"/>
                </a:solidFill>
                <a:latin typeface="Arial"/>
              </a:rPr>
              <a:t>Asset Owner + Dispatcher</a:t>
            </a:r>
          </a:p>
          <a:p>
            <a:pPr algn="ctr"/>
            <a:r>
              <a:rPr b="1" sz="1200">
                <a:solidFill>
                  <a:srgbClr val="FFFFFF"/>
                </a:solidFill>
                <a:latin typeface="Arial"/>
              </a:rPr>
              <a:t>The Utility</a:t>
            </a:r>
          </a:p>
          <a:p>
            <a:pPr algn="ctr"/>
            <a:r>
              <a:rPr sz="1000">
                <a:solidFill>
                  <a:srgbClr val="FFFFFF"/>
                </a:solidFill>
                <a:latin typeface="Arial"/>
              </a:rPr>
              <a:t>Finances, owns, rate-bases the fleet; earns regulated return; dispatches via software partner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371600"/>
            <a:ext cx="3520440" cy="1554480"/>
          </a:xfrm>
          <a:prstGeom prst="rect">
            <a:avLst/>
          </a:prstGeom>
          <a:solidFill>
            <a:srgbClr val="E87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/>
          <a:lstStyle/>
          <a:p>
            <a:pPr algn="ctr"/>
            <a:r>
              <a:rPr b="1" sz="1300">
                <a:solidFill>
                  <a:srgbClr val="FFFFFF"/>
                </a:solidFill>
                <a:latin typeface="Arial"/>
              </a:rPr>
              <a:t>Program Administrator — APTIM</a:t>
            </a:r>
          </a:p>
          <a:p>
            <a:pPr algn="ctr"/>
            <a:r>
              <a:rPr b="1" sz="1200">
                <a:solidFill>
                  <a:srgbClr val="FFFFFF"/>
                </a:solidFill>
                <a:latin typeface="Arial"/>
              </a:rPr>
              <a:t>APTIM</a:t>
            </a:r>
          </a:p>
          <a:p>
            <a:pPr algn="ctr"/>
            <a:r>
              <a:rPr sz="1000">
                <a:solidFill>
                  <a:srgbClr val="FFFFFF"/>
                </a:solidFill>
                <a:latin typeface="Arial"/>
              </a:rPr>
              <a:t>Site selection, recruitment, hosting agreements, contractor network, install QA, fleet reporting, compliance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94760" y="1920240"/>
            <a:ext cx="320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1B2A5E"/>
                </a:solidFill>
              </a:rPr>
              <a:t>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1920240"/>
            <a:ext cx="320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1B2A5E"/>
                </a:solidFill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926080"/>
            <a:ext cx="11247120" cy="594360"/>
          </a:xfrm>
          <a:prstGeom prst="rect">
            <a:avLst/>
          </a:prstGeom>
          <a:solidFill>
            <a:srgbClr val="FFF6E8"/>
          </a:solidFill>
          <a:ln w="12700">
            <a:solidFill>
              <a:srgbClr val="E87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1100" i="1">
                <a:solidFill>
                  <a:srgbClr val="664E1A"/>
                </a:solidFill>
                <a:latin typeface="Arial"/>
              </a:rPr>
              <a:t>Who pays: the utility recovers its investment from ALL ratepayers via rate base (standard cost-of-service regulation), not a special charge to the hosting household. This is NOT a Power Purchase Agreement -- the utility owns the asset directly rather than buying output from a third-party owner.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65760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E87B22"/>
                </a:solidFill>
                <a:latin typeface="Arial"/>
              </a:rPr>
              <a:t>How APTIM Gets 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023360"/>
            <a:ext cx="5486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Arial"/>
              </a:rPr>
              <a:t>• Base: level-of-effort / cost-plus fee -- consistent with APTIM's existing Focus on Energy model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Arial"/>
              </a:rPr>
              <a:t>• Differentiator: performance incentive tied to fleet uptime/dispatch reliability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Arial"/>
              </a:rPr>
              <a:t>• Exact terms negotiated through the RFP process, not fixed at this stage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365760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E87B22"/>
                </a:solidFill>
                <a:latin typeface="Arial"/>
              </a:rPr>
              <a:t>Why APTIM Is the Right Operator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4023360"/>
            <a:ext cx="5486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Arial"/>
              </a:rPr>
              <a:t>• Already runs this exact lifecycle for Focus on Energy (WI) and Energy Smart (Entergy)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Arial"/>
              </a:rPr>
              <a:t>• Existing contractor-network management capability -- the hardest part of scaling a fleet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Arial"/>
              </a:rPr>
              <a:t>• No company today packages this administrator role end-to-end (see competitive landscape)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777777"/>
                </a:solidFill>
                <a:latin typeface="Arial"/>
              </a:rPr>
              <a:t>Open items for RFP-stage negotiation: exact fee %, named installer network, interconnection process for utility-owned residential batteries.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64922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88888"/>
                </a:solidFill>
                <a:latin typeface="Arial"/>
              </a:rPr>
              <a:t>Confidential. Not to be copied, distributed, or reproduced without prior approval. © 2026 APTIM - All rights reserved.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88888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
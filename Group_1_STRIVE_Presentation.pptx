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577" r:id="rId26"/>
    <p:sldId id="296" r:id="rId25"/>
    <p:sldId id="300" r:id="rId27"/>
    <p:sldId id="302" r:id="rId28"/>
    <p:sldId id="275" r:id="rId29"/>
    <p:sldId id="292" r:id="rId30"/>
    <p:sldId id="307" r:id="rId31"/>
    <p:sldId id="565" r:id="rId32"/>
    <p:sldId id="566" r:id="rId33"/>
    <p:sldId id="564" r:id="rId34"/>
    <p:sldId id="574" r:id="rId35"/>
    <p:sldId id="572" r:id="rId36"/>
    <p:sldId id="297" r:id="rId37"/>
    <p:sldId id="56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9.xml"/><Relationship Id="rId25" Type="http://schemas.openxmlformats.org/officeDocument/2006/relationships/slide" Target="slides/slide19.xml"/><Relationship Id="rId26" Type="http://schemas.openxmlformats.org/officeDocument/2006/relationships/slide" Target="slides/slide18.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probably needs to go much earlier in the presentation (after key goals)</a:t>
            </a:r>
          </a:p>
          <a:p/>
          <a:p>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0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0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595959"/>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595959"/>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595959"/>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595959"/>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595959"/>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tr>
              <a:tr h="701040">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tr>
            </a:tbl>
          </a:graphicData>
        </a:graphic>
      </p:graphicFrame>
      <p:sp>
        <p:nvSpPr>
          <p:cNvPr id="5" name="Rectangle 4"/>
          <p:cNvSpPr/>
          <p:nvPr/>
        </p:nvSpPr>
        <p:spPr>
          <a:xfrm>
            <a:off x="457200" y="3611880"/>
            <a:ext cx="11247120" cy="260604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002856"/>
                </a:solidFill>
                <a:latin typeface="Arial"/>
              </a:rPr>
              <a:t>•  Describes HOW APTIM operates -- not a sellable program</a:t>
            </a:r>
          </a:p>
          <a:p>
            <a:pPr>
              <a:spcAft>
                <a:spcPts val="600"/>
              </a:spcAft>
            </a:pPr>
            <a:r>
              <a:rPr sz="1300">
                <a:solidFill>
                  <a:srgbClr val="002856"/>
                </a:solidFill>
                <a:latin typeface="Arial"/>
              </a:rPr>
              <a:t>•  Leadership asked for one specific offer, not a capability list</a:t>
            </a:r>
          </a:p>
          <a:p>
            <a:pPr>
              <a:spcAft>
                <a:spcPts val="600"/>
              </a:spcAft>
            </a:pPr>
            <a:r>
              <a:rPr sz="1300">
                <a:solidFill>
                  <a:srgbClr val="002856"/>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002856"/>
                </a:solidFill>
                <a:latin typeface="Arial"/>
              </a:rPr>
              <a:t>APTIM's Role</a:t>
            </a:r>
          </a:p>
          <a:p>
            <a:pPr>
              <a:spcAft>
                <a:spcPts val="1000"/>
              </a:spcAft>
            </a:pPr>
            <a:r>
              <a:rPr b="1" sz="1300">
                <a:solidFill>
                  <a:srgbClr val="002856"/>
                </a:solidFill>
                <a:latin typeface="Arial"/>
              </a:rPr>
              <a:t>•  Program administrator</a:t>
            </a:r>
            <a:r>
              <a:rPr sz="1300">
                <a:solidFill>
                  <a:srgbClr val="002856"/>
                </a:solidFill>
                <a:latin typeface="Arial"/>
              </a:rPr>
              <a:t> in multiple states -- Wisconsin (Focus on Energy) is our proof point</a:t>
            </a:r>
          </a:p>
          <a:p>
            <a:pPr>
              <a:spcAft>
                <a:spcPts val="1000"/>
              </a:spcAft>
            </a:pPr>
            <a:r>
              <a:rPr b="1" sz="1300">
                <a:solidFill>
                  <a:srgbClr val="002856"/>
                </a:solidFill>
                <a:latin typeface="Arial"/>
              </a:rPr>
              <a:t>•  Market shift:</a:t>
            </a:r>
            <a:r>
              <a:rPr sz="1300">
                <a:solidFill>
                  <a:srgbClr val="002856"/>
                </a:solidFill>
                <a:latin typeface="Arial"/>
              </a:rPr>
              <a:t> utilities moving from broad electrification programs toward demand response, grid management, and storage</a:t>
            </a:r>
          </a:p>
          <a:p>
            <a:pPr>
              <a:spcAft>
                <a:spcPts val="1000"/>
              </a:spcAft>
            </a:pPr>
            <a:r>
              <a:rPr b="1" sz="1300">
                <a:solidFill>
                  <a:srgbClr val="002856"/>
                </a:solidFill>
                <a:latin typeface="Arial"/>
              </a:rPr>
              <a:t>•  Why now:</a:t>
            </a:r>
            <a:r>
              <a:rPr sz="1300">
                <a:solidFill>
                  <a:srgbClr val="002856"/>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002856"/>
                </a:solidFill>
                <a:latin typeface="Arial"/>
              </a:rPr>
              <a:t>TAM</a:t>
            </a:r>
          </a:p>
          <a:p>
            <a:pPr>
              <a:spcAft>
                <a:spcPts val="1600"/>
              </a:spcAft>
            </a:pPr>
            <a:r>
              <a:rPr sz="1100" i="1">
                <a:solidFill>
                  <a:srgbClr val="002856"/>
                </a:solidFill>
                <a:latin typeface="Arial"/>
              </a:rPr>
              <a:t>Total Addressable Market</a:t>
            </a:r>
          </a:p>
          <a:p>
            <a:pPr>
              <a:spcAft>
                <a:spcPts val="200"/>
              </a:spcAft>
            </a:pPr>
            <a:r>
              <a:rPr b="1" sz="1500">
                <a:solidFill>
                  <a:srgbClr val="002856"/>
                </a:solidFill>
                <a:latin typeface="Arial"/>
              </a:rPr>
              <a:t>SAM</a:t>
            </a:r>
          </a:p>
          <a:p>
            <a:pPr>
              <a:spcAft>
                <a:spcPts val="1600"/>
              </a:spcAft>
            </a:pPr>
            <a:r>
              <a:rPr sz="1100" i="1">
                <a:solidFill>
                  <a:srgbClr val="002856"/>
                </a:solidFill>
                <a:latin typeface="Arial"/>
              </a:rPr>
              <a:t>Serviceable Addressable Market</a:t>
            </a:r>
          </a:p>
          <a:p>
            <a:pPr>
              <a:spcAft>
                <a:spcPts val="200"/>
              </a:spcAft>
            </a:pPr>
            <a:r>
              <a:rPr b="1" sz="1500">
                <a:solidFill>
                  <a:srgbClr val="002856"/>
                </a:solidFill>
                <a:latin typeface="Arial"/>
              </a:rPr>
              <a:t>SOM</a:t>
            </a:r>
          </a:p>
          <a:p>
            <a:r>
              <a:rPr sz="1100" i="1">
                <a:solidFill>
                  <a:srgbClr val="002856"/>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Before the mechanics -- the simple version of what we're proposing</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595959"/>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483864" cy="155448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1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371600"/>
            <a:ext cx="3483864"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1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371600"/>
            <a:ext cx="3483864"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1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192024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192024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2286000"/>
          </a:xfrm>
          <a:prstGeom prst="rect">
            <a:avLst/>
          </a:prstGeom>
          <a:noFill/>
        </p:spPr>
        <p:txBody>
          <a:bodyPr wrap="square">
            <a:spAutoFit/>
          </a:bodyPr>
          <a:lstStyle/>
          <a:p>
            <a:pPr>
              <a:spcAft>
                <a:spcPts val="600"/>
              </a:spcAft>
            </a:pPr>
            <a:r>
              <a:rPr b="1" sz="1100">
                <a:solidFill>
                  <a:srgbClr val="002856"/>
                </a:solidFill>
                <a:latin typeface="Arial"/>
              </a:rPr>
              <a:t>Model: </a:t>
            </a:r>
            <a:r>
              <a:rPr sz="1100">
                <a:solidFill>
                  <a:srgbClr val="002856"/>
                </a:solidFill>
                <a:latin typeface="Arial"/>
              </a:rPr>
              <a:t>Base fee as % of program budget + performance bonus overlay</a:t>
            </a:r>
          </a:p>
          <a:p>
            <a:pPr>
              <a:spcAft>
                <a:spcPts val="600"/>
              </a:spcAft>
            </a:pPr>
            <a:r>
              <a:rPr b="1" sz="1100">
                <a:solidFill>
                  <a:srgbClr val="002856"/>
                </a:solidFill>
                <a:latin typeface="Arial"/>
              </a:rPr>
              <a:t>Precedent: </a:t>
            </a:r>
            <a:r>
              <a:rPr sz="1100">
                <a:solidFill>
                  <a:srgbClr val="002856"/>
                </a:solidFill>
                <a:latin typeface="Arial"/>
              </a:rPr>
              <a:t>APTIM's real Focus on Energy contract (2023-2026) uses this exact structure</a:t>
            </a:r>
          </a:p>
          <a:p>
            <a:pPr>
              <a:spcAft>
                <a:spcPts val="600"/>
              </a:spcAft>
            </a:pPr>
            <a:r>
              <a:rPr b="1" sz="1100">
                <a:solidFill>
                  <a:srgbClr val="002856"/>
                </a:solidFill>
                <a:latin typeface="Arial"/>
              </a:rPr>
              <a:t>Benchmark: </a:t>
            </a:r>
            <a:r>
              <a:rPr sz="1100">
                <a:solidFill>
                  <a:srgbClr val="002856"/>
                </a:solidFill>
                <a:latin typeface="Arial"/>
              </a:rPr>
              <a:t>Federal EECBG caps admin fees at 10% of funds -- a citable floor</a:t>
            </a:r>
          </a:p>
          <a:p>
            <a:pPr>
              <a:spcAft>
                <a:spcPts val="600"/>
              </a:spcAft>
            </a:pPr>
            <a:r>
              <a:rPr b="1" sz="1100">
                <a:solidFill>
                  <a:srgbClr val="002856"/>
                </a:solidFill>
                <a:latin typeface="Arial"/>
              </a:rPr>
              <a:t>Exact %: </a:t>
            </a:r>
            <a:r>
              <a:rPr sz="1100">
                <a:solidFill>
                  <a:srgbClr val="002856"/>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2286000"/>
          </a:xfrm>
          <a:prstGeom prst="rect">
            <a:avLst/>
          </a:prstGeom>
          <a:noFill/>
        </p:spPr>
        <p:txBody>
          <a:bodyPr wrap="square">
            <a:spAutoFit/>
          </a:bodyPr>
          <a:lstStyle/>
          <a:p>
            <a:pPr>
              <a:spcAft>
                <a:spcPts val="600"/>
              </a:spcAft>
            </a:pPr>
            <a:r>
              <a:rPr b="1" sz="1100">
                <a:solidFill>
                  <a:srgbClr val="002856"/>
                </a:solidFill>
                <a:latin typeface="Arial"/>
              </a:rPr>
              <a:t>Utility: </a:t>
            </a:r>
            <a:r>
              <a:rPr sz="1100">
                <a:solidFill>
                  <a:srgbClr val="002856"/>
                </a:solidFill>
                <a:latin typeface="Arial"/>
              </a:rPr>
              <a:t>Meets storage mandate, grows rate base, cheaper than new peaker capacity</a:t>
            </a:r>
          </a:p>
          <a:p>
            <a:pPr>
              <a:spcAft>
                <a:spcPts val="600"/>
              </a:spcAft>
            </a:pPr>
            <a:r>
              <a:rPr b="1" sz="1100">
                <a:solidFill>
                  <a:srgbClr val="002856"/>
                </a:solidFill>
                <a:latin typeface="Arial"/>
              </a:rPr>
              <a:t>Household: </a:t>
            </a:r>
            <a:r>
              <a:rPr sz="1100">
                <a:solidFill>
                  <a:srgbClr val="002856"/>
                </a:solidFill>
                <a:latin typeface="Arial"/>
              </a:rPr>
              <a:t>Free backup power, zero upfront or monthly cost</a:t>
            </a:r>
          </a:p>
          <a:p>
            <a:pPr>
              <a:spcAft>
                <a:spcPts val="600"/>
              </a:spcAft>
            </a:pPr>
            <a:r>
              <a:rPr b="1" sz="1100">
                <a:solidFill>
                  <a:srgbClr val="002856"/>
                </a:solidFill>
                <a:latin typeface="Arial"/>
              </a:rPr>
              <a:t>APTIM: </a:t>
            </a:r>
            <a:r>
              <a:rPr sz="1100">
                <a:solidFill>
                  <a:srgbClr val="002856"/>
                </a:solidFill>
                <a:latin typeface="Arial"/>
              </a:rPr>
              <a:t>Recurring fee + Michigan market entry, filling an unadministered service niche</a:t>
            </a:r>
          </a:p>
          <a:p>
            <a:pPr>
              <a:spcAft>
                <a:spcPts val="600"/>
              </a:spcAft>
            </a:pPr>
            <a:r>
              <a:rPr b="1" sz="1100">
                <a:solidFill>
                  <a:srgbClr val="002856"/>
                </a:solidFill>
                <a:latin typeface="Arial"/>
              </a:rPr>
              <a:t>Regulator: </a:t>
            </a:r>
            <a:r>
              <a:rPr sz="1100">
                <a:solidFill>
                  <a:srgbClr val="002856"/>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2286000"/>
          </a:xfrm>
          <a:prstGeom prst="rect">
            <a:avLst/>
          </a:prstGeom>
          <a:noFill/>
        </p:spPr>
        <p:txBody>
          <a:bodyPr wrap="square">
            <a:spAutoFit/>
          </a:bodyPr>
          <a:lstStyle/>
          <a:p>
            <a:pPr>
              <a:spcAft>
                <a:spcPts val="600"/>
              </a:spcAft>
            </a:pPr>
            <a:r>
              <a:rPr b="1" sz="1100">
                <a:solidFill>
                  <a:srgbClr val="002856"/>
                </a:solidFill>
                <a:latin typeface="Arial"/>
              </a:rPr>
              <a:t>Cold weather: </a:t>
            </a:r>
            <a:r>
              <a:rPr sz="1100">
                <a:solidFill>
                  <a:srgbClr val="002856"/>
                </a:solidFill>
                <a:latin typeface="Arial"/>
              </a:rPr>
              <a:t>Thermally-managed battery chemistry, sized with a winter capacity buffer -- Michigan's worst outages are winter/ice-storm driven</a:t>
            </a:r>
          </a:p>
          <a:p>
            <a:pPr>
              <a:spcAft>
                <a:spcPts val="600"/>
              </a:spcAft>
            </a:pPr>
            <a:r>
              <a:rPr b="1" sz="1100">
                <a:solidFill>
                  <a:srgbClr val="002856"/>
                </a:solidFill>
                <a:latin typeface="Arial"/>
              </a:rPr>
              <a:t>Maintenance: </a:t>
            </a:r>
            <a:r>
              <a:rPr sz="1100">
                <a:solidFill>
                  <a:srgbClr val="002856"/>
                </a:solidFill>
                <a:latin typeface="Arial"/>
              </a:rPr>
              <a:t>Utility owns the fleet, so utility (via APTIM's contractor network) maintains it -- zero burden on the household</a:t>
            </a:r>
          </a:p>
          <a:p>
            <a:pPr>
              <a:spcAft>
                <a:spcPts val="600"/>
              </a:spcAft>
            </a:pPr>
            <a:r>
              <a:rPr b="1" sz="1100">
                <a:solidFill>
                  <a:srgbClr val="002856"/>
                </a:solidFill>
                <a:latin typeface="Arial"/>
              </a:rPr>
              <a:t>Pilot targeting: </a:t>
            </a:r>
            <a:r>
              <a:rPr sz="1100">
                <a:solidFill>
                  <a:srgbClr val="002856"/>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002856"/>
                </a:solidFill>
                <a:latin typeface="Arial"/>
              </a:rPr>
              <a:t>✓  A specific program, not a capability list</a:t>
            </a:r>
          </a:p>
          <a:p>
            <a:pPr>
              <a:spcAft>
                <a:spcPts val="1600"/>
              </a:spcAft>
            </a:pPr>
            <a:r>
              <a:rPr sz="1500">
                <a:solidFill>
                  <a:srgbClr val="002856"/>
                </a:solidFill>
                <a:latin typeface="Arial"/>
              </a:rPr>
              <a:t>✓  Not a generation strategy -- a distribution-resilience play</a:t>
            </a:r>
          </a:p>
          <a:p>
            <a:pPr>
              <a:spcAft>
                <a:spcPts val="1600"/>
              </a:spcAft>
            </a:pPr>
            <a:r>
              <a:rPr sz="1500">
                <a:solidFill>
                  <a:srgbClr val="002856"/>
                </a:solidFill>
                <a:latin typeface="Arial"/>
              </a:rPr>
              <a:t>✓  Fits DTE's existing $1B/yr Distribution Grid Plan</a:t>
            </a:r>
          </a:p>
          <a:p>
            <a:pPr>
              <a:spcAft>
                <a:spcPts val="1600"/>
              </a:spcAft>
            </a:pPr>
            <a:r>
              <a:rPr sz="1500">
                <a:solidFill>
                  <a:srgbClr val="002856"/>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002856"/>
                </a:solidFill>
                <a:latin typeface="Arial"/>
              </a:rPr>
              <a:t>✓  Ownership settled: utility owns, homeowner-loan math rejected</a:t>
            </a:r>
          </a:p>
          <a:p>
            <a:pPr>
              <a:spcAft>
                <a:spcPts val="1600"/>
              </a:spcAft>
            </a:pPr>
            <a:r>
              <a:rPr sz="1500">
                <a:solidFill>
                  <a:srgbClr val="002856"/>
                </a:solidFill>
                <a:latin typeface="Arial"/>
              </a:rPr>
              <a:t>✓  Engineered for Michigan winters -- cold-rated battery chemistry</a:t>
            </a:r>
          </a:p>
          <a:p>
            <a:pPr>
              <a:spcAft>
                <a:spcPts val="1600"/>
              </a:spcAft>
            </a:pPr>
            <a:r>
              <a:rPr sz="1500">
                <a:solidFill>
                  <a:srgbClr val="002856"/>
                </a:solidFill>
                <a:latin typeface="Arial"/>
              </a:rPr>
              <a:t>✓  Utility owns it, utility maintains it -- zero burden on host</a:t>
            </a:r>
          </a:p>
          <a:p>
            <a:pPr>
              <a:spcAft>
                <a:spcPts val="1600"/>
              </a:spcAft>
            </a:pPr>
            <a:r>
              <a:rPr sz="1500">
                <a:solidFill>
                  <a:srgbClr val="002856"/>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002856"/>
                          </a:solidFill>
                          <a:latin typeface="Arial"/>
                        </a:defRPr>
                      </a:pPr>
                      <a:r>
                        <a:t>Energy Efficiency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Rebate Administration</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Government Programs</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r>
              <a:tr h="396240">
                <a:tc>
                  <a:txBody>
                    <a:bodyPr/>
                    <a:lstStyle/>
                    <a:p>
                      <a:pPr>
                        <a:defRPr sz="1200">
                          <a:solidFill>
                            <a:srgbClr val="002856"/>
                          </a:solidFill>
                          <a:latin typeface="Arial"/>
                        </a:defRPr>
                      </a:pPr>
                      <a:r>
                        <a:t>Engineering &amp; Infrastructure</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c>
                  <a:txBody>
                    <a:bodyPr/>
                    <a:lstStyle/>
                    <a:p>
                      <a:pPr algn="ctr">
                        <a:defRPr sz="1200">
                          <a:solidFill>
                            <a:srgbClr val="002856"/>
                          </a:solidFill>
                          <a:latin typeface="Arial"/>
                        </a:defRPr>
                      </a:pPr>
                      <a:r>
                        <a:t>◐</a:t>
                      </a:r>
                    </a:p>
                  </a:txBody>
                  <a:tcPr>
                    <a:solidFill>
                      <a:srgbClr val="FFFFFF"/>
                    </a:solidFill>
                  </a:tcPr>
                </a:tc>
              </a:tr>
              <a:tr h="396240">
                <a:tc>
                  <a:txBody>
                    <a:bodyPr/>
                    <a:lstStyle/>
                    <a:p>
                      <a:pPr>
                        <a:defRPr sz="1200">
                          <a:solidFill>
                            <a:srgbClr val="002856"/>
                          </a:solidFill>
                          <a:latin typeface="Arial"/>
                        </a:defRPr>
                      </a:pPr>
                      <a:r>
                        <a:t>Utility-Owned Fleet Admin</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a:t>
                      </a:r>
                    </a:p>
                  </a:txBody>
                  <a:tcPr>
                    <a:solidFill>
                      <a:srgbClr val="E9EEF5"/>
                    </a:solidFill>
                  </a:tcPr>
                </a:tc>
                <a:tc>
                  <a:txBody>
                    <a:bodyPr/>
                    <a:lstStyle/>
                    <a:p>
                      <a:pPr algn="ctr">
                        <a:defRPr sz="1200">
                          <a:solidFill>
                            <a:srgbClr val="002856"/>
                          </a:solidFill>
                          <a:latin typeface="Arial"/>
                        </a:defRPr>
                      </a:pPr>
                      <a:r>
                        <a:t>● (only one)</a:t>
                      </a:r>
                    </a:p>
                  </a:txBody>
                  <a:tcPr>
                    <a:solidFill>
                      <a:srgbClr val="E9EEF5"/>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100" i="1">
                <a:solidFill>
                  <a:srgbClr val="595959"/>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002856"/>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002856"/>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002856"/>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002856"/>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3D7CC9"/>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A32036"/>
                </a:solidFill>
                <a:latin typeface="Arial"/>
              </a:rPr>
              <a:t>Known risk: </a:t>
            </a:r>
            <a:r>
              <a:rPr sz="1200">
                <a:solidFill>
                  <a:srgbClr val="002856"/>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002856"/>
                </a:solidFill>
                <a:latin typeface="Arial"/>
              </a:rPr>
              <a:t>✓  File as a low-exposure capped pilot, not a rate case</a:t>
            </a:r>
          </a:p>
          <a:p>
            <a:pPr>
              <a:spcAft>
                <a:spcPts val="800"/>
              </a:spcAft>
            </a:pPr>
            <a:r>
              <a:rPr sz="1200">
                <a:solidFill>
                  <a:srgbClr val="002856"/>
                </a:solidFill>
                <a:latin typeface="Arial"/>
              </a:rPr>
              <a:t>✓  APTIM brings the track record DTE lacked in 2022</a:t>
            </a:r>
          </a:p>
          <a:p>
            <a:pPr>
              <a:spcAft>
                <a:spcPts val="800"/>
              </a:spcAft>
            </a:pPr>
            <a:r>
              <a:rPr sz="1200">
                <a:solidFill>
                  <a:srgbClr val="002856"/>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050">
                          <a:solidFill>
                            <a:srgbClr val="002856"/>
                          </a:solidFill>
                          <a:latin typeface="Arial"/>
                        </a:defRPr>
                      </a:pPr>
                      <a:r>
                        <a:t>No statutory ban on utility DER ownership</a:t>
                      </a:r>
                    </a:p>
                  </a:txBody>
                  <a:tcPr>
                    <a:solidFill>
                      <a:srgbClr val="E9EEF5"/>
                    </a:solidFill>
                  </a:tcPr>
                </a:tc>
                <a:tc>
                  <a:txBody>
                    <a:bodyPr/>
                    <a:lstStyle/>
                    <a:p>
                      <a:pPr>
                        <a:defRPr sz="1050">
                          <a:solidFill>
                            <a:srgbClr val="002856"/>
                          </a:solidFill>
                          <a:latin typeface="Arial"/>
                        </a:defRPr>
                      </a:pPr>
                      <a:r>
                        <a:t>One prior attempt rejected</a:t>
                      </a:r>
                    </a:p>
                  </a:txBody>
                  <a:tcPr>
                    <a:solidFill>
                      <a:srgbClr val="E9EEF5"/>
                    </a:solidFill>
                  </a:tcPr>
                </a:tc>
              </a:tr>
              <a:tr h="434340">
                <a:tc>
                  <a:txBody>
                    <a:bodyPr/>
                    <a:lstStyle/>
                    <a:p>
                      <a:pPr>
                        <a:defRPr sz="1050">
                          <a:solidFill>
                            <a:srgbClr val="002856"/>
                          </a:solidFill>
                          <a:latin typeface="Arial"/>
                        </a:defRPr>
                      </a:pPr>
                      <a:r>
                        <a:t>Real 2026 utility-owned storage precedent</a:t>
                      </a:r>
                    </a:p>
                  </a:txBody>
                  <a:tcPr>
                    <a:solidFill>
                      <a:srgbClr val="FFFFFF"/>
                    </a:solidFill>
                  </a:tcPr>
                </a:tc>
                <a:tc>
                  <a:txBody>
                    <a:bodyPr/>
                    <a:lstStyle/>
                    <a:p>
                      <a:pPr>
                        <a:defRPr sz="1050">
                          <a:solidFill>
                            <a:srgbClr val="002856"/>
                          </a:solidFill>
                          <a:latin typeface="Arial"/>
                        </a:defRPr>
                      </a:pPr>
                      <a:r>
                        <a:t>Active rate-case political climate</a:t>
                      </a:r>
                    </a:p>
                  </a:txBody>
                  <a:tcPr>
                    <a:solidFill>
                      <a:srgbClr val="FFFFFF"/>
                    </a:solidFill>
                  </a:tcPr>
                </a:tc>
              </a:tr>
              <a:tr h="434340">
                <a:tc>
                  <a:txBody>
                    <a:bodyPr/>
                    <a:lstStyle/>
                    <a:p>
                      <a:pPr>
                        <a:defRPr sz="1050">
                          <a:solidFill>
                            <a:srgbClr val="002856"/>
                          </a:solidFill>
                          <a:latin typeface="Arial"/>
                        </a:defRPr>
                      </a:pPr>
                      <a:r>
                        <a:t>Purpose-built expedited pilot pathway exists</a:t>
                      </a:r>
                    </a:p>
                  </a:txBody>
                  <a:tcPr>
                    <a:solidFill>
                      <a:srgbClr val="E9EEF5"/>
                    </a:solidFill>
                  </a:tcPr>
                </a:tc>
                <a:tc>
                  <a:txBody>
                    <a:bodyPr/>
                    <a:lstStyle/>
                    <a:p>
                      <a:pPr>
                        <a:defRPr sz="1050">
                          <a:solidFill>
                            <a:srgbClr val="002856"/>
                          </a:solidFill>
                          <a:latin typeface="Arial"/>
                        </a:defRPr>
                      </a:pPr>
                      <a:r>
                        <a:t>No settled template for in-home equipment</a:t>
                      </a:r>
                    </a:p>
                  </a:txBody>
                  <a:tcPr>
                    <a:solidFill>
                      <a:srgbClr val="E9EEF5"/>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002856"/>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002856"/>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002856"/>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One pilot, then a repeatable path to every state where APTIM already operates</a:t>
            </a:r>
          </a:p>
        </p:txBody>
      </p:sp>
      <p:sp>
        <p:nvSpPr>
          <p:cNvPr id="4" name="Rounded Rectangle 3"/>
          <p:cNvSpPr/>
          <p:nvPr/>
        </p:nvSpPr>
        <p:spPr>
          <a:xfrm>
            <a:off x="457200" y="1463040"/>
            <a:ext cx="3483864"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352544" y="1463040"/>
            <a:ext cx="3483864"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8247888" y="1463040"/>
            <a:ext cx="3483864" cy="283464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B71B"/>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986784"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882128"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002856"/>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595959"/>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B71B"/>
                </a:highlight>
                <a:latin typeface="Arial"/>
                <a:cs typeface="Arial"/>
              </a:rPr>
              <a:t>– Problem Definition (Pain point)</a:t>
            </a:r>
          </a:p>
          <a:p>
            <a:pPr marL="233045" indent="-233045">
              <a:buNone/>
            </a:pPr>
            <a:r>
              <a:rPr lang="en-US">
                <a:highlight>
                  <a:srgbClr val="FFB71B"/>
                </a:highlight>
                <a:latin typeface="Arial"/>
                <a:cs typeface="Arial"/>
              </a:rPr>
              <a:t>– Market/Policy Analysis: (current state, changes impacting space)</a:t>
            </a:r>
          </a:p>
          <a:p>
            <a:pPr marL="233045" indent="-233045">
              <a:buNone/>
            </a:pPr>
            <a:r>
              <a:rPr lang="en-US">
                <a:highlight>
                  <a:srgbClr val="FFB71B"/>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002856"/>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002856"/>
              </a:solidFill>
            </a:endParaRPr>
          </a:p>
          <a:p>
            <a:pPr marL="233045" indent="-233045"/>
            <a:r>
              <a:rPr lang="en-US" sz="1600">
                <a:solidFill>
                  <a:srgbClr val="002856"/>
                </a:solidFill>
              </a:rPr>
              <a:t>Scales Through Existing Relationships </a:t>
            </a:r>
          </a:p>
          <a:p>
            <a:pPr marL="574357" lvl="1" indent="-233045"/>
            <a:r>
              <a:rPr lang="en-US" sz="1400">
                <a:solidFill>
                  <a:srgbClr val="002856"/>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002856"/>
              </a:solidFill>
            </a:endParaRPr>
          </a:p>
          <a:p>
            <a:pPr marL="233045" indent="-233045"/>
            <a:r>
              <a:rPr lang="en-US" sz="1600">
                <a:solidFill>
                  <a:srgbClr val="002856"/>
                </a:solidFill>
              </a:rPr>
              <a:t>Creates More Resilient Revenue Streams</a:t>
            </a:r>
          </a:p>
          <a:p>
            <a:pPr marL="574357" lvl="1" indent="-233045"/>
            <a:r>
              <a:rPr lang="en-US" sz="1400">
                <a:solidFill>
                  <a:srgbClr val="002856"/>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002856"/>
                </a:solidFill>
              </a:rPr>
              <a:t>Bottom Text to highlight point</a:t>
            </a:r>
          </a:p>
          <a:p>
            <a:pPr marL="574357" lvl="1" indent="-233045"/>
            <a:r>
              <a:rPr lang="en-US" b="1">
                <a:solidFill>
                  <a:srgbClr val="002856"/>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002856"/>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002856"/>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
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55"/>
  </p:notesMasterIdLst>
  <p:sldIdLst>
    <p:sldId id="261" r:id="rId7"/>
    <p:sldId id="563" r:id="rId8"/>
    <p:sldId id="567" r:id="rId9"/>
    <p:sldId id="571" r:id="rId10"/>
    <p:sldId id="569" r:id="rId11"/>
    <p:sldId id="256" r:id="rId19"/>
    <p:sldId id="295" r:id="rId12"/>
    <p:sldId id="576" r:id="rId13"/>
    <p:sldId id="579" r:id="rId62"/>
    <p:sldId id="258" r:id="rId18"/>
    <p:sldId id="580" r:id="rId63"/>
    <p:sldId id="304" r:id="rId14"/>
    <p:sldId id="575" r:id="rId20"/>
    <p:sldId id="299" r:id="rId21"/>
    <p:sldId id="573" r:id="rId22"/>
    <p:sldId id="578" r:id="rId17"/>
    <p:sldId id="570" r:id="rId23"/>
    <p:sldId id="577" r:id="rId26"/>
    <p:sldId id="296" r:id="rId25"/>
    <p:sldId id="300" r:id="rId27"/>
    <p:sldId id="302" r:id="rId28"/>
    <p:sldId id="275" r:id="rId29"/>
    <p:sldId id="292" r:id="rId30"/>
    <p:sldId id="307" r:id="rId31"/>
    <p:sldId id="565" r:id="rId32"/>
    <p:sldId id="566" r:id="rId33"/>
    <p:sldId id="564" r:id="rId34"/>
    <p:sldId id="574" r:id="rId35"/>
    <p:sldId id="572" r:id="rId36"/>
    <p:sldId id="297" r:id="rId37"/>
    <p:sldId id="568"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69"/>
            <p14:sldId id="295"/>
            <p14:sldId id="576"/>
            <p14:sldId id="304"/>
            <p14:sldId id="305"/>
            <p14:sldId id="306"/>
            <p14:sldId id="578"/>
            <p14:sldId id="258"/>
            <p14:sldId id="256"/>
            <p14:sldId id="575"/>
            <p14:sldId id="299"/>
            <p14:sldId id="573"/>
            <p14:sldId id="570"/>
            <p14:sldId id="274"/>
          </p14:sldIdLst>
        </p14:section>
        <p14:section name="Draft/Prompt Slides" id="{C2FC1F15-DB02-426B-B197-995664422535}">
          <p14:sldIdLst>
            <p14:sldId id="296"/>
            <p14:sldId id="577"/>
            <p14:sldId id="300"/>
            <p14:sldId id="302"/>
            <p14:sldId id="275"/>
            <p14:sldId id="292"/>
            <p14:sldId id="307"/>
            <p14:sldId id="565"/>
            <p14:sldId id="566"/>
            <p14:sldId id="564"/>
            <p14:sldId id="574"/>
            <p14:sldId id="572"/>
            <p14:sldId id="297"/>
            <p14:sldId id="568"/>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F6F54F-9B34-1888-7193-6073DFC88332}" v="115" dt="2026-07-22T18:29:47.015"/>
    <p1510:client id="{59249B63-8882-4CDB-BAD3-FE5B1693C1FE}" v="18" dt="2026-07-23T17:11:14.234"/>
    <p1510:client id="{787387E4-86D2-7F9E-74B5-464197686477}" v="1339" dt="2026-07-22T17:24:50.303"/>
    <p1510:client id="{8559E0C1-5AA9-E0A4-05E5-01378189A90D}" v="84" dt="2026-07-23T19:55:07.856"/>
    <p1510:client id="{A71D0A26-5D96-CD32-CFD7-A66CE5B6B761}" v="82" dt="2026-07-22T21:09:59.070"/>
    <p1510:client id="{ED18C9C9-4FC3-F97B-D3FB-0B2224BC2A8A}" v="17" dt="2026-07-23T12:34:00.7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12.xml"/><Relationship Id="rId17" Type="http://schemas.openxmlformats.org/officeDocument/2006/relationships/slide" Target="slides/slide16.xml"/><Relationship Id="rId18" Type="http://schemas.openxmlformats.org/officeDocument/2006/relationships/slide" Target="slides/slide10.xml"/><Relationship Id="rId19" Type="http://schemas.openxmlformats.org/officeDocument/2006/relationships/slide" Target="slides/slide6.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7.xml"/><Relationship Id="rId24" Type="http://schemas.openxmlformats.org/officeDocument/2006/relationships/slide" Target="slides/slide19.xml"/><Relationship Id="rId25" Type="http://schemas.openxmlformats.org/officeDocument/2006/relationships/slide" Target="slides/slide19.xml"/><Relationship Id="rId26" Type="http://schemas.openxmlformats.org/officeDocument/2006/relationships/slide" Target="slides/slide18.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microsoft.com/office/2015/10/relationships/revisionInfo" Target="revisionInfo.xml"/><Relationship Id="rId61" Type="http://schemas.microsoft.com/office/2018/10/relationships/authors" Target="authors.xml"/><Relationship Id="rId62" Type="http://schemas.openxmlformats.org/officeDocument/2006/relationships/slide" Target="slides/slide9.xml"/><Relationship Id="rId63" Type="http://schemas.openxmlformats.org/officeDocument/2006/relationships/slide" Target="slides/slide1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235E784-6F17-44A8-A786-4C9580DEBC54}"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US"/>
        </a:p>
      </dgm:t>
    </dgm:pt>
    <dgm:pt modelId="{DDFE7638-8CD1-43E1-9B31-D548E5206749}">
      <dgm:prSet phldrT="[Text]" phldr="0"/>
      <dgm:spPr/>
      <dgm:t>
        <a:bodyPr/>
        <a:lstStyle/>
        <a:p>
          <a:r>
            <a:rPr lang="en-US"/>
            <a:t>Constraints </a:t>
          </a:r>
        </a:p>
      </dgm:t>
    </dgm:pt>
    <dgm:pt modelId="{3EF4084A-28ED-4AFF-9A20-403A524C0BE8}" type="parTrans" cxnId="{5AC8A6D6-0168-4073-A3C8-296184BF2B20}">
      <dgm:prSet/>
      <dgm:spPr/>
      <dgm:t>
        <a:bodyPr/>
        <a:lstStyle/>
        <a:p>
          <a:endParaRPr lang="en-US"/>
        </a:p>
      </dgm:t>
    </dgm:pt>
    <dgm:pt modelId="{CB41EE61-C508-4F62-BC6F-D1BE622726B2}" type="sibTrans" cxnId="{5AC8A6D6-0168-4073-A3C8-296184BF2B20}">
      <dgm:prSet/>
      <dgm:spPr/>
      <dgm:t>
        <a:bodyPr/>
        <a:lstStyle/>
        <a:p>
          <a:endParaRPr lang="en-US"/>
        </a:p>
      </dgm:t>
    </dgm:pt>
    <dgm:pt modelId="{BD88967C-5EE0-446C-A30E-AEE06FB40E5B}">
      <dgm:prSet phldrT="[Text]" phldr="0"/>
      <dgm:spPr/>
      <dgm:t>
        <a:bodyPr/>
        <a:lstStyle/>
        <a:p>
          <a:r>
            <a:rPr lang="en-US"/>
            <a:t>Federal Funding Uncertainty</a:t>
          </a:r>
        </a:p>
      </dgm:t>
    </dgm:pt>
    <dgm:pt modelId="{22DAFC6F-7008-456A-B428-0D8390473261}" type="parTrans" cxnId="{57550FDD-BD11-494F-A99B-332B69B2719F}">
      <dgm:prSet/>
      <dgm:spPr/>
      <dgm:t>
        <a:bodyPr/>
        <a:lstStyle/>
        <a:p>
          <a:endParaRPr lang="en-US"/>
        </a:p>
      </dgm:t>
    </dgm:pt>
    <dgm:pt modelId="{AD1D2F9B-31FF-4173-941C-195906D11917}" type="sibTrans" cxnId="{57550FDD-BD11-494F-A99B-332B69B2719F}">
      <dgm:prSet/>
      <dgm:spPr/>
      <dgm:t>
        <a:bodyPr/>
        <a:lstStyle/>
        <a:p>
          <a:endParaRPr lang="en-US"/>
        </a:p>
      </dgm:t>
    </dgm:pt>
    <dgm:pt modelId="{1AE44E74-97CF-479C-914D-423F4065ABF3}">
      <dgm:prSet/>
      <dgm:spPr/>
      <dgm:t>
        <a:bodyPr/>
        <a:lstStyle/>
        <a:p>
          <a:r>
            <a:rPr lang="en-US"/>
            <a:t>Changing Incentive Structure </a:t>
          </a:r>
        </a:p>
      </dgm:t>
    </dgm:pt>
    <dgm:pt modelId="{EFF59727-7AF6-4565-9C77-EFF8A1E79EFE}" type="parTrans" cxnId="{88BA81B3-56A1-4BA5-BD2C-F77FC6C2628D}">
      <dgm:prSet/>
      <dgm:spPr/>
      <dgm:t>
        <a:bodyPr/>
        <a:lstStyle/>
        <a:p>
          <a:endParaRPr lang="en-US"/>
        </a:p>
      </dgm:t>
    </dgm:pt>
    <dgm:pt modelId="{FAC1CC9C-ACD5-47BE-BDD0-8D4785F9BABB}" type="sibTrans" cxnId="{88BA81B3-56A1-4BA5-BD2C-F77FC6C2628D}">
      <dgm:prSet/>
      <dgm:spPr/>
      <dgm:t>
        <a:bodyPr/>
        <a:lstStyle/>
        <a:p>
          <a:endParaRPr lang="en-US"/>
        </a:p>
      </dgm:t>
    </dgm:pt>
    <dgm:pt modelId="{7CB07658-EE47-46E9-8595-0BFD8BAE936E}">
      <dgm:prSet/>
      <dgm:spPr/>
      <dgm:t>
        <a:bodyPr/>
        <a:lstStyle/>
        <a:p>
          <a:r>
            <a:rPr lang="en-US"/>
            <a:t>Operational Complexity </a:t>
          </a:r>
        </a:p>
      </dgm:t>
    </dgm:pt>
    <dgm:pt modelId="{CA839E47-4C28-48F6-B3BD-72AAFBECFAC6}" type="parTrans" cxnId="{2FFD2F44-7E25-4BFC-9F00-77D005CC2D31}">
      <dgm:prSet/>
      <dgm:spPr/>
      <dgm:t>
        <a:bodyPr/>
        <a:lstStyle/>
        <a:p>
          <a:endParaRPr lang="en-US"/>
        </a:p>
      </dgm:t>
    </dgm:pt>
    <dgm:pt modelId="{870635BE-A339-4B3A-A004-FFD09E63B64B}" type="sibTrans" cxnId="{2FFD2F44-7E25-4BFC-9F00-77D005CC2D31}">
      <dgm:prSet/>
      <dgm:spPr/>
      <dgm:t>
        <a:bodyPr/>
        <a:lstStyle/>
        <a:p>
          <a:endParaRPr lang="en-US"/>
        </a:p>
      </dgm:t>
    </dgm:pt>
    <dgm:pt modelId="{4DB905CD-BC51-448A-9C15-792753A58177}">
      <dgm:prSet/>
      <dgm:spPr/>
      <dgm:t>
        <a:bodyPr/>
        <a:lstStyle/>
        <a:p>
          <a:r>
            <a:rPr lang="en-US"/>
            <a:t>Aging Infrastructure </a:t>
          </a:r>
        </a:p>
      </dgm:t>
    </dgm:pt>
    <dgm:pt modelId="{67842171-0865-43BE-88D2-3F87571A98EA}" type="parTrans" cxnId="{55F3BDA1-E9D6-4C0C-A523-051488B1AABA}">
      <dgm:prSet/>
      <dgm:spPr/>
      <dgm:t>
        <a:bodyPr/>
        <a:lstStyle/>
        <a:p>
          <a:endParaRPr lang="en-US"/>
        </a:p>
      </dgm:t>
    </dgm:pt>
    <dgm:pt modelId="{2A516D90-AF25-4232-8D5F-AAA08E3E0147}" type="sibTrans" cxnId="{55F3BDA1-E9D6-4C0C-A523-051488B1AABA}">
      <dgm:prSet/>
      <dgm:spPr/>
      <dgm:t>
        <a:bodyPr/>
        <a:lstStyle/>
        <a:p>
          <a:endParaRPr lang="en-US"/>
        </a:p>
      </dgm:t>
    </dgm:pt>
    <dgm:pt modelId="{7CBBD09E-9D92-457F-AE87-852FD33D8A17}">
      <dgm:prSet phldrT="[Text]" phldr="0"/>
      <dgm:spPr/>
      <dgm:t>
        <a:bodyPr/>
        <a:lstStyle/>
        <a:p>
          <a:r>
            <a:rPr lang="en-US"/>
            <a:t>Expectations </a:t>
          </a:r>
        </a:p>
      </dgm:t>
    </dgm:pt>
    <dgm:pt modelId="{79918CF5-4EBD-4108-A40E-82FA7CBDB76B}" type="parTrans" cxnId="{236BF949-BB2A-450F-B493-CB58BB7DFBB2}">
      <dgm:prSet/>
      <dgm:spPr/>
      <dgm:t>
        <a:bodyPr/>
        <a:lstStyle/>
        <a:p>
          <a:endParaRPr lang="en-US"/>
        </a:p>
      </dgm:t>
    </dgm:pt>
    <dgm:pt modelId="{831F0DF7-6C74-43C6-B13E-A906979E2252}" type="sibTrans" cxnId="{236BF949-BB2A-450F-B493-CB58BB7DFBB2}">
      <dgm:prSet/>
      <dgm:spPr/>
      <dgm:t>
        <a:bodyPr/>
        <a:lstStyle/>
        <a:p>
          <a:endParaRPr lang="en-US"/>
        </a:p>
      </dgm:t>
    </dgm:pt>
    <dgm:pt modelId="{5A6D8044-9C46-49DB-897A-C03D4709A09C}">
      <dgm:prSet phldrT="[Text]" phldr="0"/>
      <dgm:spPr/>
      <dgm:t>
        <a:bodyPr/>
        <a:lstStyle/>
        <a:p>
          <a:r>
            <a:rPr lang="en-US"/>
            <a:t>Energy efficiency</a:t>
          </a:r>
        </a:p>
      </dgm:t>
    </dgm:pt>
    <dgm:pt modelId="{86D7CDE7-2FA9-48EE-A441-95575A7D129E}" type="parTrans" cxnId="{3565DA8B-2F74-49A4-AF5E-75AECC7B1409}">
      <dgm:prSet/>
      <dgm:spPr/>
      <dgm:t>
        <a:bodyPr/>
        <a:lstStyle/>
        <a:p>
          <a:endParaRPr lang="en-US"/>
        </a:p>
      </dgm:t>
    </dgm:pt>
    <dgm:pt modelId="{E5BD6444-BD3B-4FF1-9956-E4B6BAAF8E12}" type="sibTrans" cxnId="{3565DA8B-2F74-49A4-AF5E-75AECC7B1409}">
      <dgm:prSet/>
      <dgm:spPr/>
      <dgm:t>
        <a:bodyPr/>
        <a:lstStyle/>
        <a:p>
          <a:endParaRPr lang="en-US"/>
        </a:p>
      </dgm:t>
    </dgm:pt>
    <dgm:pt modelId="{F67991DF-DAC3-4281-85FF-BA5CF53A7EB0}">
      <dgm:prSet/>
      <dgm:spPr/>
      <dgm:t>
        <a:bodyPr/>
        <a:lstStyle/>
        <a:p>
          <a:r>
            <a:rPr lang="en-US"/>
            <a:t>Sustainability Initiatives</a:t>
          </a:r>
        </a:p>
      </dgm:t>
    </dgm:pt>
    <dgm:pt modelId="{A83080CC-35E7-4A36-A540-CF5D5A8DCA7B}" type="parTrans" cxnId="{6D816BCD-8A49-431B-B652-53C871B8C958}">
      <dgm:prSet/>
      <dgm:spPr/>
      <dgm:t>
        <a:bodyPr/>
        <a:lstStyle/>
        <a:p>
          <a:endParaRPr lang="en-US"/>
        </a:p>
      </dgm:t>
    </dgm:pt>
    <dgm:pt modelId="{D2283B01-C28B-4941-AE4E-E83A31AB129E}" type="sibTrans" cxnId="{6D816BCD-8A49-431B-B652-53C871B8C958}">
      <dgm:prSet/>
      <dgm:spPr/>
      <dgm:t>
        <a:bodyPr/>
        <a:lstStyle/>
        <a:p>
          <a:endParaRPr lang="en-US"/>
        </a:p>
      </dgm:t>
    </dgm:pt>
    <dgm:pt modelId="{F3235FEB-127A-4F30-B008-F0CB2568BBAD}">
      <dgm:prSet/>
      <dgm:spPr/>
      <dgm:t>
        <a:bodyPr/>
        <a:lstStyle/>
        <a:p>
          <a:r>
            <a:rPr lang="en-US"/>
            <a:t>Grid Resilience </a:t>
          </a:r>
        </a:p>
      </dgm:t>
    </dgm:pt>
    <dgm:pt modelId="{81BD81E8-77C1-4238-8AA8-575854A19CD0}" type="parTrans" cxnId="{E877519C-C311-42CF-B2E8-9E10BF76F7CA}">
      <dgm:prSet/>
      <dgm:spPr/>
      <dgm:t>
        <a:bodyPr/>
        <a:lstStyle/>
        <a:p>
          <a:endParaRPr lang="en-US"/>
        </a:p>
      </dgm:t>
    </dgm:pt>
    <dgm:pt modelId="{21C2D1E1-9F5D-4A0B-99D2-16D64B022D16}" type="sibTrans" cxnId="{E877519C-C311-42CF-B2E8-9E10BF76F7CA}">
      <dgm:prSet/>
      <dgm:spPr/>
      <dgm:t>
        <a:bodyPr/>
        <a:lstStyle/>
        <a:p>
          <a:endParaRPr lang="en-US"/>
        </a:p>
      </dgm:t>
    </dgm:pt>
    <dgm:pt modelId="{2129D946-ABA5-40D1-8A3D-353A9DFC185F}">
      <dgm:prSet/>
      <dgm:spPr/>
      <dgm:t>
        <a:bodyPr/>
        <a:lstStyle/>
        <a:p>
          <a:r>
            <a:rPr lang="en-US"/>
            <a:t>Electrification </a:t>
          </a:r>
        </a:p>
      </dgm:t>
    </dgm:pt>
    <dgm:pt modelId="{3D6B06D3-AB80-40CE-B0BB-9F3F46F3A304}" type="parTrans" cxnId="{0ED3DEDE-E55E-4F76-9A07-E2DE4C78EB05}">
      <dgm:prSet/>
      <dgm:spPr/>
      <dgm:t>
        <a:bodyPr/>
        <a:lstStyle/>
        <a:p>
          <a:endParaRPr lang="en-US"/>
        </a:p>
      </dgm:t>
    </dgm:pt>
    <dgm:pt modelId="{8E04A0BE-FE0F-4304-9701-8F02C851A607}" type="sibTrans" cxnId="{0ED3DEDE-E55E-4F76-9A07-E2DE4C78EB05}">
      <dgm:prSet/>
      <dgm:spPr/>
      <dgm:t>
        <a:bodyPr/>
        <a:lstStyle/>
        <a:p>
          <a:endParaRPr lang="en-US"/>
        </a:p>
      </dgm:t>
    </dgm:pt>
    <dgm:pt modelId="{5DD2DAF5-CC74-49BD-8AF4-5444DBB29DAD}">
      <dgm:prSet/>
      <dgm:spPr/>
      <dgm:t>
        <a:bodyPr/>
        <a:lstStyle/>
        <a:p>
          <a:r>
            <a:rPr lang="en-US"/>
            <a:t>Implementation Support</a:t>
          </a:r>
        </a:p>
      </dgm:t>
    </dgm:pt>
    <dgm:pt modelId="{7013EB33-C841-4422-881D-B0ACEDF85E1D}" type="parTrans" cxnId="{76F8544E-727D-4709-B0DB-C42956085DB4}">
      <dgm:prSet/>
      <dgm:spPr/>
      <dgm:t>
        <a:bodyPr/>
        <a:lstStyle/>
        <a:p>
          <a:endParaRPr lang="en-US"/>
        </a:p>
      </dgm:t>
    </dgm:pt>
    <dgm:pt modelId="{419D9818-5FBE-4215-ABCE-89204C754B36}" type="sibTrans" cxnId="{76F8544E-727D-4709-B0DB-C42956085DB4}">
      <dgm:prSet/>
      <dgm:spPr/>
      <dgm:t>
        <a:bodyPr/>
        <a:lstStyle/>
        <a:p>
          <a:endParaRPr lang="en-US"/>
        </a:p>
      </dgm:t>
    </dgm:pt>
    <dgm:pt modelId="{0C908299-D4C4-4F3A-9D60-6FEDB4B17B82}">
      <dgm:prSet/>
      <dgm:spPr/>
      <dgm:t>
        <a:bodyPr/>
        <a:lstStyle/>
        <a:p>
          <a:r>
            <a:rPr lang="en-US"/>
            <a:t>Cost Effective Solutions </a:t>
          </a:r>
        </a:p>
      </dgm:t>
    </dgm:pt>
    <dgm:pt modelId="{B94B8C2B-F5C6-426B-94DB-616B97DB576B}" type="parTrans" cxnId="{90019330-DCCC-4329-A8A7-D05251AFCAB8}">
      <dgm:prSet/>
      <dgm:spPr/>
      <dgm:t>
        <a:bodyPr/>
        <a:lstStyle/>
        <a:p>
          <a:endParaRPr lang="en-US"/>
        </a:p>
      </dgm:t>
    </dgm:pt>
    <dgm:pt modelId="{46B44C3C-B7F2-4447-9DAA-97C34F00DEE1}" type="sibTrans" cxnId="{90019330-DCCC-4329-A8A7-D05251AFCAB8}">
      <dgm:prSet/>
      <dgm:spPr/>
      <dgm:t>
        <a:bodyPr/>
        <a:lstStyle/>
        <a:p>
          <a:endParaRPr lang="en-US"/>
        </a:p>
      </dgm:t>
    </dgm:pt>
    <dgm:pt modelId="{53622A99-1BCB-43D8-9486-7998C7E12EFA}" type="pres">
      <dgm:prSet presAssocID="{0235E784-6F17-44A8-A786-4C9580DEBC54}" presName="compositeShape" presStyleCnt="0">
        <dgm:presLayoutVars>
          <dgm:chMax val="2"/>
          <dgm:dir/>
          <dgm:resizeHandles val="exact"/>
        </dgm:presLayoutVars>
      </dgm:prSet>
      <dgm:spPr/>
    </dgm:pt>
    <dgm:pt modelId="{451FF72D-63D4-4A90-9965-B8F50F6FE5BC}" type="pres">
      <dgm:prSet presAssocID="{0235E784-6F17-44A8-A786-4C9580DEBC54}" presName="divider" presStyleLbl="fgShp" presStyleIdx="0" presStyleCnt="1"/>
      <dgm:spPr/>
    </dgm:pt>
    <dgm:pt modelId="{93D79611-A6DE-4722-A42C-0C331B4E849F}" type="pres">
      <dgm:prSet presAssocID="{DDFE7638-8CD1-43E1-9B31-D548E5206749}" presName="downArrow" presStyleLbl="node1" presStyleIdx="0" presStyleCnt="2"/>
      <dgm:spPr/>
    </dgm:pt>
    <dgm:pt modelId="{659C2A45-CF4C-4339-9956-A511F6C85AF7}" type="pres">
      <dgm:prSet presAssocID="{DDFE7638-8CD1-43E1-9B31-D548E5206749}" presName="downArrowText" presStyleLbl="revTx" presStyleIdx="0" presStyleCnt="2">
        <dgm:presLayoutVars>
          <dgm:bulletEnabled val="1"/>
        </dgm:presLayoutVars>
      </dgm:prSet>
      <dgm:spPr/>
    </dgm:pt>
    <dgm:pt modelId="{189AC72A-0A3D-4414-A927-122AE92A79D5}" type="pres">
      <dgm:prSet presAssocID="{7CBBD09E-9D92-457F-AE87-852FD33D8A17}" presName="upArrow" presStyleLbl="node1" presStyleIdx="1" presStyleCnt="2"/>
      <dgm:spPr/>
    </dgm:pt>
    <dgm:pt modelId="{3998BFF2-713E-488A-BFF5-B414323A050E}" type="pres">
      <dgm:prSet presAssocID="{7CBBD09E-9D92-457F-AE87-852FD33D8A17}" presName="upArrowText" presStyleLbl="revTx" presStyleIdx="1" presStyleCnt="2">
        <dgm:presLayoutVars>
          <dgm:bulletEnabled val="1"/>
        </dgm:presLayoutVars>
      </dgm:prSet>
      <dgm:spPr/>
    </dgm:pt>
  </dgm:ptLst>
  <dgm:cxnLst>
    <dgm:cxn modelId="{C8F43302-4058-4C51-A35B-F00905EBA84F}" type="presOf" srcId="{F3235FEB-127A-4F30-B008-F0CB2568BBAD}" destId="{3998BFF2-713E-488A-BFF5-B414323A050E}" srcOrd="0" destOrd="3" presId="urn:microsoft.com/office/officeart/2005/8/layout/arrow3"/>
    <dgm:cxn modelId="{FB86E713-51B0-4873-BAE5-0FE7F0A6D383}" type="presOf" srcId="{5DD2DAF5-CC74-49BD-8AF4-5444DBB29DAD}" destId="{3998BFF2-713E-488A-BFF5-B414323A050E}" srcOrd="0" destOrd="5" presId="urn:microsoft.com/office/officeart/2005/8/layout/arrow3"/>
    <dgm:cxn modelId="{90019330-DCCC-4329-A8A7-D05251AFCAB8}" srcId="{7CBBD09E-9D92-457F-AE87-852FD33D8A17}" destId="{0C908299-D4C4-4F3A-9D60-6FEDB4B17B82}" srcOrd="5" destOrd="0" parTransId="{B94B8C2B-F5C6-426B-94DB-616B97DB576B}" sibTransId="{46B44C3C-B7F2-4447-9DAA-97C34F00DEE1}"/>
    <dgm:cxn modelId="{1753DD3D-1047-414D-9A3D-B0AB12BC01B7}" type="presOf" srcId="{BD88967C-5EE0-446C-A30E-AEE06FB40E5B}" destId="{659C2A45-CF4C-4339-9956-A511F6C85AF7}" srcOrd="0" destOrd="1" presId="urn:microsoft.com/office/officeart/2005/8/layout/arrow3"/>
    <dgm:cxn modelId="{D29FCB60-16F4-426E-B495-BB5A62A92258}" type="presOf" srcId="{0C908299-D4C4-4F3A-9D60-6FEDB4B17B82}" destId="{3998BFF2-713E-488A-BFF5-B414323A050E}" srcOrd="0" destOrd="6" presId="urn:microsoft.com/office/officeart/2005/8/layout/arrow3"/>
    <dgm:cxn modelId="{C5CEBE61-7491-4588-B04D-34C7E2AC0BA8}" type="presOf" srcId="{0235E784-6F17-44A8-A786-4C9580DEBC54}" destId="{53622A99-1BCB-43D8-9486-7998C7E12EFA}" srcOrd="0" destOrd="0" presId="urn:microsoft.com/office/officeart/2005/8/layout/arrow3"/>
    <dgm:cxn modelId="{652FD861-FCB0-4B61-8AD4-FE4A1A09A69D}" type="presOf" srcId="{7CB07658-EE47-46E9-8595-0BFD8BAE936E}" destId="{659C2A45-CF4C-4339-9956-A511F6C85AF7}" srcOrd="0" destOrd="3" presId="urn:microsoft.com/office/officeart/2005/8/layout/arrow3"/>
    <dgm:cxn modelId="{2FFD2F44-7E25-4BFC-9F00-77D005CC2D31}" srcId="{DDFE7638-8CD1-43E1-9B31-D548E5206749}" destId="{7CB07658-EE47-46E9-8595-0BFD8BAE936E}" srcOrd="2" destOrd="0" parTransId="{CA839E47-4C28-48F6-B3BD-72AAFBECFAC6}" sibTransId="{870635BE-A339-4B3A-A004-FFD09E63B64B}"/>
    <dgm:cxn modelId="{6C5FAC66-0F9E-4672-9FF0-19147E35FB2C}" type="presOf" srcId="{1AE44E74-97CF-479C-914D-423F4065ABF3}" destId="{659C2A45-CF4C-4339-9956-A511F6C85AF7}" srcOrd="0" destOrd="2" presId="urn:microsoft.com/office/officeart/2005/8/layout/arrow3"/>
    <dgm:cxn modelId="{236BF949-BB2A-450F-B493-CB58BB7DFBB2}" srcId="{0235E784-6F17-44A8-A786-4C9580DEBC54}" destId="{7CBBD09E-9D92-457F-AE87-852FD33D8A17}" srcOrd="1" destOrd="0" parTransId="{79918CF5-4EBD-4108-A40E-82FA7CBDB76B}" sibTransId="{831F0DF7-6C74-43C6-B13E-A906979E2252}"/>
    <dgm:cxn modelId="{76F8544E-727D-4709-B0DB-C42956085DB4}" srcId="{7CBBD09E-9D92-457F-AE87-852FD33D8A17}" destId="{5DD2DAF5-CC74-49BD-8AF4-5444DBB29DAD}" srcOrd="4" destOrd="0" parTransId="{7013EB33-C841-4422-881D-B0ACEDF85E1D}" sibTransId="{419D9818-5FBE-4215-ABCE-89204C754B36}"/>
    <dgm:cxn modelId="{22A8C270-4579-4F33-925A-2FE564E3D624}" type="presOf" srcId="{7CBBD09E-9D92-457F-AE87-852FD33D8A17}" destId="{3998BFF2-713E-488A-BFF5-B414323A050E}" srcOrd="0" destOrd="0" presId="urn:microsoft.com/office/officeart/2005/8/layout/arrow3"/>
    <dgm:cxn modelId="{6FBB1C7F-9E92-47FD-900F-BC4ED0B44008}" type="presOf" srcId="{5A6D8044-9C46-49DB-897A-C03D4709A09C}" destId="{3998BFF2-713E-488A-BFF5-B414323A050E}" srcOrd="0" destOrd="1" presId="urn:microsoft.com/office/officeart/2005/8/layout/arrow3"/>
    <dgm:cxn modelId="{3565DA8B-2F74-49A4-AF5E-75AECC7B1409}" srcId="{7CBBD09E-9D92-457F-AE87-852FD33D8A17}" destId="{5A6D8044-9C46-49DB-897A-C03D4709A09C}" srcOrd="0" destOrd="0" parTransId="{86D7CDE7-2FA9-48EE-A441-95575A7D129E}" sibTransId="{E5BD6444-BD3B-4FF1-9956-E4B6BAAF8E12}"/>
    <dgm:cxn modelId="{E877519C-C311-42CF-B2E8-9E10BF76F7CA}" srcId="{7CBBD09E-9D92-457F-AE87-852FD33D8A17}" destId="{F3235FEB-127A-4F30-B008-F0CB2568BBAD}" srcOrd="2" destOrd="0" parTransId="{81BD81E8-77C1-4238-8AA8-575854A19CD0}" sibTransId="{21C2D1E1-9F5D-4A0B-99D2-16D64B022D16}"/>
    <dgm:cxn modelId="{55F3BDA1-E9D6-4C0C-A523-051488B1AABA}" srcId="{DDFE7638-8CD1-43E1-9B31-D548E5206749}" destId="{4DB905CD-BC51-448A-9C15-792753A58177}" srcOrd="3" destOrd="0" parTransId="{67842171-0865-43BE-88D2-3F87571A98EA}" sibTransId="{2A516D90-AF25-4232-8D5F-AAA08E3E0147}"/>
    <dgm:cxn modelId="{88BA81B3-56A1-4BA5-BD2C-F77FC6C2628D}" srcId="{DDFE7638-8CD1-43E1-9B31-D548E5206749}" destId="{1AE44E74-97CF-479C-914D-423F4065ABF3}" srcOrd="1" destOrd="0" parTransId="{EFF59727-7AF6-4565-9C77-EFF8A1E79EFE}" sibTransId="{FAC1CC9C-ACD5-47BE-BDD0-8D4785F9BABB}"/>
    <dgm:cxn modelId="{6D816BCD-8A49-431B-B652-53C871B8C958}" srcId="{7CBBD09E-9D92-457F-AE87-852FD33D8A17}" destId="{F67991DF-DAC3-4281-85FF-BA5CF53A7EB0}" srcOrd="1" destOrd="0" parTransId="{A83080CC-35E7-4A36-A540-CF5D5A8DCA7B}" sibTransId="{D2283B01-C28B-4941-AE4E-E83A31AB129E}"/>
    <dgm:cxn modelId="{5AC8A6D6-0168-4073-A3C8-296184BF2B20}" srcId="{0235E784-6F17-44A8-A786-4C9580DEBC54}" destId="{DDFE7638-8CD1-43E1-9B31-D548E5206749}" srcOrd="0" destOrd="0" parTransId="{3EF4084A-28ED-4AFF-9A20-403A524C0BE8}" sibTransId="{CB41EE61-C508-4F62-BC6F-D1BE622726B2}"/>
    <dgm:cxn modelId="{43F123D7-0DE1-4E89-9A02-B4B1EFB7FD4B}" type="presOf" srcId="{F67991DF-DAC3-4281-85FF-BA5CF53A7EB0}" destId="{3998BFF2-713E-488A-BFF5-B414323A050E}" srcOrd="0" destOrd="2" presId="urn:microsoft.com/office/officeart/2005/8/layout/arrow3"/>
    <dgm:cxn modelId="{57550FDD-BD11-494F-A99B-332B69B2719F}" srcId="{DDFE7638-8CD1-43E1-9B31-D548E5206749}" destId="{BD88967C-5EE0-446C-A30E-AEE06FB40E5B}" srcOrd="0" destOrd="0" parTransId="{22DAFC6F-7008-456A-B428-0D8390473261}" sibTransId="{AD1D2F9B-31FF-4173-941C-195906D11917}"/>
    <dgm:cxn modelId="{0ED3DEDE-E55E-4F76-9A07-E2DE4C78EB05}" srcId="{7CBBD09E-9D92-457F-AE87-852FD33D8A17}" destId="{2129D946-ABA5-40D1-8A3D-353A9DFC185F}" srcOrd="3" destOrd="0" parTransId="{3D6B06D3-AB80-40CE-B0BB-9F3F46F3A304}" sibTransId="{8E04A0BE-FE0F-4304-9701-8F02C851A607}"/>
    <dgm:cxn modelId="{3B75D1E2-C45D-48E5-99AE-DC9D1CA5D6FD}" type="presOf" srcId="{2129D946-ABA5-40D1-8A3D-353A9DFC185F}" destId="{3998BFF2-713E-488A-BFF5-B414323A050E}" srcOrd="0" destOrd="4" presId="urn:microsoft.com/office/officeart/2005/8/layout/arrow3"/>
    <dgm:cxn modelId="{0AFA60E7-3040-4A16-91A6-1DDD09EF0A38}" type="presOf" srcId="{DDFE7638-8CD1-43E1-9B31-D548E5206749}" destId="{659C2A45-CF4C-4339-9956-A511F6C85AF7}" srcOrd="0" destOrd="0" presId="urn:microsoft.com/office/officeart/2005/8/layout/arrow3"/>
    <dgm:cxn modelId="{551643E9-DB6B-4B4F-9D7E-EF2B96465825}" type="presOf" srcId="{4DB905CD-BC51-448A-9C15-792753A58177}" destId="{659C2A45-CF4C-4339-9956-A511F6C85AF7}" srcOrd="0" destOrd="4" presId="urn:microsoft.com/office/officeart/2005/8/layout/arrow3"/>
    <dgm:cxn modelId="{7756DC42-122D-42B9-A479-3B930314688D}" type="presParOf" srcId="{53622A99-1BCB-43D8-9486-7998C7E12EFA}" destId="{451FF72D-63D4-4A90-9965-B8F50F6FE5BC}" srcOrd="0" destOrd="0" presId="urn:microsoft.com/office/officeart/2005/8/layout/arrow3"/>
    <dgm:cxn modelId="{29579487-227A-4827-B3F5-B37EB44FA710}" type="presParOf" srcId="{53622A99-1BCB-43D8-9486-7998C7E12EFA}" destId="{93D79611-A6DE-4722-A42C-0C331B4E849F}" srcOrd="1" destOrd="0" presId="urn:microsoft.com/office/officeart/2005/8/layout/arrow3"/>
    <dgm:cxn modelId="{0AAE892D-8FA5-49EA-85AD-CC892A43CEF7}" type="presParOf" srcId="{53622A99-1BCB-43D8-9486-7998C7E12EFA}" destId="{659C2A45-CF4C-4339-9956-A511F6C85AF7}" srcOrd="2" destOrd="0" presId="urn:microsoft.com/office/officeart/2005/8/layout/arrow3"/>
    <dgm:cxn modelId="{05649FEC-25DD-4606-BD4A-53A01D5F50F8}" type="presParOf" srcId="{53622A99-1BCB-43D8-9486-7998C7E12EFA}" destId="{189AC72A-0A3D-4414-A927-122AE92A79D5}" srcOrd="3" destOrd="0" presId="urn:microsoft.com/office/officeart/2005/8/layout/arrow3"/>
    <dgm:cxn modelId="{951698F0-0294-4F1C-BFFB-E9CC8E56531B}" type="presParOf" srcId="{53622A99-1BCB-43D8-9486-7998C7E12EFA}" destId="{3998BFF2-713E-488A-BFF5-B414323A050E}"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3C7EBA9-46FD-4965-B9DA-3EF5F3DCE64E}"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7B6DA0FB-60D3-4B6F-B2DB-2D745FF9465C}">
      <dgm:prSet phldrT="[Text]" phldr="0" custT="1"/>
      <dgm:spPr/>
      <dgm:t>
        <a:bodyPr/>
        <a:lstStyle/>
        <a:p>
          <a:pPr rtl="0"/>
          <a:r>
            <a:rPr lang="en-US" sz="2000">
              <a:latin typeface="Aptos Display" panose="02110004020202020204"/>
            </a:rPr>
            <a:t>Utilities – focus area</a:t>
          </a:r>
          <a:endParaRPr lang="en-US" sz="2000"/>
        </a:p>
      </dgm:t>
    </dgm:pt>
    <dgm:pt modelId="{600B3083-CD1B-4E7C-834F-084FCC787A4B}" type="parTrans" cxnId="{8DB365A3-341F-4308-8754-81A8E1ED23A5}">
      <dgm:prSet/>
      <dgm:spPr/>
      <dgm:t>
        <a:bodyPr/>
        <a:lstStyle/>
        <a:p>
          <a:endParaRPr lang="en-US" sz="2000"/>
        </a:p>
      </dgm:t>
    </dgm:pt>
    <dgm:pt modelId="{E2E006D9-DE9B-4CFB-8E68-83D535D14D96}" type="sibTrans" cxnId="{8DB365A3-341F-4308-8754-81A8E1ED23A5}">
      <dgm:prSet/>
      <dgm:spPr/>
      <dgm:t>
        <a:bodyPr/>
        <a:lstStyle/>
        <a:p>
          <a:endParaRPr lang="en-US" sz="2000"/>
        </a:p>
      </dgm:t>
    </dgm:pt>
    <dgm:pt modelId="{97F487B4-A981-499F-B760-FAA583874895}">
      <dgm:prSet phldrT="[Text]" phldr="0" custT="1"/>
      <dgm:spPr/>
      <dgm:t>
        <a:bodyPr/>
        <a:lstStyle/>
        <a:p>
          <a:pPr rtl="0"/>
          <a:r>
            <a:rPr lang="en-US" sz="2000">
              <a:latin typeface="Aptos Display" panose="02110004020202020204"/>
            </a:rPr>
            <a:t>Residential Solar and Battery Programs </a:t>
          </a:r>
          <a:endParaRPr lang="en-US" sz="2000"/>
        </a:p>
      </dgm:t>
    </dgm:pt>
    <dgm:pt modelId="{85A8B658-8FFA-4D00-875A-5AE1A78197DD}" type="parTrans" cxnId="{461BD007-9B51-4AFF-887C-F5DF4142DAC8}">
      <dgm:prSet/>
      <dgm:spPr/>
      <dgm:t>
        <a:bodyPr/>
        <a:lstStyle/>
        <a:p>
          <a:endParaRPr lang="en-US" sz="2000"/>
        </a:p>
      </dgm:t>
    </dgm:pt>
    <dgm:pt modelId="{55CBAA50-FA77-48A9-9D55-264AE7DCEF1E}" type="sibTrans" cxnId="{461BD007-9B51-4AFF-887C-F5DF4142DAC8}">
      <dgm:prSet/>
      <dgm:spPr/>
      <dgm:t>
        <a:bodyPr/>
        <a:lstStyle/>
        <a:p>
          <a:endParaRPr lang="en-US" sz="2000"/>
        </a:p>
      </dgm:t>
    </dgm:pt>
    <dgm:pt modelId="{FA62B1A3-E142-464E-9287-CAC6740FCDD4}">
      <dgm:prSet phldrT="[Text]" phldr="0" custT="1"/>
      <dgm:spPr/>
      <dgm:t>
        <a:bodyPr/>
        <a:lstStyle/>
        <a:p>
          <a:pPr rtl="0"/>
          <a:r>
            <a:rPr lang="en-US" sz="2000">
              <a:latin typeface="Aptos Display" panose="02110004020202020204"/>
            </a:rPr>
            <a:t>APTIM to work as administer for these programs</a:t>
          </a:r>
          <a:endParaRPr lang="en-US" sz="2000"/>
        </a:p>
      </dgm:t>
    </dgm:pt>
    <dgm:pt modelId="{D01FEC8C-BCB7-419A-B34A-05003C8BEAD1}" type="parTrans" cxnId="{0D9C8401-5F99-4DF4-AD63-B46743EDA09B}">
      <dgm:prSet/>
      <dgm:spPr/>
      <dgm:t>
        <a:bodyPr/>
        <a:lstStyle/>
        <a:p>
          <a:endParaRPr lang="en-US" sz="2000"/>
        </a:p>
      </dgm:t>
    </dgm:pt>
    <dgm:pt modelId="{46854C33-3006-46A0-A026-E744D17BF744}" type="sibTrans" cxnId="{0D9C8401-5F99-4DF4-AD63-B46743EDA09B}">
      <dgm:prSet/>
      <dgm:spPr/>
      <dgm:t>
        <a:bodyPr/>
        <a:lstStyle/>
        <a:p>
          <a:endParaRPr lang="en-US" sz="2000"/>
        </a:p>
      </dgm:t>
    </dgm:pt>
    <dgm:pt modelId="{65C9D182-9585-4C12-B2DD-9F298ECE308E}">
      <dgm:prSet phldrT="[Text]" phldr="0" custT="1"/>
      <dgm:spPr/>
      <dgm:t>
        <a:bodyPr/>
        <a:lstStyle/>
        <a:p>
          <a:pPr rtl="0"/>
          <a:r>
            <a:rPr lang="en-US" sz="2000">
              <a:latin typeface="Aptos Display" panose="02110004020202020204"/>
            </a:rPr>
            <a:t>Start with states that have begun the process of  implementing similar programs.</a:t>
          </a:r>
          <a:endParaRPr lang="en-US" sz="2000"/>
        </a:p>
      </dgm:t>
    </dgm:pt>
    <dgm:pt modelId="{634F6525-4B1E-4178-9B85-02D3EDF9DD9D}" type="parTrans" cxnId="{623FA3F0-EC8C-4D33-B222-5FE117BC3C64}">
      <dgm:prSet/>
      <dgm:spPr/>
      <dgm:t>
        <a:bodyPr/>
        <a:lstStyle/>
        <a:p>
          <a:endParaRPr lang="en-US" sz="2000"/>
        </a:p>
      </dgm:t>
    </dgm:pt>
    <dgm:pt modelId="{2B9FB737-3D5F-4CF7-8F45-901213399DBD}" type="sibTrans" cxnId="{623FA3F0-EC8C-4D33-B222-5FE117BC3C64}">
      <dgm:prSet/>
      <dgm:spPr/>
      <dgm:t>
        <a:bodyPr/>
        <a:lstStyle/>
        <a:p>
          <a:endParaRPr lang="en-US" sz="2000"/>
        </a:p>
      </dgm:t>
    </dgm:pt>
    <dgm:pt modelId="{E057409B-32C3-4500-A228-9F413B9C35E9}">
      <dgm:prSet phldrT="[Text]" phldr="0" custT="1"/>
      <dgm:spPr/>
      <dgm:t>
        <a:bodyPr/>
        <a:lstStyle/>
        <a:p>
          <a:pPr rtl="0"/>
          <a:r>
            <a:rPr lang="en-US" sz="2000">
              <a:latin typeface="Aptos Display" panose="02110004020202020204"/>
            </a:rPr>
            <a:t>Small scale 1 to 3-year pilot programs could show what long-term implementation could look like. </a:t>
          </a:r>
          <a:endParaRPr lang="en-US" sz="2000"/>
        </a:p>
      </dgm:t>
    </dgm:pt>
    <dgm:pt modelId="{1F61F698-844C-40DC-B737-9C4C615BEA2A}" type="parTrans" cxnId="{D55AB58B-DD7F-4BEE-826C-057DBE4CBA41}">
      <dgm:prSet/>
      <dgm:spPr/>
      <dgm:t>
        <a:bodyPr/>
        <a:lstStyle/>
        <a:p>
          <a:endParaRPr lang="en-US" sz="2000"/>
        </a:p>
      </dgm:t>
    </dgm:pt>
    <dgm:pt modelId="{9C967A68-88C9-4AF3-9E3B-7DF0B1C5720E}" type="sibTrans" cxnId="{D55AB58B-DD7F-4BEE-826C-057DBE4CBA41}">
      <dgm:prSet/>
      <dgm:spPr/>
      <dgm:t>
        <a:bodyPr/>
        <a:lstStyle/>
        <a:p>
          <a:endParaRPr lang="en-US" sz="2000"/>
        </a:p>
      </dgm:t>
    </dgm:pt>
    <dgm:pt modelId="{1B7D0041-ED16-4C3C-B710-D0F4C99556D3}" type="pres">
      <dgm:prSet presAssocID="{43C7EBA9-46FD-4965-B9DA-3EF5F3DCE64E}" presName="Name0" presStyleCnt="0">
        <dgm:presLayoutVars>
          <dgm:chMax val="7"/>
          <dgm:chPref val="7"/>
          <dgm:dir/>
        </dgm:presLayoutVars>
      </dgm:prSet>
      <dgm:spPr/>
    </dgm:pt>
    <dgm:pt modelId="{A64A8141-8531-403D-B402-0A813F76D387}" type="pres">
      <dgm:prSet presAssocID="{43C7EBA9-46FD-4965-B9DA-3EF5F3DCE64E}" presName="Name1" presStyleCnt="0"/>
      <dgm:spPr/>
    </dgm:pt>
    <dgm:pt modelId="{A0A5CD93-9B79-432A-8E94-B067CB7E5B90}" type="pres">
      <dgm:prSet presAssocID="{43C7EBA9-46FD-4965-B9DA-3EF5F3DCE64E}" presName="cycle" presStyleCnt="0"/>
      <dgm:spPr/>
    </dgm:pt>
    <dgm:pt modelId="{82393F02-626D-451D-9EE4-9162DC3178B1}" type="pres">
      <dgm:prSet presAssocID="{43C7EBA9-46FD-4965-B9DA-3EF5F3DCE64E}" presName="srcNode" presStyleLbl="node1" presStyleIdx="0" presStyleCnt="5"/>
      <dgm:spPr/>
    </dgm:pt>
    <dgm:pt modelId="{9F9C8BC5-6838-437E-9064-AC07E117019C}" type="pres">
      <dgm:prSet presAssocID="{43C7EBA9-46FD-4965-B9DA-3EF5F3DCE64E}" presName="conn" presStyleLbl="parChTrans1D2" presStyleIdx="0" presStyleCnt="1"/>
      <dgm:spPr/>
    </dgm:pt>
    <dgm:pt modelId="{4430FDAD-A709-45E0-9151-D4ECE967B7BE}" type="pres">
      <dgm:prSet presAssocID="{43C7EBA9-46FD-4965-B9DA-3EF5F3DCE64E}" presName="extraNode" presStyleLbl="node1" presStyleIdx="0" presStyleCnt="5"/>
      <dgm:spPr/>
    </dgm:pt>
    <dgm:pt modelId="{8E332095-9866-46B0-8B32-963921D1F389}" type="pres">
      <dgm:prSet presAssocID="{43C7EBA9-46FD-4965-B9DA-3EF5F3DCE64E}" presName="dstNode" presStyleLbl="node1" presStyleIdx="0" presStyleCnt="5"/>
      <dgm:spPr/>
    </dgm:pt>
    <dgm:pt modelId="{A935DD0E-C4CC-4293-A8B4-253CD901785D}" type="pres">
      <dgm:prSet presAssocID="{7B6DA0FB-60D3-4B6F-B2DB-2D745FF9465C}" presName="text_1" presStyleLbl="node1" presStyleIdx="0" presStyleCnt="5">
        <dgm:presLayoutVars>
          <dgm:bulletEnabled val="1"/>
        </dgm:presLayoutVars>
      </dgm:prSet>
      <dgm:spPr/>
    </dgm:pt>
    <dgm:pt modelId="{D939E7F2-D238-4DCA-A376-13147728B619}" type="pres">
      <dgm:prSet presAssocID="{7B6DA0FB-60D3-4B6F-B2DB-2D745FF9465C}" presName="accent_1" presStyleCnt="0"/>
      <dgm:spPr/>
    </dgm:pt>
    <dgm:pt modelId="{220FF578-9C43-4C28-AA19-F1F121D68F37}" type="pres">
      <dgm:prSet presAssocID="{7B6DA0FB-60D3-4B6F-B2DB-2D745FF9465C}" presName="accentRepeatNode" presStyleLbl="solidFgAcc1" presStyleIdx="0" presStyleCnt="5"/>
      <dgm:spPr/>
    </dgm:pt>
    <dgm:pt modelId="{C7283F4E-E42F-4502-B638-C9CE17B739A4}" type="pres">
      <dgm:prSet presAssocID="{97F487B4-A981-499F-B760-FAA583874895}" presName="text_2" presStyleLbl="node1" presStyleIdx="1" presStyleCnt="5">
        <dgm:presLayoutVars>
          <dgm:bulletEnabled val="1"/>
        </dgm:presLayoutVars>
      </dgm:prSet>
      <dgm:spPr/>
    </dgm:pt>
    <dgm:pt modelId="{E8043088-F410-4FE3-9735-D84EFAD3EF91}" type="pres">
      <dgm:prSet presAssocID="{97F487B4-A981-499F-B760-FAA583874895}" presName="accent_2" presStyleCnt="0"/>
      <dgm:spPr/>
    </dgm:pt>
    <dgm:pt modelId="{188558B0-6B78-4E6C-8C95-56F9B7D46801}" type="pres">
      <dgm:prSet presAssocID="{97F487B4-A981-499F-B760-FAA583874895}" presName="accentRepeatNode" presStyleLbl="solidFgAcc1" presStyleIdx="1" presStyleCnt="5"/>
      <dgm:spPr/>
    </dgm:pt>
    <dgm:pt modelId="{838A5405-7054-41C1-BDEE-5D2AD8AB73C4}" type="pres">
      <dgm:prSet presAssocID="{FA62B1A3-E142-464E-9287-CAC6740FCDD4}" presName="text_3" presStyleLbl="node1" presStyleIdx="2" presStyleCnt="5">
        <dgm:presLayoutVars>
          <dgm:bulletEnabled val="1"/>
        </dgm:presLayoutVars>
      </dgm:prSet>
      <dgm:spPr/>
    </dgm:pt>
    <dgm:pt modelId="{0314E415-2308-41F0-990D-A0535582CB0A}" type="pres">
      <dgm:prSet presAssocID="{FA62B1A3-E142-464E-9287-CAC6740FCDD4}" presName="accent_3" presStyleCnt="0"/>
      <dgm:spPr/>
    </dgm:pt>
    <dgm:pt modelId="{C264BFE1-C5D0-4ADB-94AC-0DFD3F7C06CE}" type="pres">
      <dgm:prSet presAssocID="{FA62B1A3-E142-464E-9287-CAC6740FCDD4}" presName="accentRepeatNode" presStyleLbl="solidFgAcc1" presStyleIdx="2" presStyleCnt="5"/>
      <dgm:spPr/>
    </dgm:pt>
    <dgm:pt modelId="{9F3C44DB-7786-452A-8820-A2CA46EF21E7}" type="pres">
      <dgm:prSet presAssocID="{65C9D182-9585-4C12-B2DD-9F298ECE308E}" presName="text_4" presStyleLbl="node1" presStyleIdx="3" presStyleCnt="5">
        <dgm:presLayoutVars>
          <dgm:bulletEnabled val="1"/>
        </dgm:presLayoutVars>
      </dgm:prSet>
      <dgm:spPr/>
    </dgm:pt>
    <dgm:pt modelId="{D2C86652-70EE-4C68-9119-CB0782D86D40}" type="pres">
      <dgm:prSet presAssocID="{65C9D182-9585-4C12-B2DD-9F298ECE308E}" presName="accent_4" presStyleCnt="0"/>
      <dgm:spPr/>
    </dgm:pt>
    <dgm:pt modelId="{43AC0EA1-D545-47D4-985E-07C91EBD6BBD}" type="pres">
      <dgm:prSet presAssocID="{65C9D182-9585-4C12-B2DD-9F298ECE308E}" presName="accentRepeatNode" presStyleLbl="solidFgAcc1" presStyleIdx="3" presStyleCnt="5"/>
      <dgm:spPr/>
    </dgm:pt>
    <dgm:pt modelId="{CFAD6485-486B-4D5D-BFB1-31C3CBB66F98}" type="pres">
      <dgm:prSet presAssocID="{E057409B-32C3-4500-A228-9F413B9C35E9}" presName="text_5" presStyleLbl="node1" presStyleIdx="4" presStyleCnt="5">
        <dgm:presLayoutVars>
          <dgm:bulletEnabled val="1"/>
        </dgm:presLayoutVars>
      </dgm:prSet>
      <dgm:spPr/>
    </dgm:pt>
    <dgm:pt modelId="{9AE79EBF-B205-48E7-B70D-B7367E8690F3}" type="pres">
      <dgm:prSet presAssocID="{E057409B-32C3-4500-A228-9F413B9C35E9}" presName="accent_5" presStyleCnt="0"/>
      <dgm:spPr/>
    </dgm:pt>
    <dgm:pt modelId="{BF7085C7-35D4-4051-A8C0-7D0871C7FC61}" type="pres">
      <dgm:prSet presAssocID="{E057409B-32C3-4500-A228-9F413B9C35E9}" presName="accentRepeatNode" presStyleLbl="solidFgAcc1" presStyleIdx="4" presStyleCnt="5"/>
      <dgm:spPr/>
    </dgm:pt>
  </dgm:ptLst>
  <dgm:cxnLst>
    <dgm:cxn modelId="{0D9C8401-5F99-4DF4-AD63-B46743EDA09B}" srcId="{43C7EBA9-46FD-4965-B9DA-3EF5F3DCE64E}" destId="{FA62B1A3-E142-464E-9287-CAC6740FCDD4}" srcOrd="2" destOrd="0" parTransId="{D01FEC8C-BCB7-419A-B34A-05003C8BEAD1}" sibTransId="{46854C33-3006-46A0-A026-E744D17BF744}"/>
    <dgm:cxn modelId="{461BD007-9B51-4AFF-887C-F5DF4142DAC8}" srcId="{43C7EBA9-46FD-4965-B9DA-3EF5F3DCE64E}" destId="{97F487B4-A981-499F-B760-FAA583874895}" srcOrd="1" destOrd="0" parTransId="{85A8B658-8FFA-4D00-875A-5AE1A78197DD}" sibTransId="{55CBAA50-FA77-48A9-9D55-264AE7DCEF1E}"/>
    <dgm:cxn modelId="{43EFD96D-A81D-4F34-BFFE-278C2241F5F1}" type="presOf" srcId="{65C9D182-9585-4C12-B2DD-9F298ECE308E}" destId="{9F3C44DB-7786-452A-8820-A2CA46EF21E7}" srcOrd="0" destOrd="0" presId="urn:microsoft.com/office/officeart/2008/layout/VerticalCurvedList"/>
    <dgm:cxn modelId="{D8AC6872-62A8-4D0F-B54A-811D2661FC66}" type="presOf" srcId="{43C7EBA9-46FD-4965-B9DA-3EF5F3DCE64E}" destId="{1B7D0041-ED16-4C3C-B710-D0F4C99556D3}" srcOrd="0" destOrd="0" presId="urn:microsoft.com/office/officeart/2008/layout/VerticalCurvedList"/>
    <dgm:cxn modelId="{51E5748A-42C3-41C9-8F3E-9831FD19865B}" type="presOf" srcId="{97F487B4-A981-499F-B760-FAA583874895}" destId="{C7283F4E-E42F-4502-B638-C9CE17B739A4}" srcOrd="0" destOrd="0" presId="urn:microsoft.com/office/officeart/2008/layout/VerticalCurvedList"/>
    <dgm:cxn modelId="{D55AB58B-DD7F-4BEE-826C-057DBE4CBA41}" srcId="{43C7EBA9-46FD-4965-B9DA-3EF5F3DCE64E}" destId="{E057409B-32C3-4500-A228-9F413B9C35E9}" srcOrd="4" destOrd="0" parTransId="{1F61F698-844C-40DC-B737-9C4C615BEA2A}" sibTransId="{9C967A68-88C9-4AF3-9E3B-7DF0B1C5720E}"/>
    <dgm:cxn modelId="{BFE44D8F-0547-4FE9-9CE8-2D46F4AE8938}" type="presOf" srcId="{E057409B-32C3-4500-A228-9F413B9C35E9}" destId="{CFAD6485-486B-4D5D-BFB1-31C3CBB66F98}" srcOrd="0" destOrd="0" presId="urn:microsoft.com/office/officeart/2008/layout/VerticalCurvedList"/>
    <dgm:cxn modelId="{8DB365A3-341F-4308-8754-81A8E1ED23A5}" srcId="{43C7EBA9-46FD-4965-B9DA-3EF5F3DCE64E}" destId="{7B6DA0FB-60D3-4B6F-B2DB-2D745FF9465C}" srcOrd="0" destOrd="0" parTransId="{600B3083-CD1B-4E7C-834F-084FCC787A4B}" sibTransId="{E2E006D9-DE9B-4CFB-8E68-83D535D14D96}"/>
    <dgm:cxn modelId="{E75935DE-157E-4C29-A58F-7B6B3377A1E8}" type="presOf" srcId="{7B6DA0FB-60D3-4B6F-B2DB-2D745FF9465C}" destId="{A935DD0E-C4CC-4293-A8B4-253CD901785D}" srcOrd="0" destOrd="0" presId="urn:microsoft.com/office/officeart/2008/layout/VerticalCurvedList"/>
    <dgm:cxn modelId="{1CB0B6E3-CCE8-4B9C-B309-18C3C09689EC}" type="presOf" srcId="{FA62B1A3-E142-464E-9287-CAC6740FCDD4}" destId="{838A5405-7054-41C1-BDEE-5D2AD8AB73C4}" srcOrd="0" destOrd="0" presId="urn:microsoft.com/office/officeart/2008/layout/VerticalCurvedList"/>
    <dgm:cxn modelId="{623FA3F0-EC8C-4D33-B222-5FE117BC3C64}" srcId="{43C7EBA9-46FD-4965-B9DA-3EF5F3DCE64E}" destId="{65C9D182-9585-4C12-B2DD-9F298ECE308E}" srcOrd="3" destOrd="0" parTransId="{634F6525-4B1E-4178-9B85-02D3EDF9DD9D}" sibTransId="{2B9FB737-3D5F-4CF7-8F45-901213399DBD}"/>
    <dgm:cxn modelId="{56FFC5FB-D15A-43CA-9A91-6B8F728464E4}" type="presOf" srcId="{E2E006D9-DE9B-4CFB-8E68-83D535D14D96}" destId="{9F9C8BC5-6838-437E-9064-AC07E117019C}" srcOrd="0" destOrd="0" presId="urn:microsoft.com/office/officeart/2008/layout/VerticalCurvedList"/>
    <dgm:cxn modelId="{48D4982E-EBE0-4BE3-A740-26E199EC6CDC}" type="presParOf" srcId="{1B7D0041-ED16-4C3C-B710-D0F4C99556D3}" destId="{A64A8141-8531-403D-B402-0A813F76D387}" srcOrd="0" destOrd="0" presId="urn:microsoft.com/office/officeart/2008/layout/VerticalCurvedList"/>
    <dgm:cxn modelId="{B570E722-5AA7-41CA-ADEE-93D4C72051F2}" type="presParOf" srcId="{A64A8141-8531-403D-B402-0A813F76D387}" destId="{A0A5CD93-9B79-432A-8E94-B067CB7E5B90}" srcOrd="0" destOrd="0" presId="urn:microsoft.com/office/officeart/2008/layout/VerticalCurvedList"/>
    <dgm:cxn modelId="{20F61412-F4AA-4B49-A992-D3D393042D2B}" type="presParOf" srcId="{A0A5CD93-9B79-432A-8E94-B067CB7E5B90}" destId="{82393F02-626D-451D-9EE4-9162DC3178B1}" srcOrd="0" destOrd="0" presId="urn:microsoft.com/office/officeart/2008/layout/VerticalCurvedList"/>
    <dgm:cxn modelId="{B70DCA45-442B-4F65-9119-F7316F85F72F}" type="presParOf" srcId="{A0A5CD93-9B79-432A-8E94-B067CB7E5B90}" destId="{9F9C8BC5-6838-437E-9064-AC07E117019C}" srcOrd="1" destOrd="0" presId="urn:microsoft.com/office/officeart/2008/layout/VerticalCurvedList"/>
    <dgm:cxn modelId="{35D4E526-62F9-476D-A2BB-938F2B14F209}" type="presParOf" srcId="{A0A5CD93-9B79-432A-8E94-B067CB7E5B90}" destId="{4430FDAD-A709-45E0-9151-D4ECE967B7BE}" srcOrd="2" destOrd="0" presId="urn:microsoft.com/office/officeart/2008/layout/VerticalCurvedList"/>
    <dgm:cxn modelId="{C6A7C170-28ED-430E-A042-1F9598E458F5}" type="presParOf" srcId="{A0A5CD93-9B79-432A-8E94-B067CB7E5B90}" destId="{8E332095-9866-46B0-8B32-963921D1F389}" srcOrd="3" destOrd="0" presId="urn:microsoft.com/office/officeart/2008/layout/VerticalCurvedList"/>
    <dgm:cxn modelId="{85CD60FF-B20B-4744-8066-F20F16251BAB}" type="presParOf" srcId="{A64A8141-8531-403D-B402-0A813F76D387}" destId="{A935DD0E-C4CC-4293-A8B4-253CD901785D}" srcOrd="1" destOrd="0" presId="urn:microsoft.com/office/officeart/2008/layout/VerticalCurvedList"/>
    <dgm:cxn modelId="{9EA24A03-9698-4968-85F5-226317D4942E}" type="presParOf" srcId="{A64A8141-8531-403D-B402-0A813F76D387}" destId="{D939E7F2-D238-4DCA-A376-13147728B619}" srcOrd="2" destOrd="0" presId="urn:microsoft.com/office/officeart/2008/layout/VerticalCurvedList"/>
    <dgm:cxn modelId="{6E0F6A7C-DB0C-4D72-B57E-BBBE0E869837}" type="presParOf" srcId="{D939E7F2-D238-4DCA-A376-13147728B619}" destId="{220FF578-9C43-4C28-AA19-F1F121D68F37}" srcOrd="0" destOrd="0" presId="urn:microsoft.com/office/officeart/2008/layout/VerticalCurvedList"/>
    <dgm:cxn modelId="{7E2FB937-17B5-475D-BDE1-1B6135FF4D5A}" type="presParOf" srcId="{A64A8141-8531-403D-B402-0A813F76D387}" destId="{C7283F4E-E42F-4502-B638-C9CE17B739A4}" srcOrd="3" destOrd="0" presId="urn:microsoft.com/office/officeart/2008/layout/VerticalCurvedList"/>
    <dgm:cxn modelId="{F6FA6670-9598-4E11-8B4C-67A3F7F86D2E}" type="presParOf" srcId="{A64A8141-8531-403D-B402-0A813F76D387}" destId="{E8043088-F410-4FE3-9735-D84EFAD3EF91}" srcOrd="4" destOrd="0" presId="urn:microsoft.com/office/officeart/2008/layout/VerticalCurvedList"/>
    <dgm:cxn modelId="{337D37E3-284A-40A3-B1FB-9BC53D7845DB}" type="presParOf" srcId="{E8043088-F410-4FE3-9735-D84EFAD3EF91}" destId="{188558B0-6B78-4E6C-8C95-56F9B7D46801}" srcOrd="0" destOrd="0" presId="urn:microsoft.com/office/officeart/2008/layout/VerticalCurvedList"/>
    <dgm:cxn modelId="{3AC4E4A5-4DB0-4981-A76A-23576C4BF766}" type="presParOf" srcId="{A64A8141-8531-403D-B402-0A813F76D387}" destId="{838A5405-7054-41C1-BDEE-5D2AD8AB73C4}" srcOrd="5" destOrd="0" presId="urn:microsoft.com/office/officeart/2008/layout/VerticalCurvedList"/>
    <dgm:cxn modelId="{B36E7450-37BD-4089-8197-C904CE8635E2}" type="presParOf" srcId="{A64A8141-8531-403D-B402-0A813F76D387}" destId="{0314E415-2308-41F0-990D-A0535582CB0A}" srcOrd="6" destOrd="0" presId="urn:microsoft.com/office/officeart/2008/layout/VerticalCurvedList"/>
    <dgm:cxn modelId="{D723EFC2-2E31-4697-B4FA-5540BE10FD34}" type="presParOf" srcId="{0314E415-2308-41F0-990D-A0535582CB0A}" destId="{C264BFE1-C5D0-4ADB-94AC-0DFD3F7C06CE}" srcOrd="0" destOrd="0" presId="urn:microsoft.com/office/officeart/2008/layout/VerticalCurvedList"/>
    <dgm:cxn modelId="{10F3CC96-83E5-4DDD-B8B6-5E3458063B57}" type="presParOf" srcId="{A64A8141-8531-403D-B402-0A813F76D387}" destId="{9F3C44DB-7786-452A-8820-A2CA46EF21E7}" srcOrd="7" destOrd="0" presId="urn:microsoft.com/office/officeart/2008/layout/VerticalCurvedList"/>
    <dgm:cxn modelId="{B9E43318-6E12-4CBF-8B87-3A034C147E9D}" type="presParOf" srcId="{A64A8141-8531-403D-B402-0A813F76D387}" destId="{D2C86652-70EE-4C68-9119-CB0782D86D40}" srcOrd="8" destOrd="0" presId="urn:microsoft.com/office/officeart/2008/layout/VerticalCurvedList"/>
    <dgm:cxn modelId="{440CDB6B-D286-43D7-A8EC-74DF7791F224}" type="presParOf" srcId="{D2C86652-70EE-4C68-9119-CB0782D86D40}" destId="{43AC0EA1-D545-47D4-985E-07C91EBD6BBD}" srcOrd="0" destOrd="0" presId="urn:microsoft.com/office/officeart/2008/layout/VerticalCurvedList"/>
    <dgm:cxn modelId="{0BF5529A-90A3-48DC-BA4E-739E522FB9BC}" type="presParOf" srcId="{A64A8141-8531-403D-B402-0A813F76D387}" destId="{CFAD6485-486B-4D5D-BFB1-31C3CBB66F98}" srcOrd="9" destOrd="0" presId="urn:microsoft.com/office/officeart/2008/layout/VerticalCurvedList"/>
    <dgm:cxn modelId="{E27D4B44-BD9F-4DA1-8D70-587C90E96E5F}" type="presParOf" srcId="{A64A8141-8531-403D-B402-0A813F76D387}" destId="{9AE79EBF-B205-48E7-B70D-B7367E8690F3}" srcOrd="10" destOrd="0" presId="urn:microsoft.com/office/officeart/2008/layout/VerticalCurvedList"/>
    <dgm:cxn modelId="{02DA4035-C2FD-4631-82A5-02E6AC6272D5}" type="presParOf" srcId="{9AE79EBF-B205-48E7-B70D-B7367E8690F3}" destId="{BF7085C7-35D4-4051-A8C0-7D0871C7FC61}"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endParaRPr lang="en-US" sz="1400"/>
        </a:p>
        <a:p>
          <a:pPr algn="l"/>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B2A42918-73C6-4D77-A3FB-06E7C21487AA}" type="presOf" srcId="{A57EBB6D-D543-44DF-BDF5-1C08C9EB31EB}" destId="{5917CBDD-A583-4693-AB9B-106C5A766EEA}" srcOrd="1" destOrd="0" presId="urn:microsoft.com/office/officeart/2005/8/layout/matrix1"/>
    <dgm:cxn modelId="{144E9023-7BB5-4AE7-9A0B-DECE2755E6FF}" type="presOf" srcId="{00076127-CDAD-4238-9685-A707C77462D1}" destId="{B5B8AC5F-E43F-4CC0-988F-21512A2D9A02}"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5F81603C-0BAC-49A7-AA65-38AB1024B618}" type="presOf" srcId="{00076127-CDAD-4238-9685-A707C77462D1}" destId="{F0217417-7472-463C-831C-1C5DF6C2E09B}" srcOrd="0" destOrd="0" presId="urn:microsoft.com/office/officeart/2005/8/layout/matrix1"/>
    <dgm:cxn modelId="{E5D9E43F-E1B2-4BC4-898C-645B5FFE40F0}" type="presOf" srcId="{E9BE064B-2F49-4A8C-8A36-698DABD07017}" destId="{5C165AFF-2126-4842-86A3-BA0B41072E73}" srcOrd="0" destOrd="0" presId="urn:microsoft.com/office/officeart/2005/8/layout/matrix1"/>
    <dgm:cxn modelId="{2FD7B162-5EE6-433D-8B9A-147FC167A8E3}" type="presOf" srcId="{A57EBB6D-D543-44DF-BDF5-1C08C9EB31EB}" destId="{C1A07BBF-19DB-47F4-9F21-3C0561070890}" srcOrd="0" destOrd="0" presId="urn:microsoft.com/office/officeart/2005/8/layout/matrix1"/>
    <dgm:cxn modelId="{71A60278-CBFF-4EF4-9957-11FD164B6195}" type="presOf" srcId="{97C2E1FC-B64D-459B-93DE-177F9745D912}" destId="{112ECAE4-7AC8-4FA3-8B8F-551C4FD20EFF}" srcOrd="0"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743E09C-BCD1-4491-AFC0-5C50D57FA172}" type="presOf" srcId="{5E1BBE66-22D8-480D-9DF9-D5528F07122D}" destId="{A0F27E1B-455B-4D7E-AD7B-40CBDA5C618A}" srcOrd="0"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4FBCEAD3-3B52-46F9-9D15-E8067D9EAA6F}" type="presOf" srcId="{5E1BBE66-22D8-480D-9DF9-D5528F07122D}" destId="{D8126E92-42E9-42FB-8F6D-202410B15B26}" srcOrd="1" destOrd="0" presId="urn:microsoft.com/office/officeart/2005/8/layout/matrix1"/>
    <dgm:cxn modelId="{281958FA-CA61-4622-AB12-28960F8B3B14}" type="presOf" srcId="{97C2E1FC-B64D-459B-93DE-177F9745D912}" destId="{875BDCF6-7B33-4626-B395-126961013AFC}" srcOrd="1" destOrd="0" presId="urn:microsoft.com/office/officeart/2005/8/layout/matrix1"/>
    <dgm:cxn modelId="{E4CD2A79-EA20-4751-ADFE-8D25B1AD064B}" type="presParOf" srcId="{FEC0AA9B-5D03-4F81-AD7F-572D00FA9EA9}" destId="{B625AA73-A0A1-45A7-BDFC-EBB7FEDDF9BB}" srcOrd="0" destOrd="0" presId="urn:microsoft.com/office/officeart/2005/8/layout/matrix1"/>
    <dgm:cxn modelId="{720EF94E-DCD6-47D9-9181-EE2701D93BF8}" type="presParOf" srcId="{B625AA73-A0A1-45A7-BDFC-EBB7FEDDF9BB}" destId="{A0F27E1B-455B-4D7E-AD7B-40CBDA5C618A}" srcOrd="0" destOrd="0" presId="urn:microsoft.com/office/officeart/2005/8/layout/matrix1"/>
    <dgm:cxn modelId="{212B2C3B-9AA1-43A3-9260-B53777C22F7E}" type="presParOf" srcId="{B625AA73-A0A1-45A7-BDFC-EBB7FEDDF9BB}" destId="{D8126E92-42E9-42FB-8F6D-202410B15B26}" srcOrd="1" destOrd="0" presId="urn:microsoft.com/office/officeart/2005/8/layout/matrix1"/>
    <dgm:cxn modelId="{3B53EFA0-7D78-40DF-9135-38680D1C5FEF}" type="presParOf" srcId="{B625AA73-A0A1-45A7-BDFC-EBB7FEDDF9BB}" destId="{C1A07BBF-19DB-47F4-9F21-3C0561070890}" srcOrd="2" destOrd="0" presId="urn:microsoft.com/office/officeart/2005/8/layout/matrix1"/>
    <dgm:cxn modelId="{A9DC49E4-07D0-4938-98BC-DA1AF6E7F294}" type="presParOf" srcId="{B625AA73-A0A1-45A7-BDFC-EBB7FEDDF9BB}" destId="{5917CBDD-A583-4693-AB9B-106C5A766EEA}" srcOrd="3" destOrd="0" presId="urn:microsoft.com/office/officeart/2005/8/layout/matrix1"/>
    <dgm:cxn modelId="{2752875F-73F0-4A7E-B915-C2123945D0F1}" type="presParOf" srcId="{B625AA73-A0A1-45A7-BDFC-EBB7FEDDF9BB}" destId="{112ECAE4-7AC8-4FA3-8B8F-551C4FD20EFF}" srcOrd="4" destOrd="0" presId="urn:microsoft.com/office/officeart/2005/8/layout/matrix1"/>
    <dgm:cxn modelId="{8A018CC6-995D-44C4-8443-911CAC7ABF22}" type="presParOf" srcId="{B625AA73-A0A1-45A7-BDFC-EBB7FEDDF9BB}" destId="{875BDCF6-7B33-4626-B395-126961013AFC}" srcOrd="5" destOrd="0" presId="urn:microsoft.com/office/officeart/2005/8/layout/matrix1"/>
    <dgm:cxn modelId="{BE882077-0677-4F93-8288-33DAEC21CA8A}" type="presParOf" srcId="{B625AA73-A0A1-45A7-BDFC-EBB7FEDDF9BB}" destId="{F0217417-7472-463C-831C-1C5DF6C2E09B}" srcOrd="6" destOrd="0" presId="urn:microsoft.com/office/officeart/2005/8/layout/matrix1"/>
    <dgm:cxn modelId="{523F1411-03B8-4E40-8B28-970614CB4108}" type="presParOf" srcId="{B625AA73-A0A1-45A7-BDFC-EBB7FEDDF9BB}" destId="{B5B8AC5F-E43F-4CC0-988F-21512A2D9A02}" srcOrd="7" destOrd="0" presId="urn:microsoft.com/office/officeart/2005/8/layout/matrix1"/>
    <dgm:cxn modelId="{D8DB6A37-7E0E-44CC-A847-632DF6D64F16}"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1FF72D-63D4-4A90-9965-B8F50F6FE5BC}">
      <dsp:nvSpPr>
        <dsp:cNvPr id="0" name=""/>
        <dsp:cNvSpPr/>
      </dsp:nvSpPr>
      <dsp:spPr>
        <a:xfrm rot="21300000">
          <a:off x="24163" y="2038543"/>
          <a:ext cx="7825673" cy="896157"/>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3D79611-A6DE-4722-A42C-0C331B4E849F}">
      <dsp:nvSpPr>
        <dsp:cNvPr id="0" name=""/>
        <dsp:cNvSpPr/>
      </dsp:nvSpPr>
      <dsp:spPr>
        <a:xfrm>
          <a:off x="944880" y="248662"/>
          <a:ext cx="2362200" cy="1989297"/>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9C2A45-CF4C-4339-9956-A511F6C85AF7}">
      <dsp:nvSpPr>
        <dsp:cNvPr id="0" name=""/>
        <dsp:cNvSpPr/>
      </dsp:nvSpPr>
      <dsp:spPr>
        <a:xfrm>
          <a:off x="4173220" y="0"/>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Constraints </a:t>
          </a:r>
        </a:p>
        <a:p>
          <a:pPr marL="114300" lvl="1" indent="-114300" algn="l" defTabSz="666750">
            <a:lnSpc>
              <a:spcPct val="90000"/>
            </a:lnSpc>
            <a:spcBef>
              <a:spcPct val="0"/>
            </a:spcBef>
            <a:spcAft>
              <a:spcPct val="15000"/>
            </a:spcAft>
            <a:buChar char="•"/>
          </a:pPr>
          <a:r>
            <a:rPr lang="en-US" sz="1500" kern="1200"/>
            <a:t>Federal Funding Uncertainty</a:t>
          </a:r>
        </a:p>
        <a:p>
          <a:pPr marL="114300" lvl="1" indent="-114300" algn="l" defTabSz="666750">
            <a:lnSpc>
              <a:spcPct val="90000"/>
            </a:lnSpc>
            <a:spcBef>
              <a:spcPct val="0"/>
            </a:spcBef>
            <a:spcAft>
              <a:spcPct val="15000"/>
            </a:spcAft>
            <a:buChar char="•"/>
          </a:pPr>
          <a:r>
            <a:rPr lang="en-US" sz="1500" kern="1200"/>
            <a:t>Changing Incentive Structure </a:t>
          </a:r>
        </a:p>
        <a:p>
          <a:pPr marL="114300" lvl="1" indent="-114300" algn="l" defTabSz="666750">
            <a:lnSpc>
              <a:spcPct val="90000"/>
            </a:lnSpc>
            <a:spcBef>
              <a:spcPct val="0"/>
            </a:spcBef>
            <a:spcAft>
              <a:spcPct val="15000"/>
            </a:spcAft>
            <a:buChar char="•"/>
          </a:pPr>
          <a:r>
            <a:rPr lang="en-US" sz="1500" kern="1200"/>
            <a:t>Operational Complexity </a:t>
          </a:r>
        </a:p>
        <a:p>
          <a:pPr marL="114300" lvl="1" indent="-114300" algn="l" defTabSz="666750">
            <a:lnSpc>
              <a:spcPct val="90000"/>
            </a:lnSpc>
            <a:spcBef>
              <a:spcPct val="0"/>
            </a:spcBef>
            <a:spcAft>
              <a:spcPct val="15000"/>
            </a:spcAft>
            <a:buChar char="•"/>
          </a:pPr>
          <a:r>
            <a:rPr lang="en-US" sz="1500" kern="1200"/>
            <a:t>Aging Infrastructure </a:t>
          </a:r>
        </a:p>
      </dsp:txBody>
      <dsp:txXfrm>
        <a:off x="4173220" y="0"/>
        <a:ext cx="2519680" cy="2088762"/>
      </dsp:txXfrm>
    </dsp:sp>
    <dsp:sp modelId="{189AC72A-0A3D-4414-A927-122AE92A79D5}">
      <dsp:nvSpPr>
        <dsp:cNvPr id="0" name=""/>
        <dsp:cNvSpPr/>
      </dsp:nvSpPr>
      <dsp:spPr>
        <a:xfrm>
          <a:off x="4566920" y="2735284"/>
          <a:ext cx="2362200" cy="1989297"/>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98BFF2-713E-488A-BFF5-B414323A050E}">
      <dsp:nvSpPr>
        <dsp:cNvPr id="0" name=""/>
        <dsp:cNvSpPr/>
      </dsp:nvSpPr>
      <dsp:spPr>
        <a:xfrm>
          <a:off x="1181100" y="2884481"/>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Expectations </a:t>
          </a:r>
        </a:p>
        <a:p>
          <a:pPr marL="114300" lvl="1" indent="-114300" algn="l" defTabSz="666750">
            <a:lnSpc>
              <a:spcPct val="90000"/>
            </a:lnSpc>
            <a:spcBef>
              <a:spcPct val="0"/>
            </a:spcBef>
            <a:spcAft>
              <a:spcPct val="15000"/>
            </a:spcAft>
            <a:buChar char="•"/>
          </a:pPr>
          <a:r>
            <a:rPr lang="en-US" sz="1500" kern="1200"/>
            <a:t>Energy efficiency</a:t>
          </a:r>
        </a:p>
        <a:p>
          <a:pPr marL="114300" lvl="1" indent="-114300" algn="l" defTabSz="666750">
            <a:lnSpc>
              <a:spcPct val="90000"/>
            </a:lnSpc>
            <a:spcBef>
              <a:spcPct val="0"/>
            </a:spcBef>
            <a:spcAft>
              <a:spcPct val="15000"/>
            </a:spcAft>
            <a:buChar char="•"/>
          </a:pPr>
          <a:r>
            <a:rPr lang="en-US" sz="1500" kern="1200"/>
            <a:t>Sustainability Initiatives</a:t>
          </a:r>
        </a:p>
        <a:p>
          <a:pPr marL="114300" lvl="1" indent="-114300" algn="l" defTabSz="666750">
            <a:lnSpc>
              <a:spcPct val="90000"/>
            </a:lnSpc>
            <a:spcBef>
              <a:spcPct val="0"/>
            </a:spcBef>
            <a:spcAft>
              <a:spcPct val="15000"/>
            </a:spcAft>
            <a:buChar char="•"/>
          </a:pPr>
          <a:r>
            <a:rPr lang="en-US" sz="1500" kern="1200"/>
            <a:t>Grid Resilience </a:t>
          </a:r>
        </a:p>
        <a:p>
          <a:pPr marL="114300" lvl="1" indent="-114300" algn="l" defTabSz="666750">
            <a:lnSpc>
              <a:spcPct val="90000"/>
            </a:lnSpc>
            <a:spcBef>
              <a:spcPct val="0"/>
            </a:spcBef>
            <a:spcAft>
              <a:spcPct val="15000"/>
            </a:spcAft>
            <a:buChar char="•"/>
          </a:pPr>
          <a:r>
            <a:rPr lang="en-US" sz="1500" kern="1200"/>
            <a:t>Electrification </a:t>
          </a:r>
        </a:p>
        <a:p>
          <a:pPr marL="114300" lvl="1" indent="-114300" algn="l" defTabSz="666750">
            <a:lnSpc>
              <a:spcPct val="90000"/>
            </a:lnSpc>
            <a:spcBef>
              <a:spcPct val="0"/>
            </a:spcBef>
            <a:spcAft>
              <a:spcPct val="15000"/>
            </a:spcAft>
            <a:buChar char="•"/>
          </a:pPr>
          <a:r>
            <a:rPr lang="en-US" sz="1500" kern="1200"/>
            <a:t>Implementation Support</a:t>
          </a:r>
        </a:p>
        <a:p>
          <a:pPr marL="114300" lvl="1" indent="-114300" algn="l" defTabSz="666750">
            <a:lnSpc>
              <a:spcPct val="90000"/>
            </a:lnSpc>
            <a:spcBef>
              <a:spcPct val="0"/>
            </a:spcBef>
            <a:spcAft>
              <a:spcPct val="15000"/>
            </a:spcAft>
            <a:buChar char="•"/>
          </a:pPr>
          <a:r>
            <a:rPr lang="en-US" sz="1500" kern="1200"/>
            <a:t>Cost Effective Solutions </a:t>
          </a:r>
        </a:p>
      </dsp:txBody>
      <dsp:txXfrm>
        <a:off x="1181100" y="2884481"/>
        <a:ext cx="2519680" cy="20887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9C8BC5-6838-437E-9064-AC07E117019C}">
      <dsp:nvSpPr>
        <dsp:cNvPr id="0" name=""/>
        <dsp:cNvSpPr/>
      </dsp:nvSpPr>
      <dsp:spPr>
        <a:xfrm>
          <a:off x="-5298394" y="-811443"/>
          <a:ext cx="6309187" cy="6309187"/>
        </a:xfrm>
        <a:prstGeom prst="blockArc">
          <a:avLst>
            <a:gd name="adj1" fmla="val 18900000"/>
            <a:gd name="adj2" fmla="val 2700000"/>
            <a:gd name="adj3" fmla="val 342"/>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935DD0E-C4CC-4293-A8B4-253CD901785D}">
      <dsp:nvSpPr>
        <dsp:cNvPr id="0" name=""/>
        <dsp:cNvSpPr/>
      </dsp:nvSpPr>
      <dsp:spPr>
        <a:xfrm>
          <a:off x="442042" y="292800"/>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Utilities – focus area</a:t>
          </a:r>
          <a:endParaRPr lang="en-US" sz="2000" kern="1200"/>
        </a:p>
      </dsp:txBody>
      <dsp:txXfrm>
        <a:off x="442042" y="292800"/>
        <a:ext cx="10465742" cy="585974"/>
      </dsp:txXfrm>
    </dsp:sp>
    <dsp:sp modelId="{220FF578-9C43-4C28-AA19-F1F121D68F37}">
      <dsp:nvSpPr>
        <dsp:cNvPr id="0" name=""/>
        <dsp:cNvSpPr/>
      </dsp:nvSpPr>
      <dsp:spPr>
        <a:xfrm>
          <a:off x="75808" y="219553"/>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283F4E-E42F-4502-B638-C9CE17B739A4}">
      <dsp:nvSpPr>
        <dsp:cNvPr id="0" name=""/>
        <dsp:cNvSpPr/>
      </dsp:nvSpPr>
      <dsp:spPr>
        <a:xfrm>
          <a:off x="861935" y="1171481"/>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Residential Solar and Battery Programs </a:t>
          </a:r>
          <a:endParaRPr lang="en-US" sz="2000" kern="1200"/>
        </a:p>
      </dsp:txBody>
      <dsp:txXfrm>
        <a:off x="861935" y="1171481"/>
        <a:ext cx="10045849" cy="585974"/>
      </dsp:txXfrm>
    </dsp:sp>
    <dsp:sp modelId="{188558B0-6B78-4E6C-8C95-56F9B7D46801}">
      <dsp:nvSpPr>
        <dsp:cNvPr id="0" name=""/>
        <dsp:cNvSpPr/>
      </dsp:nvSpPr>
      <dsp:spPr>
        <a:xfrm>
          <a:off x="495700" y="1098234"/>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8A5405-7054-41C1-BDEE-5D2AD8AB73C4}">
      <dsp:nvSpPr>
        <dsp:cNvPr id="0" name=""/>
        <dsp:cNvSpPr/>
      </dsp:nvSpPr>
      <dsp:spPr>
        <a:xfrm>
          <a:off x="990808" y="2050162"/>
          <a:ext cx="9916976"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APTIM to work as administer for these programs</a:t>
          </a:r>
          <a:endParaRPr lang="en-US" sz="2000" kern="1200"/>
        </a:p>
      </dsp:txBody>
      <dsp:txXfrm>
        <a:off x="990808" y="2050162"/>
        <a:ext cx="9916976" cy="585974"/>
      </dsp:txXfrm>
    </dsp:sp>
    <dsp:sp modelId="{C264BFE1-C5D0-4ADB-94AC-0DFD3F7C06CE}">
      <dsp:nvSpPr>
        <dsp:cNvPr id="0" name=""/>
        <dsp:cNvSpPr/>
      </dsp:nvSpPr>
      <dsp:spPr>
        <a:xfrm>
          <a:off x="624573" y="1976915"/>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3C44DB-7786-452A-8820-A2CA46EF21E7}">
      <dsp:nvSpPr>
        <dsp:cNvPr id="0" name=""/>
        <dsp:cNvSpPr/>
      </dsp:nvSpPr>
      <dsp:spPr>
        <a:xfrm>
          <a:off x="861935" y="2928843"/>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Start with states that have begun the process of  implementing similar programs.</a:t>
          </a:r>
          <a:endParaRPr lang="en-US" sz="2000" kern="1200"/>
        </a:p>
      </dsp:txBody>
      <dsp:txXfrm>
        <a:off x="861935" y="2928843"/>
        <a:ext cx="10045849" cy="585974"/>
      </dsp:txXfrm>
    </dsp:sp>
    <dsp:sp modelId="{43AC0EA1-D545-47D4-985E-07C91EBD6BBD}">
      <dsp:nvSpPr>
        <dsp:cNvPr id="0" name=""/>
        <dsp:cNvSpPr/>
      </dsp:nvSpPr>
      <dsp:spPr>
        <a:xfrm>
          <a:off x="495700" y="2855596"/>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FAD6485-486B-4D5D-BFB1-31C3CBB66F98}">
      <dsp:nvSpPr>
        <dsp:cNvPr id="0" name=""/>
        <dsp:cNvSpPr/>
      </dsp:nvSpPr>
      <dsp:spPr>
        <a:xfrm>
          <a:off x="442042" y="3807525"/>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Small scale 1 to 3-year pilot programs could show what long-term implementation could look like. </a:t>
          </a:r>
          <a:endParaRPr lang="en-US" sz="2000" kern="1200"/>
        </a:p>
      </dsp:txBody>
      <dsp:txXfrm>
        <a:off x="442042" y="3807525"/>
        <a:ext cx="10465742" cy="585974"/>
      </dsp:txXfrm>
    </dsp:sp>
    <dsp:sp modelId="{BF7085C7-35D4-4051-A8C0-7D0871C7FC61}">
      <dsp:nvSpPr>
        <dsp:cNvPr id="0" name=""/>
        <dsp:cNvSpPr/>
      </dsp:nvSpPr>
      <dsp:spPr>
        <a:xfrm>
          <a:off x="75808" y="3734278"/>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19945" y="-919945"/>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endParaRPr lang="en-US" sz="1400" kern="1200"/>
        </a:p>
        <a:p>
          <a:pPr marL="0" lvl="0" indent="0" algn="l" defTabSz="800100">
            <a:lnSpc>
              <a:spcPct val="90000"/>
            </a:lnSpc>
            <a:spcBef>
              <a:spcPct val="0"/>
            </a:spcBef>
            <a:spcAft>
              <a:spcPct val="35000"/>
            </a:spcAft>
            <a:buNone/>
          </a:pPr>
          <a:r>
            <a:rPr lang="en-US" sz="14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sp:txBody>
      <dsp:txXfrm rot="5400000">
        <a:off x="-1" y="1"/>
        <a:ext cx="4378706" cy="1904110"/>
      </dsp:txXfrm>
    </dsp:sp>
    <dsp:sp modelId="{C1A07BBF-19DB-47F4-9F21-3C0561070890}">
      <dsp:nvSpPr>
        <dsp:cNvPr id="0" name=""/>
        <dsp:cNvSpPr/>
      </dsp:nvSpPr>
      <dsp:spPr>
        <a:xfrm>
          <a:off x="4378706" y="0"/>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378706" y="0"/>
        <a:ext cx="4378706" cy="1904110"/>
      </dsp:txXfrm>
    </dsp:sp>
    <dsp:sp modelId="{112ECAE4-7AC8-4FA3-8B8F-551C4FD20EFF}">
      <dsp:nvSpPr>
        <dsp:cNvPr id="0" name=""/>
        <dsp:cNvSpPr/>
      </dsp:nvSpPr>
      <dsp:spPr>
        <a:xfrm rot="10800000">
          <a:off x="0" y="2538814"/>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173518"/>
        <a:ext cx="4378706" cy="1904110"/>
      </dsp:txXfrm>
    </dsp:sp>
    <dsp:sp modelId="{F0217417-7472-463C-831C-1C5DF6C2E09B}">
      <dsp:nvSpPr>
        <dsp:cNvPr id="0" name=""/>
        <dsp:cNvSpPr/>
      </dsp:nvSpPr>
      <dsp:spPr>
        <a:xfrm rot="5400000">
          <a:off x="5298651" y="1618868"/>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378705" y="3173518"/>
        <a:ext cx="4378706" cy="1904110"/>
      </dsp:txXfrm>
    </dsp:sp>
    <dsp:sp modelId="{5C165AFF-2126-4842-86A3-BA0B41072E73}">
      <dsp:nvSpPr>
        <dsp:cNvPr id="0" name=""/>
        <dsp:cNvSpPr/>
      </dsp:nvSpPr>
      <dsp:spPr>
        <a:xfrm>
          <a:off x="3065094" y="1904110"/>
          <a:ext cx="2627223" cy="126940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120" tIns="198120" rIns="198120" bIns="198120" numCol="1" spcCol="1270" anchor="ctr" anchorCtr="0">
          <a:noAutofit/>
        </a:bodyPr>
        <a:lstStyle/>
        <a:p>
          <a:pPr marL="0" lvl="0" indent="0" algn="ctr" defTabSz="2311400">
            <a:lnSpc>
              <a:spcPct val="90000"/>
            </a:lnSpc>
            <a:spcBef>
              <a:spcPct val="0"/>
            </a:spcBef>
            <a:spcAft>
              <a:spcPct val="35000"/>
            </a:spcAft>
            <a:buNone/>
          </a:pPr>
          <a:r>
            <a:rPr lang="en-US" sz="5200" kern="1200"/>
            <a:t>   </a:t>
          </a:r>
        </a:p>
      </dsp:txBody>
      <dsp:txXfrm>
        <a:off x="3127061" y="1966077"/>
        <a:ext cx="2503289" cy="114547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layout1.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4.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5.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Edit: (John) can make animation to move the seesaw </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Make talking points here specific to expand on visual</a:t>
            </a: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Tie directly to final concept, audience already has scope (maybe delete) </a:t>
            </a:r>
          </a:p>
          <a:p>
            <a:r>
              <a:rPr lang="en-US">
                <a:latin typeface="Calibri"/>
                <a:ea typeface="Calibri"/>
                <a:cs typeface="Calibri"/>
              </a:rPr>
              <a:t>Edit: Do not think it needs to be deleted, just the bullets cleaned up, also recommend adding animations. This slide should probably act as an introduction to what our solution actually is</a:t>
            </a:r>
          </a:p>
        </p:txBody>
      </p:sp>
      <p:sp>
        <p:nvSpPr>
          <p:cNvPr id="4" name="Slide Number Placeholder 3"/>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13464764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Very good they like this slide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7</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Merge content from 10 with formatting of 8 and visuals, highlight </a:t>
            </a:r>
            <a:r>
              <a:rPr lang="en-US" err="1">
                <a:latin typeface="Calibri"/>
                <a:ea typeface="Calibri"/>
                <a:cs typeface="Calibri"/>
              </a:rPr>
              <a:t>aptim</a:t>
            </a:r>
            <a:r>
              <a:rPr lang="en-US">
                <a:latin typeface="Calibri"/>
                <a:ea typeface="Calibri"/>
                <a:cs typeface="Calibri"/>
              </a:rPr>
              <a:t>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toolkit concept (adaptation support, funding navigation, compliance/reporting, contractor continuity) is a real capability set APTIM could offer -- but it describes HOW APTIM operates, not WHAT specific program it would sell to a client.</a:t>
            </a:r>
          </a:p>
          <a:p>
            <a:r>
              <a:t>• Leadership feedback was explicit: pitch a specific program, not a broad framework. A generic toolkit doesn't give a utility, or APTIM leadership, a concrete yes/no decision to evaluate.</a:t>
            </a:r>
          </a:p>
          <a:p>
            <a:r>
              <a:t>• The battery + solar fleet uses the SAME underlying capabilities (program administration, contractor management, compliance reporting) but wraps them around one concrete, fundable asset -- satisfying both the prompt's specificity requirement and APTIM's existing strengths.</a:t>
            </a:r>
          </a:p>
          <a:p>
            <a:r>
              <a:t>• Scope note: This is a distribution-level resilience investment, not a competitor to DTE's utility-scale storage buildout (760 MW by 2032, ~2,900 MW total by 2042) built to replace one of the nation's largest coal plants. Keeping the pitch anchored to funding uncertainty -- not generation strategy -- keeps it aligned with the prompt.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CHOSE THIS APPROACH:</a:t>
            </a:r>
          </a:p>
          <a:p>
            <a:r>
              <a:t>- The Program Resilience Toolkit described HOW APTIM operates, not a specific program leadership could approve or reject. The prompt and leadership both called for one concrete offer, not a capability list.</a:t>
            </a:r>
          </a:p>
          <a:p>
            <a:r>
              <a:t>- DTE's own storage plan (760 MW by 2032, 2,900 MW total by 2042) exists to replace Monroe Power Plant -- the 4th-largest coal plant in the US -- a decade-long, multi-billion-dollar transition. Our program is a distribution-level resilience investment, not a competitor to that generation strategy. It addresses outage backup at the neighborhood level, a category absent from DTE's 145-page IRP entirely.</a:t>
            </a:r>
          </a:p>
          <a:p>
            <a:r>
              <a:t>- This fits inside DTE's existing 2021 Distribution Grid Plan, which already commits $1B/year to reduce outages -- our program is a new tool inside an existing commitment, not a new competing ask.</a:t>
            </a:r>
          </a:p>
          <a:p>
            <a:r>
              <a:t>- Feasibility is real: pilot filing and MPSC approval realistically land within 1-2 years under Case U-21653's expedited DER pathway; fleet operation within the 1-3 year window; full rate-basing is the honest follow-on phase.</a:t>
            </a:r>
          </a:p>
          <a:p/>
          <a:p>
            <a:r>
              <a:t>HOW THE PROGRAM ACTUALLY WORKS:</a:t>
            </a:r>
          </a:p>
          <a:p>
            <a:r>
              <a:t>- Ownership is settled: utility owns and finances the fleet. A homeowner-loan alternative was modeled and rejected -- a $34,500 system financed over 15 years runs about $310/month, more than double an average Michigan household's $130/month bill. Utility ownership is the only structure that works for the customers this program should serve.</a:t>
            </a:r>
          </a:p>
          <a:p>
            <a:r>
              <a:t>- Engineered for Michigan winters: cold-climate-rated battery chemistry with active thermal management, sized with a winter capacity buffer, because Michigan's worst outages are ice-storm-driven winter events -- exactly when unmanaged batteries perform worst.</a:t>
            </a:r>
          </a:p>
          <a:p>
            <a:r>
              <a:t>- Who maintains it: the utility owns the fleet, so the utility -- via APTIM's contractor network -- maintains it. Zero maintenance burden ever falls on the household.</a:t>
            </a:r>
          </a:p>
          <a:p>
            <a:r>
              <a:t>- Pilot sequencing, not exclusion: Phase 1 enrolls qualifying, stable homeowners to prove the model with clean data and minimal execution risk. Phase 2 expands to higher-need, higher-outage areas once validated -- a stronger regulatory argument than testing on vulnerable populations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probably needs to go much earlier in the presentation (after key goals)</a:t>
            </a:r>
          </a:p>
          <a:p/>
          <a:p>
            <a:r>
              <a:t>Open items for RFP-stage negotiation: exact fee %, named installer network, interconnection process for utility-owned residential batteries (flagged as a regulatory question to work through with MPSC, not assumed).</a:t>
            </a:r>
          </a:p>
        </p:txBody>
      </p:sp>
      <p:sp>
        <p:nvSpPr>
          <p:cNvPr id="4" name="Slide Number Placeholder 3"/>
          <p:cNvSpPr>
            <a:spLocks noGrp="1"/>
          </p:cNvSpPr>
          <p:nvPr>
            <p:ph type="sldNum" sz="quarter" idx="5"/>
          </p:nvPr>
        </p:nvSpPr>
        <p:spPr/>
        <p:txBody>
          <a:bodyPr/>
          <a:lstStyle/>
          <a:p>
            <a:fld id="{5D149A2A-2FC7-440C-9AA6-4256354C6A8E}" type="slidenum">
              <a:rPr lang="en-US" smtClean="0"/>
              <a:t>12</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Leverages Existing Capabilities: APTIM already administers utility programs, manages contractor networks, engages customers, and delivers regulatory compliance reporting. The pilot uses tools that already exist within the organization.</a:t>
            </a:r>
          </a:p>
          <a:p/>
          <a:p>
            <a:r>
              <a:t>Expands Into New Markets: Little direct competition provides end-to-end administration of utility-owned residential battery fleets. This positions APTIM to establish a differentiated offering within the growing demand response and distributed energy resources market.</a:t>
            </a:r>
          </a:p>
          <a:p/>
          <a:p>
            <a:r>
              <a:t>Scales Through Existing Relationships: APTIM already maintains trusted relationships with utilities through programs in Wisconsin and Louisiana. These partnerships provide a natural pathway to pilot, refine, and expand the model.</a:t>
            </a:r>
          </a:p>
          <a:p/>
          <a:p>
            <a:r>
              <a:t>Creates More Resilient Revenue Streams: This program shifts funding away from grants and incentives toward utility infrastructure investments, creating a more stable revenue source insulated from federal funding uncertainty.</a:t>
            </a:r>
          </a:p>
        </p:txBody>
      </p:sp>
      <p:sp>
        <p:nvSpPr>
          <p:cNvPr id="4" name="Slide Number Placeholder 3"/>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LEGAL PATHWAY: MPSC approved 1,332 MW of utility-owned battery storage in March 2026, tied to DTE's 2022 IRP (760 MW by 2032, 2,900 MW total by 2042, Case U-21193) -- confirms MPSC will rate-base utility-owned storage. PA 235 (2023) sets a 2,500 MW statewide storage target with compliance petitions due Dec 31, 2029 (Case U-21571). MPSC Case U-21653 (2025) created an expedited pilot-program process specifically for DER integration.</a:t>
            </a:r>
          </a:p>
          <a:p/>
          <a:p>
            <a:r>
              <a:t>KNOWN RISK: DTE proposed a residential battery pilot around 2022 and MPSC rejected it. Exact case number and stated rationale are unverified from primary sources -- confirm via MPSC docket before presenting under scrutiny. Do not cite U-20561, which is DTE's 2020 rate case, not the battery pilot rejection.</a:t>
            </a:r>
          </a:p>
          <a:p/>
          <a:p>
            <a:r>
              <a:t>WHY WE WIN THE BID: File as a capped DER-integration pilot under U-21653 (low political exposure), not a rate case, unlike DTE's 2022 attempt. APTIM brings an existing fleet-operations track record (Focus on Energy, Energy Smart) that DTE lacked in-house in 2022. Propose the customer hosting agreement as part of the filing itself. Subcontract installs to local Michigan solar/storage installers to preserve the competitive installer market. Negotiate cost-recovery into the pilot approval itself, following the settlement structure MPSC accepted for utility-scale storage.</a:t>
            </a:r>
          </a:p>
          <a:p/>
          <a:p>
            <a:r>
              <a:t>COST/TIMELINE/RESOURCING: APTIM staffing sized like existing Focus on Energy roles, exact headcount TBD.</a:t>
            </a:r>
          </a:p>
        </p:txBody>
      </p:sp>
      <p:sp>
        <p:nvSpPr>
          <p:cNvPr id="4" name="Slide Number Placeholder 3"/>
          <p:cNvSpPr>
            <a:spLocks noGrp="1"/>
          </p:cNvSpPr>
          <p:nvPr>
            <p:ph type="sldNum" sz="quarter" idx="5"/>
          </p:nvPr>
        </p:nvSpPr>
        <p:spPr/>
        <p:txBody>
          <a:bodyPr/>
          <a:lstStyle/>
          <a:p>
            <a:fld id="{5D149A2A-2FC7-440C-9AA6-4256354C6A8E}" type="slidenum">
              <a:rPr lang="en-US" smtClean="0"/>
              <a:t>15</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17</a:t>
            </a:fld>
            <a:endParaRPr lang="en-US"/>
          </a:p>
        </p:txBody>
      </p:sp>
    </p:spTree>
    <p:extLst>
      <p:ext uri="{BB962C8B-B14F-4D97-AF65-F5344CB8AC3E}">
        <p14:creationId xmlns:p14="http://schemas.microsoft.com/office/powerpoint/2010/main" val="16943341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7/24/2026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7/24/2026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7/24/2026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7/24/2026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7/24/2026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7/24/2026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svg"/><Relationship Id="rId11" Type="http://schemas.openxmlformats.org/officeDocument/2006/relationships/image" Target="../media/image14.svg"/><Relationship Id="rId12"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 Id="rId8" Type="http://schemas.openxmlformats.org/officeDocument/2006/relationships/image" Target="../media/image14.svg"/><Relationship Id="rId9" Type="http://schemas.openxmlformats.org/officeDocument/2006/relationships/image" Target="../media/image13.svg"/><Relationship Id="rId10" Type="http://schemas.openxmlformats.org/officeDocument/2006/relationships/image" Target="../media/image26.svg"/><Relationship Id="rId11" Type="http://schemas.openxmlformats.org/officeDocument/2006/relationships/image" Target="../media/image15.svg"/><Relationship Id="rId12" Type="http://schemas.openxmlformats.org/officeDocument/2006/relationships/image" Target="../media/image27.svg"/><Relationship Id="rId13" Type="http://schemas.openxmlformats.org/officeDocument/2006/relationships/image" Target="../media/image28.svg"/><Relationship Id="rId14" Type="http://schemas.openxmlformats.org/officeDocument/2006/relationships/image" Target="../media/image29.svg"/><Relationship Id="rId15" Type="http://schemas.openxmlformats.org/officeDocument/2006/relationships/image" Target="../media/image30.svg"/><Relationship Id="rId16" Type="http://schemas.openxmlformats.org/officeDocument/2006/relationships/image" Target="../media/image31.svg"/><Relationship Id="rId17" Type="http://schemas.openxmlformats.org/officeDocument/2006/relationships/image" Target="../media/image3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3.svg"/><Relationship Id="rId4" Type="http://schemas.openxmlformats.org/officeDocument/2006/relationships/image" Target="../media/image3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Date</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08671" y="1763987"/>
            <a:ext cx="2060557" cy="2743203"/>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a:lstStyle/>
          <a:p>
            <a:r>
              <a:rPr lang="en-US" b="1"/>
              <a:t>Maija Miller</a:t>
            </a:r>
          </a:p>
          <a:p>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276999"/>
          </a:xfrm>
        </p:spPr>
        <p:txBody>
          <a:bodyPr/>
          <a:lstStyle/>
          <a:p>
            <a:r>
              <a:rPr lang="en-US" b="1"/>
              <a:t>Christian Garcia </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r>
              <a:rPr lang="en-US" b="1"/>
              <a:t>Jenny Isham</a:t>
            </a:r>
            <a:endParaRPr lang="en-US"/>
          </a:p>
          <a:p>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sp>
        <p:nvSpPr>
          <p:cNvPr id="12" name="Picture Placeholder 11">
            <a:extLst>
              <a:ext uri="{FF2B5EF4-FFF2-40B4-BE49-F238E27FC236}">
                <a16:creationId xmlns:a16="http://schemas.microsoft.com/office/drawing/2014/main" id="{068EB5FF-6B14-4259-546F-407583665002}"/>
              </a:ext>
            </a:extLst>
          </p:cNvPr>
          <p:cNvSpPr>
            <a:spLocks noGrp="1"/>
          </p:cNvSpPr>
          <p:nvPr>
            <p:ph type="pic" sz="quarter" idx="20"/>
          </p:nvPr>
        </p:nvSpPr>
        <p:spPr>
          <a:xfrm>
            <a:off x="5170103" y="1753394"/>
            <a:ext cx="1828800" cy="2743200"/>
          </a:xfrm>
        </p:spPr>
        <p:txBody>
          <a:bodyPr/>
          <a:lstStyle/>
          <a:p>
            <a:endParaRPr lang="en-US"/>
          </a:p>
        </p:txBody>
      </p:sp>
      <p:sp>
        <p:nvSpPr>
          <p:cNvPr id="13" name="Picture Placeholder 12">
            <a:extLst>
              <a:ext uri="{FF2B5EF4-FFF2-40B4-BE49-F238E27FC236}">
                <a16:creationId xmlns:a16="http://schemas.microsoft.com/office/drawing/2014/main" id="{0B0216DA-96B4-1AF3-5A90-44B0A6C925A4}"/>
              </a:ext>
            </a:extLst>
          </p:cNvPr>
          <p:cNvSpPr>
            <a:spLocks noGrp="1"/>
          </p:cNvSpPr>
          <p:nvPr>
            <p:ph type="pic" sz="quarter" idx="21"/>
          </p:nvPr>
        </p:nvSpPr>
        <p:spPr>
          <a:xfrm>
            <a:off x="7379555" y="2246194"/>
            <a:ext cx="1828800" cy="2743200"/>
          </a:xfrm>
        </p:spPr>
        <p:txBody>
          <a:bodyPr/>
          <a:lstStyle/>
          <a:p>
            <a:endParaRPr lang="en-US"/>
          </a:p>
        </p:txBody>
      </p:sp>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r>
              <a:rPr lang="en-US" b="1"/>
              <a:t>John Woods</a:t>
            </a:r>
          </a:p>
          <a:p>
            <a:r>
              <a:rPr lang="en-US"/>
              <a:t>Mechanical Engineering Intern</a:t>
            </a:r>
          </a:p>
          <a:p>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graphicFrame>
        <p:nvGraphicFramePr>
          <p:cNvPr id="10" name="Diagram 9">
            <a:extLst>
              <a:ext uri="{FF2B5EF4-FFF2-40B4-BE49-F238E27FC236}">
                <a16:creationId xmlns:a16="http://schemas.microsoft.com/office/drawing/2014/main" id="{1A6EFDD8-730D-CF5E-726B-CAD06D0B4A79}"/>
              </a:ext>
            </a:extLst>
          </p:cNvPr>
          <p:cNvGraphicFramePr/>
          <p:nvPr>
            <p:extLst>
              <p:ext uri="{D42A27DB-BD31-4B8C-83A1-F6EECF244321}">
                <p14:modId xmlns:p14="http://schemas.microsoft.com/office/powerpoint/2010/main" val="1125097939"/>
              </p:ext>
            </p:extLst>
          </p:nvPr>
        </p:nvGraphicFramePr>
        <p:xfrm>
          <a:off x="4105656" y="942378"/>
          <a:ext cx="7874000" cy="49732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16" name="Isosceles Triangle 15">
            <a:extLst>
              <a:ext uri="{FF2B5EF4-FFF2-40B4-BE49-F238E27FC236}">
                <a16:creationId xmlns:a16="http://schemas.microsoft.com/office/drawing/2014/main" id="{FFE324C8-3785-EDFE-DCBD-0D7B83E4F2E3}"/>
              </a:ext>
            </a:extLst>
          </p:cNvPr>
          <p:cNvSpPr/>
          <p:nvPr/>
        </p:nvSpPr>
        <p:spPr>
          <a:xfrm>
            <a:off x="7638318" y="3422238"/>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BB85ADBA-4A18-1D3B-816B-CFD9C28A0CC9}"/>
              </a:ext>
            </a:extLst>
          </p:cNvPr>
          <p:cNvPicPr>
            <a:picLocks noChangeAspect="1"/>
          </p:cNvPicPr>
          <p:nvPr/>
        </p:nvPicPr>
        <p:blipFill>
          <a:blip r:embed="rId8"/>
          <a:stretch>
            <a:fillRect/>
          </a:stretch>
        </p:blipFill>
        <p:spPr>
          <a:xfrm rot="21286481">
            <a:off x="7667582" y="3129707"/>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anim calcmode="lin" valueType="num">
                                      <p:cBhvr>
                                        <p:cTn id="23" dur="1000" fill="hold"/>
                                        <p:tgtEl>
                                          <p:spTgt spid="16"/>
                                        </p:tgtEl>
                                        <p:attrNameLst>
                                          <p:attrName>ppt_x</p:attrName>
                                        </p:attrNameLst>
                                      </p:cBhvr>
                                      <p:tavLst>
                                        <p:tav tm="0">
                                          <p:val>
                                            <p:strVal val="#ppt_x"/>
                                          </p:val>
                                        </p:tav>
                                        <p:tav tm="100000">
                                          <p:val>
                                            <p:strVal val="#ppt_x"/>
                                          </p:val>
                                        </p:tav>
                                      </p:tavLst>
                                    </p:anim>
                                    <p:anim calcmode="lin" valueType="num">
                                      <p:cBhvr>
                                        <p:cTn id="24"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 calcmode="lin" valueType="num">
                                      <p:cBhvr additive="base">
                                        <p:cTn id="29" dur="500" fill="hold"/>
                                        <p:tgtEl>
                                          <p:spTgt spid="17"/>
                                        </p:tgtEl>
                                        <p:attrNameLst>
                                          <p:attrName>ppt_x</p:attrName>
                                        </p:attrNameLst>
                                      </p:cBhvr>
                                      <p:tavLst>
                                        <p:tav tm="0">
                                          <p:val>
                                            <p:strVal val="#ppt_x"/>
                                          </p:val>
                                        </p:tav>
                                        <p:tav tm="100000">
                                          <p:val>
                                            <p:strVal val="#ppt_x"/>
                                          </p:val>
                                        </p:tav>
                                      </p:tavLst>
                                    </p:anim>
                                    <p:anim calcmode="lin" valueType="num">
                                      <p:cBhvr additive="base">
                                        <p:cTn id="3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Graphic spid="10" grpId="0">
        <p:bldAsOne/>
      </p:bldGraphic>
      <p:bldP spid="13" grpId="0"/>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0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0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500"/>
                                        <p:tgtEl>
                                          <p:spTgt spid="10"/>
                                        </p:tgtEl>
                                      </p:cBhvr>
                                    </p:animEffect>
                                    <p:anim calcmode="lin" valueType="num">
                                      <p:cBhvr>
                                        <p:cTn id="8" dur="1500" fill="hold"/>
                                        <p:tgtEl>
                                          <p:spTgt spid="10"/>
                                        </p:tgtEl>
                                        <p:attrNameLst>
                                          <p:attrName>ppt_x</p:attrName>
                                        </p:attrNameLst>
                                      </p:cBhvr>
                                      <p:tavLst>
                                        <p:tav tm="0">
                                          <p:val>
                                            <p:strVal val="#ppt_x"/>
                                          </p:val>
                                        </p:tav>
                                        <p:tav tm="100000">
                                          <p:val>
                                            <p:strVal val="#ppt_x"/>
                                          </p:val>
                                        </p:tav>
                                      </p:tavLst>
                                    </p:anim>
                                    <p:anim calcmode="lin" valueType="num">
                                      <p:cBhvr>
                                        <p:cTn id="9" dur="1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500"/>
                                        <p:tgtEl>
                                          <p:spTgt spid="14"/>
                                        </p:tgtEl>
                                      </p:cBhvr>
                                    </p:animEffect>
                                    <p:anim calcmode="lin" valueType="num">
                                      <p:cBhvr>
                                        <p:cTn id="15" dur="1500" fill="hold"/>
                                        <p:tgtEl>
                                          <p:spTgt spid="14"/>
                                        </p:tgtEl>
                                        <p:attrNameLst>
                                          <p:attrName>ppt_x</p:attrName>
                                        </p:attrNameLst>
                                      </p:cBhvr>
                                      <p:tavLst>
                                        <p:tav tm="0">
                                          <p:val>
                                            <p:strVal val="#ppt_x"/>
                                          </p:val>
                                        </p:tav>
                                        <p:tav tm="100000">
                                          <p:val>
                                            <p:strVal val="#ppt_x"/>
                                          </p:val>
                                        </p:tav>
                                      </p:tavLst>
                                    </p:anim>
                                    <p:anim calcmode="lin" valueType="num">
                                      <p:cBhvr>
                                        <p:cTn id="16" dur="15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500"/>
                                        <p:tgtEl>
                                          <p:spTgt spid="8"/>
                                        </p:tgtEl>
                                      </p:cBhvr>
                                    </p:animEffect>
                                    <p:anim calcmode="lin" valueType="num">
                                      <p:cBhvr>
                                        <p:cTn id="20" dur="1500" fill="hold"/>
                                        <p:tgtEl>
                                          <p:spTgt spid="8"/>
                                        </p:tgtEl>
                                        <p:attrNameLst>
                                          <p:attrName>ppt_x</p:attrName>
                                        </p:attrNameLst>
                                      </p:cBhvr>
                                      <p:tavLst>
                                        <p:tav tm="0">
                                          <p:val>
                                            <p:strVal val="#ppt_x"/>
                                          </p:val>
                                        </p:tav>
                                        <p:tav tm="100000">
                                          <p:val>
                                            <p:strVal val="#ppt_x"/>
                                          </p:val>
                                        </p:tav>
                                      </p:tavLst>
                                    </p:anim>
                                    <p:anim calcmode="lin" valueType="num">
                                      <p:cBhvr>
                                        <p:cTn id="21" dur="1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500"/>
                                        <p:tgtEl>
                                          <p:spTgt spid="16"/>
                                        </p:tgtEl>
                                      </p:cBhvr>
                                    </p:animEffect>
                                    <p:anim calcmode="lin" valueType="num">
                                      <p:cBhvr>
                                        <p:cTn id="27" dur="1500" fill="hold"/>
                                        <p:tgtEl>
                                          <p:spTgt spid="16"/>
                                        </p:tgtEl>
                                        <p:attrNameLst>
                                          <p:attrName>ppt_x</p:attrName>
                                        </p:attrNameLst>
                                      </p:cBhvr>
                                      <p:tavLst>
                                        <p:tav tm="0">
                                          <p:val>
                                            <p:strVal val="#ppt_x"/>
                                          </p:val>
                                        </p:tav>
                                        <p:tav tm="100000">
                                          <p:val>
                                            <p:strVal val="#ppt_x"/>
                                          </p:val>
                                        </p:tav>
                                      </p:tavLst>
                                    </p:anim>
                                    <p:anim calcmode="lin" valueType="num">
                                      <p:cBhvr>
                                        <p:cTn id="28" dur="15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500"/>
                                        <p:tgtEl>
                                          <p:spTgt spid="12"/>
                                        </p:tgtEl>
                                      </p:cBhvr>
                                    </p:animEffect>
                                    <p:anim calcmode="lin" valueType="num">
                                      <p:cBhvr>
                                        <p:cTn id="32" dur="1500" fill="hold"/>
                                        <p:tgtEl>
                                          <p:spTgt spid="12"/>
                                        </p:tgtEl>
                                        <p:attrNameLst>
                                          <p:attrName>ppt_x</p:attrName>
                                        </p:attrNameLst>
                                      </p:cBhvr>
                                      <p:tavLst>
                                        <p:tav tm="0">
                                          <p:val>
                                            <p:strVal val="#ppt_x"/>
                                          </p:val>
                                        </p:tav>
                                        <p:tav tm="100000">
                                          <p:val>
                                            <p:strVal val="#ppt_x"/>
                                          </p:val>
                                        </p:tav>
                                      </p:tavLst>
                                    </p:anim>
                                    <p:anim calcmode="lin" valueType="num">
                                      <p:cBhvr>
                                        <p:cTn id="33" dur="1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D1CFFD3-EC78-FA7C-187F-17DEF0A2EA7B}"/>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Key Goals</a:t>
            </a:r>
          </a:p>
        </p:txBody>
      </p:sp>
      <p:sp>
        <p:nvSpPr>
          <p:cNvPr id="4" name="Footer Placeholder 3">
            <a:extLst>
              <a:ext uri="{FF2B5EF4-FFF2-40B4-BE49-F238E27FC236}">
                <a16:creationId xmlns:a16="http://schemas.microsoft.com/office/drawing/2014/main" id="{F28233B4-34F2-46A7-DCFC-F4807EA732EB}"/>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810703A-B727-E6F8-9367-802013DC51BA}"/>
              </a:ext>
            </a:extLst>
          </p:cNvPr>
          <p:cNvSpPr>
            <a:spLocks noGrp="1"/>
          </p:cNvSpPr>
          <p:nvPr>
            <p:ph type="sldNum" sz="quarter" idx="12"/>
          </p:nvPr>
        </p:nvSpPr>
        <p:spPr>
          <a:xfrm>
            <a:off x="11297412" y="6469380"/>
            <a:ext cx="285292" cy="251460"/>
          </a:xfrm>
        </p:spPr>
        <p:txBody>
          <a:bodyPr/>
          <a:lstStyle/>
          <a:p>
            <a:fld id="{F8F6B9CD-BE6B-498B-93B3-0FAD7ADE75E3}" type="slidenum">
              <a:rPr lang="en-US" smtClean="0"/>
              <a:t>5</a:t>
            </a:fld>
            <a:endParaRPr lang="en-US"/>
          </a:p>
        </p:txBody>
      </p:sp>
      <p:sp>
        <p:nvSpPr>
          <p:cNvPr id="34" name="TextBox 33"/>
          <p:cNvSpPr txBox="1"/>
          <p:nvPr/>
        </p:nvSpPr>
        <p:spPr>
          <a:xfrm>
            <a:off x="640080" y="1371600"/>
            <a:ext cx="10881360" cy="4754880"/>
          </a:xfrm>
          <a:prstGeom prst="rect">
            <a:avLst/>
          </a:prstGeom>
          <a:noFill/>
        </p:spPr>
        <p:txBody>
          <a:bodyPr wrap="square">
            <a:spAutoFit/>
          </a:bodyPr>
          <a:lstStyle/>
          <a:p>
            <a:pPr>
              <a:spcAft>
                <a:spcPts val="200"/>
              </a:spcAft>
            </a:pPr>
            <a:r>
              <a:rPr b="1" sz="1800">
                <a:solidFill>
                  <a:srgbClr val="002856"/>
                </a:solidFill>
                <a:latin typeface="Arial"/>
              </a:rPr>
              <a:t>✓  Answer funding uncertainty directly</a:t>
            </a:r>
          </a:p>
          <a:p>
            <a:pPr>
              <a:spcAft>
                <a:spcPts val="1400"/>
              </a:spcAft>
            </a:pPr>
            <a:r>
              <a:rPr sz="1300" i="1">
                <a:solidFill>
                  <a:srgbClr val="595959"/>
                </a:solidFill>
                <a:latin typeface="Arial"/>
              </a:rPr>
              <a:t>      Ratepayer-financed, not grant-dependent -- insulated from federal budget swings</a:t>
            </a:r>
          </a:p>
          <a:p>
            <a:pPr>
              <a:spcAft>
                <a:spcPts val="200"/>
              </a:spcAft>
            </a:pPr>
            <a:r>
              <a:rPr b="1" sz="1800">
                <a:solidFill>
                  <a:srgbClr val="002856"/>
                </a:solidFill>
                <a:latin typeface="Arial"/>
              </a:rPr>
              <a:t>✓  Leverage APTIM's existing strengths</a:t>
            </a:r>
          </a:p>
          <a:p>
            <a:pPr>
              <a:spcAft>
                <a:spcPts val="1400"/>
              </a:spcAft>
            </a:pPr>
            <a:r>
              <a:rPr sz="1300" i="1">
                <a:solidFill>
                  <a:srgbClr val="595959"/>
                </a:solidFill>
                <a:latin typeface="Arial"/>
              </a:rPr>
              <a:t>      Program administration, contractor management, compliance reporting -- no new capability required</a:t>
            </a:r>
          </a:p>
          <a:p>
            <a:pPr>
              <a:spcAft>
                <a:spcPts val="200"/>
              </a:spcAft>
            </a:pPr>
            <a:r>
              <a:rPr b="1" sz="1800">
                <a:solidFill>
                  <a:srgbClr val="002856"/>
                </a:solidFill>
                <a:latin typeface="Arial"/>
              </a:rPr>
              <a:t>✓  Build a scalable, multi-state model</a:t>
            </a:r>
          </a:p>
          <a:p>
            <a:pPr>
              <a:spcAft>
                <a:spcPts val="1400"/>
              </a:spcAft>
            </a:pPr>
            <a:r>
              <a:rPr sz="1300" i="1">
                <a:solidFill>
                  <a:srgbClr val="595959"/>
                </a:solidFill>
                <a:latin typeface="Arial"/>
              </a:rPr>
              <a:t>      Michigan pilot proves the concept; Wisconsin, Louisiana, and others follow</a:t>
            </a:r>
          </a:p>
          <a:p>
            <a:pPr>
              <a:spcAft>
                <a:spcPts val="200"/>
              </a:spcAft>
            </a:pPr>
            <a:r>
              <a:rPr b="1" sz="1800">
                <a:solidFill>
                  <a:srgbClr val="002856"/>
                </a:solidFill>
                <a:latin typeface="Arial"/>
              </a:rPr>
              <a:t>✓  Deliver within 1-3 years</a:t>
            </a:r>
          </a:p>
          <a:p>
            <a:pPr>
              <a:spcAft>
                <a:spcPts val="1400"/>
              </a:spcAft>
            </a:pPr>
            <a:r>
              <a:rPr sz="1300" i="1">
                <a:solidFill>
                  <a:srgbClr val="595959"/>
                </a:solidFill>
                <a:latin typeface="Arial"/>
              </a:rPr>
              <a:t>      Matches the prompt's feasibility window -- pilot approval and operation, not a decade-long build</a:t>
            </a:r>
          </a:p>
          <a:p>
            <a:pPr>
              <a:spcAft>
                <a:spcPts val="200"/>
              </a:spcAft>
            </a:pPr>
            <a:r>
              <a:rPr b="1" sz="1800">
                <a:solidFill>
                  <a:srgbClr val="002856"/>
                </a:solidFill>
                <a:latin typeface="Arial"/>
              </a:rPr>
              <a:t>✓  Create a new, resilient revenue stream</a:t>
            </a:r>
          </a:p>
          <a:p>
            <a:pPr>
              <a:spcAft>
                <a:spcPts val="1400"/>
              </a:spcAft>
            </a:pPr>
            <a:r>
              <a:rPr sz="1300" i="1">
                <a:solidFill>
                  <a:srgbClr val="595959"/>
                </a:solidFill>
                <a:latin typeface="Arial"/>
              </a:rPr>
              <a:t>      Recurring administration fees tied to infrastructure, not incentive cycles</a:t>
            </a:r>
          </a:p>
        </p:txBody>
      </p:sp>
      <p:sp>
        <p:nvSpPr>
          <p:cNvPr id="35" name="TextBox 34"/>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Five commitments this program makes to answer the prompt</a:t>
            </a:r>
          </a:p>
        </p:txBody>
      </p:sp>
    </p:spTree>
    <p:extLst>
      <p:ext uri="{BB962C8B-B14F-4D97-AF65-F5344CB8AC3E}">
        <p14:creationId xmlns:p14="http://schemas.microsoft.com/office/powerpoint/2010/main" val="1396178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1000"/>
                                        <p:tgtEl>
                                          <p:spTgt spid="13"/>
                                        </p:tgtEl>
                                      </p:cBhvr>
                                    </p:animEffect>
                                    <p:anim calcmode="lin" valueType="num">
                                      <p:cBhvr>
                                        <p:cTn id="32" dur="1000" fill="hold"/>
                                        <p:tgtEl>
                                          <p:spTgt spid="13"/>
                                        </p:tgtEl>
                                        <p:attrNameLst>
                                          <p:attrName>ppt_x</p:attrName>
                                        </p:attrNameLst>
                                      </p:cBhvr>
                                      <p:tavLst>
                                        <p:tav tm="0">
                                          <p:val>
                                            <p:strVal val="#ppt_x"/>
                                          </p:val>
                                        </p:tav>
                                        <p:tav tm="100000">
                                          <p:val>
                                            <p:strVal val="#ppt_x"/>
                                          </p:val>
                                        </p:tav>
                                      </p:tavLst>
                                    </p:anim>
                                    <p:anim calcmode="lin" valueType="num">
                                      <p:cBhvr>
                                        <p:cTn id="33"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Prioritization Framework: Why Battery + Solar Administration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Two paths considered against the prompt's requirements -- cost, ease, timeframe, impact</a:t>
            </a:r>
          </a:p>
        </p:txBody>
      </p:sp>
      <p:graphicFrame>
        <p:nvGraphicFramePr>
          <p:cNvPr id="4" name="Table 3"/>
          <p:cNvGraphicFramePr>
            <a:graphicFrameLocks noGrp="1"/>
          </p:cNvGraphicFramePr>
          <p:nvPr/>
        </p:nvGraphicFramePr>
        <p:xfrm>
          <a:off x="457200" y="1280160"/>
          <a:ext cx="11247120" cy="2103120"/>
        </p:xfrm>
        <a:graphic>
          <a:graphicData uri="http://schemas.openxmlformats.org/drawingml/2006/table">
            <a:tbl>
              <a:tblPr firstRow="1" bandRow="1">
                <a:tableStyleId>{5C22544A-7EE6-4342-B048-85BDC9FD1C3A}</a:tableStyleId>
              </a:tblPr>
              <a:tblGrid>
                <a:gridCol w="3657600"/>
                <a:gridCol w="2286000"/>
                <a:gridCol w="3931920"/>
                <a:gridCol w="1371600"/>
              </a:tblGrid>
              <a:tr h="701040">
                <a:tc>
                  <a:txBody>
                    <a:bodyPr/>
                    <a:lstStyle/>
                    <a:p>
                      <a:pPr>
                        <a:defRPr sz="1100" b="1">
                          <a:solidFill>
                            <a:srgbClr val="FFFFFF"/>
                          </a:solidFill>
                          <a:latin typeface="Arial"/>
                        </a:defRPr>
                      </a:pPr>
                      <a:r>
                        <a:t>Approach Considered</a:t>
                      </a:r>
                    </a:p>
                  </a:txBody>
                  <a:tcPr>
                    <a:solidFill>
                      <a:srgbClr val="002856"/>
                    </a:solidFill>
                  </a:tcPr>
                </a:tc>
                <a:tc>
                  <a:txBody>
                    <a:bodyPr/>
                    <a:lstStyle/>
                    <a:p>
                      <a:pPr>
                        <a:defRPr sz="1100" b="1">
                          <a:solidFill>
                            <a:srgbClr val="FFFFFF"/>
                          </a:solidFill>
                          <a:latin typeface="Arial"/>
                        </a:defRPr>
                      </a:pPr>
                      <a:r>
                        <a:t>1-3 Yr Feasibility</a:t>
                      </a:r>
                    </a:p>
                  </a:txBody>
                  <a:tcPr>
                    <a:solidFill>
                      <a:srgbClr val="002856"/>
                    </a:solidFill>
                  </a:tcPr>
                </a:tc>
                <a:tc>
                  <a:txBody>
                    <a:bodyPr/>
                    <a:lstStyle/>
                    <a:p>
                      <a:pPr>
                        <a:defRPr sz="1100" b="1">
                          <a:solidFill>
                            <a:srgbClr val="FFFFFF"/>
                          </a:solidFill>
                          <a:latin typeface="Arial"/>
                        </a:defRPr>
                      </a:pPr>
                      <a:r>
                        <a:t>Alignment with Prompt</a:t>
                      </a:r>
                    </a:p>
                  </a:txBody>
                  <a:tcPr>
                    <a:solidFill>
                      <a:srgbClr val="002856"/>
                    </a:solidFill>
                  </a:tcPr>
                </a:tc>
                <a:tc>
                  <a:txBody>
                    <a:bodyPr/>
                    <a:lstStyle/>
                    <a:p>
                      <a:pPr>
                        <a:defRPr sz="1100" b="1">
                          <a:solidFill>
                            <a:srgbClr val="FFFFFF"/>
                          </a:solidFill>
                          <a:latin typeface="Arial"/>
                        </a:defRPr>
                      </a:pPr>
                      <a:r>
                        <a:t>Verdict</a:t>
                      </a:r>
                    </a:p>
                  </a:txBody>
                  <a:tcPr>
                    <a:solidFill>
                      <a:srgbClr val="002856"/>
                    </a:solidFill>
                  </a:tcPr>
                </a:tc>
              </a:tr>
              <a:tr h="701040">
                <a:tc>
                  <a:txBody>
                    <a:bodyPr/>
                    <a:lstStyle/>
                    <a:p>
                      <a:pPr>
                        <a:defRPr sz="1100">
                          <a:solidFill>
                            <a:srgbClr val="002856"/>
                          </a:solidFill>
                          <a:latin typeface="Arial"/>
                        </a:defRPr>
                      </a:pPr>
                      <a:r>
                        <a:t>Broad "Program Resilience Toolkit" (multi-module: adaptation support, funding navigation, compliance/reporting, contractor continuity)</a:t>
                      </a:r>
                    </a:p>
                  </a:txBody>
                  <a:tcPr>
                    <a:solidFill>
                      <a:srgbClr val="F5E4E7"/>
                    </a:solidFill>
                  </a:tcPr>
                </a:tc>
                <a:tc>
                  <a:txBody>
                    <a:bodyPr/>
                    <a:lstStyle/>
                    <a:p>
                      <a:pPr>
                        <a:defRPr sz="1100">
                          <a:solidFill>
                            <a:srgbClr val="002856"/>
                          </a:solidFill>
                          <a:latin typeface="Arial"/>
                        </a:defRPr>
                      </a:pPr>
                      <a:r>
                        <a:t>Medium -- every module individually feasible, but no single concrete offering</a:t>
                      </a:r>
                    </a:p>
                  </a:txBody>
                  <a:tcPr>
                    <a:solidFill>
                      <a:srgbClr val="F5E4E7"/>
                    </a:solidFill>
                  </a:tcPr>
                </a:tc>
                <a:tc>
                  <a:txBody>
                    <a:bodyPr/>
                    <a:lstStyle/>
                    <a:p>
                      <a:pPr>
                        <a:defRPr sz="1100">
                          <a:solidFill>
                            <a:srgbClr val="002856"/>
                          </a:solidFill>
                          <a:latin typeface="Arial"/>
                        </a:defRPr>
                      </a:pPr>
                      <a:r>
                        <a:t>Partial -- leadership explicitly asked for a specific program, not a broad toolkit; prompt calls for a focused solution, not a general capability set</a:t>
                      </a:r>
                    </a:p>
                  </a:txBody>
                  <a:tcPr>
                    <a:solidFill>
                      <a:srgbClr val="F5E4E7"/>
                    </a:solidFill>
                  </a:tcPr>
                </a:tc>
                <a:tc>
                  <a:txBody>
                    <a:bodyPr/>
                    <a:lstStyle/>
                    <a:p>
                      <a:pPr>
                        <a:defRPr sz="1100">
                          <a:solidFill>
                            <a:srgbClr val="002856"/>
                          </a:solidFill>
                          <a:latin typeface="Arial"/>
                        </a:defRPr>
                      </a:pPr>
                      <a:r>
                        <a:t>NOT SELECTED as standalone pitch</a:t>
                      </a:r>
                    </a:p>
                  </a:txBody>
                  <a:tcPr>
                    <a:solidFill>
                      <a:srgbClr val="F5E4E7"/>
                    </a:solidFill>
                  </a:tcPr>
                </a:tc>
              </a:tr>
              <a:tr h="701040">
                <a:tc>
                  <a:txBody>
                    <a:bodyPr/>
                    <a:lstStyle/>
                    <a:p>
                      <a:pPr>
                        <a:defRPr sz="1100">
                          <a:solidFill>
                            <a:srgbClr val="002856"/>
                          </a:solidFill>
                          <a:latin typeface="Arial"/>
                        </a:defRPr>
                      </a:pPr>
                      <a:r>
                        <a:t>Utility-Owned Battery + Solar Fleet, APTIM-Administered</a:t>
                      </a:r>
                    </a:p>
                  </a:txBody>
                  <a:tcPr>
                    <a:solidFill>
                      <a:srgbClr val="E0F2F1"/>
                    </a:solidFill>
                  </a:tcPr>
                </a:tc>
                <a:tc>
                  <a:txBody>
                    <a:bodyPr/>
                    <a:lstStyle/>
                    <a:p>
                      <a:pPr>
                        <a:defRPr sz="1100">
                          <a:solidFill>
                            <a:srgbClr val="002856"/>
                          </a:solidFill>
                          <a:latin typeface="Arial"/>
                        </a:defRPr>
                      </a:pPr>
                      <a:r>
                        <a:t>High -- matches an existing, proven APTIM capability</a:t>
                      </a:r>
                    </a:p>
                  </a:txBody>
                  <a:tcPr>
                    <a:solidFill>
                      <a:srgbClr val="E0F2F1"/>
                    </a:solidFill>
                  </a:tcPr>
                </a:tc>
                <a:tc>
                  <a:txBody>
                    <a:bodyPr/>
                    <a:lstStyle/>
                    <a:p>
                      <a:pPr>
                        <a:defRPr sz="1100">
                          <a:solidFill>
                            <a:srgbClr val="002856"/>
                          </a:solidFill>
                          <a:latin typeface="Arial"/>
                        </a:defRPr>
                      </a:pPr>
                      <a:r>
                        <a:t>Full -- single client group (utilities), no new technology, leverages current APTIM capabilities, achievable in 1-3 years, scalable across states</a:t>
                      </a:r>
                    </a:p>
                  </a:txBody>
                  <a:tcPr>
                    <a:solidFill>
                      <a:srgbClr val="E0F2F1"/>
                    </a:solidFill>
                  </a:tcPr>
                </a:tc>
                <a:tc>
                  <a:txBody>
                    <a:bodyPr/>
                    <a:lstStyle/>
                    <a:p>
                      <a:pPr>
                        <a:defRPr sz="1100">
                          <a:solidFill>
                            <a:srgbClr val="002856"/>
                          </a:solidFill>
                          <a:latin typeface="Arial"/>
                        </a:defRPr>
                      </a:pPr>
                      <a:r>
                        <a:t>SELECTED</a:t>
                      </a:r>
                    </a:p>
                  </a:txBody>
                  <a:tcPr>
                    <a:solidFill>
                      <a:srgbClr val="E0F2F1"/>
                    </a:solidFill>
                  </a:tcPr>
                </a:tc>
              </a:tr>
            </a:tbl>
          </a:graphicData>
        </a:graphic>
      </p:graphicFrame>
      <p:sp>
        <p:nvSpPr>
          <p:cNvPr id="5" name="Rectangle 4"/>
          <p:cNvSpPr/>
          <p:nvPr/>
        </p:nvSpPr>
        <p:spPr>
          <a:xfrm>
            <a:off x="457200" y="3611880"/>
            <a:ext cx="11247120" cy="260604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800"/>
              </a:spcAft>
            </a:pPr>
            <a:r>
              <a:rPr b="1" sz="1500">
                <a:solidFill>
                  <a:srgbClr val="002856"/>
                </a:solidFill>
                <a:latin typeface="Arial"/>
              </a:rPr>
              <a:t>Why We Didn't Stop at the Toolkit</a:t>
            </a:r>
          </a:p>
          <a:p>
            <a:pPr>
              <a:spcAft>
                <a:spcPts val="600"/>
              </a:spcAft>
            </a:pPr>
            <a:r>
              <a:rPr sz="1300">
                <a:solidFill>
                  <a:srgbClr val="002856"/>
                </a:solidFill>
                <a:latin typeface="Arial"/>
              </a:rPr>
              <a:t>•  Describes HOW APTIM operates -- not a sellable program</a:t>
            </a:r>
          </a:p>
          <a:p>
            <a:pPr>
              <a:spcAft>
                <a:spcPts val="600"/>
              </a:spcAft>
            </a:pPr>
            <a:r>
              <a:rPr sz="1300">
                <a:solidFill>
                  <a:srgbClr val="002856"/>
                </a:solidFill>
                <a:latin typeface="Arial"/>
              </a:rPr>
              <a:t>•  Leadership asked for one specific offer, not a capability list</a:t>
            </a:r>
          </a:p>
          <a:p>
            <a:pPr>
              <a:spcAft>
                <a:spcPts val="600"/>
              </a:spcAft>
            </a:pPr>
            <a:r>
              <a:rPr sz="1300">
                <a:solidFill>
                  <a:srgbClr val="002856"/>
                </a:solidFill>
                <a:latin typeface="Arial"/>
              </a:rPr>
              <a:t>•  Not DTE's generation strategy -- a distribution-resilience play (see notes)</a:t>
            </a:r>
          </a:p>
        </p:txBody>
      </p:sp>
      <p:sp>
        <p:nvSpPr>
          <p:cNvPr id="6" name="TextBox 5"/>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7" name="TextBox 6"/>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a:t>
            </a:r>
            <a:endParaRPr lang="en-US"/>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p:txBody>
          <a:bodyPr vert="horz" lIns="0" tIns="0" rIns="0" bIns="0" rtlCol="0" anchor="t">
            <a:noAutofit/>
          </a:bodyPr>
          <a:lstStyle/>
          <a:p>
            <a:pPr>
              <a:spcAft>
                <a:spcPts val="1000"/>
              </a:spcAft>
              <a:buNone/>
            </a:pPr>
            <a:r>
              <a:rPr b="1" sz="1300">
                <a:solidFill>
                  <a:srgbClr val="002856"/>
                </a:solidFill>
                <a:latin typeface="Arial"/>
              </a:rPr>
              <a:t>•  Program administrator</a:t>
            </a:r>
            <a:r>
              <a:rPr sz="1300">
                <a:solidFill>
                  <a:srgbClr val="002856"/>
                </a:solidFill>
                <a:latin typeface="Arial"/>
              </a:rPr>
              <a:t> in multiple states -- Wisconsin (Focus on Energy) is our proof point</a:t>
            </a:r>
          </a:p>
          <a:p>
            <a:pPr>
              <a:spcAft>
                <a:spcPts val="1000"/>
              </a:spcAft>
              <a:buNone/>
            </a:pPr>
            <a:r>
              <a:rPr b="1" sz="1300">
                <a:solidFill>
                  <a:srgbClr val="002856"/>
                </a:solidFill>
                <a:latin typeface="Arial"/>
              </a:rPr>
              <a:t>•  Market shift:</a:t>
            </a:r>
            <a:r>
              <a:rPr sz="1300">
                <a:solidFill>
                  <a:srgbClr val="002856"/>
                </a:solidFill>
                <a:latin typeface="Arial"/>
              </a:rPr>
              <a:t> utilities moving from broad electrification programs toward demand response, grid management, and storage</a:t>
            </a:r>
          </a:p>
          <a:p>
            <a:pPr>
              <a:spcAft>
                <a:spcPts val="1000"/>
              </a:spcAft>
              <a:buNone/>
            </a:pPr>
            <a:r>
              <a:rPr b="1" sz="1300">
                <a:solidFill>
                  <a:srgbClr val="002856"/>
                </a:solidFill>
                <a:latin typeface="Arial"/>
              </a:rPr>
              <a:t>•  Why now:</a:t>
            </a:r>
            <a:r>
              <a:rPr sz="1300">
                <a:solidFill>
                  <a:srgbClr val="002856"/>
                </a:solidFill>
                <a:latin typeface="Arial"/>
              </a:rPr>
              <a:t> data centers and electrification are driving new interest in reducing grid costs and stress</a:t>
            </a:r>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1541297111"/>
              </p:ext>
            </p:extLst>
          </p:nvPr>
        </p:nvGraphicFramePr>
        <p:xfrm>
          <a:off x="6023428" y="1600200"/>
          <a:ext cx="5906174" cy="4206240"/>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781538">
                <a:tc>
                  <a:txBody>
                    <a:bodyPr/>
                    <a:lstStyle/>
                    <a:p>
                      <a:r>
                        <a:rPr sz="1200" b="1"/>
                        <a:t>State</a:t>
                      </a:r>
                    </a:p>
                  </a:txBody>
                  <a:tcPr/>
                </a:tc>
                <a:tc>
                  <a:txBody>
                    <a:bodyPr/>
                    <a:lstStyle/>
                    <a:p>
                      <a:r>
                        <a:rPr sz="1200" b="1"/>
                        <a:t>Market Status</a:t>
                      </a:r>
                    </a:p>
                  </a:txBody>
                  <a:tcPr/>
                </a:tc>
                <a:tc>
                  <a:txBody>
                    <a:bodyPr/>
                    <a:lstStyle/>
                    <a:p>
                      <a:r>
                        <a:rPr sz="1200" b="1"/>
                        <a:t>Challenge</a:t>
                      </a:r>
                    </a:p>
                  </a:txBody>
                  <a:tcPr/>
                </a:tc>
                <a:tc>
                  <a:txBody>
                    <a:bodyPr/>
                    <a:lstStyle/>
                    <a:p>
                      <a:r>
                        <a:rPr sz="1200" b="1"/>
                        <a:t>Opportunity</a:t>
                      </a:r>
                    </a:p>
                  </a:txBody>
                  <a:tcPr/>
                </a:tc>
                <a:extLst>
                  <a:ext uri="{0D108BD9-81ED-4DB2-BD59-A6C34878D82A}">
                    <a16:rowId xmlns:a16="http://schemas.microsoft.com/office/drawing/2014/main" val="2062150352"/>
                  </a:ext>
                </a:extLst>
              </a:tr>
              <a:tr h="487680">
                <a:tc>
                  <a:txBody>
                    <a:bodyPr/>
                    <a:lstStyle/>
                    <a:p>
                      <a:r>
                        <a:rPr sz="1100"/>
                        <a:t>California</a:t>
                      </a:r>
                    </a:p>
                  </a:txBody>
                  <a:tcPr/>
                </a:tc>
                <a:tc>
                  <a:txBody>
                    <a:bodyPr/>
                    <a:lstStyle/>
                    <a:p>
                      <a:r>
                        <a:rPr sz="1100"/>
                        <a:t>Mature</a:t>
                      </a:r>
                    </a:p>
                  </a:txBody>
                  <a:tcPr/>
                </a:tc>
                <a:tc>
                  <a:txBody>
                    <a:bodyPr/>
                    <a:lstStyle/>
                    <a:p>
                      <a:r>
                        <a:rPr sz="1100"/>
                        <a:t>Highly saturated -- competitors entrenched</a:t>
                      </a:r>
                    </a:p>
                  </a:txBody>
                  <a:tcPr/>
                </a:tc>
                <a:tc>
                  <a:txBody>
                    <a:bodyPr/>
                    <a:lstStyle/>
                    <a:p>
                      <a:r>
                        <a:rPr sz="1100"/>
                        <a:t>Reference case proving the model works</a:t>
                      </a:r>
                    </a:p>
                  </a:txBody>
                  <a:tcPr/>
                </a:tc>
                <a:extLst>
                  <a:ext uri="{0D108BD9-81ED-4DB2-BD59-A6C34878D82A}">
                    <a16:rowId xmlns:a16="http://schemas.microsoft.com/office/drawing/2014/main" val="4077176013"/>
                  </a:ext>
                </a:extLst>
              </a:tr>
              <a:tr h="965200">
                <a:tc>
                  <a:txBody>
                    <a:bodyPr/>
                    <a:lstStyle/>
                    <a:p>
                      <a:r>
                        <a:rPr sz="1100"/>
                        <a:t>North Carolina</a:t>
                      </a:r>
                    </a:p>
                  </a:txBody>
                  <a:tcPr/>
                </a:tc>
                <a:tc>
                  <a:txBody>
                    <a:bodyPr/>
                    <a:lstStyle/>
                    <a:p>
                      <a:r>
                        <a:rPr sz="1100"/>
                        <a:t>Growing</a:t>
                      </a:r>
                    </a:p>
                  </a:txBody>
                  <a:tcPr/>
                </a:tc>
                <a:tc>
                  <a:txBody>
                    <a:bodyPr/>
                    <a:lstStyle/>
                    <a:p>
                      <a:r>
                        <a:rPr sz="1100"/>
                        <a:t>Solar adoption straining the grid</a:t>
                      </a:r>
                    </a:p>
                  </a:txBody>
                  <a:tcPr/>
                </a:tc>
                <a:tc>
                  <a:txBody>
                    <a:bodyPr/>
                    <a:lstStyle/>
                    <a:p>
                      <a:r>
                        <a:rPr sz="1100"/>
                        <a:t>Duke PowerPair fully subscribed -- proves demand exists</a:t>
                      </a:r>
                    </a:p>
                  </a:txBody>
                  <a:tcPr/>
                </a:tc>
                <a:extLst>
                  <a:ext uri="{0D108BD9-81ED-4DB2-BD59-A6C34878D82A}">
                    <a16:rowId xmlns:a16="http://schemas.microsoft.com/office/drawing/2014/main" val="1662102389"/>
                  </a:ext>
                </a:extLst>
              </a:tr>
              <a:tr h="1463039">
                <a:tc>
                  <a:txBody>
                    <a:bodyPr/>
                    <a:lstStyle/>
                    <a:p>
                      <a:r>
                        <a:rPr sz="1100"/>
                        <a:t>Michigan</a:t>
                      </a:r>
                    </a:p>
                  </a:txBody>
                  <a:tcPr/>
                </a:tc>
                <a:tc>
                  <a:txBody>
                    <a:bodyPr/>
                    <a:lstStyle/>
                    <a:p>
                      <a:r>
                        <a:rPr sz="1100"/>
                        <a:t>Emerging (pilot)</a:t>
                      </a:r>
                    </a:p>
                  </a:txBody>
                  <a:tcPr/>
                </a:tc>
                <a:tc>
                  <a:txBody>
                    <a:bodyPr/>
                    <a:lstStyle/>
                    <a:p>
                      <a:r>
                        <a:rPr sz="1100"/>
                        <a:t>No residential storage program exists yet</a:t>
                      </a:r>
                    </a:p>
                  </a:txBody>
                  <a:tcPr/>
                </a:tc>
                <a:tc>
                  <a:txBody>
                    <a:bodyPr/>
                    <a:lstStyle/>
                    <a:p>
                      <a:r>
                        <a:rPr sz="1100"/>
                        <a:t>Worst outages in the nation + statutory storage mandate</a:t>
                      </a:r>
                    </a:p>
                  </a:txBody>
                  <a:tcPr/>
                </a:tc>
                <a:extLst>
                  <a:ext uri="{0D108BD9-81ED-4DB2-BD59-A6C34878D82A}">
                    <a16:rowId xmlns:a16="http://schemas.microsoft.com/office/drawing/2014/main" val="3893195930"/>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7</a:t>
            </a:r>
            <a:endParaRPr lang="en-US"/>
          </a:p>
        </p:txBody>
      </p:sp>
      <p:sp>
        <p:nvSpPr>
          <p:cNvPr id="12" name="TextBox 11"/>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Where APTIM already operates, and where the opportunity is emerging</a:t>
            </a:r>
          </a:p>
        </p:txBody>
      </p:sp>
    </p:spTree>
    <p:extLst>
      <p:ext uri="{BB962C8B-B14F-4D97-AF65-F5344CB8AC3E}">
        <p14:creationId xmlns:p14="http://schemas.microsoft.com/office/powerpoint/2010/main" val="1457029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 </a:t>
            </a:r>
            <a:r>
              <a:rPr lang="en-US" err="1" sz="2600" b="1">
                <a:solidFill>
                  <a:srgbClr val="002856"/>
                </a:solidFill>
                <a:latin typeface="Arial"/>
                <a:cs typeface="Arial"/>
              </a:rPr>
              <a:t>Cont</a:t>
            </a:r>
            <a:endParaRPr lang="en-US" err="1"/>
          </a:p>
        </p:txBody>
      </p:sp>
      <p:sp>
        <p:nvSpPr>
          <p:cNvPr id="3" name="Text Placeholder 2">
            <a:extLst>
              <a:ext uri="{FF2B5EF4-FFF2-40B4-BE49-F238E27FC236}">
                <a16:creationId xmlns:a16="http://schemas.microsoft.com/office/drawing/2014/main" id="{E28401FE-75E2-EE17-235A-E7F182B27A8E}"/>
              </a:ext>
            </a:extLst>
          </p:cNvPr>
          <p:cNvSpPr>
            <a:spLocks noGrp="1"/>
          </p:cNvSpPr>
          <p:nvPr>
            <p:ph type="body" idx="1"/>
          </p:nvPr>
        </p:nvSpPr>
        <p:spPr/>
        <p:txBody>
          <a:bodyPr/>
          <a:lstStyle/>
          <a:p>
            <a:r>
              <a:rPr lang="en-US">
                <a:latin typeface="Arial"/>
                <a:cs typeface="Arial"/>
              </a:rPr>
              <a:t>Market Size and Growth</a:t>
            </a:r>
            <a:endParaRPr lang="en-US"/>
          </a:p>
        </p:txBody>
      </p:sp>
      <p:sp>
        <p:nvSpPr>
          <p:cNvPr id="4" name="Content Placeholder 3">
            <a:extLst>
              <a:ext uri="{FF2B5EF4-FFF2-40B4-BE49-F238E27FC236}">
                <a16:creationId xmlns:a16="http://schemas.microsoft.com/office/drawing/2014/main" id="{9FC611F6-AE6C-3189-D0ED-0D6E34DD3DE5}"/>
              </a:ext>
            </a:extLst>
          </p:cNvPr>
          <p:cNvSpPr>
            <a:spLocks noGrp="1"/>
          </p:cNvSpPr>
          <p:nvPr>
            <p:ph sz="half" idx="2"/>
          </p:nvPr>
        </p:nvSpPr>
        <p:spPr/>
        <p:txBody>
          <a:bodyPr vert="horz" lIns="0" tIns="0" rIns="0" bIns="0" rtlCol="0" anchor="t">
            <a:noAutofit/>
          </a:bodyPr>
          <a:lstStyle/>
          <a:p>
            <a:pPr marL="233045" indent="-233045">
              <a:spcAft>
                <a:spcPts val="200"/>
              </a:spcAft>
              <a:buNone/>
            </a:pPr>
            <a:r>
              <a:rPr b="1" sz="1500">
                <a:solidFill>
                  <a:srgbClr val="002856"/>
                </a:solidFill>
                <a:latin typeface="Arial"/>
              </a:rPr>
              <a:t>TAM</a:t>
            </a:r>
          </a:p>
          <a:p>
            <a:pPr>
              <a:spcAft>
                <a:spcPts val="1600"/>
              </a:spcAft>
              <a:buNone/>
            </a:pPr>
            <a:r>
              <a:rPr sz="1100" i="1">
                <a:solidFill>
                  <a:srgbClr val="002856"/>
                </a:solidFill>
                <a:latin typeface="Arial"/>
              </a:rPr>
              <a:t>Total Addressable Market</a:t>
            </a:r>
          </a:p>
          <a:p>
            <a:pPr>
              <a:spcAft>
                <a:spcPts val="200"/>
              </a:spcAft>
              <a:buNone/>
            </a:pPr>
            <a:r>
              <a:rPr b="1" sz="1500">
                <a:solidFill>
                  <a:srgbClr val="002856"/>
                </a:solidFill>
                <a:latin typeface="Arial"/>
              </a:rPr>
              <a:t>SAM</a:t>
            </a:r>
          </a:p>
          <a:p>
            <a:pPr>
              <a:spcAft>
                <a:spcPts val="1600"/>
              </a:spcAft>
              <a:buNone/>
            </a:pPr>
            <a:r>
              <a:rPr sz="1100" i="1">
                <a:solidFill>
                  <a:srgbClr val="002856"/>
                </a:solidFill>
                <a:latin typeface="Arial"/>
              </a:rPr>
              <a:t>Serviceable Addressable Market</a:t>
            </a:r>
          </a:p>
          <a:p>
            <a:pPr>
              <a:spcAft>
                <a:spcPts val="200"/>
              </a:spcAft>
              <a:buNone/>
            </a:pPr>
            <a:r>
              <a:rPr b="1" sz="1500">
                <a:solidFill>
                  <a:srgbClr val="002856"/>
                </a:solidFill>
                <a:latin typeface="Arial"/>
              </a:rPr>
              <a:t>SOM</a:t>
            </a:r>
          </a:p>
          <a:p>
            <a:pPr>
              <a:buNone/>
            </a:pPr>
            <a:r>
              <a:rPr sz="1100" i="1">
                <a:solidFill>
                  <a:srgbClr val="002856"/>
                </a:solidFill>
                <a:latin typeface="Arial"/>
              </a:rPr>
              <a:t>Serviceable Obtainable Market</a:t>
            </a:r>
          </a:p>
        </p:txBody>
      </p:sp>
      <p:sp>
        <p:nvSpPr>
          <p:cNvPr id="5" name="Text Placeholder 4">
            <a:extLst>
              <a:ext uri="{FF2B5EF4-FFF2-40B4-BE49-F238E27FC236}">
                <a16:creationId xmlns:a16="http://schemas.microsoft.com/office/drawing/2014/main" id="{8B67ACEE-A473-E2DC-BD06-1E7165040186}"/>
              </a:ext>
            </a:extLst>
          </p:cNvPr>
          <p:cNvSpPr>
            <a:spLocks noGrp="1"/>
          </p:cNvSpPr>
          <p:nvPr>
            <p:ph type="body" sz="quarter" idx="3"/>
          </p:nvPr>
        </p:nvSpPr>
        <p:spPr/>
        <p:txBody>
          <a:bodyPr/>
          <a:lstStyle/>
          <a:p>
            <a:endParaRPr lang="en-US"/>
          </a:p>
        </p:txBody>
      </p:sp>
      <p:graphicFrame>
        <p:nvGraphicFramePr>
          <p:cNvPr id="9" name="Content Placeholder 8">
            <a:extLst>
              <a:ext uri="{FF2B5EF4-FFF2-40B4-BE49-F238E27FC236}">
                <a16:creationId xmlns:a16="http://schemas.microsoft.com/office/drawing/2014/main" id="{F20EB8F4-9CC4-0139-6816-23D0233735CE}"/>
              </a:ext>
            </a:extLst>
          </p:cNvPr>
          <p:cNvGraphicFramePr>
            <a:graphicFrameLocks noGrp="1"/>
          </p:cNvGraphicFramePr>
          <p:nvPr>
            <p:ph sz="quarter" idx="4"/>
            <p:extLst>
              <p:ext uri="{D42A27DB-BD31-4B8C-83A1-F6EECF244321}">
                <p14:modId xmlns:p14="http://schemas.microsoft.com/office/powerpoint/2010/main" val="3130878174"/>
              </p:ext>
            </p:extLst>
          </p:nvPr>
        </p:nvGraphicFramePr>
        <p:xfrm>
          <a:off x="6388100" y="1600200"/>
          <a:ext cx="5183188" cy="1752600"/>
        </p:xfrm>
        <a:graphic>
          <a:graphicData uri="http://schemas.openxmlformats.org/drawingml/2006/table">
            <a:tbl>
              <a:tblPr firstRow="1" bandRow="1">
                <a:tableStyleId>{5C22544A-7EE6-4342-B048-85BDC9FD1C3A}</a:tableStyleId>
              </a:tblPr>
              <a:tblGrid>
                <a:gridCol w="1295797">
                  <a:extLst>
                    <a:ext uri="{9D8B030D-6E8A-4147-A177-3AD203B41FA5}">
                      <a16:colId xmlns:a16="http://schemas.microsoft.com/office/drawing/2014/main" val="4018510367"/>
                    </a:ext>
                  </a:extLst>
                </a:gridCol>
                <a:gridCol w="1295797">
                  <a:extLst>
                    <a:ext uri="{9D8B030D-6E8A-4147-A177-3AD203B41FA5}">
                      <a16:colId xmlns:a16="http://schemas.microsoft.com/office/drawing/2014/main" val="3747735664"/>
                    </a:ext>
                  </a:extLst>
                </a:gridCol>
                <a:gridCol w="1295797">
                  <a:extLst>
                    <a:ext uri="{9D8B030D-6E8A-4147-A177-3AD203B41FA5}">
                      <a16:colId xmlns:a16="http://schemas.microsoft.com/office/drawing/2014/main" val="1400594476"/>
                    </a:ext>
                  </a:extLst>
                </a:gridCol>
                <a:gridCol w="1295797">
                  <a:extLst>
                    <a:ext uri="{9D8B030D-6E8A-4147-A177-3AD203B41FA5}">
                      <a16:colId xmlns:a16="http://schemas.microsoft.com/office/drawing/2014/main" val="3546640825"/>
                    </a:ext>
                  </a:extLst>
                </a:gridCol>
              </a:tblGrid>
              <a:tr h="370840">
                <a:tc>
                  <a:txBody>
                    <a:bodyPr/>
                    <a:lstStyle/>
                    <a:p/>
                  </a:txBody>
                  <a:tcPr/>
                </a:tc>
                <a:tc>
                  <a:txBody>
                    <a:bodyPr/>
                    <a:lstStyle/>
                    <a:p>
                      <a:r>
                        <a:rPr sz="1200" b="1"/>
                        <a:t>Value</a:t>
                      </a:r>
                    </a:p>
                  </a:txBody>
                  <a:tcPr/>
                </a:tc>
                <a:tc gridSpan="2">
                  <a:txBody>
                    <a:bodyPr/>
                    <a:lstStyle/>
                    <a:p>
                      <a:r>
                        <a:rPr sz="1200" b="1"/>
                        <a:t>Basis</a:t>
                      </a:r>
                    </a:p>
                  </a:txBody>
                  <a:tcPr/>
                </a:tc>
                <a:tc hMerge="1">
                  <a:txBody>
                    <a:bodyPr/>
                    <a:lstStyle/>
                    <a:p/>
                  </a:txBody>
                  <a:tcPr/>
                </a:tc>
                <a:extLst>
                  <a:ext uri="{0D108BD9-81ED-4DB2-BD59-A6C34878D82A}">
                    <a16:rowId xmlns:a16="http://schemas.microsoft.com/office/drawing/2014/main" val="2090497449"/>
                  </a:ext>
                </a:extLst>
              </a:tr>
              <a:tr h="370840">
                <a:tc>
                  <a:txBody>
                    <a:bodyPr/>
                    <a:lstStyle/>
                    <a:p>
                      <a:r>
                        <a:rPr sz="1100"/>
                        <a:t>TAM</a:t>
                      </a:r>
                    </a:p>
                  </a:txBody>
                  <a:tcPr/>
                </a:tc>
                <a:tc>
                  <a:txBody>
                    <a:bodyPr/>
                    <a:lstStyle/>
                    <a:p>
                      <a:r>
                        <a:rPr sz="1100"/>
                        <a:t>$8.8B</a:t>
                      </a:r>
                    </a:p>
                  </a:txBody>
                  <a:tcPr/>
                </a:tc>
                <a:tc gridSpan="2">
                  <a:txBody>
                    <a:bodyPr/>
                    <a:lstStyle/>
                    <a:p>
                      <a:r>
                        <a:rPr sz="1100"/>
                        <a:t>National utility energy-efficiency &amp; storage program administration market (ACEEE 2025)</a:t>
                      </a:r>
                    </a:p>
                  </a:txBody>
                  <a:tcPr/>
                </a:tc>
                <a:tc hMerge="1">
                  <a:txBody>
                    <a:bodyPr/>
                    <a:lstStyle/>
                    <a:p>
                      <a:endParaRPr lang="en-US"/>
                    </a:p>
                  </a:txBody>
                  <a:tcPr/>
                </a:tc>
                <a:extLst>
                  <a:ext uri="{0D108BD9-81ED-4DB2-BD59-A6C34878D82A}">
                    <a16:rowId xmlns:a16="http://schemas.microsoft.com/office/drawing/2014/main" val="126375793"/>
                  </a:ext>
                </a:extLst>
              </a:tr>
              <a:tr h="370840">
                <a:tc>
                  <a:txBody>
                    <a:bodyPr/>
                    <a:lstStyle/>
                    <a:p>
                      <a:r>
                        <a:rPr sz="1100"/>
                        <a:t>SAM</a:t>
                      </a:r>
                    </a:p>
                  </a:txBody>
                  <a:tcPr/>
                </a:tc>
                <a:tc>
                  <a:txBody>
                    <a:bodyPr/>
                    <a:lstStyle/>
                    <a:p>
                      <a:r>
                        <a:rPr sz="1100"/>
                        <a:t>~$1-2B</a:t>
                      </a:r>
                    </a:p>
                  </a:txBody>
                  <a:tcPr/>
                </a:tc>
                <a:tc gridSpan="2">
                  <a:txBody>
                    <a:bodyPr/>
                    <a:lstStyle/>
                    <a:p>
                      <a:r>
                        <a:rPr sz="1100"/>
                        <a:t>States with utility storage mandates + vertically integrated utilities (near-term addressable)</a:t>
                      </a:r>
                    </a:p>
                  </a:txBody>
                  <a:tcPr/>
                </a:tc>
                <a:tc hMerge="1">
                  <a:txBody>
                    <a:bodyPr/>
                    <a:lstStyle/>
                    <a:p>
                      <a:endParaRPr lang="en-US"/>
                    </a:p>
                  </a:txBody>
                  <a:tcPr/>
                </a:tc>
                <a:extLst>
                  <a:ext uri="{0D108BD9-81ED-4DB2-BD59-A6C34878D82A}">
                    <a16:rowId xmlns:a16="http://schemas.microsoft.com/office/drawing/2014/main" val="3203715919"/>
                  </a:ext>
                </a:extLst>
              </a:tr>
              <a:tr h="370840">
                <a:tc>
                  <a:txBody>
                    <a:bodyPr/>
                    <a:lstStyle/>
                    <a:p>
                      <a:r>
                        <a:rPr sz="1100"/>
                        <a:t>SOM</a:t>
                      </a:r>
                    </a:p>
                  </a:txBody>
                  <a:tcPr/>
                </a:tc>
                <a:tc>
                  <a:txBody>
                    <a:bodyPr/>
                    <a:lstStyle/>
                    <a:p>
                      <a:r>
                        <a:rPr sz="1100"/>
                        <a:t>$1.5M-$4.5M/yr</a:t>
                      </a:r>
                    </a:p>
                  </a:txBody>
                  <a:tcPr/>
                </a:tc>
                <a:tc gridSpan="2">
                  <a:txBody>
                    <a:bodyPr/>
                    <a:lstStyle/>
                    <a:p>
                      <a:r>
                        <a:rPr sz="1100"/>
                        <a:t>Michigan pilot + early expansion -- APTIM administration fees, Years 1-3</a:t>
                      </a:r>
                    </a:p>
                  </a:txBody>
                  <a:tcPr/>
                </a:tc>
                <a:tc hMerge="1">
                  <a:txBody>
                    <a:bodyPr/>
                    <a:lstStyle/>
                    <a:p>
                      <a:endParaRPr lang="en-US"/>
                    </a:p>
                  </a:txBody>
                  <a:tcPr/>
                </a:tc>
                <a:extLst>
                  <a:ext uri="{0D108BD9-81ED-4DB2-BD59-A6C34878D82A}">
                    <a16:rowId xmlns:a16="http://schemas.microsoft.com/office/drawing/2014/main" val="796525128"/>
                  </a:ext>
                </a:extLst>
              </a:tr>
            </a:tbl>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8</a:t>
            </a:r>
            <a:endParaRPr lang="en-US"/>
          </a:p>
        </p:txBody>
      </p:sp>
      <p:sp>
        <p:nvSpPr>
          <p:cNvPr id="10" name="TextBox 9"/>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Sizing the opportunity from national market to Michigan pilot</a:t>
            </a:r>
          </a:p>
        </p:txBody>
      </p:sp>
    </p:spTree>
    <p:extLst>
      <p:ext uri="{BB962C8B-B14F-4D97-AF65-F5344CB8AC3E}">
        <p14:creationId xmlns:p14="http://schemas.microsoft.com/office/powerpoint/2010/main" val="37178391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The Big Picture: How This Program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Before the mechanics -- the simple version of what we're proposing</a:t>
            </a:r>
          </a:p>
        </p:txBody>
      </p:sp>
      <p:sp>
        <p:nvSpPr>
          <p:cNvPr id="4" name="Rectangle 3"/>
          <p:cNvSpPr/>
          <p:nvPr/>
        </p:nvSpPr>
        <p:spPr>
          <a:xfrm>
            <a:off x="365760" y="1463040"/>
            <a:ext cx="2555748" cy="2651760"/>
          </a:xfrm>
          <a:prstGeom prst="rect">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1. The Problem</a:t>
            </a:r>
          </a:p>
          <a:p>
            <a:pPr algn="ctr"/>
            <a:r>
              <a:rPr sz="1100">
                <a:solidFill>
                  <a:srgbClr val="FFFFFF"/>
                </a:solidFill>
                <a:latin typeface="Arial"/>
              </a:rPr>
              <a:t>Utilities must keep energy programs
running, but federal funding is
unreliable and mandates don't go away</a:t>
            </a:r>
          </a:p>
        </p:txBody>
      </p:sp>
      <p:sp>
        <p:nvSpPr>
          <p:cNvPr id="5" name="Rectangle 4"/>
          <p:cNvSpPr/>
          <p:nvPr/>
        </p:nvSpPr>
        <p:spPr>
          <a:xfrm>
            <a:off x="3332988" y="1463040"/>
            <a:ext cx="2555748" cy="265176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2. The Fix</a:t>
            </a:r>
          </a:p>
          <a:p>
            <a:pPr algn="ctr"/>
            <a:r>
              <a:rPr sz="1100">
                <a:solidFill>
                  <a:srgbClr val="FFFFFF"/>
                </a:solidFill>
                <a:latin typeface="Arial"/>
              </a:rPr>
              <a:t>The UTILITY buys and owns a fleet
of home batteries + solar --
financed like any grid infrastructure,
not a grant</a:t>
            </a:r>
          </a:p>
        </p:txBody>
      </p:sp>
      <p:sp>
        <p:nvSpPr>
          <p:cNvPr id="6" name="Rectangle 5"/>
          <p:cNvSpPr/>
          <p:nvPr/>
        </p:nvSpPr>
        <p:spPr>
          <a:xfrm>
            <a:off x="6300216" y="1463040"/>
            <a:ext cx="2555748" cy="265176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3. The Roles</a:t>
            </a:r>
          </a:p>
          <a:p>
            <a:pPr algn="ctr"/>
            <a:r>
              <a:rPr sz="1100">
                <a:solidFill>
                  <a:srgbClr val="FFFFFF"/>
                </a:solidFill>
                <a:latin typeface="Arial"/>
              </a:rPr>
              <a:t>APTIM administers the program.
The household just hosts the
equipment -- $0 cost to them</a:t>
            </a:r>
          </a:p>
        </p:txBody>
      </p:sp>
      <p:sp>
        <p:nvSpPr>
          <p:cNvPr id="7" name="Rectangle 6"/>
          <p:cNvSpPr/>
          <p:nvPr/>
        </p:nvSpPr>
        <p:spPr>
          <a:xfrm>
            <a:off x="9267444" y="1463040"/>
            <a:ext cx="2555748" cy="2651760"/>
          </a:xfrm>
          <a:prstGeom prst="rect">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4. The Outcome</a:t>
            </a:r>
          </a:p>
          <a:p>
            <a:pPr algn="ctr"/>
            <a:r>
              <a:rPr sz="1100">
                <a:solidFill>
                  <a:srgbClr val="FFFFFF"/>
                </a:solidFill>
                <a:latin typeface="Arial"/>
              </a:rPr>
              <a:t>Utility meets its resilience mandate
and earns a return. APTIM gains a
new revenue line. Household gets
free backup power</a:t>
            </a:r>
          </a:p>
        </p:txBody>
      </p:sp>
      <p:sp>
        <p:nvSpPr>
          <p:cNvPr id="8" name="TextBox 7"/>
          <p:cNvSpPr txBox="1"/>
          <p:nvPr/>
        </p:nvSpPr>
        <p:spPr>
          <a:xfrm>
            <a:off x="2967227" y="2560320"/>
            <a:ext cx="320040" cy="457200"/>
          </a:xfrm>
          <a:prstGeom prst="rect">
            <a:avLst/>
          </a:prstGeom>
          <a:noFill/>
        </p:spPr>
        <p:txBody>
          <a:bodyPr wrap="none">
            <a:spAutoFit/>
          </a:bodyPr>
          <a:lstStyle/>
          <a:p>
            <a:pPr algn="ctr"/>
            <a:r>
              <a:rPr sz="2200" b="1">
                <a:solidFill>
                  <a:srgbClr val="002856"/>
                </a:solidFill>
              </a:rPr>
              <a:t>→</a:t>
            </a:r>
          </a:p>
        </p:txBody>
      </p:sp>
      <p:sp>
        <p:nvSpPr>
          <p:cNvPr id="9" name="TextBox 8"/>
          <p:cNvSpPr txBox="1"/>
          <p:nvPr/>
        </p:nvSpPr>
        <p:spPr>
          <a:xfrm>
            <a:off x="5934456" y="2560320"/>
            <a:ext cx="320040" cy="457200"/>
          </a:xfrm>
          <a:prstGeom prst="rect">
            <a:avLst/>
          </a:prstGeom>
          <a:noFill/>
        </p:spPr>
        <p:txBody>
          <a:bodyPr wrap="none">
            <a:spAutoFit/>
          </a:bodyPr>
          <a:lstStyle/>
          <a:p>
            <a:pPr algn="ctr"/>
            <a:r>
              <a:rPr sz="2200" b="1">
                <a:solidFill>
                  <a:srgbClr val="002856"/>
                </a:solidFill>
              </a:rPr>
              <a:t>→</a:t>
            </a:r>
          </a:p>
        </p:txBody>
      </p:sp>
      <p:sp>
        <p:nvSpPr>
          <p:cNvPr id="10" name="TextBox 9"/>
          <p:cNvSpPr txBox="1"/>
          <p:nvPr/>
        </p:nvSpPr>
        <p:spPr>
          <a:xfrm>
            <a:off x="8901684" y="2560320"/>
            <a:ext cx="320040" cy="457200"/>
          </a:xfrm>
          <a:prstGeom prst="rect">
            <a:avLst/>
          </a:prstGeom>
          <a:noFill/>
        </p:spPr>
        <p:txBody>
          <a:bodyPr wrap="none">
            <a:spAutoFit/>
          </a:bodyPr>
          <a:lstStyle/>
          <a:p>
            <a:pPr algn="ctr"/>
            <a:r>
              <a:rPr sz="2200" b="1">
                <a:solidFill>
                  <a:srgbClr val="002856"/>
                </a:solidFill>
              </a:rPr>
              <a:t>→</a:t>
            </a:r>
          </a:p>
        </p:txBody>
      </p:sp>
      <p:sp>
        <p:nvSpPr>
          <p:cNvPr id="11" name="Rectangle 10"/>
          <p:cNvSpPr/>
          <p:nvPr/>
        </p:nvSpPr>
        <p:spPr>
          <a:xfrm>
            <a:off x="365760" y="4434840"/>
            <a:ext cx="11430000" cy="82296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r>
              <a:rPr b="1" sz="1400">
                <a:solidFill>
                  <a:srgbClr val="002856"/>
                </a:solidFill>
                <a:latin typeface="Arial"/>
              </a:rPr>
              <a:t>In one sentence: </a:t>
            </a:r>
            <a:r>
              <a:rPr sz="1400">
                <a:solidFill>
                  <a:srgbClr val="002856"/>
                </a:solidFill>
                <a:latin typeface="Arial"/>
              </a:rPr>
              <a:t>APTIM administers a utility-owned battery + solar fleet -- the utility finances it, APTIM runs it, the household hosts it for free.</a:t>
            </a:r>
          </a:p>
        </p:txBody>
      </p:sp>
      <p:sp>
        <p:nvSpPr>
          <p:cNvPr id="12" name="TextBox 11"/>
          <p:cNvSpPr txBox="1"/>
          <p:nvPr/>
        </p:nvSpPr>
        <p:spPr>
          <a:xfrm>
            <a:off x="365760" y="5486400"/>
            <a:ext cx="11430000" cy="731520"/>
          </a:xfrm>
          <a:prstGeom prst="rect">
            <a:avLst/>
          </a:prstGeom>
          <a:noFill/>
        </p:spPr>
        <p:txBody>
          <a:bodyPr wrap="square">
            <a:spAutoFit/>
          </a:bodyPr>
          <a:lstStyle/>
          <a:p>
            <a:r>
              <a:rPr sz="1200" i="1">
                <a:solidFill>
                  <a:srgbClr val="595959"/>
                </a:solidFill>
                <a:latin typeface="Arial"/>
              </a:rPr>
              <a:t>The next slide breaks down exactly how this works -- who owns what, how money flows, and how APTIM gets paid.</a:t>
            </a:r>
          </a:p>
        </p:txBody>
      </p:sp>
      <p:sp>
        <p:nvSpPr>
          <p:cNvPr id="13" name="TextBox 12"/>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4" name="TextBox 13"/>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Service Concept: Utility-Owned Battery + Solar Fleet</a:t>
            </a:r>
          </a:p>
        </p:txBody>
      </p:sp>
      <p:sp>
        <p:nvSpPr>
          <p:cNvPr id="3" name="TextBox 2">
            <a:extLst>
              <a:ext uri="{FF2B5EF4-FFF2-40B4-BE49-F238E27FC236}">
                <a16:creationId xmlns:a16="http://schemas.microsoft.com/office/drawing/2014/main" id="{D9E4D0C4-67EB-CF21-1EFA-DA9079CB590F}"/>
              </a:ext>
            </a:extLst>
          </p:cNvPr>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The utility owns the fleet. APTIM administers it. The household hosts it at no cost.</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371600"/>
            <a:ext cx="3483864" cy="1554480"/>
          </a:xfrm>
          <a:prstGeom prst="rect">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1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52544" y="1371600"/>
            <a:ext cx="3483864" cy="155448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1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247888" y="1371600"/>
            <a:ext cx="3483864" cy="155448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1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986784" y="1920240"/>
            <a:ext cx="320040" cy="457200"/>
          </a:xfrm>
          <a:prstGeom prst="rect">
            <a:avLst/>
          </a:prstGeom>
          <a:noFill/>
        </p:spPr>
        <p:txBody>
          <a:bodyPr wrap="square">
            <a:spAutoFit/>
          </a:bodyPr>
          <a:lstStyle/>
          <a:p>
            <a:pPr algn="ctr"/>
            <a:r>
              <a:rPr sz="2200" b="1">
                <a:solidFill>
                  <a:srgbClr val="002856"/>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882128" y="1920240"/>
            <a:ext cx="320040" cy="457200"/>
          </a:xfrm>
          <a:prstGeom prst="rect">
            <a:avLst/>
          </a:prstGeom>
          <a:noFill/>
        </p:spPr>
        <p:txBody>
          <a:bodyPr wrap="square">
            <a:spAutoFit/>
          </a:bodyPr>
          <a:lstStyle/>
          <a:p>
            <a:pPr algn="ctr"/>
            <a:r>
              <a:rPr sz="2200" b="1">
                <a:solidFill>
                  <a:srgbClr val="002856"/>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3063240"/>
            <a:ext cx="11247120" cy="594360"/>
          </a:xfrm>
          <a:prstGeom prst="rect">
            <a:avLst/>
          </a:prstGeom>
          <a:solidFill>
            <a:srgbClr val="FDF1D9"/>
          </a:solidFill>
          <a:ln w="12700">
            <a:solidFill>
              <a:srgbClr val="FF8200"/>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100" i="1">
                <a:solidFill>
                  <a:srgbClr val="002856"/>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10</a:t>
            </a:r>
          </a:p>
        </p:txBody>
      </p:sp>
      <p:sp>
        <p:nvSpPr>
          <p:cNvPr id="17" name="TextBox 16"/>
          <p:cNvSpPr txBox="1"/>
          <p:nvPr/>
        </p:nvSpPr>
        <p:spPr>
          <a:xfrm>
            <a:off x="457200" y="3657600"/>
            <a:ext cx="3606698" cy="320040"/>
          </a:xfrm>
          <a:prstGeom prst="rect">
            <a:avLst/>
          </a:prstGeom>
          <a:noFill/>
        </p:spPr>
        <p:txBody>
          <a:bodyPr wrap="none">
            <a:spAutoFit/>
          </a:bodyPr>
          <a:lstStyle/>
          <a:p>
            <a:r>
              <a:rPr b="1" sz="1300">
                <a:solidFill>
                  <a:srgbClr val="FF8200"/>
                </a:solidFill>
                <a:latin typeface="Arial"/>
              </a:rPr>
              <a:t>How APTIM Gets Paid</a:t>
            </a:r>
          </a:p>
        </p:txBody>
      </p:sp>
      <p:sp>
        <p:nvSpPr>
          <p:cNvPr id="18" name="TextBox 17"/>
          <p:cNvSpPr txBox="1"/>
          <p:nvPr/>
        </p:nvSpPr>
        <p:spPr>
          <a:xfrm>
            <a:off x="457200" y="4023360"/>
            <a:ext cx="3606698" cy="2286000"/>
          </a:xfrm>
          <a:prstGeom prst="rect">
            <a:avLst/>
          </a:prstGeom>
          <a:noFill/>
        </p:spPr>
        <p:txBody>
          <a:bodyPr wrap="square">
            <a:spAutoFit/>
          </a:bodyPr>
          <a:lstStyle/>
          <a:p>
            <a:pPr>
              <a:spcAft>
                <a:spcPts val="600"/>
              </a:spcAft>
            </a:pPr>
            <a:r>
              <a:rPr b="1" sz="1100">
                <a:solidFill>
                  <a:srgbClr val="002856"/>
                </a:solidFill>
                <a:latin typeface="Arial"/>
              </a:rPr>
              <a:t>Model: </a:t>
            </a:r>
            <a:r>
              <a:rPr sz="1100">
                <a:solidFill>
                  <a:srgbClr val="002856"/>
                </a:solidFill>
                <a:latin typeface="Arial"/>
              </a:rPr>
              <a:t>Base fee as % of program budget + performance bonus overlay</a:t>
            </a:r>
          </a:p>
          <a:p>
            <a:pPr>
              <a:spcAft>
                <a:spcPts val="600"/>
              </a:spcAft>
            </a:pPr>
            <a:r>
              <a:rPr b="1" sz="1100">
                <a:solidFill>
                  <a:srgbClr val="002856"/>
                </a:solidFill>
                <a:latin typeface="Arial"/>
              </a:rPr>
              <a:t>Precedent: </a:t>
            </a:r>
            <a:r>
              <a:rPr sz="1100">
                <a:solidFill>
                  <a:srgbClr val="002856"/>
                </a:solidFill>
                <a:latin typeface="Arial"/>
              </a:rPr>
              <a:t>APTIM's real Focus on Energy contract (2023-2026) uses this exact structure</a:t>
            </a:r>
          </a:p>
          <a:p>
            <a:pPr>
              <a:spcAft>
                <a:spcPts val="600"/>
              </a:spcAft>
            </a:pPr>
            <a:r>
              <a:rPr b="1" sz="1100">
                <a:solidFill>
                  <a:srgbClr val="002856"/>
                </a:solidFill>
                <a:latin typeface="Arial"/>
              </a:rPr>
              <a:t>Benchmark: </a:t>
            </a:r>
            <a:r>
              <a:rPr sz="1100">
                <a:solidFill>
                  <a:srgbClr val="002856"/>
                </a:solidFill>
                <a:latin typeface="Arial"/>
              </a:rPr>
              <a:t>Federal EECBG caps admin fees at 10% of funds -- a citable floor</a:t>
            </a:r>
          </a:p>
          <a:p>
            <a:pPr>
              <a:spcAft>
                <a:spcPts val="600"/>
              </a:spcAft>
            </a:pPr>
            <a:r>
              <a:rPr b="1" sz="1100">
                <a:solidFill>
                  <a:srgbClr val="002856"/>
                </a:solidFill>
                <a:latin typeface="Arial"/>
              </a:rPr>
              <a:t>Exact %: </a:t>
            </a:r>
            <a:r>
              <a:rPr sz="1100">
                <a:solidFill>
                  <a:srgbClr val="002856"/>
                </a:solidFill>
                <a:latin typeface="Arial"/>
              </a:rPr>
              <a:t>Negotiated at RFP stage, not fixed here</a:t>
            </a:r>
          </a:p>
        </p:txBody>
      </p:sp>
      <p:sp>
        <p:nvSpPr>
          <p:cNvPr id="19" name="TextBox 18"/>
          <p:cNvSpPr txBox="1"/>
          <p:nvPr/>
        </p:nvSpPr>
        <p:spPr>
          <a:xfrm>
            <a:off x="4292498" y="3657600"/>
            <a:ext cx="3606698" cy="320040"/>
          </a:xfrm>
          <a:prstGeom prst="rect">
            <a:avLst/>
          </a:prstGeom>
          <a:noFill/>
        </p:spPr>
        <p:txBody>
          <a:bodyPr wrap="none">
            <a:spAutoFit/>
          </a:bodyPr>
          <a:lstStyle/>
          <a:p>
            <a:r>
              <a:rPr b="1" sz="1300">
                <a:solidFill>
                  <a:srgbClr val="FF8200"/>
                </a:solidFill>
                <a:latin typeface="Arial"/>
              </a:rPr>
              <a:t>Why All Parties Say Yes</a:t>
            </a:r>
          </a:p>
        </p:txBody>
      </p:sp>
      <p:sp>
        <p:nvSpPr>
          <p:cNvPr id="20" name="TextBox 19"/>
          <p:cNvSpPr txBox="1"/>
          <p:nvPr/>
        </p:nvSpPr>
        <p:spPr>
          <a:xfrm>
            <a:off x="4292498" y="4023360"/>
            <a:ext cx="3606698" cy="2286000"/>
          </a:xfrm>
          <a:prstGeom prst="rect">
            <a:avLst/>
          </a:prstGeom>
          <a:noFill/>
        </p:spPr>
        <p:txBody>
          <a:bodyPr wrap="square">
            <a:spAutoFit/>
          </a:bodyPr>
          <a:lstStyle/>
          <a:p>
            <a:pPr>
              <a:spcAft>
                <a:spcPts val="600"/>
              </a:spcAft>
            </a:pPr>
            <a:r>
              <a:rPr b="1" sz="1100">
                <a:solidFill>
                  <a:srgbClr val="002856"/>
                </a:solidFill>
                <a:latin typeface="Arial"/>
              </a:rPr>
              <a:t>Utility: </a:t>
            </a:r>
            <a:r>
              <a:rPr sz="1100">
                <a:solidFill>
                  <a:srgbClr val="002856"/>
                </a:solidFill>
                <a:latin typeface="Arial"/>
              </a:rPr>
              <a:t>Meets storage mandate, grows rate base, cheaper than new peaker capacity</a:t>
            </a:r>
          </a:p>
          <a:p>
            <a:pPr>
              <a:spcAft>
                <a:spcPts val="600"/>
              </a:spcAft>
            </a:pPr>
            <a:r>
              <a:rPr b="1" sz="1100">
                <a:solidFill>
                  <a:srgbClr val="002856"/>
                </a:solidFill>
                <a:latin typeface="Arial"/>
              </a:rPr>
              <a:t>Household: </a:t>
            </a:r>
            <a:r>
              <a:rPr sz="1100">
                <a:solidFill>
                  <a:srgbClr val="002856"/>
                </a:solidFill>
                <a:latin typeface="Arial"/>
              </a:rPr>
              <a:t>Free backup power, zero upfront or monthly cost</a:t>
            </a:r>
          </a:p>
          <a:p>
            <a:pPr>
              <a:spcAft>
                <a:spcPts val="600"/>
              </a:spcAft>
            </a:pPr>
            <a:r>
              <a:rPr b="1" sz="1100">
                <a:solidFill>
                  <a:srgbClr val="002856"/>
                </a:solidFill>
                <a:latin typeface="Arial"/>
              </a:rPr>
              <a:t>APTIM: </a:t>
            </a:r>
            <a:r>
              <a:rPr sz="1100">
                <a:solidFill>
                  <a:srgbClr val="002856"/>
                </a:solidFill>
                <a:latin typeface="Arial"/>
              </a:rPr>
              <a:t>Recurring fee + Michigan market entry, filling an unadministered service niche</a:t>
            </a:r>
          </a:p>
          <a:p>
            <a:pPr>
              <a:spcAft>
                <a:spcPts val="600"/>
              </a:spcAft>
            </a:pPr>
            <a:r>
              <a:rPr b="1" sz="1100">
                <a:solidFill>
                  <a:srgbClr val="002856"/>
                </a:solidFill>
                <a:latin typeface="Arial"/>
              </a:rPr>
              <a:t>Regulator: </a:t>
            </a:r>
            <a:r>
              <a:rPr sz="1100">
                <a:solidFill>
                  <a:srgbClr val="002856"/>
                </a:solidFill>
                <a:latin typeface="Arial"/>
              </a:rPr>
              <a:t>Resilience delivered without a new tax; performance-linked fee keeps utility accountable</a:t>
            </a:r>
          </a:p>
        </p:txBody>
      </p:sp>
      <p:sp>
        <p:nvSpPr>
          <p:cNvPr id="21" name="TextBox 20"/>
          <p:cNvSpPr txBox="1"/>
          <p:nvPr/>
        </p:nvSpPr>
        <p:spPr>
          <a:xfrm>
            <a:off x="8127796" y="3657600"/>
            <a:ext cx="3606698" cy="320040"/>
          </a:xfrm>
          <a:prstGeom prst="rect">
            <a:avLst/>
          </a:prstGeom>
          <a:noFill/>
        </p:spPr>
        <p:txBody>
          <a:bodyPr wrap="none">
            <a:spAutoFit/>
          </a:bodyPr>
          <a:lstStyle/>
          <a:p>
            <a:r>
              <a:rPr b="1" sz="1300">
                <a:solidFill>
                  <a:srgbClr val="FF8200"/>
                </a:solidFill>
                <a:latin typeface="Arial"/>
              </a:rPr>
              <a:t>Design &amp; Rollout</a:t>
            </a:r>
          </a:p>
        </p:txBody>
      </p:sp>
      <p:sp>
        <p:nvSpPr>
          <p:cNvPr id="22" name="TextBox 21"/>
          <p:cNvSpPr txBox="1"/>
          <p:nvPr/>
        </p:nvSpPr>
        <p:spPr>
          <a:xfrm>
            <a:off x="8127796" y="4023360"/>
            <a:ext cx="3606698" cy="2286000"/>
          </a:xfrm>
          <a:prstGeom prst="rect">
            <a:avLst/>
          </a:prstGeom>
          <a:noFill/>
        </p:spPr>
        <p:txBody>
          <a:bodyPr wrap="square">
            <a:spAutoFit/>
          </a:bodyPr>
          <a:lstStyle/>
          <a:p>
            <a:pPr>
              <a:spcAft>
                <a:spcPts val="600"/>
              </a:spcAft>
            </a:pPr>
            <a:r>
              <a:rPr b="1" sz="1100">
                <a:solidFill>
                  <a:srgbClr val="002856"/>
                </a:solidFill>
                <a:latin typeface="Arial"/>
              </a:rPr>
              <a:t>Cold weather: </a:t>
            </a:r>
            <a:r>
              <a:rPr sz="1100">
                <a:solidFill>
                  <a:srgbClr val="002856"/>
                </a:solidFill>
                <a:latin typeface="Arial"/>
              </a:rPr>
              <a:t>Thermally-managed battery chemistry, sized with a winter capacity buffer -- Michigan's worst outages are winter/ice-storm driven</a:t>
            </a:r>
          </a:p>
          <a:p>
            <a:pPr>
              <a:spcAft>
                <a:spcPts val="600"/>
              </a:spcAft>
            </a:pPr>
            <a:r>
              <a:rPr b="1" sz="1100">
                <a:solidFill>
                  <a:srgbClr val="002856"/>
                </a:solidFill>
                <a:latin typeface="Arial"/>
              </a:rPr>
              <a:t>Maintenance: </a:t>
            </a:r>
            <a:r>
              <a:rPr sz="1100">
                <a:solidFill>
                  <a:srgbClr val="002856"/>
                </a:solidFill>
                <a:latin typeface="Arial"/>
              </a:rPr>
              <a:t>Utility owns the fleet, so utility (via APTIM's contractor network) maintains it -- zero burden on the household</a:t>
            </a:r>
          </a:p>
          <a:p>
            <a:pPr>
              <a:spcAft>
                <a:spcPts val="600"/>
              </a:spcAft>
            </a:pPr>
            <a:r>
              <a:rPr b="1" sz="1100">
                <a:solidFill>
                  <a:srgbClr val="002856"/>
                </a:solidFill>
                <a:latin typeface="Arial"/>
              </a:rPr>
              <a:t>Pilot targeting: </a:t>
            </a:r>
            <a:r>
              <a:rPr sz="1100">
                <a:solidFill>
                  <a:srgbClr val="002856"/>
                </a:solidFill>
                <a:latin typeface="Arial"/>
              </a:rPr>
              <a:t>Phase 1 enrolls qualifying, stable homeowners to prove the model; Phase 2 expands to higher-need areas</a:t>
            </a:r>
          </a:p>
        </p:txBody>
      </p:sp>
    </p:spTree>
    <p:extLst>
      <p:ext uri="{BB962C8B-B14F-4D97-AF65-F5344CB8AC3E}">
        <p14:creationId xmlns:p14="http://schemas.microsoft.com/office/powerpoint/2010/main" val="738984277"/>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Deeper Dive: Why This Approach, How It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Supporting context -- full detail in speaker notes</a:t>
            </a:r>
          </a:p>
        </p:txBody>
      </p:sp>
      <p:sp>
        <p:nvSpPr>
          <p:cNvPr id="4" name="TextBox 3"/>
          <p:cNvSpPr txBox="1"/>
          <p:nvPr/>
        </p:nvSpPr>
        <p:spPr>
          <a:xfrm>
            <a:off x="457200" y="1371600"/>
            <a:ext cx="5394960" cy="365760"/>
          </a:xfrm>
          <a:prstGeom prst="rect">
            <a:avLst/>
          </a:prstGeom>
          <a:noFill/>
        </p:spPr>
        <p:txBody>
          <a:bodyPr wrap="none">
            <a:spAutoFit/>
          </a:bodyPr>
          <a:lstStyle/>
          <a:p>
            <a:r>
              <a:rPr b="1" sz="1600">
                <a:solidFill>
                  <a:srgbClr val="002856"/>
                </a:solidFill>
                <a:latin typeface="Arial"/>
              </a:rPr>
              <a:t>Why We Chose This Approach</a:t>
            </a:r>
          </a:p>
        </p:txBody>
      </p:sp>
      <p:sp>
        <p:nvSpPr>
          <p:cNvPr id="5" name="TextBox 4"/>
          <p:cNvSpPr txBox="1"/>
          <p:nvPr/>
        </p:nvSpPr>
        <p:spPr>
          <a:xfrm>
            <a:off x="457200" y="1828800"/>
            <a:ext cx="5394960" cy="4114800"/>
          </a:xfrm>
          <a:prstGeom prst="rect">
            <a:avLst/>
          </a:prstGeom>
          <a:noFill/>
        </p:spPr>
        <p:txBody>
          <a:bodyPr wrap="square">
            <a:spAutoFit/>
          </a:bodyPr>
          <a:lstStyle/>
          <a:p>
            <a:pPr>
              <a:spcAft>
                <a:spcPts val="1600"/>
              </a:spcAft>
            </a:pPr>
            <a:r>
              <a:rPr sz="1500">
                <a:solidFill>
                  <a:srgbClr val="002856"/>
                </a:solidFill>
                <a:latin typeface="Arial"/>
              </a:rPr>
              <a:t>✓  A specific program, not a capability list</a:t>
            </a:r>
          </a:p>
          <a:p>
            <a:pPr>
              <a:spcAft>
                <a:spcPts val="1600"/>
              </a:spcAft>
            </a:pPr>
            <a:r>
              <a:rPr sz="1500">
                <a:solidFill>
                  <a:srgbClr val="002856"/>
                </a:solidFill>
                <a:latin typeface="Arial"/>
              </a:rPr>
              <a:t>✓  Not a generation strategy -- a distribution-resilience play</a:t>
            </a:r>
          </a:p>
          <a:p>
            <a:pPr>
              <a:spcAft>
                <a:spcPts val="1600"/>
              </a:spcAft>
            </a:pPr>
            <a:r>
              <a:rPr sz="1500">
                <a:solidFill>
                  <a:srgbClr val="002856"/>
                </a:solidFill>
                <a:latin typeface="Arial"/>
              </a:rPr>
              <a:t>✓  Fits DTE's existing $1B/yr Distribution Grid Plan</a:t>
            </a:r>
          </a:p>
          <a:p>
            <a:pPr>
              <a:spcAft>
                <a:spcPts val="1600"/>
              </a:spcAft>
            </a:pPr>
            <a:r>
              <a:rPr sz="1500">
                <a:solidFill>
                  <a:srgbClr val="002856"/>
                </a:solidFill>
                <a:latin typeface="Arial"/>
              </a:rPr>
              <a:t>✓  Feasible: pilot approval in 1-2 years, operating within 3</a:t>
            </a:r>
          </a:p>
        </p:txBody>
      </p:sp>
      <p:sp>
        <p:nvSpPr>
          <p:cNvPr id="6" name="TextBox 5"/>
          <p:cNvSpPr txBox="1"/>
          <p:nvPr/>
        </p:nvSpPr>
        <p:spPr>
          <a:xfrm>
            <a:off x="6309360" y="1371600"/>
            <a:ext cx="5394960" cy="365760"/>
          </a:xfrm>
          <a:prstGeom prst="rect">
            <a:avLst/>
          </a:prstGeom>
          <a:noFill/>
        </p:spPr>
        <p:txBody>
          <a:bodyPr wrap="none">
            <a:spAutoFit/>
          </a:bodyPr>
          <a:lstStyle/>
          <a:p>
            <a:r>
              <a:rPr b="1" sz="1600">
                <a:solidFill>
                  <a:srgbClr val="002856"/>
                </a:solidFill>
                <a:latin typeface="Arial"/>
              </a:rPr>
              <a:t>How the Program Actually Works</a:t>
            </a:r>
          </a:p>
        </p:txBody>
      </p:sp>
      <p:sp>
        <p:nvSpPr>
          <p:cNvPr id="7" name="TextBox 6"/>
          <p:cNvSpPr txBox="1"/>
          <p:nvPr/>
        </p:nvSpPr>
        <p:spPr>
          <a:xfrm>
            <a:off x="6309360" y="1828800"/>
            <a:ext cx="5394960" cy="4114800"/>
          </a:xfrm>
          <a:prstGeom prst="rect">
            <a:avLst/>
          </a:prstGeom>
          <a:noFill/>
        </p:spPr>
        <p:txBody>
          <a:bodyPr wrap="square">
            <a:spAutoFit/>
          </a:bodyPr>
          <a:lstStyle/>
          <a:p>
            <a:pPr>
              <a:spcAft>
                <a:spcPts val="1600"/>
              </a:spcAft>
            </a:pPr>
            <a:r>
              <a:rPr sz="1500">
                <a:solidFill>
                  <a:srgbClr val="002856"/>
                </a:solidFill>
                <a:latin typeface="Arial"/>
              </a:rPr>
              <a:t>✓  Ownership settled: utility owns, homeowner-loan math rejected</a:t>
            </a:r>
          </a:p>
          <a:p>
            <a:pPr>
              <a:spcAft>
                <a:spcPts val="1600"/>
              </a:spcAft>
            </a:pPr>
            <a:r>
              <a:rPr sz="1500">
                <a:solidFill>
                  <a:srgbClr val="002856"/>
                </a:solidFill>
                <a:latin typeface="Arial"/>
              </a:rPr>
              <a:t>✓  Engineered for Michigan winters -- cold-rated battery chemistry</a:t>
            </a:r>
          </a:p>
          <a:p>
            <a:pPr>
              <a:spcAft>
                <a:spcPts val="1600"/>
              </a:spcAft>
            </a:pPr>
            <a:r>
              <a:rPr sz="1500">
                <a:solidFill>
                  <a:srgbClr val="002856"/>
                </a:solidFill>
                <a:latin typeface="Arial"/>
              </a:rPr>
              <a:t>✓  Utility owns it, utility maintains it -- zero burden on host</a:t>
            </a:r>
          </a:p>
          <a:p>
            <a:pPr>
              <a:spcAft>
                <a:spcPts val="1600"/>
              </a:spcAft>
            </a:pPr>
            <a:r>
              <a:rPr sz="1500">
                <a:solidFill>
                  <a:srgbClr val="002856"/>
                </a:solidFill>
                <a:latin typeface="Arial"/>
              </a:rPr>
              <a:t>✓  Phase 1: stable homeowners. Phase 2: higher-need areas</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Competitive Landscape</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Where APTIM sits between specialized implementers and large engineering firms</a:t>
            </a:r>
          </a:p>
        </p:txBody>
      </p:sp>
      <p:graphicFrame>
        <p:nvGraphicFramePr>
          <p:cNvPr id="4" name="Table 3"/>
          <p:cNvGraphicFramePr>
            <a:graphicFrameLocks noGrp="1"/>
          </p:cNvGraphicFramePr>
          <p:nvPr/>
        </p:nvGraphicFramePr>
        <p:xfrm>
          <a:off x="457200" y="1280160"/>
          <a:ext cx="11247120" cy="2377440"/>
        </p:xfrm>
        <a:graphic>
          <a:graphicData uri="http://schemas.openxmlformats.org/drawingml/2006/table">
            <a:tbl>
              <a:tblPr firstRow="1" bandRow="1">
                <a:tableStyleId>{5C22544A-7EE6-4342-B048-85BDC9FD1C3A}</a:tableStyleId>
              </a:tblPr>
              <a:tblGrid>
                <a:gridCol w="3931920"/>
                <a:gridCol w="1828800"/>
                <a:gridCol w="1828800"/>
                <a:gridCol w="1828800"/>
                <a:gridCol w="1828800"/>
              </a:tblGrid>
              <a:tr h="396240">
                <a:tc>
                  <a:txBody>
                    <a:bodyPr/>
                    <a:lstStyle/>
                    <a:p>
                      <a:pPr algn="ctr">
                        <a:defRPr sz="1200" b="1">
                          <a:solidFill>
                            <a:srgbClr val="FFFFFF"/>
                          </a:solidFill>
                          <a:latin typeface="Arial"/>
                        </a:defRPr>
                      </a:pPr>
                    </a:p>
                  </a:txBody>
                  <a:tcPr>
                    <a:solidFill>
                      <a:srgbClr val="002856"/>
                    </a:solidFill>
                  </a:tcPr>
                </a:tc>
                <a:tc>
                  <a:txBody>
                    <a:bodyPr/>
                    <a:lstStyle/>
                    <a:p>
                      <a:pPr algn="ctr">
                        <a:defRPr sz="1200" b="1">
                          <a:solidFill>
                            <a:srgbClr val="FFFFFF"/>
                          </a:solidFill>
                          <a:latin typeface="Arial"/>
                        </a:defRPr>
                      </a:pPr>
                      <a:r>
                        <a:t>CLEAResult</a:t>
                      </a:r>
                    </a:p>
                  </a:txBody>
                  <a:tcPr>
                    <a:solidFill>
                      <a:srgbClr val="002856"/>
                    </a:solidFill>
                  </a:tcPr>
                </a:tc>
                <a:tc>
                  <a:txBody>
                    <a:bodyPr/>
                    <a:lstStyle/>
                    <a:p>
                      <a:pPr algn="ctr">
                        <a:defRPr sz="1200" b="1">
                          <a:solidFill>
                            <a:srgbClr val="FFFFFF"/>
                          </a:solidFill>
                          <a:latin typeface="Arial"/>
                        </a:defRPr>
                      </a:pPr>
                      <a:r>
                        <a:t>ICF</a:t>
                      </a:r>
                    </a:p>
                  </a:txBody>
                  <a:tcPr>
                    <a:solidFill>
                      <a:srgbClr val="002856"/>
                    </a:solidFill>
                  </a:tcPr>
                </a:tc>
                <a:tc>
                  <a:txBody>
                    <a:bodyPr/>
                    <a:lstStyle/>
                    <a:p>
                      <a:pPr algn="ctr">
                        <a:defRPr sz="1200" b="1">
                          <a:solidFill>
                            <a:srgbClr val="FFFFFF"/>
                          </a:solidFill>
                          <a:latin typeface="Arial"/>
                        </a:defRPr>
                      </a:pPr>
                      <a:r>
                        <a:t>Stantec</a:t>
                      </a:r>
                    </a:p>
                  </a:txBody>
                  <a:tcPr>
                    <a:solidFill>
                      <a:srgbClr val="002856"/>
                    </a:solidFill>
                  </a:tcPr>
                </a:tc>
                <a:tc>
                  <a:txBody>
                    <a:bodyPr/>
                    <a:lstStyle/>
                    <a:p>
                      <a:pPr algn="ctr">
                        <a:defRPr sz="1200" b="1">
                          <a:solidFill>
                            <a:srgbClr val="FFFFFF"/>
                          </a:solidFill>
                          <a:latin typeface="Arial"/>
                        </a:defRPr>
                      </a:pPr>
                      <a:r>
                        <a:t>APTIM</a:t>
                      </a:r>
                    </a:p>
                  </a:txBody>
                  <a:tcPr>
                    <a:solidFill>
                      <a:srgbClr val="002856"/>
                    </a:solidFill>
                  </a:tcPr>
                </a:tc>
              </a:tr>
              <a:tr h="396240">
                <a:tc>
                  <a:txBody>
                    <a:bodyPr/>
                    <a:lstStyle/>
                    <a:p>
                      <a:pPr>
                        <a:defRPr sz="1200">
                          <a:solidFill>
                            <a:srgbClr val="002856"/>
                          </a:solidFill>
                          <a:latin typeface="Arial"/>
                        </a:defRPr>
                      </a:pPr>
                      <a:r>
                        <a:t>Energy Efficiency Programs</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r>
              <a:tr h="396240">
                <a:tc>
                  <a:txBody>
                    <a:bodyPr/>
                    <a:lstStyle/>
                    <a:p>
                      <a:pPr>
                        <a:defRPr sz="1200">
                          <a:solidFill>
                            <a:srgbClr val="002856"/>
                          </a:solidFill>
                          <a:latin typeface="Arial"/>
                        </a:defRPr>
                      </a:pPr>
                      <a:r>
                        <a:t>Rebate Administration</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r>
              <a:tr h="396240">
                <a:tc>
                  <a:txBody>
                    <a:bodyPr/>
                    <a:lstStyle/>
                    <a:p>
                      <a:pPr>
                        <a:defRPr sz="1200">
                          <a:solidFill>
                            <a:srgbClr val="002856"/>
                          </a:solidFill>
                          <a:latin typeface="Arial"/>
                        </a:defRPr>
                      </a:pPr>
                      <a:r>
                        <a:t>Government Programs</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r>
              <a:tr h="396240">
                <a:tc>
                  <a:txBody>
                    <a:bodyPr/>
                    <a:lstStyle/>
                    <a:p>
                      <a:pPr>
                        <a:defRPr sz="1200">
                          <a:solidFill>
                            <a:srgbClr val="002856"/>
                          </a:solidFill>
                          <a:latin typeface="Arial"/>
                        </a:defRPr>
                      </a:pPr>
                      <a:r>
                        <a:t>Engineering &amp; Infrastructure</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r>
              <a:tr h="396240">
                <a:tc>
                  <a:txBody>
                    <a:bodyPr/>
                    <a:lstStyle/>
                    <a:p>
                      <a:pPr>
                        <a:defRPr sz="1200">
                          <a:solidFill>
                            <a:srgbClr val="002856"/>
                          </a:solidFill>
                          <a:latin typeface="Arial"/>
                        </a:defRPr>
                      </a:pPr>
                      <a:r>
                        <a:t>Utility-Owned Fleet Admin</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 (only one)</a:t>
                      </a:r>
                    </a:p>
                  </a:txBody>
                  <a:tcPr>
                    <a:solidFill>
                      <a:srgbClr val="E9EEF5"/>
                    </a:solidFill>
                  </a:tcPr>
                </a:tc>
              </a:tr>
            </a:tbl>
          </a:graphicData>
        </a:graphic>
      </p:graphicFrame>
      <p:sp>
        <p:nvSpPr>
          <p:cNvPr id="5" name="TextBox 4"/>
          <p:cNvSpPr txBox="1"/>
          <p:nvPr/>
        </p:nvSpPr>
        <p:spPr>
          <a:xfrm>
            <a:off x="457200" y="3749039"/>
            <a:ext cx="11247120" cy="274320"/>
          </a:xfrm>
          <a:prstGeom prst="rect">
            <a:avLst/>
          </a:prstGeom>
          <a:noFill/>
        </p:spPr>
        <p:txBody>
          <a:bodyPr wrap="none">
            <a:spAutoFit/>
          </a:bodyPr>
          <a:lstStyle/>
          <a:p>
            <a:r>
              <a:rPr sz="1100" i="1">
                <a:solidFill>
                  <a:srgbClr val="595959"/>
                </a:solidFill>
                <a:latin typeface="Arial"/>
              </a:rPr>
              <a:t>● Core service     ◐ Secondary service     ○ Not offered / weak</a:t>
            </a:r>
          </a:p>
        </p:txBody>
      </p:sp>
      <p:sp>
        <p:nvSpPr>
          <p:cNvPr id="6" name="Rounded Rectangle 5"/>
          <p:cNvSpPr/>
          <p:nvPr/>
        </p:nvSpPr>
        <p:spPr>
          <a:xfrm>
            <a:off x="457200" y="4160520"/>
            <a:ext cx="11247120" cy="1965960"/>
          </a:xfrm>
          <a:prstGeom prst="roundRect">
            <a:avLst>
              <a:gd name="adj" fmla="val 6000"/>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500">
                <a:solidFill>
                  <a:srgbClr val="002856"/>
                </a:solidFill>
                <a:latin typeface="Arial"/>
              </a:rPr>
              <a:t>The Gap: Nobody Administers Utility-Owned Residential Fleets</a:t>
            </a:r>
          </a:p>
          <a:p>
            <a:pPr>
              <a:spcAft>
                <a:spcPts val="600"/>
              </a:spcAft>
            </a:pPr>
            <a:r>
              <a:rPr b="1" sz="1200">
                <a:solidFill>
                  <a:srgbClr val="FF8200"/>
                </a:solidFill>
                <a:latin typeface="Arial"/>
              </a:rPr>
              <a:t>•  CLEAResult:</a:t>
            </a:r>
            <a:r>
              <a:rPr sz="1200">
                <a:solidFill>
                  <a:srgbClr val="002856"/>
                </a:solidFill>
                <a:latin typeface="Arial"/>
              </a:rPr>
              <a:t> largest EE implementer, but only administers customer-owned (BYOD) programs</a:t>
            </a:r>
          </a:p>
          <a:p>
            <a:pPr>
              <a:spcAft>
                <a:spcPts val="600"/>
              </a:spcAft>
            </a:pPr>
            <a:r>
              <a:rPr b="1" sz="1200">
                <a:solidFill>
                  <a:srgbClr val="FF8200"/>
                </a:solidFill>
                <a:latin typeface="Arial"/>
              </a:rPr>
              <a:t>•  ICF:</a:t>
            </a:r>
            <a:r>
              <a:rPr sz="1200">
                <a:solidFill>
                  <a:srgbClr val="002856"/>
                </a:solidFill>
                <a:latin typeface="Arial"/>
              </a:rPr>
              <a:t> strong analytics and program design, no utility-owned asset administration</a:t>
            </a:r>
          </a:p>
          <a:p>
            <a:pPr>
              <a:spcAft>
                <a:spcPts val="600"/>
              </a:spcAft>
            </a:pPr>
            <a:r>
              <a:rPr b="1" sz="1200">
                <a:solidFill>
                  <a:srgbClr val="FF8200"/>
                </a:solidFill>
                <a:latin typeface="Arial"/>
              </a:rPr>
              <a:t>•  Stantec:</a:t>
            </a:r>
            <a:r>
              <a:rPr sz="1200">
                <a:solidFill>
                  <a:srgbClr val="002856"/>
                </a:solidFill>
                <a:latin typeface="Arial"/>
              </a:rPr>
              <a:t> engineering and infrastructure, not day-to-day program delivery</a:t>
            </a:r>
          </a:p>
          <a:p>
            <a:pPr>
              <a:spcAft>
                <a:spcPts val="600"/>
              </a:spcAft>
            </a:pPr>
            <a:r>
              <a:rPr b="1" sz="1200">
                <a:solidFill>
                  <a:srgbClr val="FF8200"/>
                </a:solidFill>
                <a:latin typeface="Arial"/>
              </a:rPr>
              <a:t>•  Proof:</a:t>
            </a:r>
            <a:r>
              <a:rPr sz="1200">
                <a:solidFill>
                  <a:srgbClr val="002856"/>
                </a:solidFill>
                <a:latin typeface="Arial"/>
              </a:rPr>
              <a:t> Green Mountain Power -- the largest utility-owned fleet in the US -- had to build this role in-house because no company sells it</a:t>
            </a:r>
          </a:p>
        </p:txBody>
      </p:sp>
      <p:sp>
        <p:nvSpPr>
          <p:cNvPr id="7" name="TextBox 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 name="TextBox 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12</a:t>
            </a:r>
          </a:p>
        </p:txBody>
      </p:sp>
    </p:spTree>
    <p:extLst>
      <p:ext uri="{BB962C8B-B14F-4D97-AF65-F5344CB8AC3E}">
        <p14:creationId xmlns:p14="http://schemas.microsoft.com/office/powerpoint/2010/main" val="35741668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81" name="TextBox 80"/>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Strategic Fit: Why This Works for APTIM</a:t>
            </a:r>
          </a:p>
        </p:txBody>
      </p:sp>
      <p:sp>
        <p:nvSpPr>
          <p:cNvPr id="82" name="Rounded Rectangle 81"/>
          <p:cNvSpPr/>
          <p:nvPr/>
        </p:nvSpPr>
        <p:spPr>
          <a:xfrm>
            <a:off x="365760" y="1005840"/>
            <a:ext cx="5577840" cy="205740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Leverages Existing Capabilities</a:t>
            </a:r>
          </a:p>
          <a:p>
            <a:r>
              <a:rPr sz="1300">
                <a:solidFill>
                  <a:srgbClr val="FFFFFF"/>
                </a:solidFill>
                <a:latin typeface="Arial"/>
              </a:rPr>
              <a:t>Program admin, contractor networks, compliance reporting -- already in-house</a:t>
            </a:r>
          </a:p>
        </p:txBody>
      </p:sp>
      <p:sp>
        <p:nvSpPr>
          <p:cNvPr id="83" name="Rounded Rectangle 82"/>
          <p:cNvSpPr/>
          <p:nvPr/>
        </p:nvSpPr>
        <p:spPr>
          <a:xfrm>
            <a:off x="6172200" y="1005840"/>
            <a:ext cx="5577840" cy="205740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Expands Into New Markets</a:t>
            </a:r>
          </a:p>
          <a:p>
            <a:r>
              <a:rPr sz="1300">
                <a:solidFill>
                  <a:srgbClr val="FFFFFF"/>
                </a:solidFill>
                <a:latin typeface="Arial"/>
              </a:rPr>
              <a:t>First-mover in an unadministered service category</a:t>
            </a:r>
          </a:p>
        </p:txBody>
      </p:sp>
      <p:sp>
        <p:nvSpPr>
          <p:cNvPr id="84" name="Rounded Rectangle 83"/>
          <p:cNvSpPr/>
          <p:nvPr/>
        </p:nvSpPr>
        <p:spPr>
          <a:xfrm>
            <a:off x="365760" y="3200400"/>
            <a:ext cx="5577840" cy="2057400"/>
          </a:xfrm>
          <a:prstGeom prst="roundRect">
            <a:avLst>
              <a:gd name="adj" fmla="val 6000"/>
            </a:avLst>
          </a:prstGeom>
          <a:solidFill>
            <a:srgbClr val="3D7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Scales Through Relationships</a:t>
            </a:r>
          </a:p>
          <a:p>
            <a:r>
              <a:rPr sz="1300">
                <a:solidFill>
                  <a:srgbClr val="FFFFFF"/>
                </a:solidFill>
                <a:latin typeface="Arial"/>
              </a:rPr>
              <a:t>Wisconsin and Louisiana already trust APTIM to deliver</a:t>
            </a:r>
          </a:p>
        </p:txBody>
      </p:sp>
      <p:sp>
        <p:nvSpPr>
          <p:cNvPr id="85" name="Rounded Rectangle 84"/>
          <p:cNvSpPr/>
          <p:nvPr/>
        </p:nvSpPr>
        <p:spPr>
          <a:xfrm>
            <a:off x="6172200" y="3200400"/>
            <a:ext cx="5577840" cy="205740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Creates Resilient Revenue</a:t>
            </a:r>
          </a:p>
          <a:p>
            <a:r>
              <a:rPr sz="1300">
                <a:solidFill>
                  <a:srgbClr val="FFFFFF"/>
                </a:solidFill>
                <a:latin typeface="Arial"/>
              </a:rPr>
              <a:t>Ratepayer-financed -- insulated from federal funding swings</a:t>
            </a:r>
          </a:p>
        </p:txBody>
      </p:sp>
      <p:sp>
        <p:nvSpPr>
          <p:cNvPr id="86" name="Rounded Rectangle 85"/>
          <p:cNvSpPr/>
          <p:nvPr/>
        </p:nvSpPr>
        <p:spPr>
          <a:xfrm>
            <a:off x="365760" y="5394960"/>
            <a:ext cx="11384280" cy="82296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i="1">
                <a:solidFill>
                  <a:srgbClr val="002856"/>
                </a:solidFill>
                <a:latin typeface="Arial"/>
              </a:rPr>
              <a:t>Existing capabilities + trusted relationships + a differentiated market position = a scalable win for APTIM.</a:t>
            </a:r>
          </a:p>
        </p:txBody>
      </p:sp>
      <p:sp>
        <p:nvSpPr>
          <p:cNvPr id="87" name="TextBox 8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8" name="TextBox 8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13</a:t>
            </a:r>
          </a:p>
        </p:txBody>
      </p:sp>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Client Use Case: Michigan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Legal pathway, feasibility, and how APTIM wins the bid</a:t>
            </a:r>
          </a:p>
        </p:txBody>
      </p:sp>
      <p:sp>
        <p:nvSpPr>
          <p:cNvPr id="4" name="TextBox 3"/>
          <p:cNvSpPr txBox="1"/>
          <p:nvPr/>
        </p:nvSpPr>
        <p:spPr>
          <a:xfrm>
            <a:off x="365760" y="1143000"/>
            <a:ext cx="5486400" cy="274320"/>
          </a:xfrm>
          <a:prstGeom prst="rect">
            <a:avLst/>
          </a:prstGeom>
          <a:noFill/>
        </p:spPr>
        <p:txBody>
          <a:bodyPr wrap="none">
            <a:spAutoFit/>
          </a:bodyPr>
          <a:lstStyle/>
          <a:p>
            <a:r>
              <a:rPr b="1" sz="1500">
                <a:solidFill>
                  <a:srgbClr val="FF8200"/>
                </a:solidFill>
                <a:latin typeface="Arial"/>
              </a:rPr>
              <a:t>Legal Pathway</a:t>
            </a:r>
          </a:p>
        </p:txBody>
      </p:sp>
      <p:sp>
        <p:nvSpPr>
          <p:cNvPr id="5" name="TextBox 4"/>
          <p:cNvSpPr txBox="1"/>
          <p:nvPr/>
        </p:nvSpPr>
        <p:spPr>
          <a:xfrm>
            <a:off x="365760" y="1508760"/>
            <a:ext cx="5486400" cy="1828800"/>
          </a:xfrm>
          <a:prstGeom prst="rect">
            <a:avLst/>
          </a:prstGeom>
          <a:noFill/>
        </p:spPr>
        <p:txBody>
          <a:bodyPr wrap="square">
            <a:spAutoFit/>
          </a:bodyPr>
          <a:lstStyle/>
          <a:p>
            <a:pPr>
              <a:spcAft>
                <a:spcPts val="800"/>
              </a:spcAft>
            </a:pPr>
            <a:r>
              <a:rPr sz="1300">
                <a:solidFill>
                  <a:srgbClr val="002856"/>
                </a:solidFill>
                <a:latin typeface="Arial"/>
              </a:rPr>
              <a:t>✓  MPSC precedent: 1,332 MW utility-owned storage approved (Mar 2026)</a:t>
            </a:r>
          </a:p>
          <a:p>
            <a:pPr>
              <a:spcAft>
                <a:spcPts val="800"/>
              </a:spcAft>
            </a:pPr>
            <a:r>
              <a:rPr sz="1300">
                <a:solidFill>
                  <a:srgbClr val="002856"/>
                </a:solidFill>
                <a:latin typeface="Arial"/>
              </a:rPr>
              <a:t>✓  PA 235 mandate: 2,500 MW statewide storage target by 2029</a:t>
            </a:r>
          </a:p>
          <a:p>
            <a:pPr>
              <a:spcAft>
                <a:spcPts val="800"/>
              </a:spcAft>
            </a:pPr>
            <a:r>
              <a:rPr sz="1300">
                <a:solidFill>
                  <a:srgbClr val="002856"/>
                </a:solidFill>
                <a:latin typeface="Arial"/>
              </a:rPr>
              <a:t>✓  Filing route: expedited DER pilot pathway (Case U-21653)</a:t>
            </a:r>
          </a:p>
        </p:txBody>
      </p:sp>
      <p:sp>
        <p:nvSpPr>
          <p:cNvPr id="6" name="TextBox 5"/>
          <p:cNvSpPr txBox="1"/>
          <p:nvPr/>
        </p:nvSpPr>
        <p:spPr>
          <a:xfrm>
            <a:off x="365760" y="3429000"/>
            <a:ext cx="5486400" cy="822960"/>
          </a:xfrm>
          <a:prstGeom prst="rect">
            <a:avLst/>
          </a:prstGeom>
          <a:noFill/>
        </p:spPr>
        <p:txBody>
          <a:bodyPr wrap="square">
            <a:spAutoFit/>
          </a:bodyPr>
          <a:lstStyle/>
          <a:p>
            <a:r>
              <a:rPr b="1" sz="1200">
                <a:solidFill>
                  <a:srgbClr val="A32036"/>
                </a:solidFill>
                <a:latin typeface="Arial"/>
              </a:rPr>
              <a:t>Known risk: </a:t>
            </a:r>
            <a:r>
              <a:rPr sz="1200">
                <a:solidFill>
                  <a:srgbClr val="002856"/>
                </a:solidFill>
                <a:latin typeface="Arial"/>
              </a:rPr>
              <a:t>DTE's prior residential battery pilot was rejected -- exact rationale unverified, case number needs docket confirmation.</a:t>
            </a:r>
          </a:p>
        </p:txBody>
      </p:sp>
      <p:sp>
        <p:nvSpPr>
          <p:cNvPr id="7" name="TextBox 6"/>
          <p:cNvSpPr txBox="1"/>
          <p:nvPr/>
        </p:nvSpPr>
        <p:spPr>
          <a:xfrm>
            <a:off x="365760" y="4343400"/>
            <a:ext cx="5486400" cy="274320"/>
          </a:xfrm>
          <a:prstGeom prst="rect">
            <a:avLst/>
          </a:prstGeom>
          <a:noFill/>
        </p:spPr>
        <p:txBody>
          <a:bodyPr wrap="none">
            <a:spAutoFit/>
          </a:bodyPr>
          <a:lstStyle/>
          <a:p>
            <a:r>
              <a:rPr b="1" sz="1500">
                <a:solidFill>
                  <a:srgbClr val="FF8200"/>
                </a:solidFill>
                <a:latin typeface="Arial"/>
              </a:rPr>
              <a:t>Why We Win the Bid</a:t>
            </a:r>
          </a:p>
        </p:txBody>
      </p:sp>
      <p:sp>
        <p:nvSpPr>
          <p:cNvPr id="8" name="TextBox 7"/>
          <p:cNvSpPr txBox="1"/>
          <p:nvPr/>
        </p:nvSpPr>
        <p:spPr>
          <a:xfrm>
            <a:off x="365760" y="4663440"/>
            <a:ext cx="5486400" cy="1005840"/>
          </a:xfrm>
          <a:prstGeom prst="rect">
            <a:avLst/>
          </a:prstGeom>
          <a:noFill/>
        </p:spPr>
        <p:txBody>
          <a:bodyPr wrap="square">
            <a:spAutoFit/>
          </a:bodyPr>
          <a:lstStyle/>
          <a:p>
            <a:pPr>
              <a:spcAft>
                <a:spcPts val="800"/>
              </a:spcAft>
            </a:pPr>
            <a:r>
              <a:rPr sz="1200">
                <a:solidFill>
                  <a:srgbClr val="002856"/>
                </a:solidFill>
                <a:latin typeface="Arial"/>
              </a:rPr>
              <a:t>✓  File as a low-exposure capped pilot, not a rate case</a:t>
            </a:r>
          </a:p>
          <a:p>
            <a:pPr>
              <a:spcAft>
                <a:spcPts val="800"/>
              </a:spcAft>
            </a:pPr>
            <a:r>
              <a:rPr sz="1200">
                <a:solidFill>
                  <a:srgbClr val="002856"/>
                </a:solidFill>
                <a:latin typeface="Arial"/>
              </a:rPr>
              <a:t>✓  APTIM brings the track record DTE lacked in 2022</a:t>
            </a:r>
          </a:p>
          <a:p>
            <a:pPr>
              <a:spcAft>
                <a:spcPts val="800"/>
              </a:spcAft>
            </a:pPr>
            <a:r>
              <a:rPr sz="1200">
                <a:solidFill>
                  <a:srgbClr val="002856"/>
                </a:solidFill>
                <a:latin typeface="Arial"/>
              </a:rPr>
              <a:t>✓  Local installer subcontracting defuses market pushback</a:t>
            </a:r>
          </a:p>
        </p:txBody>
      </p:sp>
      <p:sp>
        <p:nvSpPr>
          <p:cNvPr id="9" name="TextBox 8"/>
          <p:cNvSpPr txBox="1"/>
          <p:nvPr/>
        </p:nvSpPr>
        <p:spPr>
          <a:xfrm>
            <a:off x="6172200" y="1143000"/>
            <a:ext cx="5577840" cy="274320"/>
          </a:xfrm>
          <a:prstGeom prst="rect">
            <a:avLst/>
          </a:prstGeom>
          <a:noFill/>
        </p:spPr>
        <p:txBody>
          <a:bodyPr wrap="none">
            <a:spAutoFit/>
          </a:bodyPr>
          <a:lstStyle/>
          <a:p>
            <a:r>
              <a:rPr b="1" sz="1500">
                <a:solidFill>
                  <a:srgbClr val="FF8200"/>
                </a:solidFill>
                <a:latin typeface="Arial"/>
              </a:rPr>
              <a:t>Pros vs. Cons (Mitigated)</a:t>
            </a:r>
          </a:p>
        </p:txBody>
      </p:sp>
      <p:graphicFrame>
        <p:nvGraphicFramePr>
          <p:cNvPr id="10" name="Table 9"/>
          <p:cNvGraphicFramePr>
            <a:graphicFrameLocks noGrp="1"/>
          </p:cNvGraphicFramePr>
          <p:nvPr/>
        </p:nvGraphicFramePr>
        <p:xfrm>
          <a:off x="6172200" y="1508760"/>
          <a:ext cx="5577840" cy="1737360"/>
        </p:xfrm>
        <a:graphic>
          <a:graphicData uri="http://schemas.openxmlformats.org/drawingml/2006/table">
            <a:tbl>
              <a:tblPr firstRow="1" bandRow="1">
                <a:tableStyleId>{5C22544A-7EE6-4342-B048-85BDC9FD1C3A}</a:tableStyleId>
              </a:tblPr>
              <a:tblGrid>
                <a:gridCol w="2788920"/>
                <a:gridCol w="2788920"/>
              </a:tblGrid>
              <a:tr h="434340">
                <a:tc>
                  <a:txBody>
                    <a:bodyPr/>
                    <a:lstStyle/>
                    <a:p>
                      <a:pPr>
                        <a:defRPr sz="1100" b="1">
                          <a:solidFill>
                            <a:srgbClr val="FFFFFF"/>
                          </a:solidFill>
                          <a:latin typeface="Arial"/>
                        </a:defRPr>
                      </a:pPr>
                      <a:r>
                        <a:t>Pros</a:t>
                      </a:r>
                    </a:p>
                  </a:txBody>
                  <a:tcPr>
                    <a:solidFill>
                      <a:srgbClr val="002856"/>
                    </a:solidFill>
                  </a:tcPr>
                </a:tc>
                <a:tc>
                  <a:txBody>
                    <a:bodyPr/>
                    <a:lstStyle/>
                    <a:p>
                      <a:pPr>
                        <a:defRPr sz="1100" b="1">
                          <a:solidFill>
                            <a:srgbClr val="FFFFFF"/>
                          </a:solidFill>
                          <a:latin typeface="Arial"/>
                        </a:defRPr>
                      </a:pPr>
                      <a:r>
                        <a:t>Cons (Addressed Above)</a:t>
                      </a:r>
                    </a:p>
                  </a:txBody>
                  <a:tcPr>
                    <a:solidFill>
                      <a:srgbClr val="002856"/>
                    </a:solidFill>
                  </a:tcPr>
                </a:tc>
              </a:tr>
              <a:tr h="434340">
                <a:tc>
                  <a:txBody>
                    <a:bodyPr/>
                    <a:lstStyle/>
                    <a:p>
                      <a:pPr>
                        <a:defRPr sz="1100">
                          <a:solidFill>
                            <a:srgbClr val="002856"/>
                          </a:solidFill>
                          <a:latin typeface="Arial"/>
                        </a:defRPr>
                      </a:pPr>
                      <a:r>
                        <a:t>No statutory ban on utility DER ownership</a:t>
                      </a:r>
                    </a:p>
                  </a:txBody>
                  <a:tcPr>
                    <a:solidFill>
                      <a:srgbClr val="E9EEF5"/>
                    </a:solidFill>
                  </a:tcPr>
                </a:tc>
                <a:tc>
                  <a:txBody>
                    <a:bodyPr/>
                    <a:lstStyle/>
                    <a:p>
                      <a:pPr>
                        <a:defRPr sz="1100">
                          <a:solidFill>
                            <a:srgbClr val="002856"/>
                          </a:solidFill>
                          <a:latin typeface="Arial"/>
                        </a:defRPr>
                      </a:pPr>
                      <a:r>
                        <a:t>One prior attempt rejected</a:t>
                      </a:r>
                    </a:p>
                  </a:txBody>
                  <a:tcPr>
                    <a:solidFill>
                      <a:srgbClr val="E9EEF5"/>
                    </a:solidFill>
                  </a:tcPr>
                </a:tc>
              </a:tr>
              <a:tr h="434340">
                <a:tc>
                  <a:txBody>
                    <a:bodyPr/>
                    <a:lstStyle/>
                    <a:p>
                      <a:pPr>
                        <a:defRPr sz="1100">
                          <a:solidFill>
                            <a:srgbClr val="002856"/>
                          </a:solidFill>
                          <a:latin typeface="Arial"/>
                        </a:defRPr>
                      </a:pPr>
                      <a:r>
                        <a:t>Real 2026 utility-owned storage precedent</a:t>
                      </a:r>
                    </a:p>
                  </a:txBody>
                  <a:tcPr>
                    <a:solidFill>
                      <a:srgbClr val="FFFFFF"/>
                    </a:solidFill>
                  </a:tcPr>
                </a:tc>
                <a:tc>
                  <a:txBody>
                    <a:bodyPr/>
                    <a:lstStyle/>
                    <a:p>
                      <a:pPr>
                        <a:defRPr sz="1100">
                          <a:solidFill>
                            <a:srgbClr val="002856"/>
                          </a:solidFill>
                          <a:latin typeface="Arial"/>
                        </a:defRPr>
                      </a:pPr>
                      <a:r>
                        <a:t>Active rate-case political climate</a:t>
                      </a:r>
                    </a:p>
                  </a:txBody>
                  <a:tcPr>
                    <a:solidFill>
                      <a:srgbClr val="FFFFFF"/>
                    </a:solidFill>
                  </a:tcPr>
                </a:tc>
              </a:tr>
              <a:tr h="434340">
                <a:tc>
                  <a:txBody>
                    <a:bodyPr/>
                    <a:lstStyle/>
                    <a:p>
                      <a:pPr>
                        <a:defRPr sz="1100">
                          <a:solidFill>
                            <a:srgbClr val="002856"/>
                          </a:solidFill>
                          <a:latin typeface="Arial"/>
                        </a:defRPr>
                      </a:pPr>
                      <a:r>
                        <a:t>Purpose-built expedited pilot pathway exists</a:t>
                      </a:r>
                    </a:p>
                  </a:txBody>
                  <a:tcPr>
                    <a:solidFill>
                      <a:srgbClr val="E9EEF5"/>
                    </a:solidFill>
                  </a:tcPr>
                </a:tc>
                <a:tc>
                  <a:txBody>
                    <a:bodyPr/>
                    <a:lstStyle/>
                    <a:p>
                      <a:pPr>
                        <a:defRPr sz="1100">
                          <a:solidFill>
                            <a:srgbClr val="002856"/>
                          </a:solidFill>
                          <a:latin typeface="Arial"/>
                        </a:defRPr>
                      </a:pPr>
                      <a:r>
                        <a:t>No settled template for in-home equipment</a:t>
                      </a:r>
                    </a:p>
                  </a:txBody>
                  <a:tcPr>
                    <a:solidFill>
                      <a:srgbClr val="E9EEF5"/>
                    </a:solidFill>
                  </a:tcPr>
                </a:tc>
              </a:tr>
            </a:tbl>
          </a:graphicData>
        </a:graphic>
      </p:graphicFrame>
      <p:sp>
        <p:nvSpPr>
          <p:cNvPr id="11" name="TextBox 10"/>
          <p:cNvSpPr txBox="1"/>
          <p:nvPr/>
        </p:nvSpPr>
        <p:spPr>
          <a:xfrm>
            <a:off x="6172200" y="3429000"/>
            <a:ext cx="5577840" cy="274320"/>
          </a:xfrm>
          <a:prstGeom prst="rect">
            <a:avLst/>
          </a:prstGeom>
          <a:noFill/>
        </p:spPr>
        <p:txBody>
          <a:bodyPr wrap="none">
            <a:spAutoFit/>
          </a:bodyPr>
          <a:lstStyle/>
          <a:p>
            <a:r>
              <a:rPr b="1" sz="1500">
                <a:solidFill>
                  <a:srgbClr val="FF8200"/>
                </a:solidFill>
                <a:latin typeface="Arial"/>
              </a:rPr>
              <a:t>Timeline</a:t>
            </a:r>
          </a:p>
        </p:txBody>
      </p:sp>
      <p:sp>
        <p:nvSpPr>
          <p:cNvPr id="12" name="TextBox 11"/>
          <p:cNvSpPr txBox="1"/>
          <p:nvPr/>
        </p:nvSpPr>
        <p:spPr>
          <a:xfrm>
            <a:off x="6172200" y="3749039"/>
            <a:ext cx="5577840" cy="1920240"/>
          </a:xfrm>
          <a:prstGeom prst="rect">
            <a:avLst/>
          </a:prstGeom>
          <a:noFill/>
        </p:spPr>
        <p:txBody>
          <a:bodyPr wrap="square">
            <a:spAutoFit/>
          </a:bodyPr>
          <a:lstStyle/>
          <a:p>
            <a:pPr>
              <a:spcAft>
                <a:spcPts val="1000"/>
              </a:spcAft>
            </a:pPr>
            <a:r>
              <a:rPr b="1" sz="1200">
                <a:solidFill>
                  <a:srgbClr val="002856"/>
                </a:solidFill>
                <a:latin typeface="Arial"/>
              </a:rPr>
              <a:t>Year 1-2:</a:t>
            </a:r>
            <a:r>
              <a:rPr sz="1200">
                <a:solidFill>
                  <a:srgbClr val="002856"/>
                </a:solidFill>
                <a:latin typeface="Arial"/>
              </a:rPr>
              <a:t> Pilot filing, MPSC review, Phase 1 enrollment of qualifying homeowners</a:t>
            </a:r>
          </a:p>
          <a:p>
            <a:pPr>
              <a:spcAft>
                <a:spcPts val="1000"/>
              </a:spcAft>
            </a:pPr>
            <a:r>
              <a:rPr b="1" sz="1200">
                <a:solidFill>
                  <a:srgbClr val="002856"/>
                </a:solidFill>
                <a:latin typeface="Arial"/>
              </a:rPr>
              <a:t>Year 2-3:</a:t>
            </a:r>
            <a:r>
              <a:rPr sz="1200">
                <a:solidFill>
                  <a:srgbClr val="002856"/>
                </a:solidFill>
                <a:latin typeface="Arial"/>
              </a:rPr>
              <a:t> Fleet operational; results support a follow-on rate case</a:t>
            </a:r>
          </a:p>
          <a:p>
            <a:pPr>
              <a:spcAft>
                <a:spcPts val="1000"/>
              </a:spcAft>
            </a:pPr>
            <a:r>
              <a:rPr b="1" sz="1200">
                <a:solidFill>
                  <a:srgbClr val="002856"/>
                </a:solidFill>
                <a:latin typeface="Arial"/>
              </a:rPr>
              <a:t>Honest note:</a:t>
            </a:r>
            <a:r>
              <a:rPr sz="1200">
                <a:solidFill>
                  <a:srgbClr val="002856"/>
                </a:solidFill>
                <a:latin typeface="Arial"/>
              </a:rPr>
              <a:t> full-scale rate-basing may extend past year 3 -- pilot operation is the 1-3 year deliverable</a:t>
            </a:r>
          </a:p>
        </p:txBody>
      </p:sp>
      <p:sp>
        <p:nvSpPr>
          <p:cNvPr id="13" name="Rounded Rectangle 12"/>
          <p:cNvSpPr/>
          <p:nvPr/>
        </p:nvSpPr>
        <p:spPr>
          <a:xfrm>
            <a:off x="365760" y="5806440"/>
            <a:ext cx="11384280" cy="594360"/>
          </a:xfrm>
          <a:prstGeom prst="roundRect">
            <a:avLst/>
          </a:prstGeom>
          <a:solidFill>
            <a:srgbClr val="E0F2F1"/>
          </a:solidFill>
          <a:ln w="12700">
            <a:solidFill>
              <a:srgbClr val="00A19B"/>
            </a:solidFill>
          </a:ln>
        </p:spPr>
        <p:style>
          <a:lnRef idx="1">
            <a:schemeClr val="accent1"/>
          </a:lnRef>
          <a:fillRef idx="3">
            <a:schemeClr val="accent1"/>
          </a:fillRef>
          <a:effectRef idx="2">
            <a:schemeClr val="accent1"/>
          </a:effectRef>
          <a:fontRef idx="minor">
            <a:schemeClr val="lt1"/>
          </a:fontRef>
        </p:style>
        <p:txBody>
          <a:bodyPr rtlCol="0" anchor="ctr" wrap="square" lIns="182880" tIns="54864"/>
          <a:lstStyle/>
          <a:p>
            <a:pPr algn="ctr"/>
            <a:r>
              <a:rPr b="1" sz="1100">
                <a:solidFill>
                  <a:srgbClr val="002856"/>
                </a:solidFill>
                <a:latin typeface="Arial"/>
              </a:rPr>
              <a:t>Answers the prompt: </a:t>
            </a:r>
            <a:r>
              <a:rPr sz="1100">
                <a:solidFill>
                  <a:srgbClr val="002856"/>
                </a:solidFill>
                <a:latin typeface="Arial"/>
              </a:rPr>
              <a:t>no new technology | single client group | leverages APTIM capabilities | 1-3 year feasibility | scalable</a:t>
            </a:r>
          </a:p>
        </p:txBody>
      </p:sp>
      <p:sp>
        <p:nvSpPr>
          <p:cNvPr id="14" name="TextBox 13"/>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5" name="TextBox 14"/>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14</a:t>
            </a:r>
          </a:p>
        </p:txBody>
      </p:sp>
    </p:spTree>
    <p:extLst>
      <p:ext uri="{BB962C8B-B14F-4D97-AF65-F5344CB8AC3E}">
        <p14:creationId xmlns:p14="http://schemas.microsoft.com/office/powerpoint/2010/main" val="12628144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Future / Scaling</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One pilot, then a repeatable path to every state where APTIM already operates</a:t>
            </a:r>
          </a:p>
        </p:txBody>
      </p:sp>
      <p:sp>
        <p:nvSpPr>
          <p:cNvPr id="4" name="Rounded Rectangle 3"/>
          <p:cNvSpPr/>
          <p:nvPr/>
        </p:nvSpPr>
        <p:spPr>
          <a:xfrm>
            <a:off x="457200" y="1463040"/>
            <a:ext cx="3483864" cy="283464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1</a:t>
            </a:r>
          </a:p>
          <a:p>
            <a:pPr>
              <a:spcAft>
                <a:spcPts val="1000"/>
              </a:spcAft>
            </a:pPr>
            <a:r>
              <a:rPr b="1" sz="1700">
                <a:solidFill>
                  <a:srgbClr val="FFFFFF"/>
                </a:solidFill>
                <a:latin typeface="Arial"/>
              </a:rPr>
              <a:t>Michigan Pilot</a:t>
            </a:r>
          </a:p>
          <a:p>
            <a:r>
              <a:rPr sz="1200">
                <a:solidFill>
                  <a:srgbClr val="FFFFFF"/>
                </a:solidFill>
                <a:latin typeface="Arial"/>
              </a:rPr>
              <a:t>Prove the model: technology, ownership structure, and regulatory pathway</a:t>
            </a:r>
          </a:p>
        </p:txBody>
      </p:sp>
      <p:sp>
        <p:nvSpPr>
          <p:cNvPr id="5" name="Rounded Rectangle 4"/>
          <p:cNvSpPr/>
          <p:nvPr/>
        </p:nvSpPr>
        <p:spPr>
          <a:xfrm>
            <a:off x="4352544" y="1463040"/>
            <a:ext cx="3483864" cy="283464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FFFF"/>
                </a:solidFill>
                <a:latin typeface="Arial"/>
              </a:rPr>
              <a:t>Phase 2</a:t>
            </a:r>
          </a:p>
          <a:p>
            <a:pPr>
              <a:spcAft>
                <a:spcPts val="1000"/>
              </a:spcAft>
            </a:pPr>
            <a:r>
              <a:rPr b="1" sz="1700">
                <a:solidFill>
                  <a:srgbClr val="FFFFFF"/>
                </a:solidFill>
                <a:latin typeface="Arial"/>
              </a:rPr>
              <a:t>Existing Relationships</a:t>
            </a:r>
          </a:p>
          <a:p>
            <a:r>
              <a:rPr sz="1200">
                <a:solidFill>
                  <a:srgbClr val="FFFFFF"/>
                </a:solidFill>
                <a:latin typeface="Arial"/>
              </a:rPr>
              <a:t>Wisconsin (Focus on Energy) and Louisiana (Entergy) -- fastest path, APTIM already has the seat</a:t>
            </a:r>
          </a:p>
        </p:txBody>
      </p:sp>
      <p:sp>
        <p:nvSpPr>
          <p:cNvPr id="6" name="Rounded Rectangle 5"/>
          <p:cNvSpPr/>
          <p:nvPr/>
        </p:nvSpPr>
        <p:spPr>
          <a:xfrm>
            <a:off x="8247888" y="1463040"/>
            <a:ext cx="3483864" cy="283464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3</a:t>
            </a:r>
          </a:p>
          <a:p>
            <a:pPr>
              <a:spcAft>
                <a:spcPts val="1000"/>
              </a:spcAft>
            </a:pPr>
            <a:r>
              <a:rPr b="1" sz="1700">
                <a:solidFill>
                  <a:srgbClr val="FFFFFF"/>
                </a:solidFill>
                <a:latin typeface="Arial"/>
              </a:rPr>
              <a:t>Mandate-Heavy Markets</a:t>
            </a:r>
          </a:p>
          <a:p>
            <a:r>
              <a:rPr sz="1200">
                <a:solidFill>
                  <a:srgbClr val="FFFFFF"/>
                </a:solidFill>
                <a:latin typeface="Arial"/>
              </a:rPr>
              <a:t>States with storage mandates + vertically integrated utilities -- validated criteria, new markets</a:t>
            </a:r>
          </a:p>
        </p:txBody>
      </p:sp>
      <p:sp>
        <p:nvSpPr>
          <p:cNvPr id="7" name="TextBox 6"/>
          <p:cNvSpPr txBox="1"/>
          <p:nvPr/>
        </p:nvSpPr>
        <p:spPr>
          <a:xfrm>
            <a:off x="3986784" y="2651760"/>
            <a:ext cx="320040" cy="457200"/>
          </a:xfrm>
          <a:prstGeom prst="rect">
            <a:avLst/>
          </a:prstGeom>
          <a:noFill/>
        </p:spPr>
        <p:txBody>
          <a:bodyPr wrap="none">
            <a:spAutoFit/>
          </a:bodyPr>
          <a:lstStyle/>
          <a:p>
            <a:pPr algn="ctr"/>
            <a:r>
              <a:rPr sz="2200" b="1">
                <a:solidFill>
                  <a:srgbClr val="002856"/>
                </a:solidFill>
              </a:rPr>
              <a:t>→</a:t>
            </a:r>
          </a:p>
        </p:txBody>
      </p:sp>
      <p:sp>
        <p:nvSpPr>
          <p:cNvPr id="8" name="TextBox 7"/>
          <p:cNvSpPr txBox="1"/>
          <p:nvPr/>
        </p:nvSpPr>
        <p:spPr>
          <a:xfrm>
            <a:off x="7882128" y="2651760"/>
            <a:ext cx="320040" cy="457200"/>
          </a:xfrm>
          <a:prstGeom prst="rect">
            <a:avLst/>
          </a:prstGeom>
          <a:noFill/>
        </p:spPr>
        <p:txBody>
          <a:bodyPr wrap="none">
            <a:spAutoFit/>
          </a:bodyPr>
          <a:lstStyle/>
          <a:p>
            <a:pPr algn="ctr"/>
            <a:r>
              <a:rPr sz="2200" b="1">
                <a:solidFill>
                  <a:srgbClr val="002856"/>
                </a:solidFill>
              </a:rPr>
              <a:t>→</a:t>
            </a:r>
          </a:p>
        </p:txBody>
      </p:sp>
      <p:sp>
        <p:nvSpPr>
          <p:cNvPr id="9" name="Rounded Rectangle 8"/>
          <p:cNvSpPr/>
          <p:nvPr/>
        </p:nvSpPr>
        <p:spPr>
          <a:xfrm>
            <a:off x="457200" y="4572000"/>
            <a:ext cx="10972800" cy="118872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300">
                <a:solidFill>
                  <a:srgbClr val="002856"/>
                </a:solidFill>
                <a:latin typeface="Arial"/>
              </a:rPr>
              <a:t>Scaling logic: </a:t>
            </a:r>
            <a:r>
              <a:rPr sz="1300">
                <a:solidFill>
                  <a:srgbClr val="002856"/>
                </a:solidFill>
                <a:latin typeface="Arial"/>
              </a:rPr>
              <a:t>each new state is evaluated on the same criteria that selected Michigan -- storage mandate, vertically integrated ownership structure, and real outage/reliability need.</a:t>
            </a:r>
          </a:p>
        </p:txBody>
      </p:sp>
      <p:sp>
        <p:nvSpPr>
          <p:cNvPr id="10" name="TextBox 9"/>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1" name="TextBox 10"/>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15</a:t>
            </a:r>
          </a:p>
        </p:txBody>
      </p:sp>
    </p:spTree>
    <p:extLst>
      <p:ext uri="{BB962C8B-B14F-4D97-AF65-F5344CB8AC3E}">
        <p14:creationId xmlns:p14="http://schemas.microsoft.com/office/powerpoint/2010/main" val="16474001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How APTIM Wins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Four reasons this is APTIM's opportunity to take</a:t>
            </a:r>
          </a:p>
        </p:txBody>
      </p:sp>
      <p:sp>
        <p:nvSpPr>
          <p:cNvPr id="4" name="Rounded Rectangle 3"/>
          <p:cNvSpPr/>
          <p:nvPr/>
        </p:nvSpPr>
        <p:spPr>
          <a:xfrm>
            <a:off x="457200" y="1463040"/>
            <a:ext cx="5394960" cy="210312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Proven Large-Scale Delivery</a:t>
            </a:r>
          </a:p>
          <a:p>
            <a:r>
              <a:rPr sz="1200">
                <a:solidFill>
                  <a:srgbClr val="FFFFFF"/>
                </a:solidFill>
                <a:latin typeface="Arial"/>
              </a:rPr>
              <a:t>$3B+ in rebates delivered, $75M+ in annual incentives administered across multiple states</a:t>
            </a:r>
          </a:p>
        </p:txBody>
      </p:sp>
      <p:sp>
        <p:nvSpPr>
          <p:cNvPr id="5" name="Rounded Rectangle 4"/>
          <p:cNvSpPr/>
          <p:nvPr/>
        </p:nvSpPr>
        <p:spPr>
          <a:xfrm>
            <a:off x="6309360" y="1463040"/>
            <a:ext cx="5394960" cy="210312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Integrated Capability</a:t>
            </a:r>
          </a:p>
          <a:p>
            <a:r>
              <a:rPr sz="1200">
                <a:solidFill>
                  <a:srgbClr val="FFFFFF"/>
                </a:solidFill>
                <a:latin typeface="Arial"/>
              </a:rPr>
              <a:t>Combines program implementation, analytics, and infrastructure expertise no single competitor offers together</a:t>
            </a:r>
          </a:p>
        </p:txBody>
      </p:sp>
      <p:sp>
        <p:nvSpPr>
          <p:cNvPr id="6" name="Rounded Rectangle 5"/>
          <p:cNvSpPr/>
          <p:nvPr/>
        </p:nvSpPr>
        <p:spPr>
          <a:xfrm>
            <a:off x="457200" y="3794760"/>
            <a:ext cx="5394960" cy="210312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Track Record That Matters</a:t>
            </a:r>
          </a:p>
          <a:p>
            <a:r>
              <a:rPr sz="1200">
                <a:solidFill>
                  <a:srgbClr val="FFFFFF"/>
                </a:solidFill>
                <a:latin typeface="Arial"/>
              </a:rPr>
              <a:t>Focus on Energy (Wisconsin) since 2010, Energy Smart (Louisiana) since 2017 -- proven resilience and compliance delivery</a:t>
            </a:r>
          </a:p>
        </p:txBody>
      </p:sp>
      <p:sp>
        <p:nvSpPr>
          <p:cNvPr id="7" name="Rounded Rectangle 6"/>
          <p:cNvSpPr/>
          <p:nvPr/>
        </p:nvSpPr>
        <p:spPr>
          <a:xfrm>
            <a:off x="6309360" y="3794760"/>
            <a:ext cx="5394960" cy="2103120"/>
          </a:xfrm>
          <a:prstGeom prst="roundRect">
            <a:avLst>
              <a:gd name="adj" fmla="val 6000"/>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First Mover, Empty Market</a:t>
            </a:r>
          </a:p>
          <a:p>
            <a:r>
              <a:rPr sz="1200">
                <a:solidFill>
                  <a:srgbClr val="FFFFFF"/>
                </a:solidFill>
                <a:latin typeface="Arial"/>
              </a:rPr>
              <a:t>No company today administers utility-owned residential battery fleets end-to-end -- APTIM would be first</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16</a:t>
            </a:r>
          </a:p>
        </p:txBody>
      </p:sp>
    </p:spTree>
    <p:extLst>
      <p:ext uri="{BB962C8B-B14F-4D97-AF65-F5344CB8AC3E}">
        <p14:creationId xmlns:p14="http://schemas.microsoft.com/office/powerpoint/2010/main" val="38799359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17</a:t>
            </a:fld>
            <a:endParaRPr lang="en-US"/>
          </a:p>
        </p:txBody>
      </p:sp>
    </p:spTree>
    <p:extLst>
      <p:ext uri="{BB962C8B-B14F-4D97-AF65-F5344CB8AC3E}">
        <p14:creationId xmlns:p14="http://schemas.microsoft.com/office/powerpoint/2010/main" val="24153850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20</a:t>
            </a:fld>
            <a:endParaRPr lang="en-US"/>
          </a:p>
        </p:txBody>
      </p:sp>
    </p:spTree>
    <p:extLst>
      <p:ext uri="{BB962C8B-B14F-4D97-AF65-F5344CB8AC3E}">
        <p14:creationId xmlns:p14="http://schemas.microsoft.com/office/powerpoint/2010/main" val="32650049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19</a:t>
            </a:fld>
            <a:endParaRPr lang="en-US"/>
          </a:p>
        </p:txBody>
      </p:sp>
    </p:spTree>
    <p:extLst>
      <p:ext uri="{BB962C8B-B14F-4D97-AF65-F5344CB8AC3E}">
        <p14:creationId xmlns:p14="http://schemas.microsoft.com/office/powerpoint/2010/main" val="17188323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25084529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26657812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23</a:t>
            </a:fld>
            <a:endParaRPr lang="en-US"/>
          </a:p>
        </p:txBody>
      </p:sp>
    </p:spTree>
    <p:extLst>
      <p:ext uri="{BB962C8B-B14F-4D97-AF65-F5344CB8AC3E}">
        <p14:creationId xmlns:p14="http://schemas.microsoft.com/office/powerpoint/2010/main" val="423960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B71B"/>
                </a:highlight>
                <a:latin typeface="Arial"/>
                <a:cs typeface="Arial"/>
              </a:rPr>
              <a:t>– Problem Definition (Pain point)</a:t>
            </a:r>
          </a:p>
          <a:p>
            <a:pPr marL="233045" indent="-233045">
              <a:buNone/>
            </a:pPr>
            <a:r>
              <a:rPr lang="en-US">
                <a:highlight>
                  <a:srgbClr val="FFB71B"/>
                </a:highlight>
                <a:latin typeface="Arial"/>
                <a:cs typeface="Arial"/>
              </a:rPr>
              <a:t>– Market/Policy Analysis: (current state, changes impacting space)</a:t>
            </a:r>
          </a:p>
          <a:p>
            <a:pPr marL="233045" indent="-233045">
              <a:buNone/>
            </a:pPr>
            <a:r>
              <a:rPr lang="en-US">
                <a:highlight>
                  <a:srgbClr val="FFB71B"/>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24</a:t>
            </a:fld>
            <a:endParaRPr lang="en-US"/>
          </a:p>
        </p:txBody>
      </p:sp>
    </p:spTree>
    <p:extLst>
      <p:ext uri="{BB962C8B-B14F-4D97-AF65-F5344CB8AC3E}">
        <p14:creationId xmlns:p14="http://schemas.microsoft.com/office/powerpoint/2010/main" val="622591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25</a:t>
            </a:fld>
            <a:endParaRPr lang="en-US"/>
          </a:p>
        </p:txBody>
      </p:sp>
    </p:spTree>
    <p:extLst>
      <p:ext uri="{BB962C8B-B14F-4D97-AF65-F5344CB8AC3E}">
        <p14:creationId xmlns:p14="http://schemas.microsoft.com/office/powerpoint/2010/main" val="1452315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26</a:t>
            </a:fld>
            <a:endParaRPr lang="en-US"/>
          </a:p>
        </p:txBody>
      </p:sp>
    </p:spTree>
    <p:extLst>
      <p:ext uri="{BB962C8B-B14F-4D97-AF65-F5344CB8AC3E}">
        <p14:creationId xmlns:p14="http://schemas.microsoft.com/office/powerpoint/2010/main" val="17543130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27</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28</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29</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30</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002856"/>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002856"/>
              </a:solidFill>
            </a:endParaRPr>
          </a:p>
          <a:p>
            <a:pPr marL="233045" indent="-233045"/>
            <a:r>
              <a:rPr lang="en-US" sz="1600">
                <a:solidFill>
                  <a:srgbClr val="002856"/>
                </a:solidFill>
              </a:rPr>
              <a:t>Scales Through Existing Relationships </a:t>
            </a:r>
          </a:p>
          <a:p>
            <a:pPr marL="574357" lvl="1" indent="-233045"/>
            <a:r>
              <a:rPr lang="en-US" sz="1400">
                <a:solidFill>
                  <a:srgbClr val="002856"/>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002856"/>
              </a:solidFill>
            </a:endParaRPr>
          </a:p>
          <a:p>
            <a:pPr marL="233045" indent="-233045"/>
            <a:r>
              <a:rPr lang="en-US" sz="1600">
                <a:solidFill>
                  <a:srgbClr val="002856"/>
                </a:solidFill>
              </a:rPr>
              <a:t>Creates More Resilient Revenue Streams</a:t>
            </a:r>
          </a:p>
          <a:p>
            <a:pPr marL="574357" lvl="1" indent="-233045"/>
            <a:r>
              <a:rPr lang="en-US" sz="1400">
                <a:solidFill>
                  <a:srgbClr val="002856"/>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002856"/>
                </a:solidFill>
              </a:rPr>
              <a:t>Bottom Text to highlight point</a:t>
            </a:r>
          </a:p>
          <a:p>
            <a:pPr marL="574357" lvl="1" indent="-233045"/>
            <a:r>
              <a:rPr lang="en-US" b="1">
                <a:solidFill>
                  <a:srgbClr val="002856"/>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002856"/>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31</a:t>
            </a:fld>
            <a:endParaRPr lang="en-US"/>
          </a:p>
        </p:txBody>
      </p:sp>
    </p:spTree>
    <p:extLst>
      <p:ext uri="{BB962C8B-B14F-4D97-AF65-F5344CB8AC3E}">
        <p14:creationId xmlns:p14="http://schemas.microsoft.com/office/powerpoint/2010/main" val="27049970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32</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33</a:t>
            </a:fld>
            <a:endParaRPr lang="en-US"/>
          </a:p>
        </p:txBody>
      </p:sp>
    </p:spTree>
    <p:extLst>
      <p:ext uri="{BB962C8B-B14F-4D97-AF65-F5344CB8AC3E}">
        <p14:creationId xmlns:p14="http://schemas.microsoft.com/office/powerpoint/2010/main" val="23005613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28936045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20555952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36</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37</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38</a:t>
            </a:fld>
            <a:endParaRPr lang="en-US"/>
          </a:p>
        </p:txBody>
      </p:sp>
    </p:spTree>
    <p:extLst>
      <p:ext uri="{BB962C8B-B14F-4D97-AF65-F5344CB8AC3E}">
        <p14:creationId xmlns:p14="http://schemas.microsoft.com/office/powerpoint/2010/main" val="18627052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39</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40</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41</a:t>
            </a:fld>
            <a:endParaRPr lang="en-US"/>
          </a:p>
        </p:txBody>
      </p:sp>
    </p:spTree>
    <p:extLst>
      <p:ext uri="{BB962C8B-B14F-4D97-AF65-F5344CB8AC3E}">
        <p14:creationId xmlns:p14="http://schemas.microsoft.com/office/powerpoint/2010/main" val="31559748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42</a:t>
            </a:fld>
            <a:endParaRPr lang="en-US"/>
          </a:p>
        </p:txBody>
      </p:sp>
    </p:spTree>
    <p:extLst>
      <p:ext uri="{BB962C8B-B14F-4D97-AF65-F5344CB8AC3E}">
        <p14:creationId xmlns:p14="http://schemas.microsoft.com/office/powerpoint/2010/main" val="38976463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43</a:t>
            </a:fld>
            <a:endParaRPr lang="en-US"/>
          </a:p>
        </p:txBody>
      </p:sp>
    </p:spTree>
    <p:extLst>
      <p:ext uri="{BB962C8B-B14F-4D97-AF65-F5344CB8AC3E}">
        <p14:creationId xmlns:p14="http://schemas.microsoft.com/office/powerpoint/2010/main" val="17140140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44</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38485812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46</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47</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002856"/>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48</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daf5a3b8-19fe-4aaf-8551-0b725c993cda" ContentTypeId="0x0101" PreviousValue="false"/>
</file>

<file path=customXml/item2.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2.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2A3605C4-03E5-4AAA-A5E9-706881023D5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48</Slides>
  <Notes>14</Notes>
  <HiddenSlides>6</HiddenSlides>
  <ScaleCrop>false</ScaleCrop>
  <HeadingPairs>
    <vt:vector size="4" baseType="variant">
      <vt:variant>
        <vt:lpstr>Theme</vt:lpstr>
      </vt:variant>
      <vt:variant>
        <vt:i4>2</vt:i4>
      </vt:variant>
      <vt:variant>
        <vt:lpstr>Slide Titles</vt:lpstr>
      </vt:variant>
      <vt:variant>
        <vt:i4>48</vt:i4>
      </vt:variant>
    </vt:vector>
  </HeadingPairs>
  <TitlesOfParts>
    <vt:vector size="50" baseType="lpstr">
      <vt:lpstr>1_APTIM THEME</vt:lpstr>
      <vt:lpstr>2_APTIM THEME TITLES</vt:lpstr>
      <vt:lpstr>Evolving Energy Programs Under Funding Uncertainty</vt:lpstr>
      <vt:lpstr>The Dream Team</vt:lpstr>
      <vt:lpstr>The Problem </vt:lpstr>
      <vt:lpstr>Pain Point</vt:lpstr>
      <vt:lpstr>Key Goals</vt:lpstr>
      <vt:lpstr>Market Analysis</vt:lpstr>
      <vt:lpstr>Market Analysis Cont</vt:lpstr>
      <vt:lpstr>Competitive Landscape (update with research)</vt:lpstr>
      <vt:lpstr>Competitive Landscape (update with new research) </vt:lpstr>
      <vt:lpstr>National Competitive Landscape</vt:lpstr>
      <vt:lpstr>How  APTIM Wins</vt:lpstr>
      <vt:lpstr>PowerPoint Presentation</vt:lpstr>
      <vt:lpstr>PowerPoint Presentation</vt:lpstr>
      <vt:lpstr>Strategic Fit (edit with notes)</vt:lpstr>
      <vt:lpstr>Client Use Case: Michigan </vt:lpstr>
      <vt:lpstr>Future/Scaling</vt:lpstr>
      <vt:lpstr>Thank you!</vt:lpstr>
      <vt:lpstr>PowerPoint Presentation</vt:lpstr>
      <vt:lpstr>PowerPoint Presentation</vt:lpstr>
      <vt:lpstr>Appendix</vt:lpstr>
      <vt:lpstr>Goal of presentation </vt:lpstr>
      <vt:lpstr>Given big blurb</vt:lpstr>
      <vt:lpstr>Given Scope Focus</vt:lpstr>
      <vt:lpstr>Given Output</vt:lpstr>
      <vt:lpstr>The Problem </vt:lpstr>
      <vt:lpstr>The Problem </vt:lpstr>
      <vt:lpstr>PowerPoint Presentation</vt:lpstr>
      <vt:lpstr>Project Scope</vt:lpstr>
      <vt:lpstr>Strategic Fit (format needs fix) (merge slides)  </vt:lpstr>
      <vt:lpstr>Strategic Fit (format needs fix) (merge slides)  </vt:lpstr>
      <vt:lpstr>Strategic Fit (fix wording/choose format) </vt:lpstr>
      <vt:lpstr>Project Scope</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3</cp:revision>
  <dcterms:created xsi:type="dcterms:W3CDTF">2026-06-05T13:41:22Z</dcterms:created>
  <dcterms:modified xsi:type="dcterms:W3CDTF">2026-07-24T13:29:24Z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
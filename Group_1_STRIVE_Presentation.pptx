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 id="2147483660" r:id="rId6"/>
  </p:sldMasterIdLst>
  <p:notesMasterIdLst>
    <p:notesMasterId r:id="rId55"/>
  </p:notesMasterIdLst>
  <p:sldIdLst>
    <p:sldId id="261" r:id="rId7"/>
    <p:sldId id="563" r:id="rId8"/>
    <p:sldId id="567" r:id="rId9"/>
    <p:sldId id="571" r:id="rId10"/>
    <p:sldId id="569" r:id="rId11"/>
    <p:sldId id="256" r:id="rId19"/>
    <p:sldId id="295" r:id="rId12"/>
    <p:sldId id="576" r:id="rId13"/>
    <p:sldId id="579" r:id="rId62"/>
    <p:sldId id="258" r:id="rId18"/>
    <p:sldId id="580" r:id="rId63"/>
    <p:sldId id="304" r:id="rId14"/>
    <p:sldId id="575" r:id="rId20"/>
    <p:sldId id="299" r:id="rId21"/>
    <p:sldId id="573" r:id="rId22"/>
    <p:sldId id="578" r:id="rId17"/>
    <p:sldId id="570" r:id="rId23"/>
    <p:sldId id="577" r:id="rId26"/>
    <p:sldId id="296" r:id="rId25"/>
    <p:sldId id="300" r:id="rId27"/>
    <p:sldId id="302" r:id="rId28"/>
    <p:sldId id="275" r:id="rId29"/>
    <p:sldId id="292" r:id="rId30"/>
    <p:sldId id="307" r:id="rId31"/>
    <p:sldId id="565" r:id="rId32"/>
    <p:sldId id="566" r:id="rId33"/>
    <p:sldId id="564" r:id="rId34"/>
    <p:sldId id="574" r:id="rId35"/>
    <p:sldId id="572" r:id="rId36"/>
    <p:sldId id="297" r:id="rId37"/>
    <p:sldId id="568"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D096BDF2-302C-458D-8E99-977910712164}">
          <p14:sldIdLst>
            <p14:sldId id="261"/>
            <p14:sldId id="563"/>
            <p14:sldId id="567"/>
            <p14:sldId id="571"/>
            <p14:sldId id="569"/>
            <p14:sldId id="295"/>
            <p14:sldId id="576"/>
            <p14:sldId id="304"/>
            <p14:sldId id="305"/>
            <p14:sldId id="306"/>
            <p14:sldId id="578"/>
            <p14:sldId id="258"/>
            <p14:sldId id="256"/>
            <p14:sldId id="575"/>
            <p14:sldId id="299"/>
            <p14:sldId id="573"/>
            <p14:sldId id="570"/>
            <p14:sldId id="274"/>
          </p14:sldIdLst>
        </p14:section>
        <p14:section name="Draft/Prompt Slides" id="{C2FC1F15-DB02-426B-B197-995664422535}">
          <p14:sldIdLst>
            <p14:sldId id="296"/>
            <p14:sldId id="577"/>
            <p14:sldId id="300"/>
            <p14:sldId id="302"/>
            <p14:sldId id="275"/>
            <p14:sldId id="292"/>
            <p14:sldId id="307"/>
            <p14:sldId id="565"/>
            <p14:sldId id="566"/>
            <p14:sldId id="564"/>
            <p14:sldId id="574"/>
            <p14:sldId id="572"/>
            <p14:sldId id="297"/>
            <p14:sldId id="568"/>
          </p14:sldIdLst>
        </p14:section>
        <p14:section name="APTIM Slides" id="{8173148A-A6F9-4113-81F7-ECE031B97E68}">
          <p14:sldIdLst>
            <p14:sldId id="285"/>
            <p14:sldId id="279"/>
            <p14:sldId id="281"/>
            <p14:sldId id="282"/>
            <p14:sldId id="283"/>
            <p14:sldId id="284"/>
            <p14:sldId id="291"/>
            <p14:sldId id="287"/>
            <p14:sldId id="288"/>
            <p14:sldId id="290"/>
            <p14:sldId id="264"/>
            <p14:sldId id="289"/>
            <p14:sldId id="276"/>
            <p14:sldId id="277"/>
            <p14:sldId id="267"/>
            <p14:sldId id="27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8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F6F54F-9B34-1888-7193-6073DFC88332}" v="115" dt="2026-07-22T18:29:47.015"/>
    <p1510:client id="{59249B63-8882-4CDB-BAD3-FE5B1693C1FE}" v="18" dt="2026-07-23T17:11:14.234"/>
    <p1510:client id="{787387E4-86D2-7F9E-74B5-464197686477}" v="1339" dt="2026-07-22T17:24:50.303"/>
    <p1510:client id="{8559E0C1-5AA9-E0A4-05E5-01378189A90D}" v="84" dt="2026-07-23T19:55:07.856"/>
    <p1510:client id="{A71D0A26-5D96-CD32-CFD7-A66CE5B6B761}" v="82" dt="2026-07-22T21:09:59.070"/>
    <p1510:client id="{ED18C9C9-4FC3-F97B-D3FB-0B2224BC2A8A}" v="17" dt="2026-07-23T12:34:00.7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12.xml"/><Relationship Id="rId17" Type="http://schemas.openxmlformats.org/officeDocument/2006/relationships/slide" Target="slides/slide16.xml"/><Relationship Id="rId18" Type="http://schemas.openxmlformats.org/officeDocument/2006/relationships/slide" Target="slides/slide10.xml"/><Relationship Id="rId19" Type="http://schemas.openxmlformats.org/officeDocument/2006/relationships/slide" Target="slides/slide6.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7.xml"/><Relationship Id="rId24" Type="http://schemas.openxmlformats.org/officeDocument/2006/relationships/slide" Target="slides/slide19.xml"/><Relationship Id="rId25" Type="http://schemas.openxmlformats.org/officeDocument/2006/relationships/slide" Target="slides/slide19.xml"/><Relationship Id="rId26" Type="http://schemas.openxmlformats.org/officeDocument/2006/relationships/slide" Target="slides/slide18.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microsoft.com/office/2015/10/relationships/revisionInfo" Target="revisionInfo.xml"/><Relationship Id="rId61" Type="http://schemas.microsoft.com/office/2018/10/relationships/authors" Target="authors.xml"/><Relationship Id="rId62" Type="http://schemas.openxmlformats.org/officeDocument/2006/relationships/slide" Target="slides/slide9.xml"/><Relationship Id="rId63" Type="http://schemas.openxmlformats.org/officeDocument/2006/relationships/slide" Target="slides/slide1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235E784-6F17-44A8-A786-4C9580DEBC54}"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US"/>
        </a:p>
      </dgm:t>
    </dgm:pt>
    <dgm:pt modelId="{DDFE7638-8CD1-43E1-9B31-D548E5206749}">
      <dgm:prSet phldrT="[Text]" phldr="0"/>
      <dgm:spPr/>
      <dgm:t>
        <a:bodyPr/>
        <a:lstStyle/>
        <a:p>
          <a:r>
            <a:rPr lang="en-US"/>
            <a:t>Constraints </a:t>
          </a:r>
        </a:p>
      </dgm:t>
    </dgm:pt>
    <dgm:pt modelId="{3EF4084A-28ED-4AFF-9A20-403A524C0BE8}" type="parTrans" cxnId="{5AC8A6D6-0168-4073-A3C8-296184BF2B20}">
      <dgm:prSet/>
      <dgm:spPr/>
      <dgm:t>
        <a:bodyPr/>
        <a:lstStyle/>
        <a:p>
          <a:endParaRPr lang="en-US"/>
        </a:p>
      </dgm:t>
    </dgm:pt>
    <dgm:pt modelId="{CB41EE61-C508-4F62-BC6F-D1BE622726B2}" type="sibTrans" cxnId="{5AC8A6D6-0168-4073-A3C8-296184BF2B20}">
      <dgm:prSet/>
      <dgm:spPr/>
      <dgm:t>
        <a:bodyPr/>
        <a:lstStyle/>
        <a:p>
          <a:endParaRPr lang="en-US"/>
        </a:p>
      </dgm:t>
    </dgm:pt>
    <dgm:pt modelId="{BD88967C-5EE0-446C-A30E-AEE06FB40E5B}">
      <dgm:prSet phldrT="[Text]" phldr="0"/>
      <dgm:spPr/>
      <dgm:t>
        <a:bodyPr/>
        <a:lstStyle/>
        <a:p>
          <a:r>
            <a:rPr lang="en-US"/>
            <a:t>Federal Funding Uncertainty</a:t>
          </a:r>
        </a:p>
      </dgm:t>
    </dgm:pt>
    <dgm:pt modelId="{22DAFC6F-7008-456A-B428-0D8390473261}" type="parTrans" cxnId="{57550FDD-BD11-494F-A99B-332B69B2719F}">
      <dgm:prSet/>
      <dgm:spPr/>
      <dgm:t>
        <a:bodyPr/>
        <a:lstStyle/>
        <a:p>
          <a:endParaRPr lang="en-US"/>
        </a:p>
      </dgm:t>
    </dgm:pt>
    <dgm:pt modelId="{AD1D2F9B-31FF-4173-941C-195906D11917}" type="sibTrans" cxnId="{57550FDD-BD11-494F-A99B-332B69B2719F}">
      <dgm:prSet/>
      <dgm:spPr/>
      <dgm:t>
        <a:bodyPr/>
        <a:lstStyle/>
        <a:p>
          <a:endParaRPr lang="en-US"/>
        </a:p>
      </dgm:t>
    </dgm:pt>
    <dgm:pt modelId="{1AE44E74-97CF-479C-914D-423F4065ABF3}">
      <dgm:prSet/>
      <dgm:spPr/>
      <dgm:t>
        <a:bodyPr/>
        <a:lstStyle/>
        <a:p>
          <a:r>
            <a:rPr lang="en-US"/>
            <a:t>Changing Incentive Structure </a:t>
          </a:r>
        </a:p>
      </dgm:t>
    </dgm:pt>
    <dgm:pt modelId="{EFF59727-7AF6-4565-9C77-EFF8A1E79EFE}" type="parTrans" cxnId="{88BA81B3-56A1-4BA5-BD2C-F77FC6C2628D}">
      <dgm:prSet/>
      <dgm:spPr/>
      <dgm:t>
        <a:bodyPr/>
        <a:lstStyle/>
        <a:p>
          <a:endParaRPr lang="en-US"/>
        </a:p>
      </dgm:t>
    </dgm:pt>
    <dgm:pt modelId="{FAC1CC9C-ACD5-47BE-BDD0-8D4785F9BABB}" type="sibTrans" cxnId="{88BA81B3-56A1-4BA5-BD2C-F77FC6C2628D}">
      <dgm:prSet/>
      <dgm:spPr/>
      <dgm:t>
        <a:bodyPr/>
        <a:lstStyle/>
        <a:p>
          <a:endParaRPr lang="en-US"/>
        </a:p>
      </dgm:t>
    </dgm:pt>
    <dgm:pt modelId="{7CB07658-EE47-46E9-8595-0BFD8BAE936E}">
      <dgm:prSet/>
      <dgm:spPr/>
      <dgm:t>
        <a:bodyPr/>
        <a:lstStyle/>
        <a:p>
          <a:r>
            <a:rPr lang="en-US"/>
            <a:t>Operational Complexity </a:t>
          </a:r>
        </a:p>
      </dgm:t>
    </dgm:pt>
    <dgm:pt modelId="{CA839E47-4C28-48F6-B3BD-72AAFBECFAC6}" type="parTrans" cxnId="{2FFD2F44-7E25-4BFC-9F00-77D005CC2D31}">
      <dgm:prSet/>
      <dgm:spPr/>
      <dgm:t>
        <a:bodyPr/>
        <a:lstStyle/>
        <a:p>
          <a:endParaRPr lang="en-US"/>
        </a:p>
      </dgm:t>
    </dgm:pt>
    <dgm:pt modelId="{870635BE-A339-4B3A-A004-FFD09E63B64B}" type="sibTrans" cxnId="{2FFD2F44-7E25-4BFC-9F00-77D005CC2D31}">
      <dgm:prSet/>
      <dgm:spPr/>
      <dgm:t>
        <a:bodyPr/>
        <a:lstStyle/>
        <a:p>
          <a:endParaRPr lang="en-US"/>
        </a:p>
      </dgm:t>
    </dgm:pt>
    <dgm:pt modelId="{4DB905CD-BC51-448A-9C15-792753A58177}">
      <dgm:prSet/>
      <dgm:spPr/>
      <dgm:t>
        <a:bodyPr/>
        <a:lstStyle/>
        <a:p>
          <a:r>
            <a:rPr lang="en-US"/>
            <a:t>Aging Infrastructure </a:t>
          </a:r>
        </a:p>
      </dgm:t>
    </dgm:pt>
    <dgm:pt modelId="{67842171-0865-43BE-88D2-3F87571A98EA}" type="parTrans" cxnId="{55F3BDA1-E9D6-4C0C-A523-051488B1AABA}">
      <dgm:prSet/>
      <dgm:spPr/>
      <dgm:t>
        <a:bodyPr/>
        <a:lstStyle/>
        <a:p>
          <a:endParaRPr lang="en-US"/>
        </a:p>
      </dgm:t>
    </dgm:pt>
    <dgm:pt modelId="{2A516D90-AF25-4232-8D5F-AAA08E3E0147}" type="sibTrans" cxnId="{55F3BDA1-E9D6-4C0C-A523-051488B1AABA}">
      <dgm:prSet/>
      <dgm:spPr/>
      <dgm:t>
        <a:bodyPr/>
        <a:lstStyle/>
        <a:p>
          <a:endParaRPr lang="en-US"/>
        </a:p>
      </dgm:t>
    </dgm:pt>
    <dgm:pt modelId="{7CBBD09E-9D92-457F-AE87-852FD33D8A17}">
      <dgm:prSet phldrT="[Text]" phldr="0"/>
      <dgm:spPr/>
      <dgm:t>
        <a:bodyPr/>
        <a:lstStyle/>
        <a:p>
          <a:r>
            <a:rPr lang="en-US"/>
            <a:t>Expectations </a:t>
          </a:r>
        </a:p>
      </dgm:t>
    </dgm:pt>
    <dgm:pt modelId="{79918CF5-4EBD-4108-A40E-82FA7CBDB76B}" type="parTrans" cxnId="{236BF949-BB2A-450F-B493-CB58BB7DFBB2}">
      <dgm:prSet/>
      <dgm:spPr/>
      <dgm:t>
        <a:bodyPr/>
        <a:lstStyle/>
        <a:p>
          <a:endParaRPr lang="en-US"/>
        </a:p>
      </dgm:t>
    </dgm:pt>
    <dgm:pt modelId="{831F0DF7-6C74-43C6-B13E-A906979E2252}" type="sibTrans" cxnId="{236BF949-BB2A-450F-B493-CB58BB7DFBB2}">
      <dgm:prSet/>
      <dgm:spPr/>
      <dgm:t>
        <a:bodyPr/>
        <a:lstStyle/>
        <a:p>
          <a:endParaRPr lang="en-US"/>
        </a:p>
      </dgm:t>
    </dgm:pt>
    <dgm:pt modelId="{5A6D8044-9C46-49DB-897A-C03D4709A09C}">
      <dgm:prSet phldrT="[Text]" phldr="0"/>
      <dgm:spPr/>
      <dgm:t>
        <a:bodyPr/>
        <a:lstStyle/>
        <a:p>
          <a:r>
            <a:rPr lang="en-US"/>
            <a:t>Energy efficiency</a:t>
          </a:r>
        </a:p>
      </dgm:t>
    </dgm:pt>
    <dgm:pt modelId="{86D7CDE7-2FA9-48EE-A441-95575A7D129E}" type="parTrans" cxnId="{3565DA8B-2F74-49A4-AF5E-75AECC7B1409}">
      <dgm:prSet/>
      <dgm:spPr/>
      <dgm:t>
        <a:bodyPr/>
        <a:lstStyle/>
        <a:p>
          <a:endParaRPr lang="en-US"/>
        </a:p>
      </dgm:t>
    </dgm:pt>
    <dgm:pt modelId="{E5BD6444-BD3B-4FF1-9956-E4B6BAAF8E12}" type="sibTrans" cxnId="{3565DA8B-2F74-49A4-AF5E-75AECC7B1409}">
      <dgm:prSet/>
      <dgm:spPr/>
      <dgm:t>
        <a:bodyPr/>
        <a:lstStyle/>
        <a:p>
          <a:endParaRPr lang="en-US"/>
        </a:p>
      </dgm:t>
    </dgm:pt>
    <dgm:pt modelId="{F67991DF-DAC3-4281-85FF-BA5CF53A7EB0}">
      <dgm:prSet/>
      <dgm:spPr/>
      <dgm:t>
        <a:bodyPr/>
        <a:lstStyle/>
        <a:p>
          <a:r>
            <a:rPr lang="en-US"/>
            <a:t>Sustainability Initiatives</a:t>
          </a:r>
        </a:p>
      </dgm:t>
    </dgm:pt>
    <dgm:pt modelId="{A83080CC-35E7-4A36-A540-CF5D5A8DCA7B}" type="parTrans" cxnId="{6D816BCD-8A49-431B-B652-53C871B8C958}">
      <dgm:prSet/>
      <dgm:spPr/>
      <dgm:t>
        <a:bodyPr/>
        <a:lstStyle/>
        <a:p>
          <a:endParaRPr lang="en-US"/>
        </a:p>
      </dgm:t>
    </dgm:pt>
    <dgm:pt modelId="{D2283B01-C28B-4941-AE4E-E83A31AB129E}" type="sibTrans" cxnId="{6D816BCD-8A49-431B-B652-53C871B8C958}">
      <dgm:prSet/>
      <dgm:spPr/>
      <dgm:t>
        <a:bodyPr/>
        <a:lstStyle/>
        <a:p>
          <a:endParaRPr lang="en-US"/>
        </a:p>
      </dgm:t>
    </dgm:pt>
    <dgm:pt modelId="{F3235FEB-127A-4F30-B008-F0CB2568BBAD}">
      <dgm:prSet/>
      <dgm:spPr/>
      <dgm:t>
        <a:bodyPr/>
        <a:lstStyle/>
        <a:p>
          <a:r>
            <a:rPr lang="en-US"/>
            <a:t>Grid Resilience </a:t>
          </a:r>
        </a:p>
      </dgm:t>
    </dgm:pt>
    <dgm:pt modelId="{81BD81E8-77C1-4238-8AA8-575854A19CD0}" type="parTrans" cxnId="{E877519C-C311-42CF-B2E8-9E10BF76F7CA}">
      <dgm:prSet/>
      <dgm:spPr/>
      <dgm:t>
        <a:bodyPr/>
        <a:lstStyle/>
        <a:p>
          <a:endParaRPr lang="en-US"/>
        </a:p>
      </dgm:t>
    </dgm:pt>
    <dgm:pt modelId="{21C2D1E1-9F5D-4A0B-99D2-16D64B022D16}" type="sibTrans" cxnId="{E877519C-C311-42CF-B2E8-9E10BF76F7CA}">
      <dgm:prSet/>
      <dgm:spPr/>
      <dgm:t>
        <a:bodyPr/>
        <a:lstStyle/>
        <a:p>
          <a:endParaRPr lang="en-US"/>
        </a:p>
      </dgm:t>
    </dgm:pt>
    <dgm:pt modelId="{2129D946-ABA5-40D1-8A3D-353A9DFC185F}">
      <dgm:prSet/>
      <dgm:spPr/>
      <dgm:t>
        <a:bodyPr/>
        <a:lstStyle/>
        <a:p>
          <a:r>
            <a:rPr lang="en-US"/>
            <a:t>Electrification </a:t>
          </a:r>
        </a:p>
      </dgm:t>
    </dgm:pt>
    <dgm:pt modelId="{3D6B06D3-AB80-40CE-B0BB-9F3F46F3A304}" type="parTrans" cxnId="{0ED3DEDE-E55E-4F76-9A07-E2DE4C78EB05}">
      <dgm:prSet/>
      <dgm:spPr/>
      <dgm:t>
        <a:bodyPr/>
        <a:lstStyle/>
        <a:p>
          <a:endParaRPr lang="en-US"/>
        </a:p>
      </dgm:t>
    </dgm:pt>
    <dgm:pt modelId="{8E04A0BE-FE0F-4304-9701-8F02C851A607}" type="sibTrans" cxnId="{0ED3DEDE-E55E-4F76-9A07-E2DE4C78EB05}">
      <dgm:prSet/>
      <dgm:spPr/>
      <dgm:t>
        <a:bodyPr/>
        <a:lstStyle/>
        <a:p>
          <a:endParaRPr lang="en-US"/>
        </a:p>
      </dgm:t>
    </dgm:pt>
    <dgm:pt modelId="{5DD2DAF5-CC74-49BD-8AF4-5444DBB29DAD}">
      <dgm:prSet/>
      <dgm:spPr/>
      <dgm:t>
        <a:bodyPr/>
        <a:lstStyle/>
        <a:p>
          <a:r>
            <a:rPr lang="en-US"/>
            <a:t>Implementation Support</a:t>
          </a:r>
        </a:p>
      </dgm:t>
    </dgm:pt>
    <dgm:pt modelId="{7013EB33-C841-4422-881D-B0ACEDF85E1D}" type="parTrans" cxnId="{76F8544E-727D-4709-B0DB-C42956085DB4}">
      <dgm:prSet/>
      <dgm:spPr/>
      <dgm:t>
        <a:bodyPr/>
        <a:lstStyle/>
        <a:p>
          <a:endParaRPr lang="en-US"/>
        </a:p>
      </dgm:t>
    </dgm:pt>
    <dgm:pt modelId="{419D9818-5FBE-4215-ABCE-89204C754B36}" type="sibTrans" cxnId="{76F8544E-727D-4709-B0DB-C42956085DB4}">
      <dgm:prSet/>
      <dgm:spPr/>
      <dgm:t>
        <a:bodyPr/>
        <a:lstStyle/>
        <a:p>
          <a:endParaRPr lang="en-US"/>
        </a:p>
      </dgm:t>
    </dgm:pt>
    <dgm:pt modelId="{0C908299-D4C4-4F3A-9D60-6FEDB4B17B82}">
      <dgm:prSet/>
      <dgm:spPr/>
      <dgm:t>
        <a:bodyPr/>
        <a:lstStyle/>
        <a:p>
          <a:r>
            <a:rPr lang="en-US"/>
            <a:t>Cost Effective Solutions </a:t>
          </a:r>
        </a:p>
      </dgm:t>
    </dgm:pt>
    <dgm:pt modelId="{B94B8C2B-F5C6-426B-94DB-616B97DB576B}" type="parTrans" cxnId="{90019330-DCCC-4329-A8A7-D05251AFCAB8}">
      <dgm:prSet/>
      <dgm:spPr/>
      <dgm:t>
        <a:bodyPr/>
        <a:lstStyle/>
        <a:p>
          <a:endParaRPr lang="en-US"/>
        </a:p>
      </dgm:t>
    </dgm:pt>
    <dgm:pt modelId="{46B44C3C-B7F2-4447-9DAA-97C34F00DEE1}" type="sibTrans" cxnId="{90019330-DCCC-4329-A8A7-D05251AFCAB8}">
      <dgm:prSet/>
      <dgm:spPr/>
      <dgm:t>
        <a:bodyPr/>
        <a:lstStyle/>
        <a:p>
          <a:endParaRPr lang="en-US"/>
        </a:p>
      </dgm:t>
    </dgm:pt>
    <dgm:pt modelId="{53622A99-1BCB-43D8-9486-7998C7E12EFA}" type="pres">
      <dgm:prSet presAssocID="{0235E784-6F17-44A8-A786-4C9580DEBC54}" presName="compositeShape" presStyleCnt="0">
        <dgm:presLayoutVars>
          <dgm:chMax val="2"/>
          <dgm:dir/>
          <dgm:resizeHandles val="exact"/>
        </dgm:presLayoutVars>
      </dgm:prSet>
      <dgm:spPr/>
    </dgm:pt>
    <dgm:pt modelId="{451FF72D-63D4-4A90-9965-B8F50F6FE5BC}" type="pres">
      <dgm:prSet presAssocID="{0235E784-6F17-44A8-A786-4C9580DEBC54}" presName="divider" presStyleLbl="fgShp" presStyleIdx="0" presStyleCnt="1"/>
      <dgm:spPr/>
    </dgm:pt>
    <dgm:pt modelId="{93D79611-A6DE-4722-A42C-0C331B4E849F}" type="pres">
      <dgm:prSet presAssocID="{DDFE7638-8CD1-43E1-9B31-D548E5206749}" presName="downArrow" presStyleLbl="node1" presStyleIdx="0" presStyleCnt="2"/>
      <dgm:spPr/>
    </dgm:pt>
    <dgm:pt modelId="{659C2A45-CF4C-4339-9956-A511F6C85AF7}" type="pres">
      <dgm:prSet presAssocID="{DDFE7638-8CD1-43E1-9B31-D548E5206749}" presName="downArrowText" presStyleLbl="revTx" presStyleIdx="0" presStyleCnt="2">
        <dgm:presLayoutVars>
          <dgm:bulletEnabled val="1"/>
        </dgm:presLayoutVars>
      </dgm:prSet>
      <dgm:spPr/>
    </dgm:pt>
    <dgm:pt modelId="{189AC72A-0A3D-4414-A927-122AE92A79D5}" type="pres">
      <dgm:prSet presAssocID="{7CBBD09E-9D92-457F-AE87-852FD33D8A17}" presName="upArrow" presStyleLbl="node1" presStyleIdx="1" presStyleCnt="2"/>
      <dgm:spPr/>
    </dgm:pt>
    <dgm:pt modelId="{3998BFF2-713E-488A-BFF5-B414323A050E}" type="pres">
      <dgm:prSet presAssocID="{7CBBD09E-9D92-457F-AE87-852FD33D8A17}" presName="upArrowText" presStyleLbl="revTx" presStyleIdx="1" presStyleCnt="2">
        <dgm:presLayoutVars>
          <dgm:bulletEnabled val="1"/>
        </dgm:presLayoutVars>
      </dgm:prSet>
      <dgm:spPr/>
    </dgm:pt>
  </dgm:ptLst>
  <dgm:cxnLst>
    <dgm:cxn modelId="{C8F43302-4058-4C51-A35B-F00905EBA84F}" type="presOf" srcId="{F3235FEB-127A-4F30-B008-F0CB2568BBAD}" destId="{3998BFF2-713E-488A-BFF5-B414323A050E}" srcOrd="0" destOrd="3" presId="urn:microsoft.com/office/officeart/2005/8/layout/arrow3"/>
    <dgm:cxn modelId="{FB86E713-51B0-4873-BAE5-0FE7F0A6D383}" type="presOf" srcId="{5DD2DAF5-CC74-49BD-8AF4-5444DBB29DAD}" destId="{3998BFF2-713E-488A-BFF5-B414323A050E}" srcOrd="0" destOrd="5" presId="urn:microsoft.com/office/officeart/2005/8/layout/arrow3"/>
    <dgm:cxn modelId="{90019330-DCCC-4329-A8A7-D05251AFCAB8}" srcId="{7CBBD09E-9D92-457F-AE87-852FD33D8A17}" destId="{0C908299-D4C4-4F3A-9D60-6FEDB4B17B82}" srcOrd="5" destOrd="0" parTransId="{B94B8C2B-F5C6-426B-94DB-616B97DB576B}" sibTransId="{46B44C3C-B7F2-4447-9DAA-97C34F00DEE1}"/>
    <dgm:cxn modelId="{1753DD3D-1047-414D-9A3D-B0AB12BC01B7}" type="presOf" srcId="{BD88967C-5EE0-446C-A30E-AEE06FB40E5B}" destId="{659C2A45-CF4C-4339-9956-A511F6C85AF7}" srcOrd="0" destOrd="1" presId="urn:microsoft.com/office/officeart/2005/8/layout/arrow3"/>
    <dgm:cxn modelId="{D29FCB60-16F4-426E-B495-BB5A62A92258}" type="presOf" srcId="{0C908299-D4C4-4F3A-9D60-6FEDB4B17B82}" destId="{3998BFF2-713E-488A-BFF5-B414323A050E}" srcOrd="0" destOrd="6" presId="urn:microsoft.com/office/officeart/2005/8/layout/arrow3"/>
    <dgm:cxn modelId="{C5CEBE61-7491-4588-B04D-34C7E2AC0BA8}" type="presOf" srcId="{0235E784-6F17-44A8-A786-4C9580DEBC54}" destId="{53622A99-1BCB-43D8-9486-7998C7E12EFA}" srcOrd="0" destOrd="0" presId="urn:microsoft.com/office/officeart/2005/8/layout/arrow3"/>
    <dgm:cxn modelId="{652FD861-FCB0-4B61-8AD4-FE4A1A09A69D}" type="presOf" srcId="{7CB07658-EE47-46E9-8595-0BFD8BAE936E}" destId="{659C2A45-CF4C-4339-9956-A511F6C85AF7}" srcOrd="0" destOrd="3" presId="urn:microsoft.com/office/officeart/2005/8/layout/arrow3"/>
    <dgm:cxn modelId="{2FFD2F44-7E25-4BFC-9F00-77D005CC2D31}" srcId="{DDFE7638-8CD1-43E1-9B31-D548E5206749}" destId="{7CB07658-EE47-46E9-8595-0BFD8BAE936E}" srcOrd="2" destOrd="0" parTransId="{CA839E47-4C28-48F6-B3BD-72AAFBECFAC6}" sibTransId="{870635BE-A339-4B3A-A004-FFD09E63B64B}"/>
    <dgm:cxn modelId="{6C5FAC66-0F9E-4672-9FF0-19147E35FB2C}" type="presOf" srcId="{1AE44E74-97CF-479C-914D-423F4065ABF3}" destId="{659C2A45-CF4C-4339-9956-A511F6C85AF7}" srcOrd="0" destOrd="2" presId="urn:microsoft.com/office/officeart/2005/8/layout/arrow3"/>
    <dgm:cxn modelId="{236BF949-BB2A-450F-B493-CB58BB7DFBB2}" srcId="{0235E784-6F17-44A8-A786-4C9580DEBC54}" destId="{7CBBD09E-9D92-457F-AE87-852FD33D8A17}" srcOrd="1" destOrd="0" parTransId="{79918CF5-4EBD-4108-A40E-82FA7CBDB76B}" sibTransId="{831F0DF7-6C74-43C6-B13E-A906979E2252}"/>
    <dgm:cxn modelId="{76F8544E-727D-4709-B0DB-C42956085DB4}" srcId="{7CBBD09E-9D92-457F-AE87-852FD33D8A17}" destId="{5DD2DAF5-CC74-49BD-8AF4-5444DBB29DAD}" srcOrd="4" destOrd="0" parTransId="{7013EB33-C841-4422-881D-B0ACEDF85E1D}" sibTransId="{419D9818-5FBE-4215-ABCE-89204C754B36}"/>
    <dgm:cxn modelId="{22A8C270-4579-4F33-925A-2FE564E3D624}" type="presOf" srcId="{7CBBD09E-9D92-457F-AE87-852FD33D8A17}" destId="{3998BFF2-713E-488A-BFF5-B414323A050E}" srcOrd="0" destOrd="0" presId="urn:microsoft.com/office/officeart/2005/8/layout/arrow3"/>
    <dgm:cxn modelId="{6FBB1C7F-9E92-47FD-900F-BC4ED0B44008}" type="presOf" srcId="{5A6D8044-9C46-49DB-897A-C03D4709A09C}" destId="{3998BFF2-713E-488A-BFF5-B414323A050E}" srcOrd="0" destOrd="1" presId="urn:microsoft.com/office/officeart/2005/8/layout/arrow3"/>
    <dgm:cxn modelId="{3565DA8B-2F74-49A4-AF5E-75AECC7B1409}" srcId="{7CBBD09E-9D92-457F-AE87-852FD33D8A17}" destId="{5A6D8044-9C46-49DB-897A-C03D4709A09C}" srcOrd="0" destOrd="0" parTransId="{86D7CDE7-2FA9-48EE-A441-95575A7D129E}" sibTransId="{E5BD6444-BD3B-4FF1-9956-E4B6BAAF8E12}"/>
    <dgm:cxn modelId="{E877519C-C311-42CF-B2E8-9E10BF76F7CA}" srcId="{7CBBD09E-9D92-457F-AE87-852FD33D8A17}" destId="{F3235FEB-127A-4F30-B008-F0CB2568BBAD}" srcOrd="2" destOrd="0" parTransId="{81BD81E8-77C1-4238-8AA8-575854A19CD0}" sibTransId="{21C2D1E1-9F5D-4A0B-99D2-16D64B022D16}"/>
    <dgm:cxn modelId="{55F3BDA1-E9D6-4C0C-A523-051488B1AABA}" srcId="{DDFE7638-8CD1-43E1-9B31-D548E5206749}" destId="{4DB905CD-BC51-448A-9C15-792753A58177}" srcOrd="3" destOrd="0" parTransId="{67842171-0865-43BE-88D2-3F87571A98EA}" sibTransId="{2A516D90-AF25-4232-8D5F-AAA08E3E0147}"/>
    <dgm:cxn modelId="{88BA81B3-56A1-4BA5-BD2C-F77FC6C2628D}" srcId="{DDFE7638-8CD1-43E1-9B31-D548E5206749}" destId="{1AE44E74-97CF-479C-914D-423F4065ABF3}" srcOrd="1" destOrd="0" parTransId="{EFF59727-7AF6-4565-9C77-EFF8A1E79EFE}" sibTransId="{FAC1CC9C-ACD5-47BE-BDD0-8D4785F9BABB}"/>
    <dgm:cxn modelId="{6D816BCD-8A49-431B-B652-53C871B8C958}" srcId="{7CBBD09E-9D92-457F-AE87-852FD33D8A17}" destId="{F67991DF-DAC3-4281-85FF-BA5CF53A7EB0}" srcOrd="1" destOrd="0" parTransId="{A83080CC-35E7-4A36-A540-CF5D5A8DCA7B}" sibTransId="{D2283B01-C28B-4941-AE4E-E83A31AB129E}"/>
    <dgm:cxn modelId="{5AC8A6D6-0168-4073-A3C8-296184BF2B20}" srcId="{0235E784-6F17-44A8-A786-4C9580DEBC54}" destId="{DDFE7638-8CD1-43E1-9B31-D548E5206749}" srcOrd="0" destOrd="0" parTransId="{3EF4084A-28ED-4AFF-9A20-403A524C0BE8}" sibTransId="{CB41EE61-C508-4F62-BC6F-D1BE622726B2}"/>
    <dgm:cxn modelId="{43F123D7-0DE1-4E89-9A02-B4B1EFB7FD4B}" type="presOf" srcId="{F67991DF-DAC3-4281-85FF-BA5CF53A7EB0}" destId="{3998BFF2-713E-488A-BFF5-B414323A050E}" srcOrd="0" destOrd="2" presId="urn:microsoft.com/office/officeart/2005/8/layout/arrow3"/>
    <dgm:cxn modelId="{57550FDD-BD11-494F-A99B-332B69B2719F}" srcId="{DDFE7638-8CD1-43E1-9B31-D548E5206749}" destId="{BD88967C-5EE0-446C-A30E-AEE06FB40E5B}" srcOrd="0" destOrd="0" parTransId="{22DAFC6F-7008-456A-B428-0D8390473261}" sibTransId="{AD1D2F9B-31FF-4173-941C-195906D11917}"/>
    <dgm:cxn modelId="{0ED3DEDE-E55E-4F76-9A07-E2DE4C78EB05}" srcId="{7CBBD09E-9D92-457F-AE87-852FD33D8A17}" destId="{2129D946-ABA5-40D1-8A3D-353A9DFC185F}" srcOrd="3" destOrd="0" parTransId="{3D6B06D3-AB80-40CE-B0BB-9F3F46F3A304}" sibTransId="{8E04A0BE-FE0F-4304-9701-8F02C851A607}"/>
    <dgm:cxn modelId="{3B75D1E2-C45D-48E5-99AE-DC9D1CA5D6FD}" type="presOf" srcId="{2129D946-ABA5-40D1-8A3D-353A9DFC185F}" destId="{3998BFF2-713E-488A-BFF5-B414323A050E}" srcOrd="0" destOrd="4" presId="urn:microsoft.com/office/officeart/2005/8/layout/arrow3"/>
    <dgm:cxn modelId="{0AFA60E7-3040-4A16-91A6-1DDD09EF0A38}" type="presOf" srcId="{DDFE7638-8CD1-43E1-9B31-D548E5206749}" destId="{659C2A45-CF4C-4339-9956-A511F6C85AF7}" srcOrd="0" destOrd="0" presId="urn:microsoft.com/office/officeart/2005/8/layout/arrow3"/>
    <dgm:cxn modelId="{551643E9-DB6B-4B4F-9D7E-EF2B96465825}" type="presOf" srcId="{4DB905CD-BC51-448A-9C15-792753A58177}" destId="{659C2A45-CF4C-4339-9956-A511F6C85AF7}" srcOrd="0" destOrd="4" presId="urn:microsoft.com/office/officeart/2005/8/layout/arrow3"/>
    <dgm:cxn modelId="{7756DC42-122D-42B9-A479-3B930314688D}" type="presParOf" srcId="{53622A99-1BCB-43D8-9486-7998C7E12EFA}" destId="{451FF72D-63D4-4A90-9965-B8F50F6FE5BC}" srcOrd="0" destOrd="0" presId="urn:microsoft.com/office/officeart/2005/8/layout/arrow3"/>
    <dgm:cxn modelId="{29579487-227A-4827-B3F5-B37EB44FA710}" type="presParOf" srcId="{53622A99-1BCB-43D8-9486-7998C7E12EFA}" destId="{93D79611-A6DE-4722-A42C-0C331B4E849F}" srcOrd="1" destOrd="0" presId="urn:microsoft.com/office/officeart/2005/8/layout/arrow3"/>
    <dgm:cxn modelId="{0AAE892D-8FA5-49EA-85AD-CC892A43CEF7}" type="presParOf" srcId="{53622A99-1BCB-43D8-9486-7998C7E12EFA}" destId="{659C2A45-CF4C-4339-9956-A511F6C85AF7}" srcOrd="2" destOrd="0" presId="urn:microsoft.com/office/officeart/2005/8/layout/arrow3"/>
    <dgm:cxn modelId="{05649FEC-25DD-4606-BD4A-53A01D5F50F8}" type="presParOf" srcId="{53622A99-1BCB-43D8-9486-7998C7E12EFA}" destId="{189AC72A-0A3D-4414-A927-122AE92A79D5}" srcOrd="3" destOrd="0" presId="urn:microsoft.com/office/officeart/2005/8/layout/arrow3"/>
    <dgm:cxn modelId="{951698F0-0294-4F1C-BFFB-E9CC8E56531B}" type="presParOf" srcId="{53622A99-1BCB-43D8-9486-7998C7E12EFA}" destId="{3998BFF2-713E-488A-BFF5-B414323A050E}"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3C7EBA9-46FD-4965-B9DA-3EF5F3DCE64E}"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n-US"/>
        </a:p>
      </dgm:t>
    </dgm:pt>
    <dgm:pt modelId="{7B6DA0FB-60D3-4B6F-B2DB-2D745FF9465C}">
      <dgm:prSet phldrT="[Text]" phldr="0" custT="1"/>
      <dgm:spPr/>
      <dgm:t>
        <a:bodyPr/>
        <a:lstStyle/>
        <a:p>
          <a:pPr rtl="0"/>
          <a:r>
            <a:rPr lang="en-US" sz="2000">
              <a:latin typeface="Aptos Display" panose="02110004020202020204"/>
            </a:rPr>
            <a:t>Utilities – focus area</a:t>
          </a:r>
          <a:endParaRPr lang="en-US" sz="2000"/>
        </a:p>
      </dgm:t>
    </dgm:pt>
    <dgm:pt modelId="{600B3083-CD1B-4E7C-834F-084FCC787A4B}" type="parTrans" cxnId="{8DB365A3-341F-4308-8754-81A8E1ED23A5}">
      <dgm:prSet/>
      <dgm:spPr/>
      <dgm:t>
        <a:bodyPr/>
        <a:lstStyle/>
        <a:p>
          <a:endParaRPr lang="en-US" sz="2000"/>
        </a:p>
      </dgm:t>
    </dgm:pt>
    <dgm:pt modelId="{E2E006D9-DE9B-4CFB-8E68-83D535D14D96}" type="sibTrans" cxnId="{8DB365A3-341F-4308-8754-81A8E1ED23A5}">
      <dgm:prSet/>
      <dgm:spPr/>
      <dgm:t>
        <a:bodyPr/>
        <a:lstStyle/>
        <a:p>
          <a:endParaRPr lang="en-US" sz="2000"/>
        </a:p>
      </dgm:t>
    </dgm:pt>
    <dgm:pt modelId="{97F487B4-A981-499F-B760-FAA583874895}">
      <dgm:prSet phldrT="[Text]" phldr="0" custT="1"/>
      <dgm:spPr/>
      <dgm:t>
        <a:bodyPr/>
        <a:lstStyle/>
        <a:p>
          <a:pPr rtl="0"/>
          <a:r>
            <a:rPr lang="en-US" sz="2000">
              <a:latin typeface="Aptos Display" panose="02110004020202020204"/>
            </a:rPr>
            <a:t>Residential Solar and Battery Programs </a:t>
          </a:r>
          <a:endParaRPr lang="en-US" sz="2000"/>
        </a:p>
      </dgm:t>
    </dgm:pt>
    <dgm:pt modelId="{85A8B658-8FFA-4D00-875A-5AE1A78197DD}" type="parTrans" cxnId="{461BD007-9B51-4AFF-887C-F5DF4142DAC8}">
      <dgm:prSet/>
      <dgm:spPr/>
      <dgm:t>
        <a:bodyPr/>
        <a:lstStyle/>
        <a:p>
          <a:endParaRPr lang="en-US" sz="2000"/>
        </a:p>
      </dgm:t>
    </dgm:pt>
    <dgm:pt modelId="{55CBAA50-FA77-48A9-9D55-264AE7DCEF1E}" type="sibTrans" cxnId="{461BD007-9B51-4AFF-887C-F5DF4142DAC8}">
      <dgm:prSet/>
      <dgm:spPr/>
      <dgm:t>
        <a:bodyPr/>
        <a:lstStyle/>
        <a:p>
          <a:endParaRPr lang="en-US" sz="2000"/>
        </a:p>
      </dgm:t>
    </dgm:pt>
    <dgm:pt modelId="{FA62B1A3-E142-464E-9287-CAC6740FCDD4}">
      <dgm:prSet phldrT="[Text]" phldr="0" custT="1"/>
      <dgm:spPr/>
      <dgm:t>
        <a:bodyPr/>
        <a:lstStyle/>
        <a:p>
          <a:pPr rtl="0"/>
          <a:r>
            <a:rPr lang="en-US" sz="2000">
              <a:latin typeface="Aptos Display" panose="02110004020202020204"/>
            </a:rPr>
            <a:t>APTIM to work as administer for these programs</a:t>
          </a:r>
          <a:endParaRPr lang="en-US" sz="2000"/>
        </a:p>
      </dgm:t>
    </dgm:pt>
    <dgm:pt modelId="{D01FEC8C-BCB7-419A-B34A-05003C8BEAD1}" type="parTrans" cxnId="{0D9C8401-5F99-4DF4-AD63-B46743EDA09B}">
      <dgm:prSet/>
      <dgm:spPr/>
      <dgm:t>
        <a:bodyPr/>
        <a:lstStyle/>
        <a:p>
          <a:endParaRPr lang="en-US" sz="2000"/>
        </a:p>
      </dgm:t>
    </dgm:pt>
    <dgm:pt modelId="{46854C33-3006-46A0-A026-E744D17BF744}" type="sibTrans" cxnId="{0D9C8401-5F99-4DF4-AD63-B46743EDA09B}">
      <dgm:prSet/>
      <dgm:spPr/>
      <dgm:t>
        <a:bodyPr/>
        <a:lstStyle/>
        <a:p>
          <a:endParaRPr lang="en-US" sz="2000"/>
        </a:p>
      </dgm:t>
    </dgm:pt>
    <dgm:pt modelId="{65C9D182-9585-4C12-B2DD-9F298ECE308E}">
      <dgm:prSet phldrT="[Text]" phldr="0" custT="1"/>
      <dgm:spPr/>
      <dgm:t>
        <a:bodyPr/>
        <a:lstStyle/>
        <a:p>
          <a:pPr rtl="0"/>
          <a:r>
            <a:rPr lang="en-US" sz="2000">
              <a:latin typeface="Aptos Display" panose="02110004020202020204"/>
            </a:rPr>
            <a:t>Start with states that have begun the process of  implementing similar programs.</a:t>
          </a:r>
          <a:endParaRPr lang="en-US" sz="2000"/>
        </a:p>
      </dgm:t>
    </dgm:pt>
    <dgm:pt modelId="{634F6525-4B1E-4178-9B85-02D3EDF9DD9D}" type="parTrans" cxnId="{623FA3F0-EC8C-4D33-B222-5FE117BC3C64}">
      <dgm:prSet/>
      <dgm:spPr/>
      <dgm:t>
        <a:bodyPr/>
        <a:lstStyle/>
        <a:p>
          <a:endParaRPr lang="en-US" sz="2000"/>
        </a:p>
      </dgm:t>
    </dgm:pt>
    <dgm:pt modelId="{2B9FB737-3D5F-4CF7-8F45-901213399DBD}" type="sibTrans" cxnId="{623FA3F0-EC8C-4D33-B222-5FE117BC3C64}">
      <dgm:prSet/>
      <dgm:spPr/>
      <dgm:t>
        <a:bodyPr/>
        <a:lstStyle/>
        <a:p>
          <a:endParaRPr lang="en-US" sz="2000"/>
        </a:p>
      </dgm:t>
    </dgm:pt>
    <dgm:pt modelId="{E057409B-32C3-4500-A228-9F413B9C35E9}">
      <dgm:prSet phldrT="[Text]" phldr="0" custT="1"/>
      <dgm:spPr/>
      <dgm:t>
        <a:bodyPr/>
        <a:lstStyle/>
        <a:p>
          <a:pPr rtl="0"/>
          <a:r>
            <a:rPr lang="en-US" sz="2000">
              <a:latin typeface="Aptos Display" panose="02110004020202020204"/>
            </a:rPr>
            <a:t>Small scale 1 to 3-year pilot programs could show what long-term implementation could look like. </a:t>
          </a:r>
          <a:endParaRPr lang="en-US" sz="2000"/>
        </a:p>
      </dgm:t>
    </dgm:pt>
    <dgm:pt modelId="{1F61F698-844C-40DC-B737-9C4C615BEA2A}" type="parTrans" cxnId="{D55AB58B-DD7F-4BEE-826C-057DBE4CBA41}">
      <dgm:prSet/>
      <dgm:spPr/>
      <dgm:t>
        <a:bodyPr/>
        <a:lstStyle/>
        <a:p>
          <a:endParaRPr lang="en-US" sz="2000"/>
        </a:p>
      </dgm:t>
    </dgm:pt>
    <dgm:pt modelId="{9C967A68-88C9-4AF3-9E3B-7DF0B1C5720E}" type="sibTrans" cxnId="{D55AB58B-DD7F-4BEE-826C-057DBE4CBA41}">
      <dgm:prSet/>
      <dgm:spPr/>
      <dgm:t>
        <a:bodyPr/>
        <a:lstStyle/>
        <a:p>
          <a:endParaRPr lang="en-US" sz="2000"/>
        </a:p>
      </dgm:t>
    </dgm:pt>
    <dgm:pt modelId="{1B7D0041-ED16-4C3C-B710-D0F4C99556D3}" type="pres">
      <dgm:prSet presAssocID="{43C7EBA9-46FD-4965-B9DA-3EF5F3DCE64E}" presName="Name0" presStyleCnt="0">
        <dgm:presLayoutVars>
          <dgm:chMax val="7"/>
          <dgm:chPref val="7"/>
          <dgm:dir/>
        </dgm:presLayoutVars>
      </dgm:prSet>
      <dgm:spPr/>
    </dgm:pt>
    <dgm:pt modelId="{A64A8141-8531-403D-B402-0A813F76D387}" type="pres">
      <dgm:prSet presAssocID="{43C7EBA9-46FD-4965-B9DA-3EF5F3DCE64E}" presName="Name1" presStyleCnt="0"/>
      <dgm:spPr/>
    </dgm:pt>
    <dgm:pt modelId="{A0A5CD93-9B79-432A-8E94-B067CB7E5B90}" type="pres">
      <dgm:prSet presAssocID="{43C7EBA9-46FD-4965-B9DA-3EF5F3DCE64E}" presName="cycle" presStyleCnt="0"/>
      <dgm:spPr/>
    </dgm:pt>
    <dgm:pt modelId="{82393F02-626D-451D-9EE4-9162DC3178B1}" type="pres">
      <dgm:prSet presAssocID="{43C7EBA9-46FD-4965-B9DA-3EF5F3DCE64E}" presName="srcNode" presStyleLbl="node1" presStyleIdx="0" presStyleCnt="5"/>
      <dgm:spPr/>
    </dgm:pt>
    <dgm:pt modelId="{9F9C8BC5-6838-437E-9064-AC07E117019C}" type="pres">
      <dgm:prSet presAssocID="{43C7EBA9-46FD-4965-B9DA-3EF5F3DCE64E}" presName="conn" presStyleLbl="parChTrans1D2" presStyleIdx="0" presStyleCnt="1"/>
      <dgm:spPr/>
    </dgm:pt>
    <dgm:pt modelId="{4430FDAD-A709-45E0-9151-D4ECE967B7BE}" type="pres">
      <dgm:prSet presAssocID="{43C7EBA9-46FD-4965-B9DA-3EF5F3DCE64E}" presName="extraNode" presStyleLbl="node1" presStyleIdx="0" presStyleCnt="5"/>
      <dgm:spPr/>
    </dgm:pt>
    <dgm:pt modelId="{8E332095-9866-46B0-8B32-963921D1F389}" type="pres">
      <dgm:prSet presAssocID="{43C7EBA9-46FD-4965-B9DA-3EF5F3DCE64E}" presName="dstNode" presStyleLbl="node1" presStyleIdx="0" presStyleCnt="5"/>
      <dgm:spPr/>
    </dgm:pt>
    <dgm:pt modelId="{A935DD0E-C4CC-4293-A8B4-253CD901785D}" type="pres">
      <dgm:prSet presAssocID="{7B6DA0FB-60D3-4B6F-B2DB-2D745FF9465C}" presName="text_1" presStyleLbl="node1" presStyleIdx="0" presStyleCnt="5">
        <dgm:presLayoutVars>
          <dgm:bulletEnabled val="1"/>
        </dgm:presLayoutVars>
      </dgm:prSet>
      <dgm:spPr/>
    </dgm:pt>
    <dgm:pt modelId="{D939E7F2-D238-4DCA-A376-13147728B619}" type="pres">
      <dgm:prSet presAssocID="{7B6DA0FB-60D3-4B6F-B2DB-2D745FF9465C}" presName="accent_1" presStyleCnt="0"/>
      <dgm:spPr/>
    </dgm:pt>
    <dgm:pt modelId="{220FF578-9C43-4C28-AA19-F1F121D68F37}" type="pres">
      <dgm:prSet presAssocID="{7B6DA0FB-60D3-4B6F-B2DB-2D745FF9465C}" presName="accentRepeatNode" presStyleLbl="solidFgAcc1" presStyleIdx="0" presStyleCnt="5"/>
      <dgm:spPr/>
    </dgm:pt>
    <dgm:pt modelId="{C7283F4E-E42F-4502-B638-C9CE17B739A4}" type="pres">
      <dgm:prSet presAssocID="{97F487B4-A981-499F-B760-FAA583874895}" presName="text_2" presStyleLbl="node1" presStyleIdx="1" presStyleCnt="5">
        <dgm:presLayoutVars>
          <dgm:bulletEnabled val="1"/>
        </dgm:presLayoutVars>
      </dgm:prSet>
      <dgm:spPr/>
    </dgm:pt>
    <dgm:pt modelId="{E8043088-F410-4FE3-9735-D84EFAD3EF91}" type="pres">
      <dgm:prSet presAssocID="{97F487B4-A981-499F-B760-FAA583874895}" presName="accent_2" presStyleCnt="0"/>
      <dgm:spPr/>
    </dgm:pt>
    <dgm:pt modelId="{188558B0-6B78-4E6C-8C95-56F9B7D46801}" type="pres">
      <dgm:prSet presAssocID="{97F487B4-A981-499F-B760-FAA583874895}" presName="accentRepeatNode" presStyleLbl="solidFgAcc1" presStyleIdx="1" presStyleCnt="5"/>
      <dgm:spPr/>
    </dgm:pt>
    <dgm:pt modelId="{838A5405-7054-41C1-BDEE-5D2AD8AB73C4}" type="pres">
      <dgm:prSet presAssocID="{FA62B1A3-E142-464E-9287-CAC6740FCDD4}" presName="text_3" presStyleLbl="node1" presStyleIdx="2" presStyleCnt="5">
        <dgm:presLayoutVars>
          <dgm:bulletEnabled val="1"/>
        </dgm:presLayoutVars>
      </dgm:prSet>
      <dgm:spPr/>
    </dgm:pt>
    <dgm:pt modelId="{0314E415-2308-41F0-990D-A0535582CB0A}" type="pres">
      <dgm:prSet presAssocID="{FA62B1A3-E142-464E-9287-CAC6740FCDD4}" presName="accent_3" presStyleCnt="0"/>
      <dgm:spPr/>
    </dgm:pt>
    <dgm:pt modelId="{C264BFE1-C5D0-4ADB-94AC-0DFD3F7C06CE}" type="pres">
      <dgm:prSet presAssocID="{FA62B1A3-E142-464E-9287-CAC6740FCDD4}" presName="accentRepeatNode" presStyleLbl="solidFgAcc1" presStyleIdx="2" presStyleCnt="5"/>
      <dgm:spPr/>
    </dgm:pt>
    <dgm:pt modelId="{9F3C44DB-7786-452A-8820-A2CA46EF21E7}" type="pres">
      <dgm:prSet presAssocID="{65C9D182-9585-4C12-B2DD-9F298ECE308E}" presName="text_4" presStyleLbl="node1" presStyleIdx="3" presStyleCnt="5">
        <dgm:presLayoutVars>
          <dgm:bulletEnabled val="1"/>
        </dgm:presLayoutVars>
      </dgm:prSet>
      <dgm:spPr/>
    </dgm:pt>
    <dgm:pt modelId="{D2C86652-70EE-4C68-9119-CB0782D86D40}" type="pres">
      <dgm:prSet presAssocID="{65C9D182-9585-4C12-B2DD-9F298ECE308E}" presName="accent_4" presStyleCnt="0"/>
      <dgm:spPr/>
    </dgm:pt>
    <dgm:pt modelId="{43AC0EA1-D545-47D4-985E-07C91EBD6BBD}" type="pres">
      <dgm:prSet presAssocID="{65C9D182-9585-4C12-B2DD-9F298ECE308E}" presName="accentRepeatNode" presStyleLbl="solidFgAcc1" presStyleIdx="3" presStyleCnt="5"/>
      <dgm:spPr/>
    </dgm:pt>
    <dgm:pt modelId="{CFAD6485-486B-4D5D-BFB1-31C3CBB66F98}" type="pres">
      <dgm:prSet presAssocID="{E057409B-32C3-4500-A228-9F413B9C35E9}" presName="text_5" presStyleLbl="node1" presStyleIdx="4" presStyleCnt="5">
        <dgm:presLayoutVars>
          <dgm:bulletEnabled val="1"/>
        </dgm:presLayoutVars>
      </dgm:prSet>
      <dgm:spPr/>
    </dgm:pt>
    <dgm:pt modelId="{9AE79EBF-B205-48E7-B70D-B7367E8690F3}" type="pres">
      <dgm:prSet presAssocID="{E057409B-32C3-4500-A228-9F413B9C35E9}" presName="accent_5" presStyleCnt="0"/>
      <dgm:spPr/>
    </dgm:pt>
    <dgm:pt modelId="{BF7085C7-35D4-4051-A8C0-7D0871C7FC61}" type="pres">
      <dgm:prSet presAssocID="{E057409B-32C3-4500-A228-9F413B9C35E9}" presName="accentRepeatNode" presStyleLbl="solidFgAcc1" presStyleIdx="4" presStyleCnt="5"/>
      <dgm:spPr/>
    </dgm:pt>
  </dgm:ptLst>
  <dgm:cxnLst>
    <dgm:cxn modelId="{0D9C8401-5F99-4DF4-AD63-B46743EDA09B}" srcId="{43C7EBA9-46FD-4965-B9DA-3EF5F3DCE64E}" destId="{FA62B1A3-E142-464E-9287-CAC6740FCDD4}" srcOrd="2" destOrd="0" parTransId="{D01FEC8C-BCB7-419A-B34A-05003C8BEAD1}" sibTransId="{46854C33-3006-46A0-A026-E744D17BF744}"/>
    <dgm:cxn modelId="{461BD007-9B51-4AFF-887C-F5DF4142DAC8}" srcId="{43C7EBA9-46FD-4965-B9DA-3EF5F3DCE64E}" destId="{97F487B4-A981-499F-B760-FAA583874895}" srcOrd="1" destOrd="0" parTransId="{85A8B658-8FFA-4D00-875A-5AE1A78197DD}" sibTransId="{55CBAA50-FA77-48A9-9D55-264AE7DCEF1E}"/>
    <dgm:cxn modelId="{43EFD96D-A81D-4F34-BFFE-278C2241F5F1}" type="presOf" srcId="{65C9D182-9585-4C12-B2DD-9F298ECE308E}" destId="{9F3C44DB-7786-452A-8820-A2CA46EF21E7}" srcOrd="0" destOrd="0" presId="urn:microsoft.com/office/officeart/2008/layout/VerticalCurvedList"/>
    <dgm:cxn modelId="{D8AC6872-62A8-4D0F-B54A-811D2661FC66}" type="presOf" srcId="{43C7EBA9-46FD-4965-B9DA-3EF5F3DCE64E}" destId="{1B7D0041-ED16-4C3C-B710-D0F4C99556D3}" srcOrd="0" destOrd="0" presId="urn:microsoft.com/office/officeart/2008/layout/VerticalCurvedList"/>
    <dgm:cxn modelId="{51E5748A-42C3-41C9-8F3E-9831FD19865B}" type="presOf" srcId="{97F487B4-A981-499F-B760-FAA583874895}" destId="{C7283F4E-E42F-4502-B638-C9CE17B739A4}" srcOrd="0" destOrd="0" presId="urn:microsoft.com/office/officeart/2008/layout/VerticalCurvedList"/>
    <dgm:cxn modelId="{D55AB58B-DD7F-4BEE-826C-057DBE4CBA41}" srcId="{43C7EBA9-46FD-4965-B9DA-3EF5F3DCE64E}" destId="{E057409B-32C3-4500-A228-9F413B9C35E9}" srcOrd="4" destOrd="0" parTransId="{1F61F698-844C-40DC-B737-9C4C615BEA2A}" sibTransId="{9C967A68-88C9-4AF3-9E3B-7DF0B1C5720E}"/>
    <dgm:cxn modelId="{BFE44D8F-0547-4FE9-9CE8-2D46F4AE8938}" type="presOf" srcId="{E057409B-32C3-4500-A228-9F413B9C35E9}" destId="{CFAD6485-486B-4D5D-BFB1-31C3CBB66F98}" srcOrd="0" destOrd="0" presId="urn:microsoft.com/office/officeart/2008/layout/VerticalCurvedList"/>
    <dgm:cxn modelId="{8DB365A3-341F-4308-8754-81A8E1ED23A5}" srcId="{43C7EBA9-46FD-4965-B9DA-3EF5F3DCE64E}" destId="{7B6DA0FB-60D3-4B6F-B2DB-2D745FF9465C}" srcOrd="0" destOrd="0" parTransId="{600B3083-CD1B-4E7C-834F-084FCC787A4B}" sibTransId="{E2E006D9-DE9B-4CFB-8E68-83D535D14D96}"/>
    <dgm:cxn modelId="{E75935DE-157E-4C29-A58F-7B6B3377A1E8}" type="presOf" srcId="{7B6DA0FB-60D3-4B6F-B2DB-2D745FF9465C}" destId="{A935DD0E-C4CC-4293-A8B4-253CD901785D}" srcOrd="0" destOrd="0" presId="urn:microsoft.com/office/officeart/2008/layout/VerticalCurvedList"/>
    <dgm:cxn modelId="{1CB0B6E3-CCE8-4B9C-B309-18C3C09689EC}" type="presOf" srcId="{FA62B1A3-E142-464E-9287-CAC6740FCDD4}" destId="{838A5405-7054-41C1-BDEE-5D2AD8AB73C4}" srcOrd="0" destOrd="0" presId="urn:microsoft.com/office/officeart/2008/layout/VerticalCurvedList"/>
    <dgm:cxn modelId="{623FA3F0-EC8C-4D33-B222-5FE117BC3C64}" srcId="{43C7EBA9-46FD-4965-B9DA-3EF5F3DCE64E}" destId="{65C9D182-9585-4C12-B2DD-9F298ECE308E}" srcOrd="3" destOrd="0" parTransId="{634F6525-4B1E-4178-9B85-02D3EDF9DD9D}" sibTransId="{2B9FB737-3D5F-4CF7-8F45-901213399DBD}"/>
    <dgm:cxn modelId="{56FFC5FB-D15A-43CA-9A91-6B8F728464E4}" type="presOf" srcId="{E2E006D9-DE9B-4CFB-8E68-83D535D14D96}" destId="{9F9C8BC5-6838-437E-9064-AC07E117019C}" srcOrd="0" destOrd="0" presId="urn:microsoft.com/office/officeart/2008/layout/VerticalCurvedList"/>
    <dgm:cxn modelId="{48D4982E-EBE0-4BE3-A740-26E199EC6CDC}" type="presParOf" srcId="{1B7D0041-ED16-4C3C-B710-D0F4C99556D3}" destId="{A64A8141-8531-403D-B402-0A813F76D387}" srcOrd="0" destOrd="0" presId="urn:microsoft.com/office/officeart/2008/layout/VerticalCurvedList"/>
    <dgm:cxn modelId="{B570E722-5AA7-41CA-ADEE-93D4C72051F2}" type="presParOf" srcId="{A64A8141-8531-403D-B402-0A813F76D387}" destId="{A0A5CD93-9B79-432A-8E94-B067CB7E5B90}" srcOrd="0" destOrd="0" presId="urn:microsoft.com/office/officeart/2008/layout/VerticalCurvedList"/>
    <dgm:cxn modelId="{20F61412-F4AA-4B49-A992-D3D393042D2B}" type="presParOf" srcId="{A0A5CD93-9B79-432A-8E94-B067CB7E5B90}" destId="{82393F02-626D-451D-9EE4-9162DC3178B1}" srcOrd="0" destOrd="0" presId="urn:microsoft.com/office/officeart/2008/layout/VerticalCurvedList"/>
    <dgm:cxn modelId="{B70DCA45-442B-4F65-9119-F7316F85F72F}" type="presParOf" srcId="{A0A5CD93-9B79-432A-8E94-B067CB7E5B90}" destId="{9F9C8BC5-6838-437E-9064-AC07E117019C}" srcOrd="1" destOrd="0" presId="urn:microsoft.com/office/officeart/2008/layout/VerticalCurvedList"/>
    <dgm:cxn modelId="{35D4E526-62F9-476D-A2BB-938F2B14F209}" type="presParOf" srcId="{A0A5CD93-9B79-432A-8E94-B067CB7E5B90}" destId="{4430FDAD-A709-45E0-9151-D4ECE967B7BE}" srcOrd="2" destOrd="0" presId="urn:microsoft.com/office/officeart/2008/layout/VerticalCurvedList"/>
    <dgm:cxn modelId="{C6A7C170-28ED-430E-A042-1F9598E458F5}" type="presParOf" srcId="{A0A5CD93-9B79-432A-8E94-B067CB7E5B90}" destId="{8E332095-9866-46B0-8B32-963921D1F389}" srcOrd="3" destOrd="0" presId="urn:microsoft.com/office/officeart/2008/layout/VerticalCurvedList"/>
    <dgm:cxn modelId="{85CD60FF-B20B-4744-8066-F20F16251BAB}" type="presParOf" srcId="{A64A8141-8531-403D-B402-0A813F76D387}" destId="{A935DD0E-C4CC-4293-A8B4-253CD901785D}" srcOrd="1" destOrd="0" presId="urn:microsoft.com/office/officeart/2008/layout/VerticalCurvedList"/>
    <dgm:cxn modelId="{9EA24A03-9698-4968-85F5-226317D4942E}" type="presParOf" srcId="{A64A8141-8531-403D-B402-0A813F76D387}" destId="{D939E7F2-D238-4DCA-A376-13147728B619}" srcOrd="2" destOrd="0" presId="urn:microsoft.com/office/officeart/2008/layout/VerticalCurvedList"/>
    <dgm:cxn modelId="{6E0F6A7C-DB0C-4D72-B57E-BBBE0E869837}" type="presParOf" srcId="{D939E7F2-D238-4DCA-A376-13147728B619}" destId="{220FF578-9C43-4C28-AA19-F1F121D68F37}" srcOrd="0" destOrd="0" presId="urn:microsoft.com/office/officeart/2008/layout/VerticalCurvedList"/>
    <dgm:cxn modelId="{7E2FB937-17B5-475D-BDE1-1B6135FF4D5A}" type="presParOf" srcId="{A64A8141-8531-403D-B402-0A813F76D387}" destId="{C7283F4E-E42F-4502-B638-C9CE17B739A4}" srcOrd="3" destOrd="0" presId="urn:microsoft.com/office/officeart/2008/layout/VerticalCurvedList"/>
    <dgm:cxn modelId="{F6FA6670-9598-4E11-8B4C-67A3F7F86D2E}" type="presParOf" srcId="{A64A8141-8531-403D-B402-0A813F76D387}" destId="{E8043088-F410-4FE3-9735-D84EFAD3EF91}" srcOrd="4" destOrd="0" presId="urn:microsoft.com/office/officeart/2008/layout/VerticalCurvedList"/>
    <dgm:cxn modelId="{337D37E3-284A-40A3-B1FB-9BC53D7845DB}" type="presParOf" srcId="{E8043088-F410-4FE3-9735-D84EFAD3EF91}" destId="{188558B0-6B78-4E6C-8C95-56F9B7D46801}" srcOrd="0" destOrd="0" presId="urn:microsoft.com/office/officeart/2008/layout/VerticalCurvedList"/>
    <dgm:cxn modelId="{3AC4E4A5-4DB0-4981-A76A-23576C4BF766}" type="presParOf" srcId="{A64A8141-8531-403D-B402-0A813F76D387}" destId="{838A5405-7054-41C1-BDEE-5D2AD8AB73C4}" srcOrd="5" destOrd="0" presId="urn:microsoft.com/office/officeart/2008/layout/VerticalCurvedList"/>
    <dgm:cxn modelId="{B36E7450-37BD-4089-8197-C904CE8635E2}" type="presParOf" srcId="{A64A8141-8531-403D-B402-0A813F76D387}" destId="{0314E415-2308-41F0-990D-A0535582CB0A}" srcOrd="6" destOrd="0" presId="urn:microsoft.com/office/officeart/2008/layout/VerticalCurvedList"/>
    <dgm:cxn modelId="{D723EFC2-2E31-4697-B4FA-5540BE10FD34}" type="presParOf" srcId="{0314E415-2308-41F0-990D-A0535582CB0A}" destId="{C264BFE1-C5D0-4ADB-94AC-0DFD3F7C06CE}" srcOrd="0" destOrd="0" presId="urn:microsoft.com/office/officeart/2008/layout/VerticalCurvedList"/>
    <dgm:cxn modelId="{10F3CC96-83E5-4DDD-B8B6-5E3458063B57}" type="presParOf" srcId="{A64A8141-8531-403D-B402-0A813F76D387}" destId="{9F3C44DB-7786-452A-8820-A2CA46EF21E7}" srcOrd="7" destOrd="0" presId="urn:microsoft.com/office/officeart/2008/layout/VerticalCurvedList"/>
    <dgm:cxn modelId="{B9E43318-6E12-4CBF-8B87-3A034C147E9D}" type="presParOf" srcId="{A64A8141-8531-403D-B402-0A813F76D387}" destId="{D2C86652-70EE-4C68-9119-CB0782D86D40}" srcOrd="8" destOrd="0" presId="urn:microsoft.com/office/officeart/2008/layout/VerticalCurvedList"/>
    <dgm:cxn modelId="{440CDB6B-D286-43D7-A8EC-74DF7791F224}" type="presParOf" srcId="{D2C86652-70EE-4C68-9119-CB0782D86D40}" destId="{43AC0EA1-D545-47D4-985E-07C91EBD6BBD}" srcOrd="0" destOrd="0" presId="urn:microsoft.com/office/officeart/2008/layout/VerticalCurvedList"/>
    <dgm:cxn modelId="{0BF5529A-90A3-48DC-BA4E-739E522FB9BC}" type="presParOf" srcId="{A64A8141-8531-403D-B402-0A813F76D387}" destId="{CFAD6485-486B-4D5D-BFB1-31C3CBB66F98}" srcOrd="9" destOrd="0" presId="urn:microsoft.com/office/officeart/2008/layout/VerticalCurvedList"/>
    <dgm:cxn modelId="{E27D4B44-BD9F-4DA1-8D70-587C90E96E5F}" type="presParOf" srcId="{A64A8141-8531-403D-B402-0A813F76D387}" destId="{9AE79EBF-B205-48E7-B70D-B7367E8690F3}" srcOrd="10" destOrd="0" presId="urn:microsoft.com/office/officeart/2008/layout/VerticalCurvedList"/>
    <dgm:cxn modelId="{02DA4035-C2FD-4631-82A5-02E6AC6272D5}" type="presParOf" srcId="{9AE79EBF-B205-48E7-B70D-B7367E8690F3}" destId="{BF7085C7-35D4-4051-A8C0-7D0871C7FC61}" srcOrd="0" destOrd="0" presId="urn:microsoft.com/office/officeart/2008/layout/VerticalCurv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r>
            <a:rPr lang="en-US"/>
            <a:t>   </a:t>
          </a: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endParaRPr lang="en-US" sz="1800" b="1"/>
        </a:p>
        <a:p>
          <a:pPr algn="l"/>
          <a:r>
            <a:rPr lang="en-US" sz="1800" b="1"/>
            <a:t>Leverages Existing Capabilities</a:t>
          </a:r>
          <a:endParaRPr lang="en-US" sz="1400"/>
        </a:p>
        <a:p>
          <a:pPr algn="l"/>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endParaRPr lang="en-US" sz="1500" b="1"/>
        </a:p>
        <a:p>
          <a:pPr algn="r"/>
          <a:r>
            <a:rPr lang="en-US" sz="1800" b="1"/>
            <a:t>Expands Into New Markets</a:t>
          </a:r>
        </a:p>
        <a:p>
          <a:pPr algn="r"/>
          <a:r>
            <a:rPr lang="en-US" sz="1400"/>
            <a:t>There is little direct competition providing end-to-end administration of utility-owned residential battery fleets. This positions APTIM to establish a differentiated offering within the growing demand response and distributed energy resources market.</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r>
            <a:rPr lang="en-US" sz="1800" b="1"/>
            <a:t>Scales Through Existing Relationships </a:t>
          </a:r>
        </a:p>
        <a:p>
          <a:pPr algn="l"/>
          <a:r>
            <a:rPr lang="en-US" sz="14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00076127-CDAD-4238-9685-A707C77462D1}">
      <dgm:prSet custT="1"/>
      <dgm:spPr/>
      <dgm:t>
        <a:bodyPr/>
        <a:lstStyle/>
        <a:p>
          <a:pPr algn="r"/>
          <a:r>
            <a:rPr lang="en-US" sz="1800" b="1"/>
            <a:t>Creates Resilient Revenue Streams</a:t>
          </a:r>
        </a:p>
        <a:p>
          <a:pPr algn="r"/>
          <a:r>
            <a:rPr lang="en-US" sz="1400"/>
            <a:t>This program shifts funding away from grants and incentives toward utility infrastructure investments. Reducing reliance on uncertain federal funding creates a more stable revenue source while supporting grid resilience goals.</a:t>
          </a:r>
        </a:p>
        <a:p>
          <a:pPr algn="r"/>
          <a:endParaRPr lang="en-US" sz="1400"/>
        </a:p>
      </dgm:t>
    </dgm:pt>
    <dgm:pt modelId="{A14B9147-F315-4E42-81EE-B95F9B5404D3}" type="parTrans" cxnId="{33353EC6-9D7C-4FB2-BED0-32060656DC07}">
      <dgm:prSet/>
      <dgm:spPr/>
      <dgm:t>
        <a:bodyPr/>
        <a:lstStyle/>
        <a:p>
          <a:endParaRPr lang="en-US"/>
        </a:p>
      </dgm:t>
    </dgm:pt>
    <dgm:pt modelId="{E443308B-D048-4A4A-84C2-4C0E9C349663}" type="sibTrans" cxnId="{33353EC6-9D7C-4FB2-BED0-32060656DC0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B2A42918-73C6-4D77-A3FB-06E7C21487AA}" type="presOf" srcId="{A57EBB6D-D543-44DF-BDF5-1C08C9EB31EB}" destId="{5917CBDD-A583-4693-AB9B-106C5A766EEA}" srcOrd="1" destOrd="0" presId="urn:microsoft.com/office/officeart/2005/8/layout/matrix1"/>
    <dgm:cxn modelId="{144E9023-7BB5-4AE7-9A0B-DECE2755E6FF}" type="presOf" srcId="{00076127-CDAD-4238-9685-A707C77462D1}" destId="{B5B8AC5F-E43F-4CC0-988F-21512A2D9A02}" srcOrd="1" destOrd="0" presId="urn:microsoft.com/office/officeart/2005/8/layout/matrix1"/>
    <dgm:cxn modelId="{7B751335-941B-4F14-98C3-0A87E6578193}" type="presOf" srcId="{0F31FB71-9799-448E-9BF2-101CA04F4FAD}" destId="{FEC0AA9B-5D03-4F81-AD7F-572D00FA9EA9}" srcOrd="0" destOrd="0" presId="urn:microsoft.com/office/officeart/2005/8/layout/matrix1"/>
    <dgm:cxn modelId="{5F81603C-0BAC-49A7-AA65-38AB1024B618}" type="presOf" srcId="{00076127-CDAD-4238-9685-A707C77462D1}" destId="{F0217417-7472-463C-831C-1C5DF6C2E09B}" srcOrd="0" destOrd="0" presId="urn:microsoft.com/office/officeart/2005/8/layout/matrix1"/>
    <dgm:cxn modelId="{E5D9E43F-E1B2-4BC4-898C-645B5FFE40F0}" type="presOf" srcId="{E9BE064B-2F49-4A8C-8A36-698DABD07017}" destId="{5C165AFF-2126-4842-86A3-BA0B41072E73}" srcOrd="0" destOrd="0" presId="urn:microsoft.com/office/officeart/2005/8/layout/matrix1"/>
    <dgm:cxn modelId="{2FD7B162-5EE6-433D-8B9A-147FC167A8E3}" type="presOf" srcId="{A57EBB6D-D543-44DF-BDF5-1C08C9EB31EB}" destId="{C1A07BBF-19DB-47F4-9F21-3C0561070890}" srcOrd="0" destOrd="0" presId="urn:microsoft.com/office/officeart/2005/8/layout/matrix1"/>
    <dgm:cxn modelId="{71A60278-CBFF-4EF4-9957-11FD164B6195}" type="presOf" srcId="{97C2E1FC-B64D-459B-93DE-177F9745D912}" destId="{112ECAE4-7AC8-4FA3-8B8F-551C4FD20EFF}" srcOrd="0"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4743E09C-BCD1-4491-AFC0-5C50D57FA172}" type="presOf" srcId="{5E1BBE66-22D8-480D-9DF9-D5528F07122D}" destId="{A0F27E1B-455B-4D7E-AD7B-40CBDA5C618A}" srcOrd="0" destOrd="0" presId="urn:microsoft.com/office/officeart/2005/8/layout/matrix1"/>
    <dgm:cxn modelId="{33353EC6-9D7C-4FB2-BED0-32060656DC07}" srcId="{E9BE064B-2F49-4A8C-8A36-698DABD07017}" destId="{00076127-CDAD-4238-9685-A707C77462D1}" srcOrd="3" destOrd="0" parTransId="{A14B9147-F315-4E42-81EE-B95F9B5404D3}" sibTransId="{E443308B-D048-4A4A-84C2-4C0E9C349663}"/>
    <dgm:cxn modelId="{528883C7-1006-4531-B7F0-7BCE497A0FA0}" srcId="{E9BE064B-2F49-4A8C-8A36-698DABD07017}" destId="{A57EBB6D-D543-44DF-BDF5-1C08C9EB31EB}" srcOrd="1" destOrd="0" parTransId="{0EEADD4E-A063-4265-BC03-1F5AE13BF8DE}" sibTransId="{0E76BE03-3C24-4030-B3BD-698C235F6E52}"/>
    <dgm:cxn modelId="{901077D0-9709-40E0-AC2E-AD37C8176AFE}" srcId="{E9BE064B-2F49-4A8C-8A36-698DABD07017}" destId="{97C2E1FC-B64D-459B-93DE-177F9745D912}" srcOrd="2" destOrd="0" parTransId="{918470C9-B870-4C0C-81E6-29F4AC14412F}" sibTransId="{1ECC4728-FD9A-41F5-B76A-C69BD944B462}"/>
    <dgm:cxn modelId="{4FBCEAD3-3B52-46F9-9D15-E8067D9EAA6F}" type="presOf" srcId="{5E1BBE66-22D8-480D-9DF9-D5528F07122D}" destId="{D8126E92-42E9-42FB-8F6D-202410B15B26}" srcOrd="1" destOrd="0" presId="urn:microsoft.com/office/officeart/2005/8/layout/matrix1"/>
    <dgm:cxn modelId="{281958FA-CA61-4622-AB12-28960F8B3B14}" type="presOf" srcId="{97C2E1FC-B64D-459B-93DE-177F9745D912}" destId="{875BDCF6-7B33-4626-B395-126961013AFC}" srcOrd="1" destOrd="0" presId="urn:microsoft.com/office/officeart/2005/8/layout/matrix1"/>
    <dgm:cxn modelId="{E4CD2A79-EA20-4751-ADFE-8D25B1AD064B}" type="presParOf" srcId="{FEC0AA9B-5D03-4F81-AD7F-572D00FA9EA9}" destId="{B625AA73-A0A1-45A7-BDFC-EBB7FEDDF9BB}" srcOrd="0" destOrd="0" presId="urn:microsoft.com/office/officeart/2005/8/layout/matrix1"/>
    <dgm:cxn modelId="{720EF94E-DCD6-47D9-9181-EE2701D93BF8}" type="presParOf" srcId="{B625AA73-A0A1-45A7-BDFC-EBB7FEDDF9BB}" destId="{A0F27E1B-455B-4D7E-AD7B-40CBDA5C618A}" srcOrd="0" destOrd="0" presId="urn:microsoft.com/office/officeart/2005/8/layout/matrix1"/>
    <dgm:cxn modelId="{212B2C3B-9AA1-43A3-9260-B53777C22F7E}" type="presParOf" srcId="{B625AA73-A0A1-45A7-BDFC-EBB7FEDDF9BB}" destId="{D8126E92-42E9-42FB-8F6D-202410B15B26}" srcOrd="1" destOrd="0" presId="urn:microsoft.com/office/officeart/2005/8/layout/matrix1"/>
    <dgm:cxn modelId="{3B53EFA0-7D78-40DF-9135-38680D1C5FEF}" type="presParOf" srcId="{B625AA73-A0A1-45A7-BDFC-EBB7FEDDF9BB}" destId="{C1A07BBF-19DB-47F4-9F21-3C0561070890}" srcOrd="2" destOrd="0" presId="urn:microsoft.com/office/officeart/2005/8/layout/matrix1"/>
    <dgm:cxn modelId="{A9DC49E4-07D0-4938-98BC-DA1AF6E7F294}" type="presParOf" srcId="{B625AA73-A0A1-45A7-BDFC-EBB7FEDDF9BB}" destId="{5917CBDD-A583-4693-AB9B-106C5A766EEA}" srcOrd="3" destOrd="0" presId="urn:microsoft.com/office/officeart/2005/8/layout/matrix1"/>
    <dgm:cxn modelId="{2752875F-73F0-4A7E-B915-C2123945D0F1}" type="presParOf" srcId="{B625AA73-A0A1-45A7-BDFC-EBB7FEDDF9BB}" destId="{112ECAE4-7AC8-4FA3-8B8F-551C4FD20EFF}" srcOrd="4" destOrd="0" presId="urn:microsoft.com/office/officeart/2005/8/layout/matrix1"/>
    <dgm:cxn modelId="{8A018CC6-995D-44C4-8443-911CAC7ABF22}" type="presParOf" srcId="{B625AA73-A0A1-45A7-BDFC-EBB7FEDDF9BB}" destId="{875BDCF6-7B33-4626-B395-126961013AFC}" srcOrd="5" destOrd="0" presId="urn:microsoft.com/office/officeart/2005/8/layout/matrix1"/>
    <dgm:cxn modelId="{BE882077-0677-4F93-8288-33DAEC21CA8A}" type="presParOf" srcId="{B625AA73-A0A1-45A7-BDFC-EBB7FEDDF9BB}" destId="{F0217417-7472-463C-831C-1C5DF6C2E09B}" srcOrd="6" destOrd="0" presId="urn:microsoft.com/office/officeart/2005/8/layout/matrix1"/>
    <dgm:cxn modelId="{523F1411-03B8-4E40-8B28-970614CB4108}" type="presParOf" srcId="{B625AA73-A0A1-45A7-BDFC-EBB7FEDDF9BB}" destId="{B5B8AC5F-E43F-4CC0-988F-21512A2D9A02}" srcOrd="7" destOrd="0" presId="urn:microsoft.com/office/officeart/2005/8/layout/matrix1"/>
    <dgm:cxn modelId="{D8DB6A37-7E0E-44CC-A847-632DF6D64F16}"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8A0C0BF-B40B-45F9-ADF4-8E0F35B0270B}" type="doc">
      <dgm:prSet loTypeId="urn:microsoft.com/office/officeart/2005/8/layout/balance1" loCatId="relationship" qsTypeId="urn:microsoft.com/office/officeart/2005/8/quickstyle/simple1" qsCatId="simple" csTypeId="urn:microsoft.com/office/officeart/2005/8/colors/accent1_2" csCatId="accent1" phldr="1"/>
      <dgm:spPr/>
      <dgm:t>
        <a:bodyPr/>
        <a:lstStyle/>
        <a:p>
          <a:endParaRPr lang="en-US"/>
        </a:p>
      </dgm:t>
    </dgm:pt>
    <dgm:pt modelId="{0EDBB141-A4B1-40B7-8159-ECE65141AC14}">
      <dgm:prSet phldrT="[Text]" phldr="0"/>
      <dgm:spPr/>
      <dgm:t>
        <a:bodyPr/>
        <a:lstStyle/>
        <a:p>
          <a:r>
            <a:rPr lang="en-US"/>
            <a:t>Growing</a:t>
          </a:r>
        </a:p>
        <a:p>
          <a:r>
            <a:rPr lang="en-US"/>
            <a:t>Expectations </a:t>
          </a:r>
        </a:p>
      </dgm:t>
    </dgm:pt>
    <dgm:pt modelId="{0EED7239-4CE4-4CA7-98D2-344EF01FFA6D}" type="parTrans" cxnId="{EF779364-7C6B-4495-A975-6585E9A39209}">
      <dgm:prSet/>
      <dgm:spPr/>
      <dgm:t>
        <a:bodyPr/>
        <a:lstStyle/>
        <a:p>
          <a:endParaRPr lang="en-US"/>
        </a:p>
      </dgm:t>
    </dgm:pt>
    <dgm:pt modelId="{7EF9626C-C4EE-4B23-88E1-0BCDE0ADD6BB}" type="sibTrans" cxnId="{EF779364-7C6B-4495-A975-6585E9A39209}">
      <dgm:prSet/>
      <dgm:spPr/>
      <dgm:t>
        <a:bodyPr/>
        <a:lstStyle/>
        <a:p>
          <a:endParaRPr lang="en-US"/>
        </a:p>
      </dgm:t>
    </dgm:pt>
    <dgm:pt modelId="{5CFA97B4-7505-48BC-9194-A5C9540395FD}">
      <dgm:prSet phldrT="[Text]" phldr="0"/>
      <dgm:spPr/>
      <dgm:t>
        <a:bodyPr/>
        <a:lstStyle/>
        <a:p>
          <a:r>
            <a:rPr lang="en-US"/>
            <a:t>Sustainability Goals</a:t>
          </a:r>
        </a:p>
      </dgm:t>
    </dgm:pt>
    <dgm:pt modelId="{93602B81-FCCD-4F7B-88BD-971D3F3CB1C9}" type="parTrans" cxnId="{4AA4D83F-4BEA-40A3-891F-6734C1DE9CB2}">
      <dgm:prSet/>
      <dgm:spPr/>
      <dgm:t>
        <a:bodyPr/>
        <a:lstStyle/>
        <a:p>
          <a:endParaRPr lang="en-US"/>
        </a:p>
      </dgm:t>
    </dgm:pt>
    <dgm:pt modelId="{C8279A46-C57C-4A98-9EBB-F493E837DAC3}" type="sibTrans" cxnId="{4AA4D83F-4BEA-40A3-891F-6734C1DE9CB2}">
      <dgm:prSet/>
      <dgm:spPr/>
      <dgm:t>
        <a:bodyPr/>
        <a:lstStyle/>
        <a:p>
          <a:endParaRPr lang="en-US"/>
        </a:p>
      </dgm:t>
    </dgm:pt>
    <dgm:pt modelId="{8555DB84-FBC8-47EC-A4CB-E42CEF76F65B}">
      <dgm:prSet phldrT="[Text]" phldr="0"/>
      <dgm:spPr/>
      <dgm:t>
        <a:bodyPr/>
        <a:lstStyle/>
        <a:p>
          <a:r>
            <a:rPr lang="en-US"/>
            <a:t>Grid Resilience </a:t>
          </a:r>
        </a:p>
      </dgm:t>
    </dgm:pt>
    <dgm:pt modelId="{D999B981-B78E-498F-A848-032CFA9E52AB}" type="parTrans" cxnId="{E40F5533-BEBF-4F79-8B5A-72FC77A74FB4}">
      <dgm:prSet/>
      <dgm:spPr/>
      <dgm:t>
        <a:bodyPr/>
        <a:lstStyle/>
        <a:p>
          <a:endParaRPr lang="en-US"/>
        </a:p>
      </dgm:t>
    </dgm:pt>
    <dgm:pt modelId="{F91CDA83-8597-45E4-B877-3AD7FFFE599F}" type="sibTrans" cxnId="{E40F5533-BEBF-4F79-8B5A-72FC77A74FB4}">
      <dgm:prSet/>
      <dgm:spPr/>
      <dgm:t>
        <a:bodyPr/>
        <a:lstStyle/>
        <a:p>
          <a:endParaRPr lang="en-US"/>
        </a:p>
      </dgm:t>
    </dgm:pt>
    <dgm:pt modelId="{F8FE47E8-4E77-45DE-90D8-EE720DEF5CE4}">
      <dgm:prSet phldrT="[Text]" phldr="0"/>
      <dgm:spPr/>
      <dgm:t>
        <a:bodyPr/>
        <a:lstStyle/>
        <a:p>
          <a:r>
            <a:rPr lang="en-US"/>
            <a:t>Growing</a:t>
          </a:r>
        </a:p>
        <a:p>
          <a:r>
            <a:rPr lang="en-US"/>
            <a:t>Constraints</a:t>
          </a:r>
        </a:p>
      </dgm:t>
    </dgm:pt>
    <dgm:pt modelId="{13A1D8E8-23FB-4E08-94D5-75069901CCA9}" type="parTrans" cxnId="{10795458-6477-45C1-B7FA-CFDA4F8D6956}">
      <dgm:prSet/>
      <dgm:spPr/>
      <dgm:t>
        <a:bodyPr/>
        <a:lstStyle/>
        <a:p>
          <a:endParaRPr lang="en-US"/>
        </a:p>
      </dgm:t>
    </dgm:pt>
    <dgm:pt modelId="{A58877F1-C840-413D-A661-7AEFF7466F38}" type="sibTrans" cxnId="{10795458-6477-45C1-B7FA-CFDA4F8D6956}">
      <dgm:prSet/>
      <dgm:spPr/>
      <dgm:t>
        <a:bodyPr/>
        <a:lstStyle/>
        <a:p>
          <a:endParaRPr lang="en-US"/>
        </a:p>
      </dgm:t>
    </dgm:pt>
    <dgm:pt modelId="{70CB69E7-6A7E-4D8E-8AA6-884F84DB7DCD}">
      <dgm:prSet phldrT="[Text]" phldr="0"/>
      <dgm:spPr/>
      <dgm:t>
        <a:bodyPr/>
        <a:lstStyle/>
        <a:p>
          <a:r>
            <a:rPr lang="en-US"/>
            <a:t>Federal Funding </a:t>
          </a:r>
          <a:r>
            <a:rPr lang="en-US" err="1"/>
            <a:t>Avability</a:t>
          </a:r>
          <a:r>
            <a:rPr lang="en-US"/>
            <a:t> </a:t>
          </a:r>
        </a:p>
      </dgm:t>
    </dgm:pt>
    <dgm:pt modelId="{696A3168-D8D0-4112-AA03-6E136A19041E}" type="parTrans" cxnId="{6BEEA845-D96E-4C48-97C9-A975B3B3059F}">
      <dgm:prSet/>
      <dgm:spPr/>
      <dgm:t>
        <a:bodyPr/>
        <a:lstStyle/>
        <a:p>
          <a:endParaRPr lang="en-US"/>
        </a:p>
      </dgm:t>
    </dgm:pt>
    <dgm:pt modelId="{5B51C94B-1CF4-4DFA-8472-3B760B2098A0}" type="sibTrans" cxnId="{6BEEA845-D96E-4C48-97C9-A975B3B3059F}">
      <dgm:prSet/>
      <dgm:spPr/>
      <dgm:t>
        <a:bodyPr/>
        <a:lstStyle/>
        <a:p>
          <a:endParaRPr lang="en-US"/>
        </a:p>
      </dgm:t>
    </dgm:pt>
    <dgm:pt modelId="{00EB1388-0571-456C-B654-7D5CC224590D}">
      <dgm:prSet phldrT="[Text]" phldr="0"/>
      <dgm:spPr/>
      <dgm:t>
        <a:bodyPr/>
        <a:lstStyle/>
        <a:p>
          <a:r>
            <a:rPr lang="en-US"/>
            <a:t>Aging Infrastructure</a:t>
          </a:r>
        </a:p>
      </dgm:t>
    </dgm:pt>
    <dgm:pt modelId="{BD4177A6-474A-4799-926E-CD9265F9D0A8}" type="parTrans" cxnId="{620FAEA3-A167-433D-9F3C-D058933DE2EA}">
      <dgm:prSet/>
      <dgm:spPr/>
      <dgm:t>
        <a:bodyPr/>
        <a:lstStyle/>
        <a:p>
          <a:endParaRPr lang="en-US"/>
        </a:p>
      </dgm:t>
    </dgm:pt>
    <dgm:pt modelId="{592E793D-D316-4BEE-8BEA-C8984B3FA364}" type="sibTrans" cxnId="{620FAEA3-A167-433D-9F3C-D058933DE2EA}">
      <dgm:prSet/>
      <dgm:spPr/>
      <dgm:t>
        <a:bodyPr/>
        <a:lstStyle/>
        <a:p>
          <a:endParaRPr lang="en-US"/>
        </a:p>
      </dgm:t>
    </dgm:pt>
    <dgm:pt modelId="{C9553389-3DDF-4020-93B5-53DCDD383042}">
      <dgm:prSet phldrT="[Text]" phldr="0"/>
      <dgm:spPr/>
      <dgm:t>
        <a:bodyPr/>
        <a:lstStyle/>
        <a:p>
          <a:r>
            <a:rPr lang="en-US"/>
            <a:t>Increased operational complexity</a:t>
          </a:r>
        </a:p>
      </dgm:t>
    </dgm:pt>
    <dgm:pt modelId="{F30ADAA7-0FFD-43CC-BC3A-857FDDD3E4D3}" type="parTrans" cxnId="{B8116DB8-078F-4591-BACD-F3D6630C139D}">
      <dgm:prSet/>
      <dgm:spPr/>
      <dgm:t>
        <a:bodyPr/>
        <a:lstStyle/>
        <a:p>
          <a:endParaRPr lang="en-US"/>
        </a:p>
      </dgm:t>
    </dgm:pt>
    <dgm:pt modelId="{631D86AE-4F8F-48AE-8057-36A678DAC873}" type="sibTrans" cxnId="{B8116DB8-078F-4591-BACD-F3D6630C139D}">
      <dgm:prSet/>
      <dgm:spPr/>
      <dgm:t>
        <a:bodyPr/>
        <a:lstStyle/>
        <a:p>
          <a:endParaRPr lang="en-US"/>
        </a:p>
      </dgm:t>
    </dgm:pt>
    <dgm:pt modelId="{1F986BB0-A67E-4209-A2C7-625638279F3A}">
      <dgm:prSet phldrT="[Text]" phldr="0"/>
      <dgm:spPr/>
      <dgm:t>
        <a:bodyPr/>
        <a:lstStyle/>
        <a:p>
          <a:r>
            <a:rPr lang="en-US"/>
            <a:t>Energy Efficiency </a:t>
          </a:r>
        </a:p>
      </dgm:t>
    </dgm:pt>
    <dgm:pt modelId="{A529A00F-3F39-432A-889E-F5CDB83934A2}" type="parTrans" cxnId="{B44DB256-52C9-46E3-9821-1EC5014323E8}">
      <dgm:prSet/>
      <dgm:spPr/>
      <dgm:t>
        <a:bodyPr/>
        <a:lstStyle/>
        <a:p>
          <a:endParaRPr lang="en-US"/>
        </a:p>
      </dgm:t>
    </dgm:pt>
    <dgm:pt modelId="{FD13D8F5-D752-49F9-A7BB-A182EAE197EB}" type="sibTrans" cxnId="{B44DB256-52C9-46E3-9821-1EC5014323E8}">
      <dgm:prSet/>
      <dgm:spPr/>
      <dgm:t>
        <a:bodyPr/>
        <a:lstStyle/>
        <a:p>
          <a:endParaRPr lang="en-US"/>
        </a:p>
      </dgm:t>
    </dgm:pt>
    <dgm:pt modelId="{291E0261-83AB-4F71-8D2F-06CC95765F25}">
      <dgm:prSet phldrT="[Text]" phldr="0"/>
      <dgm:spPr/>
      <dgm:t>
        <a:bodyPr/>
        <a:lstStyle/>
        <a:p>
          <a:r>
            <a:rPr lang="en-US"/>
            <a:t>Incentive structure changes</a:t>
          </a:r>
        </a:p>
      </dgm:t>
    </dgm:pt>
    <dgm:pt modelId="{CF5D7909-19E9-4521-A879-04220E800709}" type="parTrans" cxnId="{68019E6C-4D87-4A43-8D62-CFFBD520FCDE}">
      <dgm:prSet/>
      <dgm:spPr/>
      <dgm:t>
        <a:bodyPr/>
        <a:lstStyle/>
        <a:p>
          <a:endParaRPr lang="en-US"/>
        </a:p>
      </dgm:t>
    </dgm:pt>
    <dgm:pt modelId="{A38B980B-B137-4BB5-9F06-1152BCD74A29}" type="sibTrans" cxnId="{68019E6C-4D87-4A43-8D62-CFFBD520FCDE}">
      <dgm:prSet/>
      <dgm:spPr/>
      <dgm:t>
        <a:bodyPr/>
        <a:lstStyle/>
        <a:p>
          <a:endParaRPr lang="en-US"/>
        </a:p>
      </dgm:t>
    </dgm:pt>
    <dgm:pt modelId="{1748CBAA-EF1B-4A7E-83C7-C25E9E43F623}" type="pres">
      <dgm:prSet presAssocID="{58A0C0BF-B40B-45F9-ADF4-8E0F35B0270B}" presName="outerComposite" presStyleCnt="0">
        <dgm:presLayoutVars>
          <dgm:chMax val="2"/>
          <dgm:animLvl val="lvl"/>
          <dgm:resizeHandles val="exact"/>
        </dgm:presLayoutVars>
      </dgm:prSet>
      <dgm:spPr/>
    </dgm:pt>
    <dgm:pt modelId="{D0D9CA91-09FB-4D45-AAB8-D8CFFEC7FD43}" type="pres">
      <dgm:prSet presAssocID="{58A0C0BF-B40B-45F9-ADF4-8E0F35B0270B}" presName="dummyMaxCanvas" presStyleCnt="0"/>
      <dgm:spPr/>
    </dgm:pt>
    <dgm:pt modelId="{34C368C8-A8FF-4F73-A3BC-A554431C8F57}" type="pres">
      <dgm:prSet presAssocID="{58A0C0BF-B40B-45F9-ADF4-8E0F35B0270B}" presName="parentComposite" presStyleCnt="0"/>
      <dgm:spPr/>
    </dgm:pt>
    <dgm:pt modelId="{0C2C8C18-BB22-48A0-ADF5-548946CDC08F}" type="pres">
      <dgm:prSet presAssocID="{58A0C0BF-B40B-45F9-ADF4-8E0F35B0270B}" presName="parent1" presStyleLbl="alignAccFollowNode1" presStyleIdx="0" presStyleCnt="4" custLinFactNeighborX="7605" custLinFactNeighborY="61367">
        <dgm:presLayoutVars>
          <dgm:chMax val="4"/>
        </dgm:presLayoutVars>
      </dgm:prSet>
      <dgm:spPr/>
    </dgm:pt>
    <dgm:pt modelId="{3EFDE569-E59E-49B1-928E-B5FDAFF8D823}" type="pres">
      <dgm:prSet presAssocID="{58A0C0BF-B40B-45F9-ADF4-8E0F35B0270B}" presName="parent2" presStyleLbl="alignAccFollowNode1" presStyleIdx="1" presStyleCnt="4" custLinFactNeighborX="11364" custLinFactNeighborY="20456">
        <dgm:presLayoutVars>
          <dgm:chMax val="4"/>
        </dgm:presLayoutVars>
      </dgm:prSet>
      <dgm:spPr/>
    </dgm:pt>
    <dgm:pt modelId="{14522FFE-A6A2-4556-A060-B198680196E7}" type="pres">
      <dgm:prSet presAssocID="{58A0C0BF-B40B-45F9-ADF4-8E0F35B0270B}" presName="childrenComposite" presStyleCnt="0"/>
      <dgm:spPr/>
    </dgm:pt>
    <dgm:pt modelId="{45BCB825-8049-41D4-85D3-AB496D15C016}" type="pres">
      <dgm:prSet presAssocID="{58A0C0BF-B40B-45F9-ADF4-8E0F35B0270B}" presName="dummyMaxCanvas_ChildArea" presStyleCnt="0"/>
      <dgm:spPr/>
    </dgm:pt>
    <dgm:pt modelId="{1F2A4381-1A38-4FCC-B197-636ADD36617A}" type="pres">
      <dgm:prSet presAssocID="{58A0C0BF-B40B-45F9-ADF4-8E0F35B0270B}" presName="fulcrum" presStyleLbl="alignAccFollowNode1" presStyleIdx="2" presStyleCnt="4"/>
      <dgm:spPr/>
    </dgm:pt>
    <dgm:pt modelId="{ECE89A2D-1D2B-4548-BC78-71F9C54134DA}" type="pres">
      <dgm:prSet presAssocID="{58A0C0BF-B40B-45F9-ADF4-8E0F35B0270B}" presName="balance_34" presStyleLbl="alignAccFollowNode1" presStyleIdx="3" presStyleCnt="4">
        <dgm:presLayoutVars>
          <dgm:bulletEnabled val="1"/>
        </dgm:presLayoutVars>
      </dgm:prSet>
      <dgm:spPr/>
    </dgm:pt>
    <dgm:pt modelId="{83A25950-3C51-4F31-A3C1-86C38489660E}" type="pres">
      <dgm:prSet presAssocID="{58A0C0BF-B40B-45F9-ADF4-8E0F35B0270B}" presName="right_34_1" presStyleLbl="node1" presStyleIdx="0" presStyleCnt="7">
        <dgm:presLayoutVars>
          <dgm:bulletEnabled val="1"/>
        </dgm:presLayoutVars>
      </dgm:prSet>
      <dgm:spPr/>
    </dgm:pt>
    <dgm:pt modelId="{178D41AC-DF01-44B8-91F8-2D35A8A99493}" type="pres">
      <dgm:prSet presAssocID="{58A0C0BF-B40B-45F9-ADF4-8E0F35B0270B}" presName="right_34_2" presStyleLbl="node1" presStyleIdx="1" presStyleCnt="7">
        <dgm:presLayoutVars>
          <dgm:bulletEnabled val="1"/>
        </dgm:presLayoutVars>
      </dgm:prSet>
      <dgm:spPr/>
    </dgm:pt>
    <dgm:pt modelId="{9669FBE4-1A05-4A2A-ABA1-47D943FFC35F}" type="pres">
      <dgm:prSet presAssocID="{58A0C0BF-B40B-45F9-ADF4-8E0F35B0270B}" presName="right_34_3" presStyleLbl="node1" presStyleIdx="2" presStyleCnt="7">
        <dgm:presLayoutVars>
          <dgm:bulletEnabled val="1"/>
        </dgm:presLayoutVars>
      </dgm:prSet>
      <dgm:spPr/>
    </dgm:pt>
    <dgm:pt modelId="{D3419466-971C-48A4-840E-53E8156ADD97}" type="pres">
      <dgm:prSet presAssocID="{58A0C0BF-B40B-45F9-ADF4-8E0F35B0270B}" presName="right_34_4" presStyleLbl="node1" presStyleIdx="3" presStyleCnt="7">
        <dgm:presLayoutVars>
          <dgm:bulletEnabled val="1"/>
        </dgm:presLayoutVars>
      </dgm:prSet>
      <dgm:spPr/>
    </dgm:pt>
    <dgm:pt modelId="{8FFAE1D4-E0FD-436A-AFC2-F01A6BA71817}" type="pres">
      <dgm:prSet presAssocID="{58A0C0BF-B40B-45F9-ADF4-8E0F35B0270B}" presName="left_34_1" presStyleLbl="node1" presStyleIdx="4" presStyleCnt="7">
        <dgm:presLayoutVars>
          <dgm:bulletEnabled val="1"/>
        </dgm:presLayoutVars>
      </dgm:prSet>
      <dgm:spPr/>
    </dgm:pt>
    <dgm:pt modelId="{E0232CA3-3AC9-4DBC-8C9E-C4B514E62587}" type="pres">
      <dgm:prSet presAssocID="{58A0C0BF-B40B-45F9-ADF4-8E0F35B0270B}" presName="left_34_2" presStyleLbl="node1" presStyleIdx="5" presStyleCnt="7">
        <dgm:presLayoutVars>
          <dgm:bulletEnabled val="1"/>
        </dgm:presLayoutVars>
      </dgm:prSet>
      <dgm:spPr/>
    </dgm:pt>
    <dgm:pt modelId="{3D080DC1-C13B-473A-93F7-A89C5C67EC88}" type="pres">
      <dgm:prSet presAssocID="{58A0C0BF-B40B-45F9-ADF4-8E0F35B0270B}" presName="left_34_3" presStyleLbl="node1" presStyleIdx="6" presStyleCnt="7">
        <dgm:presLayoutVars>
          <dgm:bulletEnabled val="1"/>
        </dgm:presLayoutVars>
      </dgm:prSet>
      <dgm:spPr/>
    </dgm:pt>
  </dgm:ptLst>
  <dgm:cxnLst>
    <dgm:cxn modelId="{E40F5533-BEBF-4F79-8B5A-72FC77A74FB4}" srcId="{0EDBB141-A4B1-40B7-8159-ECE65141AC14}" destId="{8555DB84-FBC8-47EC-A4CB-E42CEF76F65B}" srcOrd="1" destOrd="0" parTransId="{D999B981-B78E-498F-A848-032CFA9E52AB}" sibTransId="{F91CDA83-8597-45E4-B877-3AD7FFFE599F}"/>
    <dgm:cxn modelId="{04628839-3116-42FA-9D80-E850FBA52460}" type="presOf" srcId="{F8FE47E8-4E77-45DE-90D8-EE720DEF5CE4}" destId="{3EFDE569-E59E-49B1-928E-B5FDAFF8D823}" srcOrd="0" destOrd="0" presId="urn:microsoft.com/office/officeart/2005/8/layout/balance1"/>
    <dgm:cxn modelId="{4264CA3A-F2AE-4531-86B5-7FCA03458A4E}" type="presOf" srcId="{5CFA97B4-7505-48BC-9194-A5C9540395FD}" destId="{8FFAE1D4-E0FD-436A-AFC2-F01A6BA71817}" srcOrd="0" destOrd="0" presId="urn:microsoft.com/office/officeart/2005/8/layout/balance1"/>
    <dgm:cxn modelId="{4AA4D83F-4BEA-40A3-891F-6734C1DE9CB2}" srcId="{0EDBB141-A4B1-40B7-8159-ECE65141AC14}" destId="{5CFA97B4-7505-48BC-9194-A5C9540395FD}" srcOrd="0" destOrd="0" parTransId="{93602B81-FCCD-4F7B-88BD-971D3F3CB1C9}" sibTransId="{C8279A46-C57C-4A98-9EBB-F493E837DAC3}"/>
    <dgm:cxn modelId="{AC69185D-6C18-4FEF-8BA3-854ABAE452E5}" type="presOf" srcId="{70CB69E7-6A7E-4D8E-8AA6-884F84DB7DCD}" destId="{83A25950-3C51-4F31-A3C1-86C38489660E}" srcOrd="0" destOrd="0" presId="urn:microsoft.com/office/officeart/2005/8/layout/balance1"/>
    <dgm:cxn modelId="{EF779364-7C6B-4495-A975-6585E9A39209}" srcId="{58A0C0BF-B40B-45F9-ADF4-8E0F35B0270B}" destId="{0EDBB141-A4B1-40B7-8159-ECE65141AC14}" srcOrd="0" destOrd="0" parTransId="{0EED7239-4CE4-4CA7-98D2-344EF01FFA6D}" sibTransId="{7EF9626C-C4EE-4B23-88E1-0BCDE0ADD6BB}"/>
    <dgm:cxn modelId="{6BEEA845-D96E-4C48-97C9-A975B3B3059F}" srcId="{F8FE47E8-4E77-45DE-90D8-EE720DEF5CE4}" destId="{70CB69E7-6A7E-4D8E-8AA6-884F84DB7DCD}" srcOrd="0" destOrd="0" parTransId="{696A3168-D8D0-4112-AA03-6E136A19041E}" sibTransId="{5B51C94B-1CF4-4DFA-8472-3B760B2098A0}"/>
    <dgm:cxn modelId="{68019E6C-4D87-4A43-8D62-CFFBD520FCDE}" srcId="{F8FE47E8-4E77-45DE-90D8-EE720DEF5CE4}" destId="{291E0261-83AB-4F71-8D2F-06CC95765F25}" srcOrd="3" destOrd="0" parTransId="{CF5D7909-19E9-4521-A879-04220E800709}" sibTransId="{A38B980B-B137-4BB5-9F06-1152BCD74A29}"/>
    <dgm:cxn modelId="{9BE57455-59DB-4DE4-B78C-8CA8E24CC19A}" type="presOf" srcId="{8555DB84-FBC8-47EC-A4CB-E42CEF76F65B}" destId="{E0232CA3-3AC9-4DBC-8C9E-C4B514E62587}" srcOrd="0" destOrd="0" presId="urn:microsoft.com/office/officeart/2005/8/layout/balance1"/>
    <dgm:cxn modelId="{B44DB256-52C9-46E3-9821-1EC5014323E8}" srcId="{0EDBB141-A4B1-40B7-8159-ECE65141AC14}" destId="{1F986BB0-A67E-4209-A2C7-625638279F3A}" srcOrd="2" destOrd="0" parTransId="{A529A00F-3F39-432A-889E-F5CDB83934A2}" sibTransId="{FD13D8F5-D752-49F9-A7BB-A182EAE197EB}"/>
    <dgm:cxn modelId="{10795458-6477-45C1-B7FA-CFDA4F8D6956}" srcId="{58A0C0BF-B40B-45F9-ADF4-8E0F35B0270B}" destId="{F8FE47E8-4E77-45DE-90D8-EE720DEF5CE4}" srcOrd="1" destOrd="0" parTransId="{13A1D8E8-23FB-4E08-94D5-75069901CCA9}" sibTransId="{A58877F1-C840-413D-A661-7AEFF7466F38}"/>
    <dgm:cxn modelId="{4FC0B87F-351C-401C-A53B-C0415148598A}" type="presOf" srcId="{0EDBB141-A4B1-40B7-8159-ECE65141AC14}" destId="{0C2C8C18-BB22-48A0-ADF5-548946CDC08F}" srcOrd="0" destOrd="0" presId="urn:microsoft.com/office/officeart/2005/8/layout/balance1"/>
    <dgm:cxn modelId="{56770492-1535-4C19-9B9D-9A8E6B8937AB}" type="presOf" srcId="{291E0261-83AB-4F71-8D2F-06CC95765F25}" destId="{D3419466-971C-48A4-840E-53E8156ADD97}" srcOrd="0" destOrd="0" presId="urn:microsoft.com/office/officeart/2005/8/layout/balance1"/>
    <dgm:cxn modelId="{620FAEA3-A167-433D-9F3C-D058933DE2EA}" srcId="{F8FE47E8-4E77-45DE-90D8-EE720DEF5CE4}" destId="{00EB1388-0571-456C-B654-7D5CC224590D}" srcOrd="1" destOrd="0" parTransId="{BD4177A6-474A-4799-926E-CD9265F9D0A8}" sibTransId="{592E793D-D316-4BEE-8BEA-C8984B3FA364}"/>
    <dgm:cxn modelId="{2C9103B1-A6C0-44D6-9D43-02496F4EE59A}" type="presOf" srcId="{1F986BB0-A67E-4209-A2C7-625638279F3A}" destId="{3D080DC1-C13B-473A-93F7-A89C5C67EC88}" srcOrd="0" destOrd="0" presId="urn:microsoft.com/office/officeart/2005/8/layout/balance1"/>
    <dgm:cxn modelId="{B8116DB8-078F-4591-BACD-F3D6630C139D}" srcId="{F8FE47E8-4E77-45DE-90D8-EE720DEF5CE4}" destId="{C9553389-3DDF-4020-93B5-53DCDD383042}" srcOrd="2" destOrd="0" parTransId="{F30ADAA7-0FFD-43CC-BC3A-857FDDD3E4D3}" sibTransId="{631D86AE-4F8F-48AE-8057-36A678DAC873}"/>
    <dgm:cxn modelId="{2C918FBC-7F58-4B5B-85F7-B54CE22A6509}" type="presOf" srcId="{00EB1388-0571-456C-B654-7D5CC224590D}" destId="{178D41AC-DF01-44B8-91F8-2D35A8A99493}" srcOrd="0" destOrd="0" presId="urn:microsoft.com/office/officeart/2005/8/layout/balance1"/>
    <dgm:cxn modelId="{23FD65BF-555C-420A-BDE0-49BB6CACA4A2}" type="presOf" srcId="{C9553389-3DDF-4020-93B5-53DCDD383042}" destId="{9669FBE4-1A05-4A2A-ABA1-47D943FFC35F}" srcOrd="0" destOrd="0" presId="urn:microsoft.com/office/officeart/2005/8/layout/balance1"/>
    <dgm:cxn modelId="{05C7C2EE-832C-47F3-AD0A-6B97D81B04AD}" type="presOf" srcId="{58A0C0BF-B40B-45F9-ADF4-8E0F35B0270B}" destId="{1748CBAA-EF1B-4A7E-83C7-C25E9E43F623}" srcOrd="0" destOrd="0" presId="urn:microsoft.com/office/officeart/2005/8/layout/balance1"/>
    <dgm:cxn modelId="{0598B79E-FA6C-4002-BBBA-5A7E6876B68D}" type="presParOf" srcId="{1748CBAA-EF1B-4A7E-83C7-C25E9E43F623}" destId="{D0D9CA91-09FB-4D45-AAB8-D8CFFEC7FD43}" srcOrd="0" destOrd="0" presId="urn:microsoft.com/office/officeart/2005/8/layout/balance1"/>
    <dgm:cxn modelId="{D59BA340-B2B6-4A2F-8293-09EA8F184754}" type="presParOf" srcId="{1748CBAA-EF1B-4A7E-83C7-C25E9E43F623}" destId="{34C368C8-A8FF-4F73-A3BC-A554431C8F57}" srcOrd="1" destOrd="0" presId="urn:microsoft.com/office/officeart/2005/8/layout/balance1"/>
    <dgm:cxn modelId="{0F85873C-F23D-4771-A7EA-F9765D47D30B}" type="presParOf" srcId="{34C368C8-A8FF-4F73-A3BC-A554431C8F57}" destId="{0C2C8C18-BB22-48A0-ADF5-548946CDC08F}" srcOrd="0" destOrd="0" presId="urn:microsoft.com/office/officeart/2005/8/layout/balance1"/>
    <dgm:cxn modelId="{52E659EA-20E1-41B3-9B22-060E61DD2BDF}" type="presParOf" srcId="{34C368C8-A8FF-4F73-A3BC-A554431C8F57}" destId="{3EFDE569-E59E-49B1-928E-B5FDAFF8D823}" srcOrd="1" destOrd="0" presId="urn:microsoft.com/office/officeart/2005/8/layout/balance1"/>
    <dgm:cxn modelId="{C0CB6D9A-DF16-4DC0-AEB8-5CEE336C057F}" type="presParOf" srcId="{1748CBAA-EF1B-4A7E-83C7-C25E9E43F623}" destId="{14522FFE-A6A2-4556-A060-B198680196E7}" srcOrd="2" destOrd="0" presId="urn:microsoft.com/office/officeart/2005/8/layout/balance1"/>
    <dgm:cxn modelId="{4DC78CE8-1EA0-43B8-818D-6BC52313C5E9}" type="presParOf" srcId="{14522FFE-A6A2-4556-A060-B198680196E7}" destId="{45BCB825-8049-41D4-85D3-AB496D15C016}" srcOrd="0" destOrd="0" presId="urn:microsoft.com/office/officeart/2005/8/layout/balance1"/>
    <dgm:cxn modelId="{E6E8404F-F282-4980-875F-D92CEBA95165}" type="presParOf" srcId="{14522FFE-A6A2-4556-A060-B198680196E7}" destId="{1F2A4381-1A38-4FCC-B197-636ADD36617A}" srcOrd="1" destOrd="0" presId="urn:microsoft.com/office/officeart/2005/8/layout/balance1"/>
    <dgm:cxn modelId="{D06B7853-3D9B-419C-B873-7F00EE812329}" type="presParOf" srcId="{14522FFE-A6A2-4556-A060-B198680196E7}" destId="{ECE89A2D-1D2B-4548-BC78-71F9C54134DA}" srcOrd="2" destOrd="0" presId="urn:microsoft.com/office/officeart/2005/8/layout/balance1"/>
    <dgm:cxn modelId="{4AFABA27-3DA9-4B78-9439-AE513EE26D61}" type="presParOf" srcId="{14522FFE-A6A2-4556-A060-B198680196E7}" destId="{83A25950-3C51-4F31-A3C1-86C38489660E}" srcOrd="3" destOrd="0" presId="urn:microsoft.com/office/officeart/2005/8/layout/balance1"/>
    <dgm:cxn modelId="{D80E5461-DFB5-4724-BC13-75494805F5B4}" type="presParOf" srcId="{14522FFE-A6A2-4556-A060-B198680196E7}" destId="{178D41AC-DF01-44B8-91F8-2D35A8A99493}" srcOrd="4" destOrd="0" presId="urn:microsoft.com/office/officeart/2005/8/layout/balance1"/>
    <dgm:cxn modelId="{6036D29A-B962-4C05-B614-03E95D5D72CF}" type="presParOf" srcId="{14522FFE-A6A2-4556-A060-B198680196E7}" destId="{9669FBE4-1A05-4A2A-ABA1-47D943FFC35F}" srcOrd="5" destOrd="0" presId="urn:microsoft.com/office/officeart/2005/8/layout/balance1"/>
    <dgm:cxn modelId="{32FC0369-B014-426B-BA4D-B99F01EC69EF}" type="presParOf" srcId="{14522FFE-A6A2-4556-A060-B198680196E7}" destId="{D3419466-971C-48A4-840E-53E8156ADD97}" srcOrd="6" destOrd="0" presId="urn:microsoft.com/office/officeart/2005/8/layout/balance1"/>
    <dgm:cxn modelId="{8E654375-AE9B-436A-9B97-77F111CCFF2D}" type="presParOf" srcId="{14522FFE-A6A2-4556-A060-B198680196E7}" destId="{8FFAE1D4-E0FD-436A-AFC2-F01A6BA71817}" srcOrd="7" destOrd="0" presId="urn:microsoft.com/office/officeart/2005/8/layout/balance1"/>
    <dgm:cxn modelId="{E284E9A2-8A35-4F45-8923-F53A2170F09D}" type="presParOf" srcId="{14522FFE-A6A2-4556-A060-B198680196E7}" destId="{E0232CA3-3AC9-4DBC-8C9E-C4B514E62587}" srcOrd="8" destOrd="0" presId="urn:microsoft.com/office/officeart/2005/8/layout/balance1"/>
    <dgm:cxn modelId="{5158068E-EBDD-4C55-9984-057B2D89EE64}" type="presParOf" srcId="{14522FFE-A6A2-4556-A060-B198680196E7}" destId="{3D080DC1-C13B-473A-93F7-A89C5C67EC88}"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F310642-AF78-4539-AA2E-F9BD8922CD48}" type="doc">
      <dgm:prSet loTypeId="urn:microsoft.com/office/officeart/2005/8/layout/pyramid1" loCatId="pyramid" qsTypeId="urn:microsoft.com/office/officeart/2005/8/quickstyle/simple1" qsCatId="simple" csTypeId="urn:microsoft.com/office/officeart/2005/8/colors/accent1_2" csCatId="accent1" phldr="1"/>
      <dgm:spPr/>
      <dgm:t>
        <a:bodyPr/>
        <a:lstStyle/>
        <a:p>
          <a:endParaRPr lang="en-US"/>
        </a:p>
      </dgm:t>
    </dgm:pt>
    <dgm:pt modelId="{AC31465C-60DF-4225-A3B6-97DEB743B9A9}">
      <dgm:prSet phldrT="[Text]" phldr="0"/>
      <dgm:spPr/>
      <dgm:t>
        <a:bodyPr/>
        <a:lstStyle/>
        <a:p>
          <a:r>
            <a:rPr lang="en-US"/>
            <a:t>Allow for scaling, achievable within 1-3 years</a:t>
          </a:r>
        </a:p>
      </dgm:t>
    </dgm:pt>
    <dgm:pt modelId="{1CD16862-BAD6-4D16-AD92-79AE640A2A92}" type="parTrans" cxnId="{CC4A928E-00A3-4BC4-A902-977FFC7621F2}">
      <dgm:prSet/>
      <dgm:spPr/>
      <dgm:t>
        <a:bodyPr/>
        <a:lstStyle/>
        <a:p>
          <a:endParaRPr lang="en-US"/>
        </a:p>
      </dgm:t>
    </dgm:pt>
    <dgm:pt modelId="{9A9D4B8F-5F9D-4211-B2B0-FD37ED63DBE2}" type="sibTrans" cxnId="{CC4A928E-00A3-4BC4-A902-977FFC7621F2}">
      <dgm:prSet/>
      <dgm:spPr/>
      <dgm:t>
        <a:bodyPr/>
        <a:lstStyle/>
        <a:p>
          <a:endParaRPr lang="en-US"/>
        </a:p>
      </dgm:t>
    </dgm:pt>
    <dgm:pt modelId="{ADC7FF75-330F-4DDF-977B-4DF6BF07FCD7}">
      <dgm:prSet phldrT="[Text]" phldr="0"/>
      <dgm:spPr/>
      <dgm:t>
        <a:bodyPr/>
        <a:lstStyle/>
        <a:p>
          <a:r>
            <a:rPr lang="en-US"/>
            <a:t>Assume no new invention of technologies </a:t>
          </a:r>
        </a:p>
      </dgm:t>
    </dgm:pt>
    <dgm:pt modelId="{F30863BA-AACA-4D22-A56D-24F2A7A5F10B}" type="parTrans" cxnId="{DABAFBFE-44EA-4B92-9B53-C6A18AAF8C1D}">
      <dgm:prSet/>
      <dgm:spPr/>
      <dgm:t>
        <a:bodyPr/>
        <a:lstStyle/>
        <a:p>
          <a:endParaRPr lang="en-US"/>
        </a:p>
      </dgm:t>
    </dgm:pt>
    <dgm:pt modelId="{B3A97A75-A176-4914-8D32-41DF1D43D180}" type="sibTrans" cxnId="{DABAFBFE-44EA-4B92-9B53-C6A18AAF8C1D}">
      <dgm:prSet/>
      <dgm:spPr/>
      <dgm:t>
        <a:bodyPr/>
        <a:lstStyle/>
        <a:p>
          <a:endParaRPr lang="en-US"/>
        </a:p>
      </dgm:t>
    </dgm:pt>
    <dgm:pt modelId="{55E8252F-4EB3-48FA-80CA-2E0518417996}">
      <dgm:prSet phldrT="[Text]" phldr="0"/>
      <dgm:spPr/>
      <dgm:t>
        <a:bodyPr/>
        <a:lstStyle/>
        <a:p>
          <a:r>
            <a:rPr lang="en-US"/>
            <a:t>Focus on a single group</a:t>
          </a:r>
        </a:p>
      </dgm:t>
    </dgm:pt>
    <dgm:pt modelId="{65DBD816-D8B9-4D29-95EF-540380648B0C}" type="parTrans" cxnId="{78E5A14D-68E0-4899-9E46-53ECF178337A}">
      <dgm:prSet/>
      <dgm:spPr/>
      <dgm:t>
        <a:bodyPr/>
        <a:lstStyle/>
        <a:p>
          <a:endParaRPr lang="en-US"/>
        </a:p>
      </dgm:t>
    </dgm:pt>
    <dgm:pt modelId="{5F48C443-BD53-4B98-967B-C800D69BD5F3}" type="sibTrans" cxnId="{78E5A14D-68E0-4899-9E46-53ECF178337A}">
      <dgm:prSet/>
      <dgm:spPr/>
      <dgm:t>
        <a:bodyPr/>
        <a:lstStyle/>
        <a:p>
          <a:endParaRPr lang="en-US"/>
        </a:p>
      </dgm:t>
    </dgm:pt>
    <dgm:pt modelId="{FFED72C0-4BC1-4D9F-A944-81BA6FD001D2}">
      <dgm:prSet phldrT="[Text]" phldr="0"/>
      <dgm:spPr/>
      <dgm:t>
        <a:bodyPr/>
        <a:lstStyle/>
        <a:p>
          <a:r>
            <a:rPr lang="en-US"/>
            <a:t>Leverage existing APTIM Capabilites </a:t>
          </a:r>
        </a:p>
      </dgm:t>
    </dgm:pt>
    <dgm:pt modelId="{D47936C4-3A5F-4D5C-80C8-C34348A939B5}" type="parTrans" cxnId="{77D8A488-CF35-43E5-A6B4-AB9C5CECFDC8}">
      <dgm:prSet/>
      <dgm:spPr/>
      <dgm:t>
        <a:bodyPr/>
        <a:lstStyle/>
        <a:p>
          <a:endParaRPr lang="en-US"/>
        </a:p>
      </dgm:t>
    </dgm:pt>
    <dgm:pt modelId="{4E039D45-96DE-4F8D-88E1-B9A329C6208E}" type="sibTrans" cxnId="{77D8A488-CF35-43E5-A6B4-AB9C5CECFDC8}">
      <dgm:prSet/>
      <dgm:spPr/>
      <dgm:t>
        <a:bodyPr/>
        <a:lstStyle/>
        <a:p>
          <a:endParaRPr lang="en-US"/>
        </a:p>
      </dgm:t>
    </dgm:pt>
    <dgm:pt modelId="{946C0171-EA12-4B0D-965E-C5E8D53DAB94}" type="pres">
      <dgm:prSet presAssocID="{DF310642-AF78-4539-AA2E-F9BD8922CD48}" presName="Name0" presStyleCnt="0">
        <dgm:presLayoutVars>
          <dgm:dir/>
          <dgm:animLvl val="lvl"/>
          <dgm:resizeHandles val="exact"/>
        </dgm:presLayoutVars>
      </dgm:prSet>
      <dgm:spPr/>
    </dgm:pt>
    <dgm:pt modelId="{26C686FF-057C-4F28-8AAB-5E89E6BD7104}" type="pres">
      <dgm:prSet presAssocID="{55E8252F-4EB3-48FA-80CA-2E0518417996}" presName="Name8" presStyleCnt="0"/>
      <dgm:spPr/>
    </dgm:pt>
    <dgm:pt modelId="{A9920BA5-B028-4B13-9CCE-7DDE9FD75016}" type="pres">
      <dgm:prSet presAssocID="{55E8252F-4EB3-48FA-80CA-2E0518417996}" presName="level" presStyleLbl="node1" presStyleIdx="0" presStyleCnt="4">
        <dgm:presLayoutVars>
          <dgm:chMax val="1"/>
          <dgm:bulletEnabled val="1"/>
        </dgm:presLayoutVars>
      </dgm:prSet>
      <dgm:spPr/>
    </dgm:pt>
    <dgm:pt modelId="{D8789522-6804-4EFA-8E32-1B80526CA78D}" type="pres">
      <dgm:prSet presAssocID="{55E8252F-4EB3-48FA-80CA-2E0518417996}" presName="levelTx" presStyleLbl="revTx" presStyleIdx="0" presStyleCnt="0">
        <dgm:presLayoutVars>
          <dgm:chMax val="1"/>
          <dgm:bulletEnabled val="1"/>
        </dgm:presLayoutVars>
      </dgm:prSet>
      <dgm:spPr/>
    </dgm:pt>
    <dgm:pt modelId="{F06BB68B-39AE-4F57-B711-3189EAB2307D}" type="pres">
      <dgm:prSet presAssocID="{ADC7FF75-330F-4DDF-977B-4DF6BF07FCD7}" presName="Name8" presStyleCnt="0"/>
      <dgm:spPr/>
    </dgm:pt>
    <dgm:pt modelId="{E3A0DA67-1C43-4242-B3CB-FDDDA9E7374A}" type="pres">
      <dgm:prSet presAssocID="{ADC7FF75-330F-4DDF-977B-4DF6BF07FCD7}" presName="level" presStyleLbl="node1" presStyleIdx="1" presStyleCnt="4">
        <dgm:presLayoutVars>
          <dgm:chMax val="1"/>
          <dgm:bulletEnabled val="1"/>
        </dgm:presLayoutVars>
      </dgm:prSet>
      <dgm:spPr/>
    </dgm:pt>
    <dgm:pt modelId="{9B11EDC3-F7BB-4828-B13C-1AC543C049E8}" type="pres">
      <dgm:prSet presAssocID="{ADC7FF75-330F-4DDF-977B-4DF6BF07FCD7}" presName="levelTx" presStyleLbl="revTx" presStyleIdx="0" presStyleCnt="0">
        <dgm:presLayoutVars>
          <dgm:chMax val="1"/>
          <dgm:bulletEnabled val="1"/>
        </dgm:presLayoutVars>
      </dgm:prSet>
      <dgm:spPr/>
    </dgm:pt>
    <dgm:pt modelId="{953C0FDD-338E-4B4E-ADEA-16FC973CEB50}" type="pres">
      <dgm:prSet presAssocID="{FFED72C0-4BC1-4D9F-A944-81BA6FD001D2}" presName="Name8" presStyleCnt="0"/>
      <dgm:spPr/>
    </dgm:pt>
    <dgm:pt modelId="{8FDEED87-5058-491D-8CB6-C74AEDBE1F8F}" type="pres">
      <dgm:prSet presAssocID="{FFED72C0-4BC1-4D9F-A944-81BA6FD001D2}" presName="level" presStyleLbl="node1" presStyleIdx="2" presStyleCnt="4">
        <dgm:presLayoutVars>
          <dgm:chMax val="1"/>
          <dgm:bulletEnabled val="1"/>
        </dgm:presLayoutVars>
      </dgm:prSet>
      <dgm:spPr/>
    </dgm:pt>
    <dgm:pt modelId="{8E55CC66-D2C8-41DF-B39A-6BD753949659}" type="pres">
      <dgm:prSet presAssocID="{FFED72C0-4BC1-4D9F-A944-81BA6FD001D2}" presName="levelTx" presStyleLbl="revTx" presStyleIdx="0" presStyleCnt="0">
        <dgm:presLayoutVars>
          <dgm:chMax val="1"/>
          <dgm:bulletEnabled val="1"/>
        </dgm:presLayoutVars>
      </dgm:prSet>
      <dgm:spPr/>
    </dgm:pt>
    <dgm:pt modelId="{E9C1F72B-AFCA-4638-B6D2-AFAB194F1E11}" type="pres">
      <dgm:prSet presAssocID="{AC31465C-60DF-4225-A3B6-97DEB743B9A9}" presName="Name8" presStyleCnt="0"/>
      <dgm:spPr/>
    </dgm:pt>
    <dgm:pt modelId="{591B9AF5-E465-4123-B631-9924CE4CCCB1}" type="pres">
      <dgm:prSet presAssocID="{AC31465C-60DF-4225-A3B6-97DEB743B9A9}" presName="level" presStyleLbl="node1" presStyleIdx="3" presStyleCnt="4">
        <dgm:presLayoutVars>
          <dgm:chMax val="1"/>
          <dgm:bulletEnabled val="1"/>
        </dgm:presLayoutVars>
      </dgm:prSet>
      <dgm:spPr/>
    </dgm:pt>
    <dgm:pt modelId="{5B8979E7-67F1-48F0-9B8A-7B6CF256AB8C}" type="pres">
      <dgm:prSet presAssocID="{AC31465C-60DF-4225-A3B6-97DEB743B9A9}" presName="levelTx" presStyleLbl="revTx" presStyleIdx="0" presStyleCnt="0">
        <dgm:presLayoutVars>
          <dgm:chMax val="1"/>
          <dgm:bulletEnabled val="1"/>
        </dgm:presLayoutVars>
      </dgm:prSet>
      <dgm:spPr/>
    </dgm:pt>
  </dgm:ptLst>
  <dgm:cxnLst>
    <dgm:cxn modelId="{AED21F35-EDD5-4B79-B4B3-277CDCEC3E57}" type="presOf" srcId="{ADC7FF75-330F-4DDF-977B-4DF6BF07FCD7}" destId="{E3A0DA67-1C43-4242-B3CB-FDDDA9E7374A}" srcOrd="0" destOrd="0" presId="urn:microsoft.com/office/officeart/2005/8/layout/pyramid1"/>
    <dgm:cxn modelId="{78E5A14D-68E0-4899-9E46-53ECF178337A}" srcId="{DF310642-AF78-4539-AA2E-F9BD8922CD48}" destId="{55E8252F-4EB3-48FA-80CA-2E0518417996}" srcOrd="0" destOrd="0" parTransId="{65DBD816-D8B9-4D29-95EF-540380648B0C}" sibTransId="{5F48C443-BD53-4B98-967B-C800D69BD5F3}"/>
    <dgm:cxn modelId="{C2CCFD7B-53B2-4432-92BC-9DF427D73BD0}" type="presOf" srcId="{ADC7FF75-330F-4DDF-977B-4DF6BF07FCD7}" destId="{9B11EDC3-F7BB-4828-B13C-1AC543C049E8}" srcOrd="1" destOrd="0" presId="urn:microsoft.com/office/officeart/2005/8/layout/pyramid1"/>
    <dgm:cxn modelId="{18ECA582-4333-47B2-9061-6F98CDA53436}" type="presOf" srcId="{DF310642-AF78-4539-AA2E-F9BD8922CD48}" destId="{946C0171-EA12-4B0D-965E-C5E8D53DAB94}" srcOrd="0" destOrd="0" presId="urn:microsoft.com/office/officeart/2005/8/layout/pyramid1"/>
    <dgm:cxn modelId="{77D8A488-CF35-43E5-A6B4-AB9C5CECFDC8}" srcId="{DF310642-AF78-4539-AA2E-F9BD8922CD48}" destId="{FFED72C0-4BC1-4D9F-A944-81BA6FD001D2}" srcOrd="2" destOrd="0" parTransId="{D47936C4-3A5F-4D5C-80C8-C34348A939B5}" sibTransId="{4E039D45-96DE-4F8D-88E1-B9A329C6208E}"/>
    <dgm:cxn modelId="{CC4A928E-00A3-4BC4-A902-977FFC7621F2}" srcId="{DF310642-AF78-4539-AA2E-F9BD8922CD48}" destId="{AC31465C-60DF-4225-A3B6-97DEB743B9A9}" srcOrd="3" destOrd="0" parTransId="{1CD16862-BAD6-4D16-AD92-79AE640A2A92}" sibTransId="{9A9D4B8F-5F9D-4211-B2B0-FD37ED63DBE2}"/>
    <dgm:cxn modelId="{F1AF138F-07AB-4452-A775-3ECA188A373F}" type="presOf" srcId="{FFED72C0-4BC1-4D9F-A944-81BA6FD001D2}" destId="{8E55CC66-D2C8-41DF-B39A-6BD753949659}" srcOrd="1" destOrd="0" presId="urn:microsoft.com/office/officeart/2005/8/layout/pyramid1"/>
    <dgm:cxn modelId="{D46349D0-4C7B-43F5-A911-3FCB2F99651D}" type="presOf" srcId="{55E8252F-4EB3-48FA-80CA-2E0518417996}" destId="{A9920BA5-B028-4B13-9CCE-7DDE9FD75016}" srcOrd="0" destOrd="0" presId="urn:microsoft.com/office/officeart/2005/8/layout/pyramid1"/>
    <dgm:cxn modelId="{D793BCD1-7DC0-4F6F-AB39-08D2F31AFA8D}" type="presOf" srcId="{55E8252F-4EB3-48FA-80CA-2E0518417996}" destId="{D8789522-6804-4EFA-8E32-1B80526CA78D}" srcOrd="1" destOrd="0" presId="urn:microsoft.com/office/officeart/2005/8/layout/pyramid1"/>
    <dgm:cxn modelId="{20EC68EE-A80C-497A-A3C8-62CADF3FB1E8}" type="presOf" srcId="{FFED72C0-4BC1-4D9F-A944-81BA6FD001D2}" destId="{8FDEED87-5058-491D-8CB6-C74AEDBE1F8F}" srcOrd="0" destOrd="0" presId="urn:microsoft.com/office/officeart/2005/8/layout/pyramid1"/>
    <dgm:cxn modelId="{978470F2-75CF-4634-B8E2-626A475293D4}" type="presOf" srcId="{AC31465C-60DF-4225-A3B6-97DEB743B9A9}" destId="{5B8979E7-67F1-48F0-9B8A-7B6CF256AB8C}" srcOrd="1" destOrd="0" presId="urn:microsoft.com/office/officeart/2005/8/layout/pyramid1"/>
    <dgm:cxn modelId="{1D89C2FC-BFFE-4A54-A3B3-C136308A5E4A}" type="presOf" srcId="{AC31465C-60DF-4225-A3B6-97DEB743B9A9}" destId="{591B9AF5-E465-4123-B631-9924CE4CCCB1}" srcOrd="0" destOrd="0" presId="urn:microsoft.com/office/officeart/2005/8/layout/pyramid1"/>
    <dgm:cxn modelId="{DABAFBFE-44EA-4B92-9B53-C6A18AAF8C1D}" srcId="{DF310642-AF78-4539-AA2E-F9BD8922CD48}" destId="{ADC7FF75-330F-4DDF-977B-4DF6BF07FCD7}" srcOrd="1" destOrd="0" parTransId="{F30863BA-AACA-4D22-A56D-24F2A7A5F10B}" sibTransId="{B3A97A75-A176-4914-8D32-41DF1D43D180}"/>
    <dgm:cxn modelId="{359383A1-6AE7-427E-BC81-6E03724405F4}" type="presParOf" srcId="{946C0171-EA12-4B0D-965E-C5E8D53DAB94}" destId="{26C686FF-057C-4F28-8AAB-5E89E6BD7104}" srcOrd="0" destOrd="0" presId="urn:microsoft.com/office/officeart/2005/8/layout/pyramid1"/>
    <dgm:cxn modelId="{AEFFB2D3-B363-475D-84A6-35A8D1CD552B}" type="presParOf" srcId="{26C686FF-057C-4F28-8AAB-5E89E6BD7104}" destId="{A9920BA5-B028-4B13-9CCE-7DDE9FD75016}" srcOrd="0" destOrd="0" presId="urn:microsoft.com/office/officeart/2005/8/layout/pyramid1"/>
    <dgm:cxn modelId="{BFCE2943-3BC9-4A91-9105-76CCD6620FE6}" type="presParOf" srcId="{26C686FF-057C-4F28-8AAB-5E89E6BD7104}" destId="{D8789522-6804-4EFA-8E32-1B80526CA78D}" srcOrd="1" destOrd="0" presId="urn:microsoft.com/office/officeart/2005/8/layout/pyramid1"/>
    <dgm:cxn modelId="{D742FAB0-1BED-431C-9B77-1D05B0AC920C}" type="presParOf" srcId="{946C0171-EA12-4B0D-965E-C5E8D53DAB94}" destId="{F06BB68B-39AE-4F57-B711-3189EAB2307D}" srcOrd="1" destOrd="0" presId="urn:microsoft.com/office/officeart/2005/8/layout/pyramid1"/>
    <dgm:cxn modelId="{BC0EA149-4A28-46D1-BD7A-27F7959DF476}" type="presParOf" srcId="{F06BB68B-39AE-4F57-B711-3189EAB2307D}" destId="{E3A0DA67-1C43-4242-B3CB-FDDDA9E7374A}" srcOrd="0" destOrd="0" presId="urn:microsoft.com/office/officeart/2005/8/layout/pyramid1"/>
    <dgm:cxn modelId="{D505BA94-E101-424A-96C5-EE0A26D9292A}" type="presParOf" srcId="{F06BB68B-39AE-4F57-B711-3189EAB2307D}" destId="{9B11EDC3-F7BB-4828-B13C-1AC543C049E8}" srcOrd="1" destOrd="0" presId="urn:microsoft.com/office/officeart/2005/8/layout/pyramid1"/>
    <dgm:cxn modelId="{D5A384C7-C9D2-43CD-9706-CC8032E64392}" type="presParOf" srcId="{946C0171-EA12-4B0D-965E-C5E8D53DAB94}" destId="{953C0FDD-338E-4B4E-ADEA-16FC973CEB50}" srcOrd="2" destOrd="0" presId="urn:microsoft.com/office/officeart/2005/8/layout/pyramid1"/>
    <dgm:cxn modelId="{C2054438-7F94-4187-AF51-46F072218A68}" type="presParOf" srcId="{953C0FDD-338E-4B4E-ADEA-16FC973CEB50}" destId="{8FDEED87-5058-491D-8CB6-C74AEDBE1F8F}" srcOrd="0" destOrd="0" presId="urn:microsoft.com/office/officeart/2005/8/layout/pyramid1"/>
    <dgm:cxn modelId="{B6403061-DE94-4D7D-BE4C-1965418DD137}" type="presParOf" srcId="{953C0FDD-338E-4B4E-ADEA-16FC973CEB50}" destId="{8E55CC66-D2C8-41DF-B39A-6BD753949659}" srcOrd="1" destOrd="0" presId="urn:microsoft.com/office/officeart/2005/8/layout/pyramid1"/>
    <dgm:cxn modelId="{372D6EC2-8DFC-45A9-9D35-6AFF9CDC4D0B}" type="presParOf" srcId="{946C0171-EA12-4B0D-965E-C5E8D53DAB94}" destId="{E9C1F72B-AFCA-4638-B6D2-AFAB194F1E11}" srcOrd="3" destOrd="0" presId="urn:microsoft.com/office/officeart/2005/8/layout/pyramid1"/>
    <dgm:cxn modelId="{E2B1DDED-D3FE-4540-8B3D-1DBFBC7E8F9A}" type="presParOf" srcId="{E9C1F72B-AFCA-4638-B6D2-AFAB194F1E11}" destId="{591B9AF5-E465-4123-B631-9924CE4CCCB1}" srcOrd="0" destOrd="0" presId="urn:microsoft.com/office/officeart/2005/8/layout/pyramid1"/>
    <dgm:cxn modelId="{F83E09E7-BAB5-47F2-965D-EFDD3718F212}" type="presParOf" srcId="{E9C1F72B-AFCA-4638-B6D2-AFAB194F1E11}" destId="{5B8979E7-67F1-48F0-9B8A-7B6CF256AB8C}"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AF69384-9BCD-4507-AD21-92C050EF8D63}"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F300FE60-F17C-45C0-B48E-45EB60D853B7}">
      <dgm:prSet phldrT="[Text]" phldr="0" custT="1"/>
      <dgm:spPr/>
      <dgm:t>
        <a:bodyPr/>
        <a:lstStyle/>
        <a:p>
          <a:pPr algn="ctr"/>
          <a:endParaRPr lang="en-US" sz="2400"/>
        </a:p>
      </dgm:t>
    </dgm:pt>
    <dgm:pt modelId="{73C368F7-4EE6-41A7-9244-45AD56F3EAF3}" type="parTrans" cxnId="{E41C84D2-1359-4EFF-A509-889E48314BE7}">
      <dgm:prSet/>
      <dgm:spPr/>
      <dgm:t>
        <a:bodyPr/>
        <a:lstStyle/>
        <a:p>
          <a:pPr algn="ctr"/>
          <a:endParaRPr lang="en-US"/>
        </a:p>
      </dgm:t>
    </dgm:pt>
    <dgm:pt modelId="{695DA213-0ED2-4784-85D6-1E8EFE697BBE}" type="sibTrans" cxnId="{E41C84D2-1359-4EFF-A509-889E48314BE7}">
      <dgm:prSet/>
      <dgm:spPr/>
      <dgm:t>
        <a:bodyPr/>
        <a:lstStyle/>
        <a:p>
          <a:pPr algn="ctr"/>
          <a:endParaRPr lang="en-US"/>
        </a:p>
      </dgm:t>
    </dgm:pt>
    <dgm:pt modelId="{D6D147BA-82F2-4B85-B379-498CC1A3B854}">
      <dgm:prSet phldrT="[Text]" phldr="0" custT="1"/>
      <dgm:spPr/>
      <dgm:t>
        <a:bodyPr/>
        <a:lstStyle/>
        <a:p>
          <a:pPr algn="ctr"/>
          <a:r>
            <a:rPr lang="en-US" sz="2000" b="1"/>
            <a:t>Leverages Existing Capabilities</a:t>
          </a:r>
        </a:p>
      </dgm:t>
    </dgm:pt>
    <dgm:pt modelId="{506406EC-F81F-42F8-98E3-C7F323C5915E}" type="parTrans" cxnId="{D92E2D94-EC55-48C5-8298-BA760CD67CDA}">
      <dgm:prSet/>
      <dgm:spPr/>
      <dgm:t>
        <a:bodyPr/>
        <a:lstStyle/>
        <a:p>
          <a:pPr algn="ctr"/>
          <a:endParaRPr lang="en-US"/>
        </a:p>
      </dgm:t>
    </dgm:pt>
    <dgm:pt modelId="{68EFD7F4-35E3-45FC-B14C-BCEC136DF958}" type="sibTrans" cxnId="{D92E2D94-EC55-48C5-8298-BA760CD67CDA}">
      <dgm:prSet/>
      <dgm:spPr/>
      <dgm:t>
        <a:bodyPr/>
        <a:lstStyle/>
        <a:p>
          <a:pPr algn="ctr"/>
          <a:endParaRPr lang="en-US"/>
        </a:p>
      </dgm:t>
    </dgm:pt>
    <dgm:pt modelId="{3E4CC3C3-3092-4B4E-B61F-6F9F89A65FCA}">
      <dgm:prSet phldrT="[Text]" phldr="0" custT="1"/>
      <dgm:spPr/>
      <dgm:t>
        <a:bodyPr/>
        <a:lstStyle/>
        <a:p>
          <a:pPr algn="ctr"/>
          <a:endParaRPr lang="en-US" sz="2000"/>
        </a:p>
      </dgm:t>
    </dgm:pt>
    <dgm:pt modelId="{D71D0B0F-B894-4927-A779-2487E7755B13}" type="parTrans" cxnId="{321968A0-5D59-4F57-9071-608F8ACB2A64}">
      <dgm:prSet/>
      <dgm:spPr/>
      <dgm:t>
        <a:bodyPr/>
        <a:lstStyle/>
        <a:p>
          <a:pPr algn="ctr"/>
          <a:endParaRPr lang="en-US"/>
        </a:p>
      </dgm:t>
    </dgm:pt>
    <dgm:pt modelId="{29C1D8B3-9A22-42CA-9647-EC77320E8D6C}" type="sibTrans" cxnId="{321968A0-5D59-4F57-9071-608F8ACB2A64}">
      <dgm:prSet/>
      <dgm:spPr/>
      <dgm:t>
        <a:bodyPr/>
        <a:lstStyle/>
        <a:p>
          <a:pPr algn="ctr"/>
          <a:endParaRPr lang="en-US"/>
        </a:p>
      </dgm:t>
    </dgm:pt>
    <dgm:pt modelId="{069ED7ED-6660-4738-950D-5C58815B444F}">
      <dgm:prSet phldrT="[Text]" phldr="0" custT="1"/>
      <dgm:spPr/>
      <dgm:t>
        <a:bodyPr/>
        <a:lstStyle/>
        <a:p>
          <a:pPr algn="ctr"/>
          <a:r>
            <a:rPr lang="en-US" sz="2000"/>
            <a:t>Scales Growth In Existing Relationships</a:t>
          </a:r>
        </a:p>
      </dgm:t>
    </dgm:pt>
    <dgm:pt modelId="{227A1879-BAEA-450C-B65B-978C009E6A14}" type="parTrans" cxnId="{222E413F-A75F-455D-92F2-C204FFAC51EB}">
      <dgm:prSet/>
      <dgm:spPr/>
      <dgm:t>
        <a:bodyPr/>
        <a:lstStyle/>
        <a:p>
          <a:pPr algn="ctr"/>
          <a:endParaRPr lang="en-US"/>
        </a:p>
      </dgm:t>
    </dgm:pt>
    <dgm:pt modelId="{47FBE326-04FB-4ED6-8D6F-4BE48496E785}" type="sibTrans" cxnId="{222E413F-A75F-455D-92F2-C204FFAC51EB}">
      <dgm:prSet/>
      <dgm:spPr/>
      <dgm:t>
        <a:bodyPr/>
        <a:lstStyle/>
        <a:p>
          <a:pPr algn="ctr"/>
          <a:endParaRPr lang="en-US"/>
        </a:p>
      </dgm:t>
    </dgm:pt>
    <dgm:pt modelId="{8EE29E9D-AE93-4854-AAD1-B5D9E06F3242}">
      <dgm:prSet phldrT="[Text]" phldr="0" custT="1"/>
      <dgm:spPr/>
      <dgm:t>
        <a:bodyPr/>
        <a:lstStyle/>
        <a:p>
          <a:pPr algn="ctr"/>
          <a:endParaRPr lang="en-US" sz="2000"/>
        </a:p>
      </dgm:t>
    </dgm:pt>
    <dgm:pt modelId="{ECCA27D0-57FB-47E4-BAFF-7155320219AB}" type="parTrans" cxnId="{A57EE05D-722F-4736-851B-71F776D549BA}">
      <dgm:prSet/>
      <dgm:spPr/>
      <dgm:t>
        <a:bodyPr/>
        <a:lstStyle/>
        <a:p>
          <a:pPr algn="ctr"/>
          <a:endParaRPr lang="en-US"/>
        </a:p>
      </dgm:t>
    </dgm:pt>
    <dgm:pt modelId="{DDB359C6-B359-4118-A592-311D2E3CCAF4}" type="sibTrans" cxnId="{A57EE05D-722F-4736-851B-71F776D549BA}">
      <dgm:prSet/>
      <dgm:spPr/>
      <dgm:t>
        <a:bodyPr/>
        <a:lstStyle/>
        <a:p>
          <a:pPr algn="ctr"/>
          <a:endParaRPr lang="en-US"/>
        </a:p>
      </dgm:t>
    </dgm:pt>
    <dgm:pt modelId="{1D782F2D-5BF3-4574-A95A-6370DB6528ED}">
      <dgm:prSet phldrT="[Text]" phldr="0" custT="1"/>
      <dgm:spPr/>
      <dgm:t>
        <a:bodyPr/>
        <a:lstStyle/>
        <a:p>
          <a:pPr algn="ctr"/>
          <a:r>
            <a:rPr lang="en-US" sz="2000"/>
            <a:t>Creates Resilient Revenue </a:t>
          </a:r>
        </a:p>
      </dgm:t>
    </dgm:pt>
    <dgm:pt modelId="{4E57ED84-D57B-4150-AC5E-F91E5E06B5C0}" type="parTrans" cxnId="{C3239D15-0E4A-4FB4-8BB9-1948B5633583}">
      <dgm:prSet/>
      <dgm:spPr/>
      <dgm:t>
        <a:bodyPr/>
        <a:lstStyle/>
        <a:p>
          <a:pPr algn="ctr"/>
          <a:endParaRPr lang="en-US"/>
        </a:p>
      </dgm:t>
    </dgm:pt>
    <dgm:pt modelId="{4F7DD17F-0C73-4816-B515-18968B35BE5D}" type="sibTrans" cxnId="{C3239D15-0E4A-4FB4-8BB9-1948B5633583}">
      <dgm:prSet/>
      <dgm:spPr/>
      <dgm:t>
        <a:bodyPr/>
        <a:lstStyle/>
        <a:p>
          <a:pPr algn="ctr"/>
          <a:endParaRPr lang="en-US"/>
        </a:p>
      </dgm:t>
    </dgm:pt>
    <dgm:pt modelId="{97A995A3-AF6E-47D6-8A46-2D239EAF83DE}">
      <dgm:prSet phldrT="[Text]" phldr="0" custT="1"/>
      <dgm:spPr/>
      <dgm:t>
        <a:bodyPr/>
        <a:lstStyle/>
        <a:p>
          <a:pPr algn="ctr"/>
          <a:r>
            <a:rPr lang="en-US" sz="2000"/>
            <a:t>Expands Into New Markets</a:t>
          </a:r>
          <a:endParaRPr lang="en-US" sz="2000" b="1"/>
        </a:p>
      </dgm:t>
    </dgm:pt>
    <dgm:pt modelId="{A2E7FD06-1397-4C4C-B717-7F9F5DF5B728}" type="parTrans" cxnId="{BB2CC5C4-EF1B-424A-92E1-F1879AC69CFE}">
      <dgm:prSet/>
      <dgm:spPr/>
      <dgm:t>
        <a:bodyPr/>
        <a:lstStyle/>
        <a:p>
          <a:endParaRPr lang="en-US"/>
        </a:p>
      </dgm:t>
    </dgm:pt>
    <dgm:pt modelId="{BE43BCF2-9774-49C6-90CC-6301D5C00374}" type="sibTrans" cxnId="{BB2CC5C4-EF1B-424A-92E1-F1879AC69CFE}">
      <dgm:prSet/>
      <dgm:spPr/>
      <dgm:t>
        <a:bodyPr/>
        <a:lstStyle/>
        <a:p>
          <a:endParaRPr lang="en-US"/>
        </a:p>
      </dgm:t>
    </dgm:pt>
    <dgm:pt modelId="{B6F3960D-2511-407D-A953-E4A5FDE07129}">
      <dgm:prSet phldrT="[Text]" phldr="0" custT="1"/>
      <dgm:spPr/>
      <dgm:t>
        <a:bodyPr/>
        <a:lstStyle/>
        <a:p>
          <a:pPr algn="ctr"/>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dgm:t>
    </dgm:pt>
    <dgm:pt modelId="{CD280A00-213C-4439-ADE9-DB55686768AF}" type="parTrans" cxnId="{745682CF-D07D-4288-B381-899A41B699F9}">
      <dgm:prSet/>
      <dgm:spPr/>
      <dgm:t>
        <a:bodyPr/>
        <a:lstStyle/>
        <a:p>
          <a:endParaRPr lang="en-US"/>
        </a:p>
      </dgm:t>
    </dgm:pt>
    <dgm:pt modelId="{746C1762-824B-4579-B8A9-84B0DF0BDDFC}" type="sibTrans" cxnId="{745682CF-D07D-4288-B381-899A41B699F9}">
      <dgm:prSet/>
      <dgm:spPr/>
      <dgm:t>
        <a:bodyPr/>
        <a:lstStyle/>
        <a:p>
          <a:endParaRPr lang="en-US"/>
        </a:p>
      </dgm:t>
    </dgm:pt>
    <dgm:pt modelId="{B0BC944B-7C1B-4448-BAED-DB8C83B05085}" type="pres">
      <dgm:prSet presAssocID="{5AF69384-9BCD-4507-AD21-92C050EF8D63}" presName="diagram" presStyleCnt="0">
        <dgm:presLayoutVars>
          <dgm:dir/>
          <dgm:resizeHandles val="exact"/>
        </dgm:presLayoutVars>
      </dgm:prSet>
      <dgm:spPr/>
    </dgm:pt>
    <dgm:pt modelId="{141EA34A-8783-4E54-99E6-F0CED26F76DC}" type="pres">
      <dgm:prSet presAssocID="{D6D147BA-82F2-4B85-B379-498CC1A3B854}" presName="node" presStyleLbl="node1" presStyleIdx="0" presStyleCnt="4">
        <dgm:presLayoutVars>
          <dgm:bulletEnabled val="1"/>
        </dgm:presLayoutVars>
      </dgm:prSet>
      <dgm:spPr/>
    </dgm:pt>
    <dgm:pt modelId="{F0F2419E-77A4-4997-97B4-AFA77DDC761A}" type="pres">
      <dgm:prSet presAssocID="{68EFD7F4-35E3-45FC-B14C-BCEC136DF958}" presName="sibTrans" presStyleCnt="0"/>
      <dgm:spPr/>
    </dgm:pt>
    <dgm:pt modelId="{D27E1064-114D-49EC-BEBD-6FCB94E725A0}" type="pres">
      <dgm:prSet presAssocID="{97A995A3-AF6E-47D6-8A46-2D239EAF83DE}" presName="node" presStyleLbl="node1" presStyleIdx="1" presStyleCnt="4">
        <dgm:presLayoutVars>
          <dgm:bulletEnabled val="1"/>
        </dgm:presLayoutVars>
      </dgm:prSet>
      <dgm:spPr/>
    </dgm:pt>
    <dgm:pt modelId="{56F64B45-5152-4A8A-BD93-8AB2749FDA42}" type="pres">
      <dgm:prSet presAssocID="{BE43BCF2-9774-49C6-90CC-6301D5C00374}" presName="sibTrans" presStyleCnt="0"/>
      <dgm:spPr/>
    </dgm:pt>
    <dgm:pt modelId="{D0DF015F-7FF4-4ABA-A386-73E48B97A52D}" type="pres">
      <dgm:prSet presAssocID="{069ED7ED-6660-4738-950D-5C58815B444F}" presName="node" presStyleLbl="node1" presStyleIdx="2" presStyleCnt="4">
        <dgm:presLayoutVars>
          <dgm:bulletEnabled val="1"/>
        </dgm:presLayoutVars>
      </dgm:prSet>
      <dgm:spPr/>
    </dgm:pt>
    <dgm:pt modelId="{082ACF3E-6E7F-4656-B579-2181BDB4E379}" type="pres">
      <dgm:prSet presAssocID="{47FBE326-04FB-4ED6-8D6F-4BE48496E785}" presName="sibTrans" presStyleCnt="0"/>
      <dgm:spPr/>
    </dgm:pt>
    <dgm:pt modelId="{75DA17C1-641B-4EFD-9B48-316CF74F3B0D}" type="pres">
      <dgm:prSet presAssocID="{1D782F2D-5BF3-4574-A95A-6370DB6528ED}" presName="node" presStyleLbl="node1" presStyleIdx="3" presStyleCnt="4">
        <dgm:presLayoutVars>
          <dgm:bulletEnabled val="1"/>
        </dgm:presLayoutVars>
      </dgm:prSet>
      <dgm:spPr/>
    </dgm:pt>
  </dgm:ptLst>
  <dgm:cxnLst>
    <dgm:cxn modelId="{C3239D15-0E4A-4FB4-8BB9-1948B5633583}" srcId="{5AF69384-9BCD-4507-AD21-92C050EF8D63}" destId="{1D782F2D-5BF3-4574-A95A-6370DB6528ED}" srcOrd="3" destOrd="0" parTransId="{4E57ED84-D57B-4150-AC5E-F91E5E06B5C0}" sibTransId="{4F7DD17F-0C73-4816-B515-18968B35BE5D}"/>
    <dgm:cxn modelId="{093A853C-B9AF-46D3-9DFE-7DB750339410}" type="presOf" srcId="{3E4CC3C3-3092-4B4E-B61F-6F9F89A65FCA}" destId="{D27E1064-114D-49EC-BEBD-6FCB94E725A0}" srcOrd="0" destOrd="1" presId="urn:microsoft.com/office/officeart/2005/8/layout/default"/>
    <dgm:cxn modelId="{222E413F-A75F-455D-92F2-C204FFAC51EB}" srcId="{5AF69384-9BCD-4507-AD21-92C050EF8D63}" destId="{069ED7ED-6660-4738-950D-5C58815B444F}" srcOrd="2" destOrd="0" parTransId="{227A1879-BAEA-450C-B65B-978C009E6A14}" sibTransId="{47FBE326-04FB-4ED6-8D6F-4BE48496E785}"/>
    <dgm:cxn modelId="{A57EE05D-722F-4736-851B-71F776D549BA}" srcId="{069ED7ED-6660-4738-950D-5C58815B444F}" destId="{8EE29E9D-AE93-4854-AAD1-B5D9E06F3242}" srcOrd="0" destOrd="0" parTransId="{ECCA27D0-57FB-47E4-BAFF-7155320219AB}" sibTransId="{DDB359C6-B359-4118-A592-311D2E3CCAF4}"/>
    <dgm:cxn modelId="{90BBF847-552D-4E27-9430-C6AA69BCFA22}" type="presOf" srcId="{5AF69384-9BCD-4507-AD21-92C050EF8D63}" destId="{B0BC944B-7C1B-4448-BAED-DB8C83B05085}" srcOrd="0" destOrd="0" presId="urn:microsoft.com/office/officeart/2005/8/layout/default"/>
    <dgm:cxn modelId="{CB81665A-8C7E-4DFD-9685-D19B61354ECD}" type="presOf" srcId="{D6D147BA-82F2-4B85-B379-498CC1A3B854}" destId="{141EA34A-8783-4E54-99E6-F0CED26F76DC}" srcOrd="0" destOrd="0" presId="urn:microsoft.com/office/officeart/2005/8/layout/default"/>
    <dgm:cxn modelId="{12A1877B-CAB6-4B65-B8E1-4A994238CA1A}" type="presOf" srcId="{97A995A3-AF6E-47D6-8A46-2D239EAF83DE}" destId="{D27E1064-114D-49EC-BEBD-6FCB94E725A0}" srcOrd="0" destOrd="0" presId="urn:microsoft.com/office/officeart/2005/8/layout/default"/>
    <dgm:cxn modelId="{A7A5357C-CC85-4C36-9B59-60458A6A82AA}" type="presOf" srcId="{1D782F2D-5BF3-4574-A95A-6370DB6528ED}" destId="{75DA17C1-641B-4EFD-9B48-316CF74F3B0D}" srcOrd="0" destOrd="0" presId="urn:microsoft.com/office/officeart/2005/8/layout/default"/>
    <dgm:cxn modelId="{D92E2D94-EC55-48C5-8298-BA760CD67CDA}" srcId="{5AF69384-9BCD-4507-AD21-92C050EF8D63}" destId="{D6D147BA-82F2-4B85-B379-498CC1A3B854}" srcOrd="0" destOrd="0" parTransId="{506406EC-F81F-42F8-98E3-C7F323C5915E}" sibTransId="{68EFD7F4-35E3-45FC-B14C-BCEC136DF958}"/>
    <dgm:cxn modelId="{321968A0-5D59-4F57-9071-608F8ACB2A64}" srcId="{97A995A3-AF6E-47D6-8A46-2D239EAF83DE}" destId="{3E4CC3C3-3092-4B4E-B61F-6F9F89A65FCA}" srcOrd="0" destOrd="0" parTransId="{D71D0B0F-B894-4927-A779-2487E7755B13}" sibTransId="{29C1D8B3-9A22-42CA-9647-EC77320E8D6C}"/>
    <dgm:cxn modelId="{3F33B9A6-04C5-4C48-A27F-BE65ADB577AB}" type="presOf" srcId="{B6F3960D-2511-407D-A953-E4A5FDE07129}" destId="{141EA34A-8783-4E54-99E6-F0CED26F76DC}" srcOrd="0" destOrd="1" presId="urn:microsoft.com/office/officeart/2005/8/layout/default"/>
    <dgm:cxn modelId="{18F3D1B1-4418-40B1-A78A-6A0EF11A525D}" type="presOf" srcId="{F300FE60-F17C-45C0-B48E-45EB60D853B7}" destId="{75DA17C1-641B-4EFD-9B48-316CF74F3B0D}" srcOrd="0" destOrd="1" presId="urn:microsoft.com/office/officeart/2005/8/layout/default"/>
    <dgm:cxn modelId="{BB2CC5C4-EF1B-424A-92E1-F1879AC69CFE}" srcId="{5AF69384-9BCD-4507-AD21-92C050EF8D63}" destId="{97A995A3-AF6E-47D6-8A46-2D239EAF83DE}" srcOrd="1" destOrd="0" parTransId="{A2E7FD06-1397-4C4C-B717-7F9F5DF5B728}" sibTransId="{BE43BCF2-9774-49C6-90CC-6301D5C00374}"/>
    <dgm:cxn modelId="{745682CF-D07D-4288-B381-899A41B699F9}" srcId="{D6D147BA-82F2-4B85-B379-498CC1A3B854}" destId="{B6F3960D-2511-407D-A953-E4A5FDE07129}" srcOrd="0" destOrd="0" parTransId="{CD280A00-213C-4439-ADE9-DB55686768AF}" sibTransId="{746C1762-824B-4579-B8A9-84B0DF0BDDFC}"/>
    <dgm:cxn modelId="{E41C84D2-1359-4EFF-A509-889E48314BE7}" srcId="{1D782F2D-5BF3-4574-A95A-6370DB6528ED}" destId="{F300FE60-F17C-45C0-B48E-45EB60D853B7}" srcOrd="0" destOrd="0" parTransId="{73C368F7-4EE6-41A7-9244-45AD56F3EAF3}" sibTransId="{695DA213-0ED2-4784-85D6-1E8EFE697BBE}"/>
    <dgm:cxn modelId="{16AA5FD9-4CBA-413B-AEFA-FCBFAC85CD4E}" type="presOf" srcId="{8EE29E9D-AE93-4854-AAD1-B5D9E06F3242}" destId="{D0DF015F-7FF4-4ABA-A386-73E48B97A52D}" srcOrd="0" destOrd="1" presId="urn:microsoft.com/office/officeart/2005/8/layout/default"/>
    <dgm:cxn modelId="{A666FFF1-AB60-4123-842E-CB0A9B226C2B}" type="presOf" srcId="{069ED7ED-6660-4738-950D-5C58815B444F}" destId="{D0DF015F-7FF4-4ABA-A386-73E48B97A52D}" srcOrd="0" destOrd="0" presId="urn:microsoft.com/office/officeart/2005/8/layout/default"/>
    <dgm:cxn modelId="{D33B40A6-07FB-46B7-A2A2-B1DA5136EF77}" type="presParOf" srcId="{B0BC944B-7C1B-4448-BAED-DB8C83B05085}" destId="{141EA34A-8783-4E54-99E6-F0CED26F76DC}" srcOrd="0" destOrd="0" presId="urn:microsoft.com/office/officeart/2005/8/layout/default"/>
    <dgm:cxn modelId="{6C6CE9FF-3E79-49F0-998E-593743403673}" type="presParOf" srcId="{B0BC944B-7C1B-4448-BAED-DB8C83B05085}" destId="{F0F2419E-77A4-4997-97B4-AFA77DDC761A}" srcOrd="1" destOrd="0" presId="urn:microsoft.com/office/officeart/2005/8/layout/default"/>
    <dgm:cxn modelId="{A35FB289-A3C8-4075-849D-82709DB93206}" type="presParOf" srcId="{B0BC944B-7C1B-4448-BAED-DB8C83B05085}" destId="{D27E1064-114D-49EC-BEBD-6FCB94E725A0}" srcOrd="2" destOrd="0" presId="urn:microsoft.com/office/officeart/2005/8/layout/default"/>
    <dgm:cxn modelId="{B3B4F4BE-760E-476C-8EC3-D070D3A3F33B}" type="presParOf" srcId="{B0BC944B-7C1B-4448-BAED-DB8C83B05085}" destId="{56F64B45-5152-4A8A-BD93-8AB2749FDA42}" srcOrd="3" destOrd="0" presId="urn:microsoft.com/office/officeart/2005/8/layout/default"/>
    <dgm:cxn modelId="{1C550DC9-5A50-4A46-B4E5-B0B6BA61DD02}" type="presParOf" srcId="{B0BC944B-7C1B-4448-BAED-DB8C83B05085}" destId="{D0DF015F-7FF4-4ABA-A386-73E48B97A52D}" srcOrd="4" destOrd="0" presId="urn:microsoft.com/office/officeart/2005/8/layout/default"/>
    <dgm:cxn modelId="{5D63CD07-19D4-4810-9DB5-A2229325008D}" type="presParOf" srcId="{B0BC944B-7C1B-4448-BAED-DB8C83B05085}" destId="{082ACF3E-6E7F-4656-B579-2181BDB4E379}" srcOrd="5" destOrd="0" presId="urn:microsoft.com/office/officeart/2005/8/layout/default"/>
    <dgm:cxn modelId="{E92867F1-9B8E-4A46-9115-D645293AD2DA}" type="presParOf" srcId="{B0BC944B-7C1B-4448-BAED-DB8C83B05085}" destId="{75DA17C1-641B-4EFD-9B48-316CF74F3B0D}"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F310642-AF78-4539-AA2E-F9BD8922CD48}"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8D861999-5986-4933-A595-043F7320953F}">
      <dgm:prSet phldrT="[Text]" phldr="0"/>
      <dgm:spPr/>
      <dgm:t>
        <a:bodyPr/>
        <a:lstStyle/>
        <a:p>
          <a:r>
            <a:rPr lang="en-US"/>
            <a:t>Focus</a:t>
          </a:r>
        </a:p>
      </dgm:t>
    </dgm:pt>
    <dgm:pt modelId="{896D4372-91AD-48D7-8F12-2F44D08A2BBF}" type="parTrans" cxnId="{BC70A1B1-6C69-4AC6-88EC-D00F5EE92165}">
      <dgm:prSet/>
      <dgm:spPr/>
      <dgm:t>
        <a:bodyPr/>
        <a:lstStyle/>
        <a:p>
          <a:endParaRPr lang="en-US"/>
        </a:p>
      </dgm:t>
    </dgm:pt>
    <dgm:pt modelId="{3C2D724A-4C90-4807-87E2-B953BCC46EFD}" type="sibTrans" cxnId="{BC70A1B1-6C69-4AC6-88EC-D00F5EE92165}">
      <dgm:prSet/>
      <dgm:spPr/>
      <dgm:t>
        <a:bodyPr/>
        <a:lstStyle/>
        <a:p>
          <a:endParaRPr lang="en-US"/>
        </a:p>
      </dgm:t>
    </dgm:pt>
    <dgm:pt modelId="{5CE24B44-D6E9-4EF8-AE7B-89573C2B72FF}">
      <dgm:prSet phldrT="[Text]" phldr="0"/>
      <dgm:spPr/>
      <dgm:t>
        <a:bodyPr/>
        <a:lstStyle/>
        <a:p>
          <a:r>
            <a:rPr lang="en-US"/>
            <a:t>Achievable in 1-3 years</a:t>
          </a:r>
        </a:p>
      </dgm:t>
    </dgm:pt>
    <dgm:pt modelId="{85ABFA9C-5D45-4705-8D55-1B01EBB6C323}" type="parTrans" cxnId="{EFD9D6C9-CDC3-42EE-BFA9-76525A0D897B}">
      <dgm:prSet/>
      <dgm:spPr/>
      <dgm:t>
        <a:bodyPr/>
        <a:lstStyle/>
        <a:p>
          <a:endParaRPr lang="en-US"/>
        </a:p>
      </dgm:t>
    </dgm:pt>
    <dgm:pt modelId="{67C56C2C-140E-40F4-AD8E-F0728871100A}" type="sibTrans" cxnId="{EFD9D6C9-CDC3-42EE-BFA9-76525A0D897B}">
      <dgm:prSet/>
      <dgm:spPr/>
      <dgm:t>
        <a:bodyPr/>
        <a:lstStyle/>
        <a:p>
          <a:endParaRPr lang="en-US"/>
        </a:p>
      </dgm:t>
    </dgm:pt>
    <dgm:pt modelId="{00549072-656E-4D2B-B91D-031E53FF144C}">
      <dgm:prSet phldrT="[Text]" phldr="0"/>
      <dgm:spPr/>
      <dgm:t>
        <a:bodyPr/>
        <a:lstStyle/>
        <a:p>
          <a:r>
            <a:rPr lang="en-US"/>
            <a:t>Accounts for market shifts</a:t>
          </a:r>
        </a:p>
      </dgm:t>
    </dgm:pt>
    <dgm:pt modelId="{88E8A79C-7C8C-4C98-9676-5692E6CCF224}" type="parTrans" cxnId="{226830DD-98BB-4B3C-9F2F-174E64C679DB}">
      <dgm:prSet/>
      <dgm:spPr/>
      <dgm:t>
        <a:bodyPr/>
        <a:lstStyle/>
        <a:p>
          <a:endParaRPr lang="en-US"/>
        </a:p>
      </dgm:t>
    </dgm:pt>
    <dgm:pt modelId="{E5F2FA66-2F44-4434-B341-C05F34728E48}" type="sibTrans" cxnId="{226830DD-98BB-4B3C-9F2F-174E64C679DB}">
      <dgm:prSet/>
      <dgm:spPr/>
      <dgm:t>
        <a:bodyPr/>
        <a:lstStyle/>
        <a:p>
          <a:endParaRPr lang="en-US"/>
        </a:p>
      </dgm:t>
    </dgm:pt>
    <dgm:pt modelId="{1D3AFFF0-87E0-41AF-9587-577D47607F30}">
      <dgm:prSet phldrT="[Text]" phldr="0"/>
      <dgm:spPr/>
      <dgm:t>
        <a:bodyPr/>
        <a:lstStyle/>
        <a:p>
          <a:r>
            <a:rPr lang="en-US"/>
            <a:t>Project Scope</a:t>
          </a:r>
        </a:p>
      </dgm:t>
    </dgm:pt>
    <dgm:pt modelId="{5F3779AD-428B-41A0-A1BA-425F5E87A59F}" type="parTrans" cxnId="{998EB419-884D-4C4E-9C54-3C48E31D86AC}">
      <dgm:prSet/>
      <dgm:spPr/>
      <dgm:t>
        <a:bodyPr/>
        <a:lstStyle/>
        <a:p>
          <a:endParaRPr lang="en-US"/>
        </a:p>
      </dgm:t>
    </dgm:pt>
    <dgm:pt modelId="{62183662-C49C-4CA7-8E0F-3533DB26CD13}" type="sibTrans" cxnId="{998EB419-884D-4C4E-9C54-3C48E31D86AC}">
      <dgm:prSet/>
      <dgm:spPr/>
      <dgm:t>
        <a:bodyPr/>
        <a:lstStyle/>
        <a:p>
          <a:endParaRPr lang="en-US"/>
        </a:p>
      </dgm:t>
    </dgm:pt>
    <dgm:pt modelId="{B3EC136C-EEC9-4398-ABE4-A339F5EB8755}">
      <dgm:prSet phldrT="[Text]" phldr="0"/>
      <dgm:spPr/>
      <dgm:t>
        <a:bodyPr/>
        <a:lstStyle/>
        <a:p>
          <a:r>
            <a:rPr lang="en-US"/>
            <a:t>Assume no new invention of technology </a:t>
          </a:r>
        </a:p>
      </dgm:t>
    </dgm:pt>
    <dgm:pt modelId="{02AD1D01-EE38-471C-9298-F1940292CAD7}" type="parTrans" cxnId="{0F32394A-DC64-4202-BC90-3A84139D69B2}">
      <dgm:prSet/>
      <dgm:spPr/>
      <dgm:t>
        <a:bodyPr/>
        <a:lstStyle/>
        <a:p>
          <a:endParaRPr lang="en-US"/>
        </a:p>
      </dgm:t>
    </dgm:pt>
    <dgm:pt modelId="{B26FE18D-3451-4A3E-87D2-6B0E461976AA}" type="sibTrans" cxnId="{0F32394A-DC64-4202-BC90-3A84139D69B2}">
      <dgm:prSet/>
      <dgm:spPr/>
      <dgm:t>
        <a:bodyPr/>
        <a:lstStyle/>
        <a:p>
          <a:endParaRPr lang="en-US"/>
        </a:p>
      </dgm:t>
    </dgm:pt>
    <dgm:pt modelId="{1684C333-7923-43F6-9B77-0D62526313B5}">
      <dgm:prSet phldrT="[Text]" phldr="0"/>
      <dgm:spPr/>
      <dgm:t>
        <a:bodyPr/>
        <a:lstStyle/>
        <a:p>
          <a:r>
            <a:rPr lang="en-US"/>
            <a:t>Leverage existing APTIM capabilities </a:t>
          </a:r>
        </a:p>
      </dgm:t>
    </dgm:pt>
    <dgm:pt modelId="{6F213C10-67E7-4E8D-B27E-553D1BC05737}" type="parTrans" cxnId="{561F128E-9537-487F-A048-ECE44F0BDA1A}">
      <dgm:prSet/>
      <dgm:spPr/>
      <dgm:t>
        <a:bodyPr/>
        <a:lstStyle/>
        <a:p>
          <a:endParaRPr lang="en-US"/>
        </a:p>
      </dgm:t>
    </dgm:pt>
    <dgm:pt modelId="{82D34320-E142-4A0D-B10E-BD52A42A52E1}" type="sibTrans" cxnId="{561F128E-9537-487F-A048-ECE44F0BDA1A}">
      <dgm:prSet/>
      <dgm:spPr/>
      <dgm:t>
        <a:bodyPr/>
        <a:lstStyle/>
        <a:p>
          <a:endParaRPr lang="en-US"/>
        </a:p>
      </dgm:t>
    </dgm:pt>
    <dgm:pt modelId="{5331D2D5-186E-4A7D-B7BF-96688948B44C}">
      <dgm:prSet phldrT="[Text]" phldr="0"/>
      <dgm:spPr/>
      <dgm:t>
        <a:bodyPr/>
        <a:lstStyle/>
        <a:p>
          <a:r>
            <a:rPr lang="en-US"/>
            <a:t>Scaling</a:t>
          </a:r>
        </a:p>
      </dgm:t>
    </dgm:pt>
    <dgm:pt modelId="{8A58056D-B14E-41EE-A4D0-60628552731F}" type="parTrans" cxnId="{C38CCFFB-62E1-4E03-BCE4-9497B035AE94}">
      <dgm:prSet/>
      <dgm:spPr/>
      <dgm:t>
        <a:bodyPr/>
        <a:lstStyle/>
        <a:p>
          <a:endParaRPr lang="en-US"/>
        </a:p>
      </dgm:t>
    </dgm:pt>
    <dgm:pt modelId="{AD2D90A5-7A29-489C-B2A6-EF11CC6DEFD9}" type="sibTrans" cxnId="{C38CCFFB-62E1-4E03-BCE4-9497B035AE94}">
      <dgm:prSet/>
      <dgm:spPr/>
      <dgm:t>
        <a:bodyPr/>
        <a:lstStyle/>
        <a:p>
          <a:endParaRPr lang="en-US"/>
        </a:p>
      </dgm:t>
    </dgm:pt>
    <dgm:pt modelId="{54A6EE52-84FF-4D92-B969-8E79CBE8F0C5}">
      <dgm:prSet phldrT="[Text]" phldr="0"/>
      <dgm:spPr/>
      <dgm:t>
        <a:bodyPr/>
        <a:lstStyle/>
        <a:p>
          <a:r>
            <a:rPr lang="en-US"/>
            <a:t>Utility</a:t>
          </a:r>
        </a:p>
      </dgm:t>
    </dgm:pt>
    <dgm:pt modelId="{00E07FFB-82FA-4683-9C75-8EBA8C0C092F}" type="parTrans" cxnId="{F49D6D56-934D-48F8-BB12-0B28FD46FA4C}">
      <dgm:prSet/>
      <dgm:spPr/>
      <dgm:t>
        <a:bodyPr/>
        <a:lstStyle/>
        <a:p>
          <a:endParaRPr lang="en-US"/>
        </a:p>
      </dgm:t>
    </dgm:pt>
    <dgm:pt modelId="{F16EC0B4-CC2C-43C3-901C-B806FCA21B0F}" type="sibTrans" cxnId="{F49D6D56-934D-48F8-BB12-0B28FD46FA4C}">
      <dgm:prSet/>
      <dgm:spPr/>
      <dgm:t>
        <a:bodyPr/>
        <a:lstStyle/>
        <a:p>
          <a:endParaRPr lang="en-US"/>
        </a:p>
      </dgm:t>
    </dgm:pt>
    <dgm:pt modelId="{26633E29-AB92-4650-8055-88D54ED55BE2}">
      <dgm:prSet phldrT="[Text]" phldr="0"/>
      <dgm:spPr/>
      <dgm:t>
        <a:bodyPr/>
        <a:lstStyle/>
        <a:p>
          <a:r>
            <a:rPr lang="en-US"/>
            <a:t>Customer</a:t>
          </a:r>
        </a:p>
      </dgm:t>
    </dgm:pt>
    <dgm:pt modelId="{EEACB6C5-6B43-466E-B148-19853C4B9324}" type="parTrans" cxnId="{5906C962-A3A2-466C-A43B-16BC910D14FA}">
      <dgm:prSet/>
      <dgm:spPr/>
      <dgm:t>
        <a:bodyPr/>
        <a:lstStyle/>
        <a:p>
          <a:endParaRPr lang="en-US"/>
        </a:p>
      </dgm:t>
    </dgm:pt>
    <dgm:pt modelId="{59AFF3AB-5361-4D43-82BE-703092E0B64D}" type="sibTrans" cxnId="{5906C962-A3A2-466C-A43B-16BC910D14FA}">
      <dgm:prSet/>
      <dgm:spPr/>
      <dgm:t>
        <a:bodyPr/>
        <a:lstStyle/>
        <a:p>
          <a:endParaRPr lang="en-US"/>
        </a:p>
      </dgm:t>
    </dgm:pt>
    <dgm:pt modelId="{AAF4F1E5-05EF-40A4-B043-A0C4F066363B}">
      <dgm:prSet phldrT="[Text]" phldr="0"/>
      <dgm:spPr/>
      <dgm:t>
        <a:bodyPr/>
        <a:lstStyle/>
        <a:p>
          <a:r>
            <a:rPr lang="en-US"/>
            <a:t>County/City/State</a:t>
          </a:r>
        </a:p>
      </dgm:t>
    </dgm:pt>
    <dgm:pt modelId="{0B9D80D4-13B4-49C5-B4B8-FA4847FF408D}" type="parTrans" cxnId="{8454EBFF-AF7C-4D20-8218-B0239263E492}">
      <dgm:prSet/>
      <dgm:spPr/>
      <dgm:t>
        <a:bodyPr/>
        <a:lstStyle/>
        <a:p>
          <a:endParaRPr lang="en-US"/>
        </a:p>
      </dgm:t>
    </dgm:pt>
    <dgm:pt modelId="{21FBD31F-7E4E-4624-8610-431B18982D6D}" type="sibTrans" cxnId="{8454EBFF-AF7C-4D20-8218-B0239263E492}">
      <dgm:prSet/>
      <dgm:spPr/>
      <dgm:t>
        <a:bodyPr/>
        <a:lstStyle/>
        <a:p>
          <a:endParaRPr lang="en-US"/>
        </a:p>
      </dgm:t>
    </dgm:pt>
    <dgm:pt modelId="{D53F8F63-4093-4829-BB74-C71750D0CB46}">
      <dgm:prSet phldrT="[Text]" phldr="0"/>
      <dgm:spPr/>
      <dgm:t>
        <a:bodyPr/>
        <a:lstStyle/>
        <a:p>
          <a:r>
            <a:rPr lang="en-US"/>
            <a:t>Complexity</a:t>
          </a:r>
        </a:p>
      </dgm:t>
    </dgm:pt>
    <dgm:pt modelId="{944703BA-DE8B-44BF-898A-9D577DF3CE6A}" type="parTrans" cxnId="{BF8092A8-5AC4-49C3-B78D-BF2E619ADE49}">
      <dgm:prSet/>
      <dgm:spPr/>
      <dgm:t>
        <a:bodyPr/>
        <a:lstStyle/>
        <a:p>
          <a:endParaRPr lang="en-US"/>
        </a:p>
      </dgm:t>
    </dgm:pt>
    <dgm:pt modelId="{F6B65A73-3963-465F-AB7C-EAC1AE6EEE29}" type="sibTrans" cxnId="{BF8092A8-5AC4-49C3-B78D-BF2E619ADE49}">
      <dgm:prSet/>
      <dgm:spPr/>
      <dgm:t>
        <a:bodyPr/>
        <a:lstStyle/>
        <a:p>
          <a:endParaRPr lang="en-US"/>
        </a:p>
      </dgm:t>
    </dgm:pt>
    <dgm:pt modelId="{4B1EB1E7-E7DE-4316-B143-6298166239AD}" type="pres">
      <dgm:prSet presAssocID="{DF310642-AF78-4539-AA2E-F9BD8922CD48}" presName="hierChild1" presStyleCnt="0">
        <dgm:presLayoutVars>
          <dgm:chPref val="1"/>
          <dgm:dir/>
          <dgm:animOne val="branch"/>
          <dgm:animLvl val="lvl"/>
          <dgm:resizeHandles/>
        </dgm:presLayoutVars>
      </dgm:prSet>
      <dgm:spPr/>
    </dgm:pt>
    <dgm:pt modelId="{BA68516A-82F1-4C6A-AB55-5E3816321EDE}" type="pres">
      <dgm:prSet presAssocID="{1D3AFFF0-87E0-41AF-9587-577D47607F30}" presName="hierRoot1" presStyleCnt="0"/>
      <dgm:spPr/>
    </dgm:pt>
    <dgm:pt modelId="{0E43E6CD-C2B4-4F0A-8647-8DF2FB6D2BCC}" type="pres">
      <dgm:prSet presAssocID="{1D3AFFF0-87E0-41AF-9587-577D47607F30}" presName="composite" presStyleCnt="0"/>
      <dgm:spPr/>
    </dgm:pt>
    <dgm:pt modelId="{941F23F8-BC01-4CFE-8097-DB5D4D90AAAB}" type="pres">
      <dgm:prSet presAssocID="{1D3AFFF0-87E0-41AF-9587-577D47607F30}" presName="background" presStyleLbl="node0" presStyleIdx="0" presStyleCnt="1"/>
      <dgm:spPr/>
    </dgm:pt>
    <dgm:pt modelId="{27DCDAFB-9D99-4665-ADBB-63466E903D4A}" type="pres">
      <dgm:prSet presAssocID="{1D3AFFF0-87E0-41AF-9587-577D47607F30}" presName="text" presStyleLbl="fgAcc0" presStyleIdx="0" presStyleCnt="1">
        <dgm:presLayoutVars>
          <dgm:chPref val="3"/>
        </dgm:presLayoutVars>
      </dgm:prSet>
      <dgm:spPr/>
    </dgm:pt>
    <dgm:pt modelId="{AE92BAFB-B677-4D5D-A58D-FFA2383E1FD1}" type="pres">
      <dgm:prSet presAssocID="{1D3AFFF0-87E0-41AF-9587-577D47607F30}" presName="hierChild2" presStyleCnt="0"/>
      <dgm:spPr/>
    </dgm:pt>
    <dgm:pt modelId="{00275DF9-4862-4349-857A-D238C0F08817}" type="pres">
      <dgm:prSet presAssocID="{944703BA-DE8B-44BF-898A-9D577DF3CE6A}" presName="Name10" presStyleLbl="parChTrans1D2" presStyleIdx="0" presStyleCnt="3"/>
      <dgm:spPr/>
    </dgm:pt>
    <dgm:pt modelId="{D1EBD71C-083D-4798-9CDF-C60B72AB5EEA}" type="pres">
      <dgm:prSet presAssocID="{D53F8F63-4093-4829-BB74-C71750D0CB46}" presName="hierRoot2" presStyleCnt="0"/>
      <dgm:spPr/>
    </dgm:pt>
    <dgm:pt modelId="{FCAFC025-72CD-4964-A33E-08A4330C6473}" type="pres">
      <dgm:prSet presAssocID="{D53F8F63-4093-4829-BB74-C71750D0CB46}" presName="composite2" presStyleCnt="0"/>
      <dgm:spPr/>
    </dgm:pt>
    <dgm:pt modelId="{5FCE555D-A897-49E0-9130-57C9A9EE8917}" type="pres">
      <dgm:prSet presAssocID="{D53F8F63-4093-4829-BB74-C71750D0CB46}" presName="background2" presStyleLbl="node2" presStyleIdx="0" presStyleCnt="3"/>
      <dgm:spPr/>
    </dgm:pt>
    <dgm:pt modelId="{7AE95F25-5232-4E91-9E0E-86CE995ED199}" type="pres">
      <dgm:prSet presAssocID="{D53F8F63-4093-4829-BB74-C71750D0CB46}" presName="text2" presStyleLbl="fgAcc2" presStyleIdx="0" presStyleCnt="3">
        <dgm:presLayoutVars>
          <dgm:chPref val="3"/>
        </dgm:presLayoutVars>
      </dgm:prSet>
      <dgm:spPr/>
    </dgm:pt>
    <dgm:pt modelId="{77B85D09-364E-4CD9-97BE-7C9081BCE603}" type="pres">
      <dgm:prSet presAssocID="{D53F8F63-4093-4829-BB74-C71750D0CB46}" presName="hierChild3" presStyleCnt="0"/>
      <dgm:spPr/>
    </dgm:pt>
    <dgm:pt modelId="{9873CF8F-2372-49F3-9DE9-91DBE3412F46}" type="pres">
      <dgm:prSet presAssocID="{02AD1D01-EE38-471C-9298-F1940292CAD7}" presName="Name17" presStyleLbl="parChTrans1D3" presStyleIdx="0" presStyleCnt="7"/>
      <dgm:spPr/>
    </dgm:pt>
    <dgm:pt modelId="{2EA8235A-8957-4F68-BDFE-49515FFD7259}" type="pres">
      <dgm:prSet presAssocID="{B3EC136C-EEC9-4398-ABE4-A339F5EB8755}" presName="hierRoot3" presStyleCnt="0"/>
      <dgm:spPr/>
    </dgm:pt>
    <dgm:pt modelId="{87D16DD8-5E6D-410B-95A1-81CCE3225287}" type="pres">
      <dgm:prSet presAssocID="{B3EC136C-EEC9-4398-ABE4-A339F5EB8755}" presName="composite3" presStyleCnt="0"/>
      <dgm:spPr/>
    </dgm:pt>
    <dgm:pt modelId="{DF7F889C-1D0C-44F1-92B7-C3EA5F1AC971}" type="pres">
      <dgm:prSet presAssocID="{B3EC136C-EEC9-4398-ABE4-A339F5EB8755}" presName="background3" presStyleLbl="node3" presStyleIdx="0" presStyleCnt="7"/>
      <dgm:spPr/>
    </dgm:pt>
    <dgm:pt modelId="{205C32C6-40C4-42F5-8ED8-9D9B6FC27188}" type="pres">
      <dgm:prSet presAssocID="{B3EC136C-EEC9-4398-ABE4-A339F5EB8755}" presName="text3" presStyleLbl="fgAcc3" presStyleIdx="0" presStyleCnt="7">
        <dgm:presLayoutVars>
          <dgm:chPref val="3"/>
        </dgm:presLayoutVars>
      </dgm:prSet>
      <dgm:spPr/>
    </dgm:pt>
    <dgm:pt modelId="{E8A2E57C-B947-4A55-9432-CC0C62A91752}" type="pres">
      <dgm:prSet presAssocID="{B3EC136C-EEC9-4398-ABE4-A339F5EB8755}" presName="hierChild4" presStyleCnt="0"/>
      <dgm:spPr/>
    </dgm:pt>
    <dgm:pt modelId="{3EECFDB3-E735-4D21-BF6C-A3BC234599A1}" type="pres">
      <dgm:prSet presAssocID="{6F213C10-67E7-4E8D-B27E-553D1BC05737}" presName="Name17" presStyleLbl="parChTrans1D3" presStyleIdx="1" presStyleCnt="7"/>
      <dgm:spPr/>
    </dgm:pt>
    <dgm:pt modelId="{531D460D-E99F-4BBA-AF2F-7D3A698FC369}" type="pres">
      <dgm:prSet presAssocID="{1684C333-7923-43F6-9B77-0D62526313B5}" presName="hierRoot3" presStyleCnt="0"/>
      <dgm:spPr/>
    </dgm:pt>
    <dgm:pt modelId="{F17D9811-3F72-4930-9A32-943B45A4EAF0}" type="pres">
      <dgm:prSet presAssocID="{1684C333-7923-43F6-9B77-0D62526313B5}" presName="composite3" presStyleCnt="0"/>
      <dgm:spPr/>
    </dgm:pt>
    <dgm:pt modelId="{C1EED29D-7FA2-47A7-8FC3-95047349D2F8}" type="pres">
      <dgm:prSet presAssocID="{1684C333-7923-43F6-9B77-0D62526313B5}" presName="background3" presStyleLbl="node3" presStyleIdx="1" presStyleCnt="7"/>
      <dgm:spPr/>
    </dgm:pt>
    <dgm:pt modelId="{0F26E56F-52F5-4277-BF18-8C496767EA5A}" type="pres">
      <dgm:prSet presAssocID="{1684C333-7923-43F6-9B77-0D62526313B5}" presName="text3" presStyleLbl="fgAcc3" presStyleIdx="1" presStyleCnt="7">
        <dgm:presLayoutVars>
          <dgm:chPref val="3"/>
        </dgm:presLayoutVars>
      </dgm:prSet>
      <dgm:spPr/>
    </dgm:pt>
    <dgm:pt modelId="{12A1D643-C677-4495-BB33-78AE161C6536}" type="pres">
      <dgm:prSet presAssocID="{1684C333-7923-43F6-9B77-0D62526313B5}" presName="hierChild4" presStyleCnt="0"/>
      <dgm:spPr/>
    </dgm:pt>
    <dgm:pt modelId="{0D0DB610-D48E-44F8-92E8-9E8333A7DFA4}" type="pres">
      <dgm:prSet presAssocID="{896D4372-91AD-48D7-8F12-2F44D08A2BBF}" presName="Name10" presStyleLbl="parChTrans1D2" presStyleIdx="1" presStyleCnt="3"/>
      <dgm:spPr/>
    </dgm:pt>
    <dgm:pt modelId="{456071F7-A145-43D5-90DD-288B18C9B326}" type="pres">
      <dgm:prSet presAssocID="{8D861999-5986-4933-A595-043F7320953F}" presName="hierRoot2" presStyleCnt="0"/>
      <dgm:spPr/>
    </dgm:pt>
    <dgm:pt modelId="{DB1E8158-68A2-4D5C-AAD3-9A7E577CC2DD}" type="pres">
      <dgm:prSet presAssocID="{8D861999-5986-4933-A595-043F7320953F}" presName="composite2" presStyleCnt="0"/>
      <dgm:spPr/>
    </dgm:pt>
    <dgm:pt modelId="{74C58B10-E5C6-43D3-AEAD-BAB9F36929F7}" type="pres">
      <dgm:prSet presAssocID="{8D861999-5986-4933-A595-043F7320953F}" presName="background2" presStyleLbl="node2" presStyleIdx="1" presStyleCnt="3"/>
      <dgm:spPr/>
    </dgm:pt>
    <dgm:pt modelId="{C0E54C41-9B69-4F78-A7A0-25D602210C4E}" type="pres">
      <dgm:prSet presAssocID="{8D861999-5986-4933-A595-043F7320953F}" presName="text2" presStyleLbl="fgAcc2" presStyleIdx="1" presStyleCnt="3">
        <dgm:presLayoutVars>
          <dgm:chPref val="3"/>
        </dgm:presLayoutVars>
      </dgm:prSet>
      <dgm:spPr/>
    </dgm:pt>
    <dgm:pt modelId="{86E16C0C-67DE-4C5E-87DD-58A6D4A84EBC}" type="pres">
      <dgm:prSet presAssocID="{8D861999-5986-4933-A595-043F7320953F}" presName="hierChild3" presStyleCnt="0"/>
      <dgm:spPr/>
    </dgm:pt>
    <dgm:pt modelId="{69C8F1FE-FB64-4228-BF5C-582E5A979261}" type="pres">
      <dgm:prSet presAssocID="{00E07FFB-82FA-4683-9C75-8EBA8C0C092F}" presName="Name17" presStyleLbl="parChTrans1D3" presStyleIdx="2" presStyleCnt="7"/>
      <dgm:spPr/>
    </dgm:pt>
    <dgm:pt modelId="{48ED7861-5874-4357-A797-7AA6DA39B649}" type="pres">
      <dgm:prSet presAssocID="{54A6EE52-84FF-4D92-B969-8E79CBE8F0C5}" presName="hierRoot3" presStyleCnt="0"/>
      <dgm:spPr/>
    </dgm:pt>
    <dgm:pt modelId="{BA208008-DEF9-4D2F-87BF-8731E3B5C3FE}" type="pres">
      <dgm:prSet presAssocID="{54A6EE52-84FF-4D92-B969-8E79CBE8F0C5}" presName="composite3" presStyleCnt="0"/>
      <dgm:spPr/>
    </dgm:pt>
    <dgm:pt modelId="{C38DE57C-065B-40B2-BEBD-556290799360}" type="pres">
      <dgm:prSet presAssocID="{54A6EE52-84FF-4D92-B969-8E79CBE8F0C5}" presName="background3" presStyleLbl="node3" presStyleIdx="2" presStyleCnt="7"/>
      <dgm:spPr/>
    </dgm:pt>
    <dgm:pt modelId="{71BB4F7B-E13B-4DFE-B15D-7DED4959F594}" type="pres">
      <dgm:prSet presAssocID="{54A6EE52-84FF-4D92-B969-8E79CBE8F0C5}" presName="text3" presStyleLbl="fgAcc3" presStyleIdx="2" presStyleCnt="7">
        <dgm:presLayoutVars>
          <dgm:chPref val="3"/>
        </dgm:presLayoutVars>
      </dgm:prSet>
      <dgm:spPr/>
    </dgm:pt>
    <dgm:pt modelId="{0C42050C-5A75-4B00-88EE-3823E6F8571D}" type="pres">
      <dgm:prSet presAssocID="{54A6EE52-84FF-4D92-B969-8E79CBE8F0C5}" presName="hierChild4" presStyleCnt="0"/>
      <dgm:spPr/>
    </dgm:pt>
    <dgm:pt modelId="{A0DB35CD-D4D4-47CA-967D-3A952C83EEAE}" type="pres">
      <dgm:prSet presAssocID="{EEACB6C5-6B43-466E-B148-19853C4B9324}" presName="Name17" presStyleLbl="parChTrans1D3" presStyleIdx="3" presStyleCnt="7"/>
      <dgm:spPr/>
    </dgm:pt>
    <dgm:pt modelId="{B3624FEA-4D5A-4576-8A86-7FA00E19C4BF}" type="pres">
      <dgm:prSet presAssocID="{26633E29-AB92-4650-8055-88D54ED55BE2}" presName="hierRoot3" presStyleCnt="0"/>
      <dgm:spPr/>
    </dgm:pt>
    <dgm:pt modelId="{207723D4-6B9A-4930-804D-394D4943FDCD}" type="pres">
      <dgm:prSet presAssocID="{26633E29-AB92-4650-8055-88D54ED55BE2}" presName="composite3" presStyleCnt="0"/>
      <dgm:spPr/>
    </dgm:pt>
    <dgm:pt modelId="{7B2F6CF9-9255-49A1-8E44-6AD561BC6432}" type="pres">
      <dgm:prSet presAssocID="{26633E29-AB92-4650-8055-88D54ED55BE2}" presName="background3" presStyleLbl="node3" presStyleIdx="3" presStyleCnt="7"/>
      <dgm:spPr/>
    </dgm:pt>
    <dgm:pt modelId="{99927BCA-4CF8-44DE-9F8A-BB4AB6050C8E}" type="pres">
      <dgm:prSet presAssocID="{26633E29-AB92-4650-8055-88D54ED55BE2}" presName="text3" presStyleLbl="fgAcc3" presStyleIdx="3" presStyleCnt="7">
        <dgm:presLayoutVars>
          <dgm:chPref val="3"/>
        </dgm:presLayoutVars>
      </dgm:prSet>
      <dgm:spPr/>
    </dgm:pt>
    <dgm:pt modelId="{F0D2CCC7-C570-458E-B5D1-844C841D7828}" type="pres">
      <dgm:prSet presAssocID="{26633E29-AB92-4650-8055-88D54ED55BE2}" presName="hierChild4" presStyleCnt="0"/>
      <dgm:spPr/>
    </dgm:pt>
    <dgm:pt modelId="{EF847DB8-DFD3-47E7-B8A5-8C666BF5466B}" type="pres">
      <dgm:prSet presAssocID="{0B9D80D4-13B4-49C5-B4B8-FA4847FF408D}" presName="Name17" presStyleLbl="parChTrans1D3" presStyleIdx="4" presStyleCnt="7"/>
      <dgm:spPr/>
    </dgm:pt>
    <dgm:pt modelId="{B2414E3A-4C5E-49AF-B3D0-DDF537730C8F}" type="pres">
      <dgm:prSet presAssocID="{AAF4F1E5-05EF-40A4-B043-A0C4F066363B}" presName="hierRoot3" presStyleCnt="0"/>
      <dgm:spPr/>
    </dgm:pt>
    <dgm:pt modelId="{962F4D84-679D-47D9-BD99-DF1EED9B766D}" type="pres">
      <dgm:prSet presAssocID="{AAF4F1E5-05EF-40A4-B043-A0C4F066363B}" presName="composite3" presStyleCnt="0"/>
      <dgm:spPr/>
    </dgm:pt>
    <dgm:pt modelId="{3351E779-F6C9-46C2-99D4-4EED2259D109}" type="pres">
      <dgm:prSet presAssocID="{AAF4F1E5-05EF-40A4-B043-A0C4F066363B}" presName="background3" presStyleLbl="node3" presStyleIdx="4" presStyleCnt="7"/>
      <dgm:spPr/>
    </dgm:pt>
    <dgm:pt modelId="{6C8D6570-F4A1-424C-B484-E260E47E5F6E}" type="pres">
      <dgm:prSet presAssocID="{AAF4F1E5-05EF-40A4-B043-A0C4F066363B}" presName="text3" presStyleLbl="fgAcc3" presStyleIdx="4" presStyleCnt="7">
        <dgm:presLayoutVars>
          <dgm:chPref val="3"/>
        </dgm:presLayoutVars>
      </dgm:prSet>
      <dgm:spPr/>
    </dgm:pt>
    <dgm:pt modelId="{065098DD-7A5C-4D93-BABA-7B6D7EEB3393}" type="pres">
      <dgm:prSet presAssocID="{AAF4F1E5-05EF-40A4-B043-A0C4F066363B}" presName="hierChild4" presStyleCnt="0"/>
      <dgm:spPr/>
    </dgm:pt>
    <dgm:pt modelId="{6113BFF0-3856-485B-A4A8-E2645871275F}" type="pres">
      <dgm:prSet presAssocID="{8A58056D-B14E-41EE-A4D0-60628552731F}" presName="Name10" presStyleLbl="parChTrans1D2" presStyleIdx="2" presStyleCnt="3"/>
      <dgm:spPr/>
    </dgm:pt>
    <dgm:pt modelId="{8691C558-9DCF-4FE9-9C1B-5A8596C5C248}" type="pres">
      <dgm:prSet presAssocID="{5331D2D5-186E-4A7D-B7BF-96688948B44C}" presName="hierRoot2" presStyleCnt="0"/>
      <dgm:spPr/>
    </dgm:pt>
    <dgm:pt modelId="{E532134F-F76F-433F-A9CB-3D693023C4A7}" type="pres">
      <dgm:prSet presAssocID="{5331D2D5-186E-4A7D-B7BF-96688948B44C}" presName="composite2" presStyleCnt="0"/>
      <dgm:spPr/>
    </dgm:pt>
    <dgm:pt modelId="{90DE277B-6820-45E8-ABC1-436200024406}" type="pres">
      <dgm:prSet presAssocID="{5331D2D5-186E-4A7D-B7BF-96688948B44C}" presName="background2" presStyleLbl="node2" presStyleIdx="2" presStyleCnt="3"/>
      <dgm:spPr/>
    </dgm:pt>
    <dgm:pt modelId="{EA96700A-3EAB-49D1-B0E5-DFF233E1E67E}" type="pres">
      <dgm:prSet presAssocID="{5331D2D5-186E-4A7D-B7BF-96688948B44C}" presName="text2" presStyleLbl="fgAcc2" presStyleIdx="2" presStyleCnt="3">
        <dgm:presLayoutVars>
          <dgm:chPref val="3"/>
        </dgm:presLayoutVars>
      </dgm:prSet>
      <dgm:spPr/>
    </dgm:pt>
    <dgm:pt modelId="{83E21ECF-43F5-4CFD-917F-623363BEF3E5}" type="pres">
      <dgm:prSet presAssocID="{5331D2D5-186E-4A7D-B7BF-96688948B44C}" presName="hierChild3" presStyleCnt="0"/>
      <dgm:spPr/>
    </dgm:pt>
    <dgm:pt modelId="{1E9DA51D-772A-44B0-AD7D-D71601FDE07D}" type="pres">
      <dgm:prSet presAssocID="{85ABFA9C-5D45-4705-8D55-1B01EBB6C323}" presName="Name17" presStyleLbl="parChTrans1D3" presStyleIdx="5" presStyleCnt="7"/>
      <dgm:spPr/>
    </dgm:pt>
    <dgm:pt modelId="{6E49A688-711C-4B64-A0B2-24DAAE1D1FDD}" type="pres">
      <dgm:prSet presAssocID="{5CE24B44-D6E9-4EF8-AE7B-89573C2B72FF}" presName="hierRoot3" presStyleCnt="0"/>
      <dgm:spPr/>
    </dgm:pt>
    <dgm:pt modelId="{649AC84B-9822-44FE-88D9-B051029206D4}" type="pres">
      <dgm:prSet presAssocID="{5CE24B44-D6E9-4EF8-AE7B-89573C2B72FF}" presName="composite3" presStyleCnt="0"/>
      <dgm:spPr/>
    </dgm:pt>
    <dgm:pt modelId="{35EE64AD-1C4D-4923-9C3A-F5855164B8E3}" type="pres">
      <dgm:prSet presAssocID="{5CE24B44-D6E9-4EF8-AE7B-89573C2B72FF}" presName="background3" presStyleLbl="node3" presStyleIdx="5" presStyleCnt="7"/>
      <dgm:spPr/>
    </dgm:pt>
    <dgm:pt modelId="{CD463962-C8DA-4EEB-962F-4FFE8591FAF3}" type="pres">
      <dgm:prSet presAssocID="{5CE24B44-D6E9-4EF8-AE7B-89573C2B72FF}" presName="text3" presStyleLbl="fgAcc3" presStyleIdx="5" presStyleCnt="7">
        <dgm:presLayoutVars>
          <dgm:chPref val="3"/>
        </dgm:presLayoutVars>
      </dgm:prSet>
      <dgm:spPr/>
    </dgm:pt>
    <dgm:pt modelId="{E1F2C884-CE1C-44D2-9271-EC73FE0E0ED7}" type="pres">
      <dgm:prSet presAssocID="{5CE24B44-D6E9-4EF8-AE7B-89573C2B72FF}" presName="hierChild4" presStyleCnt="0"/>
      <dgm:spPr/>
    </dgm:pt>
    <dgm:pt modelId="{0FFC99AD-2BA8-48C6-9819-DC36FF7DCAD0}" type="pres">
      <dgm:prSet presAssocID="{88E8A79C-7C8C-4C98-9676-5692E6CCF224}" presName="Name17" presStyleLbl="parChTrans1D3" presStyleIdx="6" presStyleCnt="7"/>
      <dgm:spPr/>
    </dgm:pt>
    <dgm:pt modelId="{92748940-C26B-4778-B036-EAD5E3D8597D}" type="pres">
      <dgm:prSet presAssocID="{00549072-656E-4D2B-B91D-031E53FF144C}" presName="hierRoot3" presStyleCnt="0"/>
      <dgm:spPr/>
    </dgm:pt>
    <dgm:pt modelId="{DE89D34C-2C21-4D82-920D-1EDEF063DD20}" type="pres">
      <dgm:prSet presAssocID="{00549072-656E-4D2B-B91D-031E53FF144C}" presName="composite3" presStyleCnt="0"/>
      <dgm:spPr/>
    </dgm:pt>
    <dgm:pt modelId="{DBA76714-5C33-4AA1-8515-FA044AD90317}" type="pres">
      <dgm:prSet presAssocID="{00549072-656E-4D2B-B91D-031E53FF144C}" presName="background3" presStyleLbl="node3" presStyleIdx="6" presStyleCnt="7"/>
      <dgm:spPr/>
    </dgm:pt>
    <dgm:pt modelId="{C4791A95-20EC-42C2-99C0-941E9EDBE678}" type="pres">
      <dgm:prSet presAssocID="{00549072-656E-4D2B-B91D-031E53FF144C}" presName="text3" presStyleLbl="fgAcc3" presStyleIdx="6" presStyleCnt="7">
        <dgm:presLayoutVars>
          <dgm:chPref val="3"/>
        </dgm:presLayoutVars>
      </dgm:prSet>
      <dgm:spPr/>
    </dgm:pt>
    <dgm:pt modelId="{B9D272E9-A60A-48CE-8FA1-59A9DFF20D87}" type="pres">
      <dgm:prSet presAssocID="{00549072-656E-4D2B-B91D-031E53FF144C}" presName="hierChild4" presStyleCnt="0"/>
      <dgm:spPr/>
    </dgm:pt>
  </dgm:ptLst>
  <dgm:cxnLst>
    <dgm:cxn modelId="{6DC4AD04-0F65-4774-A1B4-3C678FB28B35}" type="presOf" srcId="{5331D2D5-186E-4A7D-B7BF-96688948B44C}" destId="{EA96700A-3EAB-49D1-B0E5-DFF233E1E67E}" srcOrd="0" destOrd="0" presId="urn:microsoft.com/office/officeart/2005/8/layout/hierarchy1"/>
    <dgm:cxn modelId="{D85FF914-79E1-489D-BEB0-2DDEA10E256C}" type="presOf" srcId="{5CE24B44-D6E9-4EF8-AE7B-89573C2B72FF}" destId="{CD463962-C8DA-4EEB-962F-4FFE8591FAF3}" srcOrd="0" destOrd="0" presId="urn:microsoft.com/office/officeart/2005/8/layout/hierarchy1"/>
    <dgm:cxn modelId="{998EB419-884D-4C4E-9C54-3C48E31D86AC}" srcId="{DF310642-AF78-4539-AA2E-F9BD8922CD48}" destId="{1D3AFFF0-87E0-41AF-9587-577D47607F30}" srcOrd="0" destOrd="0" parTransId="{5F3779AD-428B-41A0-A1BA-425F5E87A59F}" sibTransId="{62183662-C49C-4CA7-8E0F-3533DB26CD13}"/>
    <dgm:cxn modelId="{250B2621-245A-4CDB-A99C-14E18D3F5821}" type="presOf" srcId="{B3EC136C-EEC9-4398-ABE4-A339F5EB8755}" destId="{205C32C6-40C4-42F5-8ED8-9D9B6FC27188}" srcOrd="0" destOrd="0" presId="urn:microsoft.com/office/officeart/2005/8/layout/hierarchy1"/>
    <dgm:cxn modelId="{88D25522-C8D3-43D6-858A-9559180A3615}" type="presOf" srcId="{AAF4F1E5-05EF-40A4-B043-A0C4F066363B}" destId="{6C8D6570-F4A1-424C-B484-E260E47E5F6E}" srcOrd="0" destOrd="0" presId="urn:microsoft.com/office/officeart/2005/8/layout/hierarchy1"/>
    <dgm:cxn modelId="{F7E38423-63D3-4A03-B1BE-175C777BFAF1}" type="presOf" srcId="{02AD1D01-EE38-471C-9298-F1940292CAD7}" destId="{9873CF8F-2372-49F3-9DE9-91DBE3412F46}" srcOrd="0" destOrd="0" presId="urn:microsoft.com/office/officeart/2005/8/layout/hierarchy1"/>
    <dgm:cxn modelId="{A371C125-2259-4D79-86B3-F845DF5FF11B}" type="presOf" srcId="{85ABFA9C-5D45-4705-8D55-1B01EBB6C323}" destId="{1E9DA51D-772A-44B0-AD7D-D71601FDE07D}" srcOrd="0" destOrd="0" presId="urn:microsoft.com/office/officeart/2005/8/layout/hierarchy1"/>
    <dgm:cxn modelId="{123CC83F-52FE-4CF4-805B-1A493633CD9B}" type="presOf" srcId="{8D861999-5986-4933-A595-043F7320953F}" destId="{C0E54C41-9B69-4F78-A7A0-25D602210C4E}" srcOrd="0" destOrd="0" presId="urn:microsoft.com/office/officeart/2005/8/layout/hierarchy1"/>
    <dgm:cxn modelId="{5906C962-A3A2-466C-A43B-16BC910D14FA}" srcId="{8D861999-5986-4933-A595-043F7320953F}" destId="{26633E29-AB92-4650-8055-88D54ED55BE2}" srcOrd="1" destOrd="0" parTransId="{EEACB6C5-6B43-466E-B148-19853C4B9324}" sibTransId="{59AFF3AB-5361-4D43-82BE-703092E0B64D}"/>
    <dgm:cxn modelId="{0F32394A-DC64-4202-BC90-3A84139D69B2}" srcId="{D53F8F63-4093-4829-BB74-C71750D0CB46}" destId="{B3EC136C-EEC9-4398-ABE4-A339F5EB8755}" srcOrd="0" destOrd="0" parTransId="{02AD1D01-EE38-471C-9298-F1940292CAD7}" sibTransId="{B26FE18D-3451-4A3E-87D2-6B0E461976AA}"/>
    <dgm:cxn modelId="{D432DF6D-7E43-44BD-95FB-7F2A4BEBD9BF}" type="presOf" srcId="{896D4372-91AD-48D7-8F12-2F44D08A2BBF}" destId="{0D0DB610-D48E-44F8-92E8-9E8333A7DFA4}" srcOrd="0" destOrd="0" presId="urn:microsoft.com/office/officeart/2005/8/layout/hierarchy1"/>
    <dgm:cxn modelId="{F49D6D56-934D-48F8-BB12-0B28FD46FA4C}" srcId="{8D861999-5986-4933-A595-043F7320953F}" destId="{54A6EE52-84FF-4D92-B969-8E79CBE8F0C5}" srcOrd="0" destOrd="0" parTransId="{00E07FFB-82FA-4683-9C75-8EBA8C0C092F}" sibTransId="{F16EC0B4-CC2C-43C3-901C-B806FCA21B0F}"/>
    <dgm:cxn modelId="{4685FA84-F24A-4A90-99A3-167D9816DA07}" type="presOf" srcId="{0B9D80D4-13B4-49C5-B4B8-FA4847FF408D}" destId="{EF847DB8-DFD3-47E7-B8A5-8C666BF5466B}" srcOrd="0" destOrd="0" presId="urn:microsoft.com/office/officeart/2005/8/layout/hierarchy1"/>
    <dgm:cxn modelId="{FE6E6288-22ED-46D5-950E-59627C2F882B}" type="presOf" srcId="{00549072-656E-4D2B-B91D-031E53FF144C}" destId="{C4791A95-20EC-42C2-99C0-941E9EDBE678}" srcOrd="0" destOrd="0" presId="urn:microsoft.com/office/officeart/2005/8/layout/hierarchy1"/>
    <dgm:cxn modelId="{9C3F9A8A-19A8-4A70-9C88-327433CA0875}" type="presOf" srcId="{26633E29-AB92-4650-8055-88D54ED55BE2}" destId="{99927BCA-4CF8-44DE-9F8A-BB4AB6050C8E}" srcOrd="0" destOrd="0" presId="urn:microsoft.com/office/officeart/2005/8/layout/hierarchy1"/>
    <dgm:cxn modelId="{561F128E-9537-487F-A048-ECE44F0BDA1A}" srcId="{D53F8F63-4093-4829-BB74-C71750D0CB46}" destId="{1684C333-7923-43F6-9B77-0D62526313B5}" srcOrd="1" destOrd="0" parTransId="{6F213C10-67E7-4E8D-B27E-553D1BC05737}" sibTransId="{82D34320-E142-4A0D-B10E-BD52A42A52E1}"/>
    <dgm:cxn modelId="{C21524A1-40DD-4E2B-BD71-0E948BE12962}" type="presOf" srcId="{DF310642-AF78-4539-AA2E-F9BD8922CD48}" destId="{4B1EB1E7-E7DE-4316-B143-6298166239AD}" srcOrd="0" destOrd="0" presId="urn:microsoft.com/office/officeart/2005/8/layout/hierarchy1"/>
    <dgm:cxn modelId="{E979A3A3-580E-423D-A0CF-0E3793499AFE}" type="presOf" srcId="{8A58056D-B14E-41EE-A4D0-60628552731F}" destId="{6113BFF0-3856-485B-A4A8-E2645871275F}" srcOrd="0" destOrd="0" presId="urn:microsoft.com/office/officeart/2005/8/layout/hierarchy1"/>
    <dgm:cxn modelId="{8EE928A7-BF47-4EA4-8A5E-95A9AF1C417B}" type="presOf" srcId="{6F213C10-67E7-4E8D-B27E-553D1BC05737}" destId="{3EECFDB3-E735-4D21-BF6C-A3BC234599A1}" srcOrd="0" destOrd="0" presId="urn:microsoft.com/office/officeart/2005/8/layout/hierarchy1"/>
    <dgm:cxn modelId="{BF8092A8-5AC4-49C3-B78D-BF2E619ADE49}" srcId="{1D3AFFF0-87E0-41AF-9587-577D47607F30}" destId="{D53F8F63-4093-4829-BB74-C71750D0CB46}" srcOrd="0" destOrd="0" parTransId="{944703BA-DE8B-44BF-898A-9D577DF3CE6A}" sibTransId="{F6B65A73-3963-465F-AB7C-EAC1AE6EEE29}"/>
    <dgm:cxn modelId="{BC70A1B1-6C69-4AC6-88EC-D00F5EE92165}" srcId="{1D3AFFF0-87E0-41AF-9587-577D47607F30}" destId="{8D861999-5986-4933-A595-043F7320953F}" srcOrd="1" destOrd="0" parTransId="{896D4372-91AD-48D7-8F12-2F44D08A2BBF}" sibTransId="{3C2D724A-4C90-4807-87E2-B953BCC46EFD}"/>
    <dgm:cxn modelId="{26A5A2B8-C7E8-456A-929E-80649A6DFF56}" type="presOf" srcId="{1D3AFFF0-87E0-41AF-9587-577D47607F30}" destId="{27DCDAFB-9D99-4665-ADBB-63466E903D4A}" srcOrd="0" destOrd="0" presId="urn:microsoft.com/office/officeart/2005/8/layout/hierarchy1"/>
    <dgm:cxn modelId="{4C59DABB-4FF8-4ADB-87B3-013B8F835AA7}" type="presOf" srcId="{54A6EE52-84FF-4D92-B969-8E79CBE8F0C5}" destId="{71BB4F7B-E13B-4DFE-B15D-7DED4959F594}" srcOrd="0" destOrd="0" presId="urn:microsoft.com/office/officeart/2005/8/layout/hierarchy1"/>
    <dgm:cxn modelId="{0C21F0C1-956C-47DE-B419-7DC38E22D9DA}" type="presOf" srcId="{88E8A79C-7C8C-4C98-9676-5692E6CCF224}" destId="{0FFC99AD-2BA8-48C6-9819-DC36FF7DCAD0}" srcOrd="0" destOrd="0" presId="urn:microsoft.com/office/officeart/2005/8/layout/hierarchy1"/>
    <dgm:cxn modelId="{EFD9D6C9-CDC3-42EE-BFA9-76525A0D897B}" srcId="{5331D2D5-186E-4A7D-B7BF-96688948B44C}" destId="{5CE24B44-D6E9-4EF8-AE7B-89573C2B72FF}" srcOrd="0" destOrd="0" parTransId="{85ABFA9C-5D45-4705-8D55-1B01EBB6C323}" sibTransId="{67C56C2C-140E-40F4-AD8E-F0728871100A}"/>
    <dgm:cxn modelId="{2DD6DCCB-5E38-4203-AB39-5486E3744E92}" type="presOf" srcId="{1684C333-7923-43F6-9B77-0D62526313B5}" destId="{0F26E56F-52F5-4277-BF18-8C496767EA5A}" srcOrd="0" destOrd="0" presId="urn:microsoft.com/office/officeart/2005/8/layout/hierarchy1"/>
    <dgm:cxn modelId="{53D57FCD-35EC-47B6-989E-431843DCAE04}" type="presOf" srcId="{944703BA-DE8B-44BF-898A-9D577DF3CE6A}" destId="{00275DF9-4862-4349-857A-D238C0F08817}" srcOrd="0" destOrd="0" presId="urn:microsoft.com/office/officeart/2005/8/layout/hierarchy1"/>
    <dgm:cxn modelId="{DB4DD1CF-70FC-4372-AFDE-AE22D2333CF7}" type="presOf" srcId="{D53F8F63-4093-4829-BB74-C71750D0CB46}" destId="{7AE95F25-5232-4E91-9E0E-86CE995ED199}" srcOrd="0" destOrd="0" presId="urn:microsoft.com/office/officeart/2005/8/layout/hierarchy1"/>
    <dgm:cxn modelId="{226830DD-98BB-4B3C-9F2F-174E64C679DB}" srcId="{5331D2D5-186E-4A7D-B7BF-96688948B44C}" destId="{00549072-656E-4D2B-B91D-031E53FF144C}" srcOrd="1" destOrd="0" parTransId="{88E8A79C-7C8C-4C98-9676-5692E6CCF224}" sibTransId="{E5F2FA66-2F44-4434-B341-C05F34728E48}"/>
    <dgm:cxn modelId="{342C96E9-07F8-4708-AEE9-508D9DF315B9}" type="presOf" srcId="{00E07FFB-82FA-4683-9C75-8EBA8C0C092F}" destId="{69C8F1FE-FB64-4228-BF5C-582E5A979261}" srcOrd="0" destOrd="0" presId="urn:microsoft.com/office/officeart/2005/8/layout/hierarchy1"/>
    <dgm:cxn modelId="{3A3F35EE-6D72-4014-985E-40C492F86354}" type="presOf" srcId="{EEACB6C5-6B43-466E-B148-19853C4B9324}" destId="{A0DB35CD-D4D4-47CA-967D-3A952C83EEAE}" srcOrd="0" destOrd="0" presId="urn:microsoft.com/office/officeart/2005/8/layout/hierarchy1"/>
    <dgm:cxn modelId="{C38CCFFB-62E1-4E03-BCE4-9497B035AE94}" srcId="{1D3AFFF0-87E0-41AF-9587-577D47607F30}" destId="{5331D2D5-186E-4A7D-B7BF-96688948B44C}" srcOrd="2" destOrd="0" parTransId="{8A58056D-B14E-41EE-A4D0-60628552731F}" sibTransId="{AD2D90A5-7A29-489C-B2A6-EF11CC6DEFD9}"/>
    <dgm:cxn modelId="{8454EBFF-AF7C-4D20-8218-B0239263E492}" srcId="{8D861999-5986-4933-A595-043F7320953F}" destId="{AAF4F1E5-05EF-40A4-B043-A0C4F066363B}" srcOrd="2" destOrd="0" parTransId="{0B9D80D4-13B4-49C5-B4B8-FA4847FF408D}" sibTransId="{21FBD31F-7E4E-4624-8610-431B18982D6D}"/>
    <dgm:cxn modelId="{B75F633D-EF1F-492C-A185-EC53ECA9D128}" type="presParOf" srcId="{4B1EB1E7-E7DE-4316-B143-6298166239AD}" destId="{BA68516A-82F1-4C6A-AB55-5E3816321EDE}" srcOrd="0" destOrd="0" presId="urn:microsoft.com/office/officeart/2005/8/layout/hierarchy1"/>
    <dgm:cxn modelId="{DE60CAE8-CEAB-438F-9DDF-0795A20BA216}" type="presParOf" srcId="{BA68516A-82F1-4C6A-AB55-5E3816321EDE}" destId="{0E43E6CD-C2B4-4F0A-8647-8DF2FB6D2BCC}" srcOrd="0" destOrd="0" presId="urn:microsoft.com/office/officeart/2005/8/layout/hierarchy1"/>
    <dgm:cxn modelId="{DDB552E5-CA24-4596-A78C-04387733F438}" type="presParOf" srcId="{0E43E6CD-C2B4-4F0A-8647-8DF2FB6D2BCC}" destId="{941F23F8-BC01-4CFE-8097-DB5D4D90AAAB}" srcOrd="0" destOrd="0" presId="urn:microsoft.com/office/officeart/2005/8/layout/hierarchy1"/>
    <dgm:cxn modelId="{269473B6-53F9-47D6-9C37-F809C6AC2A33}" type="presParOf" srcId="{0E43E6CD-C2B4-4F0A-8647-8DF2FB6D2BCC}" destId="{27DCDAFB-9D99-4665-ADBB-63466E903D4A}" srcOrd="1" destOrd="0" presId="urn:microsoft.com/office/officeart/2005/8/layout/hierarchy1"/>
    <dgm:cxn modelId="{F1B5AA20-57A8-4FAA-B288-EEB1CA90B071}" type="presParOf" srcId="{BA68516A-82F1-4C6A-AB55-5E3816321EDE}" destId="{AE92BAFB-B677-4D5D-A58D-FFA2383E1FD1}" srcOrd="1" destOrd="0" presId="urn:microsoft.com/office/officeart/2005/8/layout/hierarchy1"/>
    <dgm:cxn modelId="{8E121C13-2C9A-4D57-AD0E-84BCDE231071}" type="presParOf" srcId="{AE92BAFB-B677-4D5D-A58D-FFA2383E1FD1}" destId="{00275DF9-4862-4349-857A-D238C0F08817}" srcOrd="0" destOrd="0" presId="urn:microsoft.com/office/officeart/2005/8/layout/hierarchy1"/>
    <dgm:cxn modelId="{F72F0FF1-5094-471B-8FCF-E2A2B2B156B5}" type="presParOf" srcId="{AE92BAFB-B677-4D5D-A58D-FFA2383E1FD1}" destId="{D1EBD71C-083D-4798-9CDF-C60B72AB5EEA}" srcOrd="1" destOrd="0" presId="urn:microsoft.com/office/officeart/2005/8/layout/hierarchy1"/>
    <dgm:cxn modelId="{B93BC081-A64D-4482-B2A6-E9D2CB8DB4A6}" type="presParOf" srcId="{D1EBD71C-083D-4798-9CDF-C60B72AB5EEA}" destId="{FCAFC025-72CD-4964-A33E-08A4330C6473}" srcOrd="0" destOrd="0" presId="urn:microsoft.com/office/officeart/2005/8/layout/hierarchy1"/>
    <dgm:cxn modelId="{A78D6FD6-7630-4E86-9EF1-AB0C7F2DDFF8}" type="presParOf" srcId="{FCAFC025-72CD-4964-A33E-08A4330C6473}" destId="{5FCE555D-A897-49E0-9130-57C9A9EE8917}" srcOrd="0" destOrd="0" presId="urn:microsoft.com/office/officeart/2005/8/layout/hierarchy1"/>
    <dgm:cxn modelId="{5B64EFA9-360F-4C19-BEEC-AFAAB57F39DB}" type="presParOf" srcId="{FCAFC025-72CD-4964-A33E-08A4330C6473}" destId="{7AE95F25-5232-4E91-9E0E-86CE995ED199}" srcOrd="1" destOrd="0" presId="urn:microsoft.com/office/officeart/2005/8/layout/hierarchy1"/>
    <dgm:cxn modelId="{FAB0DC26-2C91-4678-82DF-48F562796200}" type="presParOf" srcId="{D1EBD71C-083D-4798-9CDF-C60B72AB5EEA}" destId="{77B85D09-364E-4CD9-97BE-7C9081BCE603}" srcOrd="1" destOrd="0" presId="urn:microsoft.com/office/officeart/2005/8/layout/hierarchy1"/>
    <dgm:cxn modelId="{268EF6A8-87EB-4B80-B9F1-E6F02C262286}" type="presParOf" srcId="{77B85D09-364E-4CD9-97BE-7C9081BCE603}" destId="{9873CF8F-2372-49F3-9DE9-91DBE3412F46}" srcOrd="0" destOrd="0" presId="urn:microsoft.com/office/officeart/2005/8/layout/hierarchy1"/>
    <dgm:cxn modelId="{97AE39F6-0F01-4243-8975-633A20C18E3A}" type="presParOf" srcId="{77B85D09-364E-4CD9-97BE-7C9081BCE603}" destId="{2EA8235A-8957-4F68-BDFE-49515FFD7259}" srcOrd="1" destOrd="0" presId="urn:microsoft.com/office/officeart/2005/8/layout/hierarchy1"/>
    <dgm:cxn modelId="{EA20F221-EA75-484A-ABFD-089D3DD8BD42}" type="presParOf" srcId="{2EA8235A-8957-4F68-BDFE-49515FFD7259}" destId="{87D16DD8-5E6D-410B-95A1-81CCE3225287}" srcOrd="0" destOrd="0" presId="urn:microsoft.com/office/officeart/2005/8/layout/hierarchy1"/>
    <dgm:cxn modelId="{87676612-C06A-4339-A9C9-449DC58427C3}" type="presParOf" srcId="{87D16DD8-5E6D-410B-95A1-81CCE3225287}" destId="{DF7F889C-1D0C-44F1-92B7-C3EA5F1AC971}" srcOrd="0" destOrd="0" presId="urn:microsoft.com/office/officeart/2005/8/layout/hierarchy1"/>
    <dgm:cxn modelId="{E3A1A3E0-4583-4B68-BE66-3984B1BEDE29}" type="presParOf" srcId="{87D16DD8-5E6D-410B-95A1-81CCE3225287}" destId="{205C32C6-40C4-42F5-8ED8-9D9B6FC27188}" srcOrd="1" destOrd="0" presId="urn:microsoft.com/office/officeart/2005/8/layout/hierarchy1"/>
    <dgm:cxn modelId="{6F1606C1-7566-4A5F-B0A0-FC074AC43D12}" type="presParOf" srcId="{2EA8235A-8957-4F68-BDFE-49515FFD7259}" destId="{E8A2E57C-B947-4A55-9432-CC0C62A91752}" srcOrd="1" destOrd="0" presId="urn:microsoft.com/office/officeart/2005/8/layout/hierarchy1"/>
    <dgm:cxn modelId="{80466217-8193-47E7-A6E1-1FB58A533704}" type="presParOf" srcId="{77B85D09-364E-4CD9-97BE-7C9081BCE603}" destId="{3EECFDB3-E735-4D21-BF6C-A3BC234599A1}" srcOrd="2" destOrd="0" presId="urn:microsoft.com/office/officeart/2005/8/layout/hierarchy1"/>
    <dgm:cxn modelId="{0B6B7B6B-F200-487A-AA1D-668670316F17}" type="presParOf" srcId="{77B85D09-364E-4CD9-97BE-7C9081BCE603}" destId="{531D460D-E99F-4BBA-AF2F-7D3A698FC369}" srcOrd="3" destOrd="0" presId="urn:microsoft.com/office/officeart/2005/8/layout/hierarchy1"/>
    <dgm:cxn modelId="{B5FC7D7E-6099-4413-B746-B88C21D4D603}" type="presParOf" srcId="{531D460D-E99F-4BBA-AF2F-7D3A698FC369}" destId="{F17D9811-3F72-4930-9A32-943B45A4EAF0}" srcOrd="0" destOrd="0" presId="urn:microsoft.com/office/officeart/2005/8/layout/hierarchy1"/>
    <dgm:cxn modelId="{E21E271E-6E0E-4C6A-BC1E-034B6B16CB29}" type="presParOf" srcId="{F17D9811-3F72-4930-9A32-943B45A4EAF0}" destId="{C1EED29D-7FA2-47A7-8FC3-95047349D2F8}" srcOrd="0" destOrd="0" presId="urn:microsoft.com/office/officeart/2005/8/layout/hierarchy1"/>
    <dgm:cxn modelId="{20651612-AE93-4532-B8CE-1E1CF0C53937}" type="presParOf" srcId="{F17D9811-3F72-4930-9A32-943B45A4EAF0}" destId="{0F26E56F-52F5-4277-BF18-8C496767EA5A}" srcOrd="1" destOrd="0" presId="urn:microsoft.com/office/officeart/2005/8/layout/hierarchy1"/>
    <dgm:cxn modelId="{0B92E9F5-6900-4395-B813-458896E7C159}" type="presParOf" srcId="{531D460D-E99F-4BBA-AF2F-7D3A698FC369}" destId="{12A1D643-C677-4495-BB33-78AE161C6536}" srcOrd="1" destOrd="0" presId="urn:microsoft.com/office/officeart/2005/8/layout/hierarchy1"/>
    <dgm:cxn modelId="{A1D99AAA-8E94-4ED6-9DCE-D7096DEADB9F}" type="presParOf" srcId="{AE92BAFB-B677-4D5D-A58D-FFA2383E1FD1}" destId="{0D0DB610-D48E-44F8-92E8-9E8333A7DFA4}" srcOrd="2" destOrd="0" presId="urn:microsoft.com/office/officeart/2005/8/layout/hierarchy1"/>
    <dgm:cxn modelId="{AAD6E81B-2EF6-4D6E-AD7E-2A89431D11FF}" type="presParOf" srcId="{AE92BAFB-B677-4D5D-A58D-FFA2383E1FD1}" destId="{456071F7-A145-43D5-90DD-288B18C9B326}" srcOrd="3" destOrd="0" presId="urn:microsoft.com/office/officeart/2005/8/layout/hierarchy1"/>
    <dgm:cxn modelId="{E75C0A2C-0D58-4CC9-A091-6AB7406656DF}" type="presParOf" srcId="{456071F7-A145-43D5-90DD-288B18C9B326}" destId="{DB1E8158-68A2-4D5C-AAD3-9A7E577CC2DD}" srcOrd="0" destOrd="0" presId="urn:microsoft.com/office/officeart/2005/8/layout/hierarchy1"/>
    <dgm:cxn modelId="{559CF09F-A7F5-4751-8D99-4EC39D2F2FAA}" type="presParOf" srcId="{DB1E8158-68A2-4D5C-AAD3-9A7E577CC2DD}" destId="{74C58B10-E5C6-43D3-AEAD-BAB9F36929F7}" srcOrd="0" destOrd="0" presId="urn:microsoft.com/office/officeart/2005/8/layout/hierarchy1"/>
    <dgm:cxn modelId="{78849E14-C11B-43CF-8EDC-735AE9473C8B}" type="presParOf" srcId="{DB1E8158-68A2-4D5C-AAD3-9A7E577CC2DD}" destId="{C0E54C41-9B69-4F78-A7A0-25D602210C4E}" srcOrd="1" destOrd="0" presId="urn:microsoft.com/office/officeart/2005/8/layout/hierarchy1"/>
    <dgm:cxn modelId="{D096F46A-3D86-4697-AA77-6EC9D6008CF7}" type="presParOf" srcId="{456071F7-A145-43D5-90DD-288B18C9B326}" destId="{86E16C0C-67DE-4C5E-87DD-58A6D4A84EBC}" srcOrd="1" destOrd="0" presId="urn:microsoft.com/office/officeart/2005/8/layout/hierarchy1"/>
    <dgm:cxn modelId="{6333E92B-A601-4F61-BCD1-A0E88A9EEB41}" type="presParOf" srcId="{86E16C0C-67DE-4C5E-87DD-58A6D4A84EBC}" destId="{69C8F1FE-FB64-4228-BF5C-582E5A979261}" srcOrd="0" destOrd="0" presId="urn:microsoft.com/office/officeart/2005/8/layout/hierarchy1"/>
    <dgm:cxn modelId="{F35D8EA1-1C98-4243-AFE6-67530B40AD4F}" type="presParOf" srcId="{86E16C0C-67DE-4C5E-87DD-58A6D4A84EBC}" destId="{48ED7861-5874-4357-A797-7AA6DA39B649}" srcOrd="1" destOrd="0" presId="urn:microsoft.com/office/officeart/2005/8/layout/hierarchy1"/>
    <dgm:cxn modelId="{85E4D939-E404-4BBC-AA0D-79CDC66A4089}" type="presParOf" srcId="{48ED7861-5874-4357-A797-7AA6DA39B649}" destId="{BA208008-DEF9-4D2F-87BF-8731E3B5C3FE}" srcOrd="0" destOrd="0" presId="urn:microsoft.com/office/officeart/2005/8/layout/hierarchy1"/>
    <dgm:cxn modelId="{261625CB-85D1-49C5-8A89-14F99A5AF5FC}" type="presParOf" srcId="{BA208008-DEF9-4D2F-87BF-8731E3B5C3FE}" destId="{C38DE57C-065B-40B2-BEBD-556290799360}" srcOrd="0" destOrd="0" presId="urn:microsoft.com/office/officeart/2005/8/layout/hierarchy1"/>
    <dgm:cxn modelId="{D739A372-6B99-4FC4-8890-F08EC1ED2C1E}" type="presParOf" srcId="{BA208008-DEF9-4D2F-87BF-8731E3B5C3FE}" destId="{71BB4F7B-E13B-4DFE-B15D-7DED4959F594}" srcOrd="1" destOrd="0" presId="urn:microsoft.com/office/officeart/2005/8/layout/hierarchy1"/>
    <dgm:cxn modelId="{4FDB52CC-F16F-48FF-B0B1-4FFD7C773397}" type="presParOf" srcId="{48ED7861-5874-4357-A797-7AA6DA39B649}" destId="{0C42050C-5A75-4B00-88EE-3823E6F8571D}" srcOrd="1" destOrd="0" presId="urn:microsoft.com/office/officeart/2005/8/layout/hierarchy1"/>
    <dgm:cxn modelId="{7CD72178-1489-411D-8EAF-B4A2701D919D}" type="presParOf" srcId="{86E16C0C-67DE-4C5E-87DD-58A6D4A84EBC}" destId="{A0DB35CD-D4D4-47CA-967D-3A952C83EEAE}" srcOrd="2" destOrd="0" presId="urn:microsoft.com/office/officeart/2005/8/layout/hierarchy1"/>
    <dgm:cxn modelId="{FE576B36-6579-4005-B8D1-817D3DAF50CD}" type="presParOf" srcId="{86E16C0C-67DE-4C5E-87DD-58A6D4A84EBC}" destId="{B3624FEA-4D5A-4576-8A86-7FA00E19C4BF}" srcOrd="3" destOrd="0" presId="urn:microsoft.com/office/officeart/2005/8/layout/hierarchy1"/>
    <dgm:cxn modelId="{8B97BFF0-CCFD-4AB3-A33F-41796ACE1467}" type="presParOf" srcId="{B3624FEA-4D5A-4576-8A86-7FA00E19C4BF}" destId="{207723D4-6B9A-4930-804D-394D4943FDCD}" srcOrd="0" destOrd="0" presId="urn:microsoft.com/office/officeart/2005/8/layout/hierarchy1"/>
    <dgm:cxn modelId="{8BE6FE51-F95D-45E9-A5BC-3E4DC2680E0C}" type="presParOf" srcId="{207723D4-6B9A-4930-804D-394D4943FDCD}" destId="{7B2F6CF9-9255-49A1-8E44-6AD561BC6432}" srcOrd="0" destOrd="0" presId="urn:microsoft.com/office/officeart/2005/8/layout/hierarchy1"/>
    <dgm:cxn modelId="{F8A9B3CA-E8A3-4508-BA72-7B8F7FAB7769}" type="presParOf" srcId="{207723D4-6B9A-4930-804D-394D4943FDCD}" destId="{99927BCA-4CF8-44DE-9F8A-BB4AB6050C8E}" srcOrd="1" destOrd="0" presId="urn:microsoft.com/office/officeart/2005/8/layout/hierarchy1"/>
    <dgm:cxn modelId="{1DCE7AAE-B75D-4D23-A4B9-9FC5F14D4DF2}" type="presParOf" srcId="{B3624FEA-4D5A-4576-8A86-7FA00E19C4BF}" destId="{F0D2CCC7-C570-458E-B5D1-844C841D7828}" srcOrd="1" destOrd="0" presId="urn:microsoft.com/office/officeart/2005/8/layout/hierarchy1"/>
    <dgm:cxn modelId="{CBA8D4D8-D20F-4258-AB78-F8768A6EED18}" type="presParOf" srcId="{86E16C0C-67DE-4C5E-87DD-58A6D4A84EBC}" destId="{EF847DB8-DFD3-47E7-B8A5-8C666BF5466B}" srcOrd="4" destOrd="0" presId="urn:microsoft.com/office/officeart/2005/8/layout/hierarchy1"/>
    <dgm:cxn modelId="{B7CB75BC-835E-4D4F-A06D-1956682E8775}" type="presParOf" srcId="{86E16C0C-67DE-4C5E-87DD-58A6D4A84EBC}" destId="{B2414E3A-4C5E-49AF-B3D0-DDF537730C8F}" srcOrd="5" destOrd="0" presId="urn:microsoft.com/office/officeart/2005/8/layout/hierarchy1"/>
    <dgm:cxn modelId="{857D8530-747C-48B8-9E2A-5FE4BC8EE55E}" type="presParOf" srcId="{B2414E3A-4C5E-49AF-B3D0-DDF537730C8F}" destId="{962F4D84-679D-47D9-BD99-DF1EED9B766D}" srcOrd="0" destOrd="0" presId="urn:microsoft.com/office/officeart/2005/8/layout/hierarchy1"/>
    <dgm:cxn modelId="{FF2B7DAC-75D9-4C2C-A4BB-D84435E2DB79}" type="presParOf" srcId="{962F4D84-679D-47D9-BD99-DF1EED9B766D}" destId="{3351E779-F6C9-46C2-99D4-4EED2259D109}" srcOrd="0" destOrd="0" presId="urn:microsoft.com/office/officeart/2005/8/layout/hierarchy1"/>
    <dgm:cxn modelId="{D7570A99-97F8-4A1A-B0BF-CCD33A130461}" type="presParOf" srcId="{962F4D84-679D-47D9-BD99-DF1EED9B766D}" destId="{6C8D6570-F4A1-424C-B484-E260E47E5F6E}" srcOrd="1" destOrd="0" presId="urn:microsoft.com/office/officeart/2005/8/layout/hierarchy1"/>
    <dgm:cxn modelId="{E652111C-4FB6-4365-BDD3-6E8093ED606D}" type="presParOf" srcId="{B2414E3A-4C5E-49AF-B3D0-DDF537730C8F}" destId="{065098DD-7A5C-4D93-BABA-7B6D7EEB3393}" srcOrd="1" destOrd="0" presId="urn:microsoft.com/office/officeart/2005/8/layout/hierarchy1"/>
    <dgm:cxn modelId="{D5525E60-133A-44C2-BD49-E91EAF7944AC}" type="presParOf" srcId="{AE92BAFB-B677-4D5D-A58D-FFA2383E1FD1}" destId="{6113BFF0-3856-485B-A4A8-E2645871275F}" srcOrd="4" destOrd="0" presId="urn:microsoft.com/office/officeart/2005/8/layout/hierarchy1"/>
    <dgm:cxn modelId="{099B3639-B0B7-40BA-B910-793B444928C5}" type="presParOf" srcId="{AE92BAFB-B677-4D5D-A58D-FFA2383E1FD1}" destId="{8691C558-9DCF-4FE9-9C1B-5A8596C5C248}" srcOrd="5" destOrd="0" presId="urn:microsoft.com/office/officeart/2005/8/layout/hierarchy1"/>
    <dgm:cxn modelId="{DCCE6AF1-D85A-4F0B-B827-A1C0AFD712B3}" type="presParOf" srcId="{8691C558-9DCF-4FE9-9C1B-5A8596C5C248}" destId="{E532134F-F76F-433F-A9CB-3D693023C4A7}" srcOrd="0" destOrd="0" presId="urn:microsoft.com/office/officeart/2005/8/layout/hierarchy1"/>
    <dgm:cxn modelId="{5ED751B6-F440-4E70-B1FC-C421738A4FE6}" type="presParOf" srcId="{E532134F-F76F-433F-A9CB-3D693023C4A7}" destId="{90DE277B-6820-45E8-ABC1-436200024406}" srcOrd="0" destOrd="0" presId="urn:microsoft.com/office/officeart/2005/8/layout/hierarchy1"/>
    <dgm:cxn modelId="{F30376BE-AC34-46A3-8677-1247D4917BA3}" type="presParOf" srcId="{E532134F-F76F-433F-A9CB-3D693023C4A7}" destId="{EA96700A-3EAB-49D1-B0E5-DFF233E1E67E}" srcOrd="1" destOrd="0" presId="urn:microsoft.com/office/officeart/2005/8/layout/hierarchy1"/>
    <dgm:cxn modelId="{7BC8ACDC-AF9A-472D-BFC7-B253BFE6C47F}" type="presParOf" srcId="{8691C558-9DCF-4FE9-9C1B-5A8596C5C248}" destId="{83E21ECF-43F5-4CFD-917F-623363BEF3E5}" srcOrd="1" destOrd="0" presId="urn:microsoft.com/office/officeart/2005/8/layout/hierarchy1"/>
    <dgm:cxn modelId="{5B8145F4-FE47-437B-BE17-8FEAA1189772}" type="presParOf" srcId="{83E21ECF-43F5-4CFD-917F-623363BEF3E5}" destId="{1E9DA51D-772A-44B0-AD7D-D71601FDE07D}" srcOrd="0" destOrd="0" presId="urn:microsoft.com/office/officeart/2005/8/layout/hierarchy1"/>
    <dgm:cxn modelId="{6FB62EB1-B6CD-4FA5-BD5F-16060A379832}" type="presParOf" srcId="{83E21ECF-43F5-4CFD-917F-623363BEF3E5}" destId="{6E49A688-711C-4B64-A0B2-24DAAE1D1FDD}" srcOrd="1" destOrd="0" presId="urn:microsoft.com/office/officeart/2005/8/layout/hierarchy1"/>
    <dgm:cxn modelId="{9804BC30-ABA0-490A-BC63-89D3763738A7}" type="presParOf" srcId="{6E49A688-711C-4B64-A0B2-24DAAE1D1FDD}" destId="{649AC84B-9822-44FE-88D9-B051029206D4}" srcOrd="0" destOrd="0" presId="urn:microsoft.com/office/officeart/2005/8/layout/hierarchy1"/>
    <dgm:cxn modelId="{0AE977A6-A68D-4CE3-B71F-A22E6E792448}" type="presParOf" srcId="{649AC84B-9822-44FE-88D9-B051029206D4}" destId="{35EE64AD-1C4D-4923-9C3A-F5855164B8E3}" srcOrd="0" destOrd="0" presId="urn:microsoft.com/office/officeart/2005/8/layout/hierarchy1"/>
    <dgm:cxn modelId="{04041493-B4FE-4F49-8F62-AC3C44CE21DE}" type="presParOf" srcId="{649AC84B-9822-44FE-88D9-B051029206D4}" destId="{CD463962-C8DA-4EEB-962F-4FFE8591FAF3}" srcOrd="1" destOrd="0" presId="urn:microsoft.com/office/officeart/2005/8/layout/hierarchy1"/>
    <dgm:cxn modelId="{BC9B33C0-EEBA-4695-8AFE-6F2A48C2192B}" type="presParOf" srcId="{6E49A688-711C-4B64-A0B2-24DAAE1D1FDD}" destId="{E1F2C884-CE1C-44D2-9271-EC73FE0E0ED7}" srcOrd="1" destOrd="0" presId="urn:microsoft.com/office/officeart/2005/8/layout/hierarchy1"/>
    <dgm:cxn modelId="{936651BC-8624-4B6D-ADAC-F17768DF0BED}" type="presParOf" srcId="{83E21ECF-43F5-4CFD-917F-623363BEF3E5}" destId="{0FFC99AD-2BA8-48C6-9819-DC36FF7DCAD0}" srcOrd="2" destOrd="0" presId="urn:microsoft.com/office/officeart/2005/8/layout/hierarchy1"/>
    <dgm:cxn modelId="{350DA538-4460-49CD-8ABA-E6BD94B77727}" type="presParOf" srcId="{83E21ECF-43F5-4CFD-917F-623363BEF3E5}" destId="{92748940-C26B-4778-B036-EAD5E3D8597D}" srcOrd="3" destOrd="0" presId="urn:microsoft.com/office/officeart/2005/8/layout/hierarchy1"/>
    <dgm:cxn modelId="{D655470E-ACFE-4576-9A69-533932A2C478}" type="presParOf" srcId="{92748940-C26B-4778-B036-EAD5E3D8597D}" destId="{DE89D34C-2C21-4D82-920D-1EDEF063DD20}" srcOrd="0" destOrd="0" presId="urn:microsoft.com/office/officeart/2005/8/layout/hierarchy1"/>
    <dgm:cxn modelId="{27C5C91F-9514-434F-A507-472BA3988554}" type="presParOf" srcId="{DE89D34C-2C21-4D82-920D-1EDEF063DD20}" destId="{DBA76714-5C33-4AA1-8515-FA044AD90317}" srcOrd="0" destOrd="0" presId="urn:microsoft.com/office/officeart/2005/8/layout/hierarchy1"/>
    <dgm:cxn modelId="{0733F26D-C426-48AD-BB42-873BEA9CE478}" type="presParOf" srcId="{DE89D34C-2C21-4D82-920D-1EDEF063DD20}" destId="{C4791A95-20EC-42C2-99C0-941E9EDBE678}" srcOrd="1" destOrd="0" presId="urn:microsoft.com/office/officeart/2005/8/layout/hierarchy1"/>
    <dgm:cxn modelId="{E92414C6-6B01-42BE-8B4F-7ED4A791B33F}" type="presParOf" srcId="{92748940-C26B-4778-B036-EAD5E3D8597D}" destId="{B9D272E9-A60A-48CE-8FA1-59A9DFF20D87}"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1FF72D-63D4-4A90-9965-B8F50F6FE5BC}">
      <dsp:nvSpPr>
        <dsp:cNvPr id="0" name=""/>
        <dsp:cNvSpPr/>
      </dsp:nvSpPr>
      <dsp:spPr>
        <a:xfrm rot="21300000">
          <a:off x="24163" y="2038543"/>
          <a:ext cx="7825673" cy="896157"/>
        </a:xfrm>
        <a:prstGeom prst="mathMinus">
          <a:avLst/>
        </a:prstGeom>
        <a:solidFill>
          <a:schemeClr val="accent1">
            <a:tint val="6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3D79611-A6DE-4722-A42C-0C331B4E849F}">
      <dsp:nvSpPr>
        <dsp:cNvPr id="0" name=""/>
        <dsp:cNvSpPr/>
      </dsp:nvSpPr>
      <dsp:spPr>
        <a:xfrm>
          <a:off x="944880" y="248662"/>
          <a:ext cx="2362200" cy="1989297"/>
        </a:xfrm>
        <a:prstGeom prst="down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9C2A45-CF4C-4339-9956-A511F6C85AF7}">
      <dsp:nvSpPr>
        <dsp:cNvPr id="0" name=""/>
        <dsp:cNvSpPr/>
      </dsp:nvSpPr>
      <dsp:spPr>
        <a:xfrm>
          <a:off x="4173220" y="0"/>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Constraints </a:t>
          </a:r>
        </a:p>
        <a:p>
          <a:pPr marL="114300" lvl="1" indent="-114300" algn="l" defTabSz="666750">
            <a:lnSpc>
              <a:spcPct val="90000"/>
            </a:lnSpc>
            <a:spcBef>
              <a:spcPct val="0"/>
            </a:spcBef>
            <a:spcAft>
              <a:spcPct val="15000"/>
            </a:spcAft>
            <a:buChar char="•"/>
          </a:pPr>
          <a:r>
            <a:rPr lang="en-US" sz="1500" kern="1200"/>
            <a:t>Federal Funding Uncertainty</a:t>
          </a:r>
        </a:p>
        <a:p>
          <a:pPr marL="114300" lvl="1" indent="-114300" algn="l" defTabSz="666750">
            <a:lnSpc>
              <a:spcPct val="90000"/>
            </a:lnSpc>
            <a:spcBef>
              <a:spcPct val="0"/>
            </a:spcBef>
            <a:spcAft>
              <a:spcPct val="15000"/>
            </a:spcAft>
            <a:buChar char="•"/>
          </a:pPr>
          <a:r>
            <a:rPr lang="en-US" sz="1500" kern="1200"/>
            <a:t>Changing Incentive Structure </a:t>
          </a:r>
        </a:p>
        <a:p>
          <a:pPr marL="114300" lvl="1" indent="-114300" algn="l" defTabSz="666750">
            <a:lnSpc>
              <a:spcPct val="90000"/>
            </a:lnSpc>
            <a:spcBef>
              <a:spcPct val="0"/>
            </a:spcBef>
            <a:spcAft>
              <a:spcPct val="15000"/>
            </a:spcAft>
            <a:buChar char="•"/>
          </a:pPr>
          <a:r>
            <a:rPr lang="en-US" sz="1500" kern="1200"/>
            <a:t>Operational Complexity </a:t>
          </a:r>
        </a:p>
        <a:p>
          <a:pPr marL="114300" lvl="1" indent="-114300" algn="l" defTabSz="666750">
            <a:lnSpc>
              <a:spcPct val="90000"/>
            </a:lnSpc>
            <a:spcBef>
              <a:spcPct val="0"/>
            </a:spcBef>
            <a:spcAft>
              <a:spcPct val="15000"/>
            </a:spcAft>
            <a:buChar char="•"/>
          </a:pPr>
          <a:r>
            <a:rPr lang="en-US" sz="1500" kern="1200"/>
            <a:t>Aging Infrastructure </a:t>
          </a:r>
        </a:p>
      </dsp:txBody>
      <dsp:txXfrm>
        <a:off x="4173220" y="0"/>
        <a:ext cx="2519680" cy="2088762"/>
      </dsp:txXfrm>
    </dsp:sp>
    <dsp:sp modelId="{189AC72A-0A3D-4414-A927-122AE92A79D5}">
      <dsp:nvSpPr>
        <dsp:cNvPr id="0" name=""/>
        <dsp:cNvSpPr/>
      </dsp:nvSpPr>
      <dsp:spPr>
        <a:xfrm>
          <a:off x="4566920" y="2735284"/>
          <a:ext cx="2362200" cy="1989297"/>
        </a:xfrm>
        <a:prstGeom prst="up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98BFF2-713E-488A-BFF5-B414323A050E}">
      <dsp:nvSpPr>
        <dsp:cNvPr id="0" name=""/>
        <dsp:cNvSpPr/>
      </dsp:nvSpPr>
      <dsp:spPr>
        <a:xfrm>
          <a:off x="1181100" y="2884481"/>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Expectations </a:t>
          </a:r>
        </a:p>
        <a:p>
          <a:pPr marL="114300" lvl="1" indent="-114300" algn="l" defTabSz="666750">
            <a:lnSpc>
              <a:spcPct val="90000"/>
            </a:lnSpc>
            <a:spcBef>
              <a:spcPct val="0"/>
            </a:spcBef>
            <a:spcAft>
              <a:spcPct val="15000"/>
            </a:spcAft>
            <a:buChar char="•"/>
          </a:pPr>
          <a:r>
            <a:rPr lang="en-US" sz="1500" kern="1200"/>
            <a:t>Energy efficiency</a:t>
          </a:r>
        </a:p>
        <a:p>
          <a:pPr marL="114300" lvl="1" indent="-114300" algn="l" defTabSz="666750">
            <a:lnSpc>
              <a:spcPct val="90000"/>
            </a:lnSpc>
            <a:spcBef>
              <a:spcPct val="0"/>
            </a:spcBef>
            <a:spcAft>
              <a:spcPct val="15000"/>
            </a:spcAft>
            <a:buChar char="•"/>
          </a:pPr>
          <a:r>
            <a:rPr lang="en-US" sz="1500" kern="1200"/>
            <a:t>Sustainability Initiatives</a:t>
          </a:r>
        </a:p>
        <a:p>
          <a:pPr marL="114300" lvl="1" indent="-114300" algn="l" defTabSz="666750">
            <a:lnSpc>
              <a:spcPct val="90000"/>
            </a:lnSpc>
            <a:spcBef>
              <a:spcPct val="0"/>
            </a:spcBef>
            <a:spcAft>
              <a:spcPct val="15000"/>
            </a:spcAft>
            <a:buChar char="•"/>
          </a:pPr>
          <a:r>
            <a:rPr lang="en-US" sz="1500" kern="1200"/>
            <a:t>Grid Resilience </a:t>
          </a:r>
        </a:p>
        <a:p>
          <a:pPr marL="114300" lvl="1" indent="-114300" algn="l" defTabSz="666750">
            <a:lnSpc>
              <a:spcPct val="90000"/>
            </a:lnSpc>
            <a:spcBef>
              <a:spcPct val="0"/>
            </a:spcBef>
            <a:spcAft>
              <a:spcPct val="15000"/>
            </a:spcAft>
            <a:buChar char="•"/>
          </a:pPr>
          <a:r>
            <a:rPr lang="en-US" sz="1500" kern="1200"/>
            <a:t>Electrification </a:t>
          </a:r>
        </a:p>
        <a:p>
          <a:pPr marL="114300" lvl="1" indent="-114300" algn="l" defTabSz="666750">
            <a:lnSpc>
              <a:spcPct val="90000"/>
            </a:lnSpc>
            <a:spcBef>
              <a:spcPct val="0"/>
            </a:spcBef>
            <a:spcAft>
              <a:spcPct val="15000"/>
            </a:spcAft>
            <a:buChar char="•"/>
          </a:pPr>
          <a:r>
            <a:rPr lang="en-US" sz="1500" kern="1200"/>
            <a:t>Implementation Support</a:t>
          </a:r>
        </a:p>
        <a:p>
          <a:pPr marL="114300" lvl="1" indent="-114300" algn="l" defTabSz="666750">
            <a:lnSpc>
              <a:spcPct val="90000"/>
            </a:lnSpc>
            <a:spcBef>
              <a:spcPct val="0"/>
            </a:spcBef>
            <a:spcAft>
              <a:spcPct val="15000"/>
            </a:spcAft>
            <a:buChar char="•"/>
          </a:pPr>
          <a:r>
            <a:rPr lang="en-US" sz="1500" kern="1200"/>
            <a:t>Cost Effective Solutions </a:t>
          </a:r>
        </a:p>
      </dsp:txBody>
      <dsp:txXfrm>
        <a:off x="1181100" y="2884481"/>
        <a:ext cx="2519680" cy="20887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9C8BC5-6838-437E-9064-AC07E117019C}">
      <dsp:nvSpPr>
        <dsp:cNvPr id="0" name=""/>
        <dsp:cNvSpPr/>
      </dsp:nvSpPr>
      <dsp:spPr>
        <a:xfrm>
          <a:off x="-5298394" y="-811443"/>
          <a:ext cx="6309187" cy="6309187"/>
        </a:xfrm>
        <a:prstGeom prst="blockArc">
          <a:avLst>
            <a:gd name="adj1" fmla="val 18900000"/>
            <a:gd name="adj2" fmla="val 2700000"/>
            <a:gd name="adj3" fmla="val 342"/>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935DD0E-C4CC-4293-A8B4-253CD901785D}">
      <dsp:nvSpPr>
        <dsp:cNvPr id="0" name=""/>
        <dsp:cNvSpPr/>
      </dsp:nvSpPr>
      <dsp:spPr>
        <a:xfrm>
          <a:off x="442042" y="292800"/>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Utilities – focus area</a:t>
          </a:r>
          <a:endParaRPr lang="en-US" sz="2000" kern="1200"/>
        </a:p>
      </dsp:txBody>
      <dsp:txXfrm>
        <a:off x="442042" y="292800"/>
        <a:ext cx="10465742" cy="585974"/>
      </dsp:txXfrm>
    </dsp:sp>
    <dsp:sp modelId="{220FF578-9C43-4C28-AA19-F1F121D68F37}">
      <dsp:nvSpPr>
        <dsp:cNvPr id="0" name=""/>
        <dsp:cNvSpPr/>
      </dsp:nvSpPr>
      <dsp:spPr>
        <a:xfrm>
          <a:off x="75808" y="219553"/>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7283F4E-E42F-4502-B638-C9CE17B739A4}">
      <dsp:nvSpPr>
        <dsp:cNvPr id="0" name=""/>
        <dsp:cNvSpPr/>
      </dsp:nvSpPr>
      <dsp:spPr>
        <a:xfrm>
          <a:off x="861935" y="1171481"/>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Residential Solar and Battery Programs </a:t>
          </a:r>
          <a:endParaRPr lang="en-US" sz="2000" kern="1200"/>
        </a:p>
      </dsp:txBody>
      <dsp:txXfrm>
        <a:off x="861935" y="1171481"/>
        <a:ext cx="10045849" cy="585974"/>
      </dsp:txXfrm>
    </dsp:sp>
    <dsp:sp modelId="{188558B0-6B78-4E6C-8C95-56F9B7D46801}">
      <dsp:nvSpPr>
        <dsp:cNvPr id="0" name=""/>
        <dsp:cNvSpPr/>
      </dsp:nvSpPr>
      <dsp:spPr>
        <a:xfrm>
          <a:off x="495700" y="1098234"/>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8A5405-7054-41C1-BDEE-5D2AD8AB73C4}">
      <dsp:nvSpPr>
        <dsp:cNvPr id="0" name=""/>
        <dsp:cNvSpPr/>
      </dsp:nvSpPr>
      <dsp:spPr>
        <a:xfrm>
          <a:off x="990808" y="2050162"/>
          <a:ext cx="9916976"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APTIM to work as administer for these programs</a:t>
          </a:r>
          <a:endParaRPr lang="en-US" sz="2000" kern="1200"/>
        </a:p>
      </dsp:txBody>
      <dsp:txXfrm>
        <a:off x="990808" y="2050162"/>
        <a:ext cx="9916976" cy="585974"/>
      </dsp:txXfrm>
    </dsp:sp>
    <dsp:sp modelId="{C264BFE1-C5D0-4ADB-94AC-0DFD3F7C06CE}">
      <dsp:nvSpPr>
        <dsp:cNvPr id="0" name=""/>
        <dsp:cNvSpPr/>
      </dsp:nvSpPr>
      <dsp:spPr>
        <a:xfrm>
          <a:off x="624573" y="1976915"/>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F3C44DB-7786-452A-8820-A2CA46EF21E7}">
      <dsp:nvSpPr>
        <dsp:cNvPr id="0" name=""/>
        <dsp:cNvSpPr/>
      </dsp:nvSpPr>
      <dsp:spPr>
        <a:xfrm>
          <a:off x="861935" y="2928843"/>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Start with states that have begun the process of  implementing similar programs.</a:t>
          </a:r>
          <a:endParaRPr lang="en-US" sz="2000" kern="1200"/>
        </a:p>
      </dsp:txBody>
      <dsp:txXfrm>
        <a:off x="861935" y="2928843"/>
        <a:ext cx="10045849" cy="585974"/>
      </dsp:txXfrm>
    </dsp:sp>
    <dsp:sp modelId="{43AC0EA1-D545-47D4-985E-07C91EBD6BBD}">
      <dsp:nvSpPr>
        <dsp:cNvPr id="0" name=""/>
        <dsp:cNvSpPr/>
      </dsp:nvSpPr>
      <dsp:spPr>
        <a:xfrm>
          <a:off x="495700" y="2855596"/>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FAD6485-486B-4D5D-BFB1-31C3CBB66F98}">
      <dsp:nvSpPr>
        <dsp:cNvPr id="0" name=""/>
        <dsp:cNvSpPr/>
      </dsp:nvSpPr>
      <dsp:spPr>
        <a:xfrm>
          <a:off x="442042" y="3807525"/>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Small scale 1 to 3-year pilot programs could show what long-term implementation could look like. </a:t>
          </a:r>
          <a:endParaRPr lang="en-US" sz="2000" kern="1200"/>
        </a:p>
      </dsp:txBody>
      <dsp:txXfrm>
        <a:off x="442042" y="3807525"/>
        <a:ext cx="10465742" cy="585974"/>
      </dsp:txXfrm>
    </dsp:sp>
    <dsp:sp modelId="{BF7085C7-35D4-4051-A8C0-7D0871C7FC61}">
      <dsp:nvSpPr>
        <dsp:cNvPr id="0" name=""/>
        <dsp:cNvSpPr/>
      </dsp:nvSpPr>
      <dsp:spPr>
        <a:xfrm>
          <a:off x="75808" y="3734278"/>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19945" y="-919945"/>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endParaRPr lang="en-US" sz="1800" b="1" kern="1200"/>
        </a:p>
        <a:p>
          <a:pPr marL="0" lvl="0" indent="0" algn="l" defTabSz="800100">
            <a:lnSpc>
              <a:spcPct val="90000"/>
            </a:lnSpc>
            <a:spcBef>
              <a:spcPct val="0"/>
            </a:spcBef>
            <a:spcAft>
              <a:spcPct val="35000"/>
            </a:spcAft>
            <a:buNone/>
          </a:pPr>
          <a:r>
            <a:rPr lang="en-US" sz="1800" b="1" kern="1200"/>
            <a:t>Leverages Existing Capabilities</a:t>
          </a:r>
          <a:endParaRPr lang="en-US" sz="1400" kern="1200"/>
        </a:p>
        <a:p>
          <a:pPr marL="0" lvl="0" indent="0" algn="l" defTabSz="800100">
            <a:lnSpc>
              <a:spcPct val="90000"/>
            </a:lnSpc>
            <a:spcBef>
              <a:spcPct val="0"/>
            </a:spcBef>
            <a:spcAft>
              <a:spcPct val="35000"/>
            </a:spcAft>
            <a:buNone/>
          </a:pPr>
          <a:r>
            <a:rPr lang="en-US" sz="14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sp:txBody>
      <dsp:txXfrm rot="5400000">
        <a:off x="-1" y="1"/>
        <a:ext cx="4378706" cy="1904110"/>
      </dsp:txXfrm>
    </dsp:sp>
    <dsp:sp modelId="{C1A07BBF-19DB-47F4-9F21-3C0561070890}">
      <dsp:nvSpPr>
        <dsp:cNvPr id="0" name=""/>
        <dsp:cNvSpPr/>
      </dsp:nvSpPr>
      <dsp:spPr>
        <a:xfrm>
          <a:off x="4378706" y="0"/>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r" defTabSz="666750">
            <a:lnSpc>
              <a:spcPct val="90000"/>
            </a:lnSpc>
            <a:spcBef>
              <a:spcPct val="0"/>
            </a:spcBef>
            <a:spcAft>
              <a:spcPct val="35000"/>
            </a:spcAft>
            <a:buNone/>
          </a:pPr>
          <a:endParaRPr lang="en-US" sz="1500" b="1" kern="1200"/>
        </a:p>
        <a:p>
          <a:pPr marL="0" lvl="0" indent="0" algn="r" defTabSz="666750">
            <a:lnSpc>
              <a:spcPct val="90000"/>
            </a:lnSpc>
            <a:spcBef>
              <a:spcPct val="0"/>
            </a:spcBef>
            <a:spcAft>
              <a:spcPct val="35000"/>
            </a:spcAft>
            <a:buNone/>
          </a:pPr>
          <a:r>
            <a:rPr lang="en-US" sz="1800" b="1" kern="1200"/>
            <a:t>Expands Into New Markets</a:t>
          </a:r>
        </a:p>
        <a:p>
          <a:pPr marL="0" lvl="0" indent="0" algn="r" defTabSz="666750">
            <a:lnSpc>
              <a:spcPct val="90000"/>
            </a:lnSpc>
            <a:spcBef>
              <a:spcPct val="0"/>
            </a:spcBef>
            <a:spcAft>
              <a:spcPct val="35000"/>
            </a:spcAft>
            <a:buNone/>
          </a:pPr>
          <a:r>
            <a:rPr lang="en-US" sz="1400" kern="1200"/>
            <a:t>There is little direct competition providing end-to-end administration of utility-owned residential battery fleets. This positions APTIM to establish a differentiated offering within the growing demand response and distributed energy resources market.</a:t>
          </a:r>
        </a:p>
      </dsp:txBody>
      <dsp:txXfrm>
        <a:off x="4378706" y="0"/>
        <a:ext cx="4378706" cy="1904110"/>
      </dsp:txXfrm>
    </dsp:sp>
    <dsp:sp modelId="{112ECAE4-7AC8-4FA3-8B8F-551C4FD20EFF}">
      <dsp:nvSpPr>
        <dsp:cNvPr id="0" name=""/>
        <dsp:cNvSpPr/>
      </dsp:nvSpPr>
      <dsp:spPr>
        <a:xfrm rot="10800000">
          <a:off x="0" y="2538814"/>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r>
            <a:rPr lang="en-US" sz="1800" b="1" kern="1200"/>
            <a:t>Scales Through Existing Relationships </a:t>
          </a:r>
        </a:p>
        <a:p>
          <a:pPr marL="0" lvl="0" indent="0" algn="l" defTabSz="800100">
            <a:lnSpc>
              <a:spcPct val="90000"/>
            </a:lnSpc>
            <a:spcBef>
              <a:spcPct val="0"/>
            </a:spcBef>
            <a:spcAft>
              <a:spcPct val="35000"/>
            </a:spcAft>
            <a:buNone/>
          </a:pPr>
          <a:r>
            <a:rPr lang="en-US" sz="1400" kern="12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sp:txBody>
      <dsp:txXfrm rot="10800000">
        <a:off x="0" y="3173518"/>
        <a:ext cx="4378706" cy="1904110"/>
      </dsp:txXfrm>
    </dsp:sp>
    <dsp:sp modelId="{F0217417-7472-463C-831C-1C5DF6C2E09B}">
      <dsp:nvSpPr>
        <dsp:cNvPr id="0" name=""/>
        <dsp:cNvSpPr/>
      </dsp:nvSpPr>
      <dsp:spPr>
        <a:xfrm rot="5400000">
          <a:off x="5298651" y="1618868"/>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90000"/>
            </a:lnSpc>
            <a:spcBef>
              <a:spcPct val="0"/>
            </a:spcBef>
            <a:spcAft>
              <a:spcPct val="35000"/>
            </a:spcAft>
            <a:buNone/>
          </a:pPr>
          <a:r>
            <a:rPr lang="en-US" sz="1800" b="1" kern="1200"/>
            <a:t>Creates Resilient Revenue Streams</a:t>
          </a:r>
        </a:p>
        <a:p>
          <a:pPr marL="0" lvl="0" indent="0" algn="r" defTabSz="800100">
            <a:lnSpc>
              <a:spcPct val="90000"/>
            </a:lnSpc>
            <a:spcBef>
              <a:spcPct val="0"/>
            </a:spcBef>
            <a:spcAft>
              <a:spcPct val="35000"/>
            </a:spcAft>
            <a:buNone/>
          </a:pPr>
          <a:r>
            <a:rPr lang="en-US" sz="1400" kern="1200"/>
            <a:t>This program shifts funding away from grants and incentives toward utility infrastructure investments. Reducing reliance on uncertain federal funding creates a more stable revenue source while supporting grid resilience goals.</a:t>
          </a:r>
        </a:p>
        <a:p>
          <a:pPr marL="0" lvl="0" indent="0" algn="r" defTabSz="800100">
            <a:lnSpc>
              <a:spcPct val="90000"/>
            </a:lnSpc>
            <a:spcBef>
              <a:spcPct val="0"/>
            </a:spcBef>
            <a:spcAft>
              <a:spcPct val="35000"/>
            </a:spcAft>
            <a:buNone/>
          </a:pPr>
          <a:endParaRPr lang="en-US" sz="1400" kern="1200"/>
        </a:p>
      </dsp:txBody>
      <dsp:txXfrm rot="-5400000">
        <a:off x="4378705" y="3173518"/>
        <a:ext cx="4378706" cy="1904110"/>
      </dsp:txXfrm>
    </dsp:sp>
    <dsp:sp modelId="{5C165AFF-2126-4842-86A3-BA0B41072E73}">
      <dsp:nvSpPr>
        <dsp:cNvPr id="0" name=""/>
        <dsp:cNvSpPr/>
      </dsp:nvSpPr>
      <dsp:spPr>
        <a:xfrm>
          <a:off x="3065094" y="1904110"/>
          <a:ext cx="2627223" cy="126940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8120" tIns="198120" rIns="198120" bIns="198120" numCol="1" spcCol="1270" anchor="ctr" anchorCtr="0">
          <a:noAutofit/>
        </a:bodyPr>
        <a:lstStyle/>
        <a:p>
          <a:pPr marL="0" lvl="0" indent="0" algn="ctr" defTabSz="2311400">
            <a:lnSpc>
              <a:spcPct val="90000"/>
            </a:lnSpc>
            <a:spcBef>
              <a:spcPct val="0"/>
            </a:spcBef>
            <a:spcAft>
              <a:spcPct val="35000"/>
            </a:spcAft>
            <a:buNone/>
          </a:pPr>
          <a:r>
            <a:rPr lang="en-US" sz="5200" kern="1200"/>
            <a:t>   </a:t>
          </a:r>
        </a:p>
      </dsp:txBody>
      <dsp:txXfrm>
        <a:off x="3127061" y="1966077"/>
        <a:ext cx="2503289" cy="114547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2C8C18-BB22-48A0-ADF5-548946CDC08F}">
      <dsp:nvSpPr>
        <dsp:cNvPr id="0" name=""/>
        <dsp:cNvSpPr/>
      </dsp:nvSpPr>
      <dsp:spPr>
        <a:xfrm>
          <a:off x="1966797" y="576061"/>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Expectations </a:t>
          </a:r>
        </a:p>
      </dsp:txBody>
      <dsp:txXfrm>
        <a:off x="1994291" y="603555"/>
        <a:ext cx="1634701" cy="883728"/>
      </dsp:txXfrm>
    </dsp:sp>
    <dsp:sp modelId="{3EFDE569-E59E-49B1-928E-B5FDAFF8D823}">
      <dsp:nvSpPr>
        <dsp:cNvPr id="0" name=""/>
        <dsp:cNvSpPr/>
      </dsp:nvSpPr>
      <dsp:spPr>
        <a:xfrm>
          <a:off x="4470974" y="192023"/>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Constraints</a:t>
          </a:r>
        </a:p>
      </dsp:txBody>
      <dsp:txXfrm>
        <a:off x="4498468" y="219517"/>
        <a:ext cx="1634701" cy="883728"/>
      </dsp:txXfrm>
    </dsp:sp>
    <dsp:sp modelId="{1F2A4381-1A38-4FCC-B197-636ADD36617A}">
      <dsp:nvSpPr>
        <dsp:cNvPr id="0" name=""/>
        <dsp:cNvSpPr/>
      </dsp:nvSpPr>
      <dsp:spPr>
        <a:xfrm>
          <a:off x="3551453" y="3989543"/>
          <a:ext cx="704037" cy="704037"/>
        </a:xfrm>
        <a:prstGeom prst="triangle">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CE89A2D-1D2B-4548-BC78-71F9C54134DA}">
      <dsp:nvSpPr>
        <dsp:cNvPr id="0" name=""/>
        <dsp:cNvSpPr/>
      </dsp:nvSpPr>
      <dsp:spPr>
        <a:xfrm rot="240000">
          <a:off x="1790715" y="3687856"/>
          <a:ext cx="4225513" cy="29547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A25950-3C51-4F31-A3C1-86C38489660E}">
      <dsp:nvSpPr>
        <dsp:cNvPr id="0" name=""/>
        <dsp:cNvSpPr/>
      </dsp:nvSpPr>
      <dsp:spPr>
        <a:xfrm rot="240000">
          <a:off x="4332315" y="3155543"/>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Federal Funding </a:t>
          </a:r>
          <a:r>
            <a:rPr lang="en-US" sz="1200" kern="1200" err="1"/>
            <a:t>Avability</a:t>
          </a:r>
          <a:r>
            <a:rPr lang="en-US" sz="1200" kern="1200"/>
            <a:t> </a:t>
          </a:r>
        </a:p>
      </dsp:txBody>
      <dsp:txXfrm>
        <a:off x="4360584" y="3183812"/>
        <a:ext cx="1620308" cy="522551"/>
      </dsp:txXfrm>
    </dsp:sp>
    <dsp:sp modelId="{178D41AC-DF01-44B8-91F8-2D35A8A99493}">
      <dsp:nvSpPr>
        <dsp:cNvPr id="0" name=""/>
        <dsp:cNvSpPr/>
      </dsp:nvSpPr>
      <dsp:spPr>
        <a:xfrm rot="240000">
          <a:off x="4379251" y="2535990"/>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Aging Infrastructure</a:t>
          </a:r>
        </a:p>
      </dsp:txBody>
      <dsp:txXfrm>
        <a:off x="4407520" y="2564259"/>
        <a:ext cx="1620308" cy="522551"/>
      </dsp:txXfrm>
    </dsp:sp>
    <dsp:sp modelId="{9669FBE4-1A05-4A2A-ABA1-47D943FFC35F}">
      <dsp:nvSpPr>
        <dsp:cNvPr id="0" name=""/>
        <dsp:cNvSpPr/>
      </dsp:nvSpPr>
      <dsp:spPr>
        <a:xfrm rot="240000">
          <a:off x="4426187" y="1916438"/>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Increased operational complexity</a:t>
          </a:r>
        </a:p>
      </dsp:txBody>
      <dsp:txXfrm>
        <a:off x="4454456" y="1944707"/>
        <a:ext cx="1620308" cy="522551"/>
      </dsp:txXfrm>
    </dsp:sp>
    <dsp:sp modelId="{D3419466-971C-48A4-840E-53E8156ADD97}">
      <dsp:nvSpPr>
        <dsp:cNvPr id="0" name=""/>
        <dsp:cNvSpPr/>
      </dsp:nvSpPr>
      <dsp:spPr>
        <a:xfrm rot="240000">
          <a:off x="4473123" y="1296885"/>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Incentive structure changes</a:t>
          </a:r>
        </a:p>
      </dsp:txBody>
      <dsp:txXfrm>
        <a:off x="4501392" y="1325154"/>
        <a:ext cx="1620308" cy="522551"/>
      </dsp:txXfrm>
    </dsp:sp>
    <dsp:sp modelId="{8FFAE1D4-E0FD-436A-AFC2-F01A6BA71817}">
      <dsp:nvSpPr>
        <dsp:cNvPr id="0" name=""/>
        <dsp:cNvSpPr/>
      </dsp:nvSpPr>
      <dsp:spPr>
        <a:xfrm rot="240000">
          <a:off x="1891653" y="2986574"/>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Sustainability Goals</a:t>
          </a:r>
        </a:p>
      </dsp:txBody>
      <dsp:txXfrm>
        <a:off x="1919922" y="3014843"/>
        <a:ext cx="1620308" cy="522551"/>
      </dsp:txXfrm>
    </dsp:sp>
    <dsp:sp modelId="{E0232CA3-3AC9-4DBC-8C9E-C4B514E62587}">
      <dsp:nvSpPr>
        <dsp:cNvPr id="0" name=""/>
        <dsp:cNvSpPr/>
      </dsp:nvSpPr>
      <dsp:spPr>
        <a:xfrm rot="240000">
          <a:off x="1938589" y="2367021"/>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Grid Resilience </a:t>
          </a:r>
        </a:p>
      </dsp:txBody>
      <dsp:txXfrm>
        <a:off x="1966858" y="2395290"/>
        <a:ext cx="1620308" cy="522551"/>
      </dsp:txXfrm>
    </dsp:sp>
    <dsp:sp modelId="{3D080DC1-C13B-473A-93F7-A89C5C67EC88}">
      <dsp:nvSpPr>
        <dsp:cNvPr id="0" name=""/>
        <dsp:cNvSpPr/>
      </dsp:nvSpPr>
      <dsp:spPr>
        <a:xfrm rot="240000">
          <a:off x="1985525" y="1747469"/>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Energy Efficiency </a:t>
          </a:r>
        </a:p>
      </dsp:txBody>
      <dsp:txXfrm>
        <a:off x="2013794" y="1775738"/>
        <a:ext cx="1620308" cy="52255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920BA5-B028-4B13-9CCE-7DDE9FD75016}">
      <dsp:nvSpPr>
        <dsp:cNvPr id="0" name=""/>
        <dsp:cNvSpPr/>
      </dsp:nvSpPr>
      <dsp:spPr>
        <a:xfrm>
          <a:off x="2016252" y="0"/>
          <a:ext cx="1344168"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Focus on a single group</a:t>
          </a:r>
        </a:p>
      </dsp:txBody>
      <dsp:txXfrm>
        <a:off x="2016252" y="0"/>
        <a:ext cx="1344168" cy="1331129"/>
      </dsp:txXfrm>
    </dsp:sp>
    <dsp:sp modelId="{E3A0DA67-1C43-4242-B3CB-FDDDA9E7374A}">
      <dsp:nvSpPr>
        <dsp:cNvPr id="0" name=""/>
        <dsp:cNvSpPr/>
      </dsp:nvSpPr>
      <dsp:spPr>
        <a:xfrm>
          <a:off x="1344168" y="1331129"/>
          <a:ext cx="2688336"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Assume no new invention of technologies </a:t>
          </a:r>
        </a:p>
      </dsp:txBody>
      <dsp:txXfrm>
        <a:off x="1814626" y="1331129"/>
        <a:ext cx="1747418" cy="1331129"/>
      </dsp:txXfrm>
    </dsp:sp>
    <dsp:sp modelId="{8FDEED87-5058-491D-8CB6-C74AEDBE1F8F}">
      <dsp:nvSpPr>
        <dsp:cNvPr id="0" name=""/>
        <dsp:cNvSpPr/>
      </dsp:nvSpPr>
      <dsp:spPr>
        <a:xfrm>
          <a:off x="672083" y="2662258"/>
          <a:ext cx="4032504"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Leverage existing APTIM Capabilites </a:t>
          </a:r>
        </a:p>
      </dsp:txBody>
      <dsp:txXfrm>
        <a:off x="1377772" y="2662258"/>
        <a:ext cx="2621127" cy="1331129"/>
      </dsp:txXfrm>
    </dsp:sp>
    <dsp:sp modelId="{591B9AF5-E465-4123-B631-9924CE4CCCB1}">
      <dsp:nvSpPr>
        <dsp:cNvPr id="0" name=""/>
        <dsp:cNvSpPr/>
      </dsp:nvSpPr>
      <dsp:spPr>
        <a:xfrm>
          <a:off x="0" y="3993387"/>
          <a:ext cx="5376672"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Allow for scaling, achievable within 1-3 years</a:t>
          </a:r>
        </a:p>
      </dsp:txBody>
      <dsp:txXfrm>
        <a:off x="940917" y="3993387"/>
        <a:ext cx="3494836" cy="133112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1EA34A-8783-4E54-99E6-F0CED26F76DC}">
      <dsp:nvSpPr>
        <dsp:cNvPr id="0" name=""/>
        <dsp:cNvSpPr/>
      </dsp:nvSpPr>
      <dsp:spPr>
        <a:xfrm>
          <a:off x="1663236"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b="1" kern="1200"/>
            <a:t>Leverages Existing Capabilities</a:t>
          </a:r>
        </a:p>
        <a:p>
          <a:pPr marL="171450" lvl="1" indent="-171450" algn="ctr" defTabSz="711200">
            <a:lnSpc>
              <a:spcPct val="90000"/>
            </a:lnSpc>
            <a:spcBef>
              <a:spcPct val="0"/>
            </a:spcBef>
            <a:spcAft>
              <a:spcPct val="15000"/>
            </a:spcAft>
            <a:buChar char="•"/>
          </a:pPr>
          <a:r>
            <a:rPr lang="en-US" sz="16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kern="1200"/>
        </a:p>
      </dsp:txBody>
      <dsp:txXfrm>
        <a:off x="1663236" y="402"/>
        <a:ext cx="4111371" cy="2466822"/>
      </dsp:txXfrm>
    </dsp:sp>
    <dsp:sp modelId="{D27E1064-114D-49EC-BEBD-6FCB94E725A0}">
      <dsp:nvSpPr>
        <dsp:cNvPr id="0" name=""/>
        <dsp:cNvSpPr/>
      </dsp:nvSpPr>
      <dsp:spPr>
        <a:xfrm>
          <a:off x="6185745"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Expands Into New Markets</a:t>
          </a:r>
          <a:endParaRPr lang="en-US" sz="2000" b="1" kern="1200"/>
        </a:p>
        <a:p>
          <a:pPr marL="228600" lvl="1" indent="-228600" algn="ctr" defTabSz="889000">
            <a:lnSpc>
              <a:spcPct val="90000"/>
            </a:lnSpc>
            <a:spcBef>
              <a:spcPct val="0"/>
            </a:spcBef>
            <a:spcAft>
              <a:spcPct val="15000"/>
            </a:spcAft>
            <a:buChar char="•"/>
          </a:pPr>
          <a:endParaRPr lang="en-US" sz="2000" kern="1200"/>
        </a:p>
      </dsp:txBody>
      <dsp:txXfrm>
        <a:off x="6185745" y="402"/>
        <a:ext cx="4111371" cy="2466822"/>
      </dsp:txXfrm>
    </dsp:sp>
    <dsp:sp modelId="{D0DF015F-7FF4-4ABA-A386-73E48B97A52D}">
      <dsp:nvSpPr>
        <dsp:cNvPr id="0" name=""/>
        <dsp:cNvSpPr/>
      </dsp:nvSpPr>
      <dsp:spPr>
        <a:xfrm>
          <a:off x="1663236"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Scales Growth In Existing Relationships</a:t>
          </a:r>
        </a:p>
        <a:p>
          <a:pPr marL="228600" lvl="1" indent="-228600" algn="ctr" defTabSz="889000">
            <a:lnSpc>
              <a:spcPct val="90000"/>
            </a:lnSpc>
            <a:spcBef>
              <a:spcPct val="0"/>
            </a:spcBef>
            <a:spcAft>
              <a:spcPct val="15000"/>
            </a:spcAft>
            <a:buChar char="•"/>
          </a:pPr>
          <a:endParaRPr lang="en-US" sz="2000" kern="1200"/>
        </a:p>
      </dsp:txBody>
      <dsp:txXfrm>
        <a:off x="1663236" y="2878362"/>
        <a:ext cx="4111371" cy="2466822"/>
      </dsp:txXfrm>
    </dsp:sp>
    <dsp:sp modelId="{75DA17C1-641B-4EFD-9B48-316CF74F3B0D}">
      <dsp:nvSpPr>
        <dsp:cNvPr id="0" name=""/>
        <dsp:cNvSpPr/>
      </dsp:nvSpPr>
      <dsp:spPr>
        <a:xfrm>
          <a:off x="6185745"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Creates Resilient Revenue </a:t>
          </a:r>
        </a:p>
        <a:p>
          <a:pPr marL="228600" lvl="1" indent="-228600" algn="ctr" defTabSz="1066800">
            <a:lnSpc>
              <a:spcPct val="90000"/>
            </a:lnSpc>
            <a:spcBef>
              <a:spcPct val="0"/>
            </a:spcBef>
            <a:spcAft>
              <a:spcPct val="15000"/>
            </a:spcAft>
            <a:buChar char="•"/>
          </a:pPr>
          <a:endParaRPr lang="en-US" sz="2400" kern="1200"/>
        </a:p>
      </dsp:txBody>
      <dsp:txXfrm>
        <a:off x="6185745" y="2878362"/>
        <a:ext cx="4111371" cy="246682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FC99AD-2BA8-48C6-9819-DC36FF7DCAD0}">
      <dsp:nvSpPr>
        <dsp:cNvPr id="0" name=""/>
        <dsp:cNvSpPr/>
      </dsp:nvSpPr>
      <dsp:spPr>
        <a:xfrm>
          <a:off x="9041742"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E9DA51D-772A-44B0-AD7D-D71601FDE07D}">
      <dsp:nvSpPr>
        <dsp:cNvPr id="0" name=""/>
        <dsp:cNvSpPr/>
      </dsp:nvSpPr>
      <dsp:spPr>
        <a:xfrm>
          <a:off x="8277458"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113BFF0-3856-485B-A4A8-E2645871275F}">
      <dsp:nvSpPr>
        <dsp:cNvPr id="0" name=""/>
        <dsp:cNvSpPr/>
      </dsp:nvSpPr>
      <dsp:spPr>
        <a:xfrm>
          <a:off x="5220323" y="1692641"/>
          <a:ext cx="3821418" cy="363729"/>
        </a:xfrm>
        <a:custGeom>
          <a:avLst/>
          <a:gdLst/>
          <a:ahLst/>
          <a:cxnLst/>
          <a:rect l="0" t="0" r="0" b="0"/>
          <a:pathLst>
            <a:path>
              <a:moveTo>
                <a:pt x="0" y="0"/>
              </a:moveTo>
              <a:lnTo>
                <a:pt x="0" y="247871"/>
              </a:lnTo>
              <a:lnTo>
                <a:pt x="3821418" y="247871"/>
              </a:lnTo>
              <a:lnTo>
                <a:pt x="3821418"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847DB8-DFD3-47E7-B8A5-8C666BF5466B}">
      <dsp:nvSpPr>
        <dsp:cNvPr id="0" name=""/>
        <dsp:cNvSpPr/>
      </dsp:nvSpPr>
      <dsp:spPr>
        <a:xfrm>
          <a:off x="5220323" y="2850531"/>
          <a:ext cx="1528567" cy="363729"/>
        </a:xfrm>
        <a:custGeom>
          <a:avLst/>
          <a:gdLst/>
          <a:ahLst/>
          <a:cxnLst/>
          <a:rect l="0" t="0" r="0" b="0"/>
          <a:pathLst>
            <a:path>
              <a:moveTo>
                <a:pt x="0" y="0"/>
              </a:moveTo>
              <a:lnTo>
                <a:pt x="0" y="247871"/>
              </a:lnTo>
              <a:lnTo>
                <a:pt x="1528567" y="247871"/>
              </a:lnTo>
              <a:lnTo>
                <a:pt x="1528567"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0DB35CD-D4D4-47CA-967D-3A952C83EEAE}">
      <dsp:nvSpPr>
        <dsp:cNvPr id="0" name=""/>
        <dsp:cNvSpPr/>
      </dsp:nvSpPr>
      <dsp:spPr>
        <a:xfrm>
          <a:off x="5174603" y="2850531"/>
          <a:ext cx="91440" cy="363729"/>
        </a:xfrm>
        <a:custGeom>
          <a:avLst/>
          <a:gdLst/>
          <a:ahLst/>
          <a:cxnLst/>
          <a:rect l="0" t="0" r="0" b="0"/>
          <a:pathLst>
            <a:path>
              <a:moveTo>
                <a:pt x="45720" y="0"/>
              </a:moveTo>
              <a:lnTo>
                <a:pt x="4572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8F1FE-FB64-4228-BF5C-582E5A979261}">
      <dsp:nvSpPr>
        <dsp:cNvPr id="0" name=""/>
        <dsp:cNvSpPr/>
      </dsp:nvSpPr>
      <dsp:spPr>
        <a:xfrm>
          <a:off x="3691756" y="2850531"/>
          <a:ext cx="1528567" cy="363729"/>
        </a:xfrm>
        <a:custGeom>
          <a:avLst/>
          <a:gdLst/>
          <a:ahLst/>
          <a:cxnLst/>
          <a:rect l="0" t="0" r="0" b="0"/>
          <a:pathLst>
            <a:path>
              <a:moveTo>
                <a:pt x="1528567" y="0"/>
              </a:moveTo>
              <a:lnTo>
                <a:pt x="1528567"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D0DB610-D48E-44F8-92E8-9E8333A7DFA4}">
      <dsp:nvSpPr>
        <dsp:cNvPr id="0" name=""/>
        <dsp:cNvSpPr/>
      </dsp:nvSpPr>
      <dsp:spPr>
        <a:xfrm>
          <a:off x="5174603" y="1692641"/>
          <a:ext cx="91440" cy="363729"/>
        </a:xfrm>
        <a:custGeom>
          <a:avLst/>
          <a:gdLst/>
          <a:ahLst/>
          <a:cxnLst/>
          <a:rect l="0" t="0" r="0" b="0"/>
          <a:pathLst>
            <a:path>
              <a:moveTo>
                <a:pt x="45720" y="0"/>
              </a:moveTo>
              <a:lnTo>
                <a:pt x="4572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ECFDB3-E735-4D21-BF6C-A3BC234599A1}">
      <dsp:nvSpPr>
        <dsp:cNvPr id="0" name=""/>
        <dsp:cNvSpPr/>
      </dsp:nvSpPr>
      <dsp:spPr>
        <a:xfrm>
          <a:off x="1398905"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873CF8F-2372-49F3-9DE9-91DBE3412F46}">
      <dsp:nvSpPr>
        <dsp:cNvPr id="0" name=""/>
        <dsp:cNvSpPr/>
      </dsp:nvSpPr>
      <dsp:spPr>
        <a:xfrm>
          <a:off x="634621"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275DF9-4862-4349-857A-D238C0F08817}">
      <dsp:nvSpPr>
        <dsp:cNvPr id="0" name=""/>
        <dsp:cNvSpPr/>
      </dsp:nvSpPr>
      <dsp:spPr>
        <a:xfrm>
          <a:off x="1398905" y="1692641"/>
          <a:ext cx="3821418" cy="363729"/>
        </a:xfrm>
        <a:custGeom>
          <a:avLst/>
          <a:gdLst/>
          <a:ahLst/>
          <a:cxnLst/>
          <a:rect l="0" t="0" r="0" b="0"/>
          <a:pathLst>
            <a:path>
              <a:moveTo>
                <a:pt x="3821418" y="0"/>
              </a:moveTo>
              <a:lnTo>
                <a:pt x="3821418" y="247871"/>
              </a:lnTo>
              <a:lnTo>
                <a:pt x="0" y="247871"/>
              </a:lnTo>
              <a:lnTo>
                <a:pt x="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F23F8-BC01-4CFE-8097-DB5D4D90AAAB}">
      <dsp:nvSpPr>
        <dsp:cNvPr id="0" name=""/>
        <dsp:cNvSpPr/>
      </dsp:nvSpPr>
      <dsp:spPr>
        <a:xfrm>
          <a:off x="4595000" y="89848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CDAFB-9D99-4665-ADBB-63466E903D4A}">
      <dsp:nvSpPr>
        <dsp:cNvPr id="0" name=""/>
        <dsp:cNvSpPr/>
      </dsp:nvSpPr>
      <dsp:spPr>
        <a:xfrm>
          <a:off x="4733961" y="103049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Project Scope</a:t>
          </a:r>
        </a:p>
      </dsp:txBody>
      <dsp:txXfrm>
        <a:off x="4757221" y="1053753"/>
        <a:ext cx="1204126" cy="747640"/>
      </dsp:txXfrm>
    </dsp:sp>
    <dsp:sp modelId="{5FCE555D-A897-49E0-9130-57C9A9EE8917}">
      <dsp:nvSpPr>
        <dsp:cNvPr id="0" name=""/>
        <dsp:cNvSpPr/>
      </dsp:nvSpPr>
      <dsp:spPr>
        <a:xfrm>
          <a:off x="773582"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E95F25-5232-4E91-9E0E-86CE995ED199}">
      <dsp:nvSpPr>
        <dsp:cNvPr id="0" name=""/>
        <dsp:cNvSpPr/>
      </dsp:nvSpPr>
      <dsp:spPr>
        <a:xfrm>
          <a:off x="912542"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Complexity</a:t>
          </a:r>
        </a:p>
      </dsp:txBody>
      <dsp:txXfrm>
        <a:off x="935802" y="2211643"/>
        <a:ext cx="1204126" cy="747640"/>
      </dsp:txXfrm>
    </dsp:sp>
    <dsp:sp modelId="{DF7F889C-1D0C-44F1-92B7-C3EA5F1AC971}">
      <dsp:nvSpPr>
        <dsp:cNvPr id="0" name=""/>
        <dsp:cNvSpPr/>
      </dsp:nvSpPr>
      <dsp:spPr>
        <a:xfrm>
          <a:off x="929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C32C6-40C4-42F5-8ED8-9D9B6FC27188}">
      <dsp:nvSpPr>
        <dsp:cNvPr id="0" name=""/>
        <dsp:cNvSpPr/>
      </dsp:nvSpPr>
      <dsp:spPr>
        <a:xfrm>
          <a:off x="148259"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Assume no new invention of technology </a:t>
          </a:r>
        </a:p>
      </dsp:txBody>
      <dsp:txXfrm>
        <a:off x="171519" y="3369533"/>
        <a:ext cx="1204126" cy="747640"/>
      </dsp:txXfrm>
    </dsp:sp>
    <dsp:sp modelId="{C1EED29D-7FA2-47A7-8FC3-95047349D2F8}">
      <dsp:nvSpPr>
        <dsp:cNvPr id="0" name=""/>
        <dsp:cNvSpPr/>
      </dsp:nvSpPr>
      <dsp:spPr>
        <a:xfrm>
          <a:off x="153786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F26E56F-52F5-4277-BF18-8C496767EA5A}">
      <dsp:nvSpPr>
        <dsp:cNvPr id="0" name=""/>
        <dsp:cNvSpPr/>
      </dsp:nvSpPr>
      <dsp:spPr>
        <a:xfrm>
          <a:off x="167682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Leverage existing APTIM capabilities </a:t>
          </a:r>
        </a:p>
      </dsp:txBody>
      <dsp:txXfrm>
        <a:off x="1700086" y="3369533"/>
        <a:ext cx="1204126" cy="747640"/>
      </dsp:txXfrm>
    </dsp:sp>
    <dsp:sp modelId="{74C58B10-E5C6-43D3-AEAD-BAB9F36929F7}">
      <dsp:nvSpPr>
        <dsp:cNvPr id="0" name=""/>
        <dsp:cNvSpPr/>
      </dsp:nvSpPr>
      <dsp:spPr>
        <a:xfrm>
          <a:off x="4595000"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E54C41-9B69-4F78-A7A0-25D602210C4E}">
      <dsp:nvSpPr>
        <dsp:cNvPr id="0" name=""/>
        <dsp:cNvSpPr/>
      </dsp:nvSpPr>
      <dsp:spPr>
        <a:xfrm>
          <a:off x="4733961"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Focus</a:t>
          </a:r>
        </a:p>
      </dsp:txBody>
      <dsp:txXfrm>
        <a:off x="4757221" y="2211643"/>
        <a:ext cx="1204126" cy="747640"/>
      </dsp:txXfrm>
    </dsp:sp>
    <dsp:sp modelId="{C38DE57C-065B-40B2-BEBD-556290799360}">
      <dsp:nvSpPr>
        <dsp:cNvPr id="0" name=""/>
        <dsp:cNvSpPr/>
      </dsp:nvSpPr>
      <dsp:spPr>
        <a:xfrm>
          <a:off x="3066433"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BB4F7B-E13B-4DFE-B15D-7DED4959F594}">
      <dsp:nvSpPr>
        <dsp:cNvPr id="0" name=""/>
        <dsp:cNvSpPr/>
      </dsp:nvSpPr>
      <dsp:spPr>
        <a:xfrm>
          <a:off x="320539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Utility</a:t>
          </a:r>
        </a:p>
      </dsp:txBody>
      <dsp:txXfrm>
        <a:off x="3228653" y="3369533"/>
        <a:ext cx="1204126" cy="747640"/>
      </dsp:txXfrm>
    </dsp:sp>
    <dsp:sp modelId="{7B2F6CF9-9255-49A1-8E44-6AD561BC6432}">
      <dsp:nvSpPr>
        <dsp:cNvPr id="0" name=""/>
        <dsp:cNvSpPr/>
      </dsp:nvSpPr>
      <dsp:spPr>
        <a:xfrm>
          <a:off x="4595000"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927BCA-4CF8-44DE-9F8A-BB4AB6050C8E}">
      <dsp:nvSpPr>
        <dsp:cNvPr id="0" name=""/>
        <dsp:cNvSpPr/>
      </dsp:nvSpPr>
      <dsp:spPr>
        <a:xfrm>
          <a:off x="4733961"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Customer</a:t>
          </a:r>
        </a:p>
      </dsp:txBody>
      <dsp:txXfrm>
        <a:off x="4757221" y="3369533"/>
        <a:ext cx="1204126" cy="747640"/>
      </dsp:txXfrm>
    </dsp:sp>
    <dsp:sp modelId="{3351E779-F6C9-46C2-99D4-4EED2259D109}">
      <dsp:nvSpPr>
        <dsp:cNvPr id="0" name=""/>
        <dsp:cNvSpPr/>
      </dsp:nvSpPr>
      <dsp:spPr>
        <a:xfrm>
          <a:off x="612356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8D6570-F4A1-424C-B484-E260E47E5F6E}">
      <dsp:nvSpPr>
        <dsp:cNvPr id="0" name=""/>
        <dsp:cNvSpPr/>
      </dsp:nvSpPr>
      <dsp:spPr>
        <a:xfrm>
          <a:off x="6262528"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County/City/State</a:t>
          </a:r>
        </a:p>
      </dsp:txBody>
      <dsp:txXfrm>
        <a:off x="6285788" y="3369533"/>
        <a:ext cx="1204126" cy="747640"/>
      </dsp:txXfrm>
    </dsp:sp>
    <dsp:sp modelId="{90DE277B-6820-45E8-ABC1-436200024406}">
      <dsp:nvSpPr>
        <dsp:cNvPr id="0" name=""/>
        <dsp:cNvSpPr/>
      </dsp:nvSpPr>
      <dsp:spPr>
        <a:xfrm>
          <a:off x="8416419"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96700A-3EAB-49D1-B0E5-DFF233E1E67E}">
      <dsp:nvSpPr>
        <dsp:cNvPr id="0" name=""/>
        <dsp:cNvSpPr/>
      </dsp:nvSpPr>
      <dsp:spPr>
        <a:xfrm>
          <a:off x="8555379"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Scaling</a:t>
          </a:r>
        </a:p>
      </dsp:txBody>
      <dsp:txXfrm>
        <a:off x="8578639" y="2211643"/>
        <a:ext cx="1204126" cy="747640"/>
      </dsp:txXfrm>
    </dsp:sp>
    <dsp:sp modelId="{35EE64AD-1C4D-4923-9C3A-F5855164B8E3}">
      <dsp:nvSpPr>
        <dsp:cNvPr id="0" name=""/>
        <dsp:cNvSpPr/>
      </dsp:nvSpPr>
      <dsp:spPr>
        <a:xfrm>
          <a:off x="765213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463962-C8DA-4EEB-962F-4FFE8591FAF3}">
      <dsp:nvSpPr>
        <dsp:cNvPr id="0" name=""/>
        <dsp:cNvSpPr/>
      </dsp:nvSpPr>
      <dsp:spPr>
        <a:xfrm>
          <a:off x="779109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Achievable in 1-3 years</a:t>
          </a:r>
        </a:p>
      </dsp:txBody>
      <dsp:txXfrm>
        <a:off x="7814356" y="3369533"/>
        <a:ext cx="1204126" cy="747640"/>
      </dsp:txXfrm>
    </dsp:sp>
    <dsp:sp modelId="{DBA76714-5C33-4AA1-8515-FA044AD90317}">
      <dsp:nvSpPr>
        <dsp:cNvPr id="0" name=""/>
        <dsp:cNvSpPr/>
      </dsp:nvSpPr>
      <dsp:spPr>
        <a:xfrm>
          <a:off x="9180702"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4791A95-20EC-42C2-99C0-941E9EDBE678}">
      <dsp:nvSpPr>
        <dsp:cNvPr id="0" name=""/>
        <dsp:cNvSpPr/>
      </dsp:nvSpPr>
      <dsp:spPr>
        <a:xfrm>
          <a:off x="931966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Accounts for market shifts</a:t>
          </a:r>
        </a:p>
      </dsp:txBody>
      <dsp:txXfrm>
        <a:off x="9342923" y="3369533"/>
        <a:ext cx="1204126" cy="747640"/>
      </dsp:txXfrm>
    </dsp:sp>
  </dsp:spTree>
</dsp:drawing>
</file>

<file path=ppt/diagrams/layout1.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4.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5.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Edit: (John) can make animation to move the seesaw </a:t>
            </a:r>
          </a:p>
        </p:txBody>
      </p:sp>
      <p:sp>
        <p:nvSpPr>
          <p:cNvPr id="4" name="Slide Number Placeholder 3"/>
          <p:cNvSpPr>
            <a:spLocks noGrp="1"/>
          </p:cNvSpPr>
          <p:nvPr>
            <p:ph type="sldNum" sz="quarter" idx="5"/>
          </p:nvPr>
        </p:nvSpPr>
        <p:spPr/>
        <p:txBody>
          <a:bodyPr/>
          <a:lstStyle/>
          <a:p>
            <a:fld id="{5D149A2A-2FC7-440C-9AA6-4256354C6A8E}" type="slidenum">
              <a:rPr lang="en-US" smtClean="0"/>
              <a:t>3</a:t>
            </a:fld>
            <a:endParaRPr lang="en-US"/>
          </a:p>
        </p:txBody>
      </p:sp>
    </p:spTree>
    <p:extLst>
      <p:ext uri="{BB962C8B-B14F-4D97-AF65-F5344CB8AC3E}">
        <p14:creationId xmlns:p14="http://schemas.microsoft.com/office/powerpoint/2010/main" val="1902140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Make talking points here specific to expand on visual</a:t>
            </a:r>
          </a:p>
        </p:txBody>
      </p:sp>
      <p:sp>
        <p:nvSpPr>
          <p:cNvPr id="4" name="Slide Number Placeholder 3"/>
          <p:cNvSpPr>
            <a:spLocks noGrp="1"/>
          </p:cNvSpPr>
          <p:nvPr>
            <p:ph type="sldNum" sz="quarter" idx="5"/>
          </p:nvPr>
        </p:nvSpPr>
        <p:spPr/>
        <p:txBody>
          <a:bodyPr/>
          <a:lstStyle/>
          <a:p>
            <a:fld id="{5D149A2A-2FC7-440C-9AA6-4256354C6A8E}" type="slidenum">
              <a:rPr lang="en-US" smtClean="0"/>
              <a:t>4</a:t>
            </a:fld>
            <a:endParaRPr lang="en-US"/>
          </a:p>
        </p:txBody>
      </p:sp>
    </p:spTree>
    <p:extLst>
      <p:ext uri="{BB962C8B-B14F-4D97-AF65-F5344CB8AC3E}">
        <p14:creationId xmlns:p14="http://schemas.microsoft.com/office/powerpoint/2010/main" val="19532980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Tie directly to final concept, audience already has scope (maybe delete) </a:t>
            </a:r>
          </a:p>
          <a:p>
            <a:r>
              <a:rPr lang="en-US">
                <a:latin typeface="Calibri"/>
                <a:ea typeface="Calibri"/>
                <a:cs typeface="Calibri"/>
              </a:rPr>
              <a:t>Edit: Do not think it needs to be deleted, just the bullets cleaned up, also recommend adding animations. This slide should probably act as an introduction to what our solution actually is</a:t>
            </a:r>
          </a:p>
        </p:txBody>
      </p:sp>
      <p:sp>
        <p:nvSpPr>
          <p:cNvPr id="4" name="Slide Number Placeholder 3"/>
          <p:cNvSpPr>
            <a:spLocks noGrp="1"/>
          </p:cNvSpPr>
          <p:nvPr>
            <p:ph type="sldNum" sz="quarter" idx="5"/>
          </p:nvPr>
        </p:nvSpPr>
        <p:spPr/>
        <p:txBody>
          <a:bodyPr/>
          <a:lstStyle/>
          <a:p>
            <a:fld id="{5D149A2A-2FC7-440C-9AA6-4256354C6A8E}" type="slidenum">
              <a:rPr lang="en-US" smtClean="0"/>
              <a:t>5</a:t>
            </a:fld>
            <a:endParaRPr lang="en-US"/>
          </a:p>
        </p:txBody>
      </p:sp>
    </p:spTree>
    <p:extLst>
      <p:ext uri="{BB962C8B-B14F-4D97-AF65-F5344CB8AC3E}">
        <p14:creationId xmlns:p14="http://schemas.microsoft.com/office/powerpoint/2010/main" val="13464764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Solid, maybe split into two slides with an intro to avoid overload (or add animations)</a:t>
            </a:r>
          </a:p>
          <a:p>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6</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Very good they like this slide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5D149A2A-2FC7-440C-9AA6-4256354C6A8E}" type="slidenum">
              <a:rPr lang="en-US" smtClean="0"/>
              <a:t>7</a:t>
            </a:fld>
            <a:endParaRPr lang="en-US"/>
          </a:p>
        </p:txBody>
      </p:sp>
    </p:spTree>
    <p:extLst>
      <p:ext uri="{BB962C8B-B14F-4D97-AF65-F5344CB8AC3E}">
        <p14:creationId xmlns:p14="http://schemas.microsoft.com/office/powerpoint/2010/main" val="4067292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Merge content from 10 with formatting of 8 and visuals, highlight </a:t>
            </a:r>
            <a:r>
              <a:rPr lang="en-US" err="1">
                <a:latin typeface="Calibri"/>
                <a:ea typeface="Calibri"/>
                <a:cs typeface="Calibri"/>
              </a:rPr>
              <a:t>aptim</a:t>
            </a:r>
            <a:r>
              <a:rPr lang="en-US">
                <a:latin typeface="Calibri"/>
                <a:ea typeface="Calibri"/>
                <a:cs typeface="Calibri"/>
              </a:rPr>
              <a:t> with a box or color etc</a:t>
            </a:r>
          </a:p>
        </p:txBody>
      </p:sp>
      <p:sp>
        <p:nvSpPr>
          <p:cNvPr id="4" name="Slide Number Placeholder 3"/>
          <p:cNvSpPr>
            <a:spLocks noGrp="1"/>
          </p:cNvSpPr>
          <p:nvPr>
            <p:ph type="sldNum" sz="quarter" idx="5"/>
          </p:nvPr>
        </p:nvSpPr>
        <p:spPr/>
        <p:txBody>
          <a:bodyPr/>
          <a:lstStyle/>
          <a:p>
            <a:fld id="{5D149A2A-2FC7-440C-9AA6-4256354C6A8E}" type="slidenum">
              <a:rPr lang="en-US" smtClean="0"/>
              <a:t>8</a:t>
            </a:fld>
            <a:endParaRPr lang="en-US"/>
          </a:p>
        </p:txBody>
      </p:sp>
    </p:spTree>
    <p:extLst>
      <p:ext uri="{BB962C8B-B14F-4D97-AF65-F5344CB8AC3E}">
        <p14:creationId xmlns:p14="http://schemas.microsoft.com/office/powerpoint/2010/main" val="2295394320"/>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toolkit concept (adaptation support, funding navigation, compliance/reporting, contractor continuity) is a real capability set APTIM could offer -- but it describes HOW APTIM operates, not WHAT specific program it would sell to a client.</a:t>
            </a:r>
          </a:p>
          <a:p>
            <a:r>
              <a:t>• Leadership feedback was explicit: pitch a specific program, not a broad framework. A generic toolkit doesn't give a utility, or APTIM leadership, a concrete yes/no decision to evaluate.</a:t>
            </a:r>
          </a:p>
          <a:p>
            <a:r>
              <a:t>• The battery + solar fleet uses the SAME underlying capabilities (program administration, contractor management, compliance reporting) but wraps them around one concrete, fundable asset -- satisfying both the prompt's specificity requirement and APTIM's existing strengths.</a:t>
            </a:r>
          </a:p>
          <a:p>
            <a:r>
              <a:t>• Scope note: This is a distribution-level resilience investment, not a competitor to DTE's utility-scale storage buildout (760 MW by 2032, ~2,900 MW total by 2042) built to replace one of the nation's largest coal plants. Keeping the pitch anchored to funding uncertainty -- not generation strategy -- keeps it aligned with the prompt.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 CHOSE THIS APPROACH:</a:t>
            </a:r>
          </a:p>
          <a:p>
            <a:r>
              <a:t>- The Program Resilience Toolkit described HOW APTIM operates, not a specific program leadership could approve or reject. The prompt and leadership both called for one concrete offer, not a capability list.</a:t>
            </a:r>
          </a:p>
          <a:p>
            <a:r>
              <a:t>- DTE's own storage plan (760 MW by 2032, 2,900 MW total by 2042) exists to replace Monroe Power Plant -- the 4th-largest coal plant in the US -- a decade-long, multi-billion-dollar transition. Our program is a distribution-level resilience investment, not a competitor to that generation strategy. It addresses outage backup at the neighborhood level, a category absent from DTE's 145-page IRP entirely.</a:t>
            </a:r>
          </a:p>
          <a:p>
            <a:r>
              <a:t>- This fits inside DTE's existing 2021 Distribution Grid Plan, which already commits $1B/year to reduce outages -- our program is a new tool inside an existing commitment, not a new competing ask.</a:t>
            </a:r>
          </a:p>
          <a:p>
            <a:r>
              <a:t>- Feasibility is real: pilot filing and MPSC approval realistically land within 1-2 years under Case U-21653's expedited DER pathway; fleet operation within the 1-3 year window; full rate-basing is the honest follow-on phase.</a:t>
            </a:r>
          </a:p>
          <a:p/>
          <a:p>
            <a:r>
              <a:t>HOW THE PROGRAM ACTUALLY WORKS:</a:t>
            </a:r>
          </a:p>
          <a:p>
            <a:r>
              <a:t>- Ownership is settled: utility owns and finances the fleet. A homeowner-loan alternative was modeled and rejected -- a $34,500 system financed over 15 years runs about $310/month, more than double an average Michigan household's $130/month bill. Utility ownership is the only structure that works for the customers this program should serve.</a:t>
            </a:r>
          </a:p>
          <a:p>
            <a:r>
              <a:t>- Engineered for Michigan winters: cold-climate-rated battery chemistry with active thermal management, sized with a winter capacity buffer, because Michigan's worst outages are ice-storm-driven winter events -- exactly when unmanaged batteries perform worst.</a:t>
            </a:r>
          </a:p>
          <a:p>
            <a:r>
              <a:t>- Who maintains it: the utility owns the fleet, so the utility -- via APTIM's contractor network -- maintains it. Zero maintenance burden ever falls on the household.</a:t>
            </a:r>
          </a:p>
          <a:p>
            <a:r>
              <a:t>- Pilot sequencing, not exclusion: Phase 1 enrolls qualifying, stable homeowners to prove the model with clean data and minimal execution risk. Phase 2 expands to higher-need, higher-outage areas once validated -- a stronger regulatory argument than testing on vulnerable populations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11</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probably needs to go much earlier in the presentation (after key goals)</a:t>
            </a:r>
          </a:p>
          <a:p/>
          <a:p>
            <a:r>
              <a:t>Open items for RFP-stage negotiation: exact fee %, named installer network, interconnection process for utility-owned residential batteries (flagged as a regulatory question to work through with MPSC, not assumed).</a:t>
            </a:r>
          </a:p>
        </p:txBody>
      </p:sp>
      <p:sp>
        <p:nvSpPr>
          <p:cNvPr id="4" name="Slide Number Placeholder 3"/>
          <p:cNvSpPr>
            <a:spLocks noGrp="1"/>
          </p:cNvSpPr>
          <p:nvPr>
            <p:ph type="sldNum" sz="quarter" idx="5"/>
          </p:nvPr>
        </p:nvSpPr>
        <p:spPr/>
        <p:txBody>
          <a:bodyPr/>
          <a:lstStyle/>
          <a:p>
            <a:fld id="{5D149A2A-2FC7-440C-9AA6-4256354C6A8E}" type="slidenum">
              <a:rPr lang="en-US" smtClean="0"/>
              <a:t>12</a:t>
            </a:fld>
            <a:endParaRPr lang="en-US"/>
          </a:p>
        </p:txBody>
      </p:sp>
    </p:spTree>
    <p:extLst>
      <p:ext uri="{BB962C8B-B14F-4D97-AF65-F5344CB8AC3E}">
        <p14:creationId xmlns:p14="http://schemas.microsoft.com/office/powerpoint/2010/main" val="31078531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Leverages Existing Capabilities: APTIM already administers utility programs, manages contractor networks, engages customers, and delivers regulatory compliance reporting. The pilot uses tools that already exist within the organization.</a:t>
            </a:r>
          </a:p>
          <a:p/>
          <a:p>
            <a:r>
              <a:t>Expands Into New Markets: Little direct competition provides end-to-end administration of utility-owned residential battery fleets. This positions APTIM to establish a differentiated offering within the growing demand response and distributed energy resources market.</a:t>
            </a:r>
          </a:p>
          <a:p/>
          <a:p>
            <a:r>
              <a:t>Scales Through Existing Relationships: APTIM already maintains trusted relationships with utilities through programs in Wisconsin and Louisiana. These partnerships provide a natural pathway to pilot, refine, and expand the model.</a:t>
            </a:r>
          </a:p>
          <a:p/>
          <a:p>
            <a:r>
              <a:t>Creates More Resilient Revenue Streams: This program shifts funding away from grants and incentives toward utility infrastructure investments, creating a more stable revenue source insulated from federal funding uncertainty.</a:t>
            </a:r>
          </a:p>
        </p:txBody>
      </p:sp>
      <p:sp>
        <p:nvSpPr>
          <p:cNvPr id="4" name="Slide Number Placeholder 3"/>
          <p:cNvSpPr>
            <a:spLocks noGrp="1"/>
          </p:cNvSpPr>
          <p:nvPr>
            <p:ph type="sldNum" sz="quarter" idx="5"/>
          </p:nvPr>
        </p:nvSpPr>
        <p:spPr/>
        <p:txBody>
          <a:bodyPr/>
          <a:lstStyle/>
          <a:p>
            <a:fld id="{5D149A2A-2FC7-440C-9AA6-4256354C6A8E}" type="slidenum">
              <a:rPr lang="en-US" smtClean="0"/>
              <a:t>14</a:t>
            </a:fld>
            <a:endParaRPr lang="en-US"/>
          </a:p>
        </p:txBody>
      </p:sp>
    </p:spTree>
    <p:extLst>
      <p:ext uri="{BB962C8B-B14F-4D97-AF65-F5344CB8AC3E}">
        <p14:creationId xmlns:p14="http://schemas.microsoft.com/office/powerpoint/2010/main" val="9544265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LEGAL PATHWAY: MPSC approved 1,332 MW of utility-owned battery storage in March 2026, tied to DTE's 2022 IRP (760 MW by 2032, 2,900 MW total by 2042, Case U-21193) -- confirms MPSC will rate-base utility-owned storage. PA 235 (2023) sets a 2,500 MW statewide storage target with compliance petitions due Dec 31, 2029 (Case U-21571). MPSC Case U-21653 (2025) created an expedited pilot-program process specifically for DER integration.</a:t>
            </a:r>
          </a:p>
          <a:p/>
          <a:p>
            <a:r>
              <a:t>KNOWN RISK: DTE proposed a residential battery pilot around 2022 and MPSC rejected it. Exact case number and stated rationale are unverified from primary sources -- confirm via MPSC docket before presenting under scrutiny. Do not cite U-20561, which is DTE's 2020 rate case, not the battery pilot rejection.</a:t>
            </a:r>
          </a:p>
          <a:p/>
          <a:p>
            <a:r>
              <a:t>WHY WE WIN THE BID: File as a capped DER-integration pilot under U-21653 (low political exposure), not a rate case, unlike DTE's 2022 attempt. APTIM brings an existing fleet-operations track record (Focus on Energy, Energy Smart) that DTE lacked in-house in 2022. Propose the customer hosting agreement as part of the filing itself. Subcontract installs to local Michigan solar/storage installers to preserve the competitive installer market. Negotiate cost-recovery into the pilot approval itself, following the settlement structure MPSC accepted for utility-scale storage.</a:t>
            </a:r>
          </a:p>
          <a:p/>
          <a:p>
            <a:r>
              <a:t>COST/TIMELINE/RESOURCING: APTIM staffing sized like existing Focus on Energy roles, exact headcount TBD.</a:t>
            </a:r>
          </a:p>
        </p:txBody>
      </p:sp>
      <p:sp>
        <p:nvSpPr>
          <p:cNvPr id="4" name="Slide Number Placeholder 3"/>
          <p:cNvSpPr>
            <a:spLocks noGrp="1"/>
          </p:cNvSpPr>
          <p:nvPr>
            <p:ph type="sldNum" sz="quarter" idx="5"/>
          </p:nvPr>
        </p:nvSpPr>
        <p:spPr/>
        <p:txBody>
          <a:bodyPr/>
          <a:lstStyle/>
          <a:p>
            <a:fld id="{5D149A2A-2FC7-440C-9AA6-4256354C6A8E}" type="slidenum">
              <a:rPr lang="en-US" smtClean="0"/>
              <a:t>15</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17</a:t>
            </a:fld>
            <a:endParaRPr lang="en-US"/>
          </a:p>
        </p:txBody>
      </p:sp>
    </p:spTree>
    <p:extLst>
      <p:ext uri="{BB962C8B-B14F-4D97-AF65-F5344CB8AC3E}">
        <p14:creationId xmlns:p14="http://schemas.microsoft.com/office/powerpoint/2010/main" val="16943341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7/24/2026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7/24/2026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7/24/2026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7/24/2026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 Person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4484D-75B0-DFAD-9571-2EDEB762644E}"/>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CA5F7240-373D-E9E2-6F39-57D7722E78E9}"/>
              </a:ext>
            </a:extLst>
          </p:cNvPr>
          <p:cNvSpPr>
            <a:spLocks noGrp="1"/>
          </p:cNvSpPr>
          <p:nvPr>
            <p:ph type="sldNum" sz="quarter" idx="10"/>
          </p:nvPr>
        </p:nvSpPr>
        <p:spPr/>
        <p:txBody>
          <a:bodyPr/>
          <a:lstStyle/>
          <a:p>
            <a:fld id="{72E20F18-833A-4542-A439-FC39BC210022}" type="slidenum">
              <a:rPr lang="en-US" smtClean="0"/>
              <a:pPr/>
              <a:t>‹#›</a:t>
            </a:fld>
            <a:endParaRPr lang="en-US"/>
          </a:p>
        </p:txBody>
      </p:sp>
      <p:sp>
        <p:nvSpPr>
          <p:cNvPr id="4" name="Footer Placeholder 3">
            <a:extLst>
              <a:ext uri="{FF2B5EF4-FFF2-40B4-BE49-F238E27FC236}">
                <a16:creationId xmlns:a16="http://schemas.microsoft.com/office/drawing/2014/main" id="{4BB6091E-E525-FA89-6062-56CF687F2E77}"/>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0C32289D-88ED-1848-7EC4-7B7756E619BA}"/>
              </a:ext>
            </a:extLst>
          </p:cNvPr>
          <p:cNvSpPr>
            <a:spLocks noGrp="1"/>
          </p:cNvSpPr>
          <p:nvPr>
            <p:ph type="dt" sz="half" idx="12"/>
          </p:nvPr>
        </p:nvSpPr>
        <p:spPr/>
        <p:txBody>
          <a:bodyPr/>
          <a:lstStyle/>
          <a:p>
            <a:fld id="{40711C0D-6AE8-47B7-9D02-2C83FBE968D2}" type="datetime1">
              <a:rPr lang="en-US" smtClean="0"/>
              <a:pPr/>
              <a:t>7/24/2026</a:t>
            </a:fld>
            <a:endParaRPr lang="en-US"/>
          </a:p>
        </p:txBody>
      </p:sp>
      <p:sp>
        <p:nvSpPr>
          <p:cNvPr id="6" name="Picture Placeholder 10">
            <a:extLst>
              <a:ext uri="{FF2B5EF4-FFF2-40B4-BE49-F238E27FC236}">
                <a16:creationId xmlns:a16="http://schemas.microsoft.com/office/drawing/2014/main" id="{DE8453E8-CBBC-762A-0B1F-273BC7BD6CBE}"/>
              </a:ext>
            </a:extLst>
          </p:cNvPr>
          <p:cNvSpPr>
            <a:spLocks noGrp="1" noChangeAspect="1"/>
          </p:cNvSpPr>
          <p:nvPr>
            <p:ph type="pic" sz="quarter" idx="13" hasCustomPrompt="1"/>
          </p:nvPr>
        </p:nvSpPr>
        <p:spPr>
          <a:xfrm>
            <a:off x="1391" y="1837089"/>
            <a:ext cx="1828800" cy="2743200"/>
          </a:xfrm>
        </p:spPr>
        <p:txBody>
          <a:bodyPr>
            <a:normAutofit/>
          </a:bodyPr>
          <a:lstStyle>
            <a:lvl1pPr>
              <a:defRPr sz="2000"/>
            </a:lvl1pPr>
          </a:lstStyle>
          <a:p>
            <a:r>
              <a:rPr lang="en-US"/>
              <a:t>Add Professional Headshot</a:t>
            </a:r>
          </a:p>
        </p:txBody>
      </p:sp>
      <p:sp>
        <p:nvSpPr>
          <p:cNvPr id="7" name="Text Placeholder 12">
            <a:extLst>
              <a:ext uri="{FF2B5EF4-FFF2-40B4-BE49-F238E27FC236}">
                <a16:creationId xmlns:a16="http://schemas.microsoft.com/office/drawing/2014/main" id="{BC024A8E-E65C-91F9-B044-F874BA470286}"/>
              </a:ext>
            </a:extLst>
          </p:cNvPr>
          <p:cNvSpPr>
            <a:spLocks noGrp="1"/>
          </p:cNvSpPr>
          <p:nvPr>
            <p:ph type="body" sz="quarter" idx="14" hasCustomPrompt="1"/>
          </p:nvPr>
        </p:nvSpPr>
        <p:spPr>
          <a:xfrm>
            <a:off x="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1 (alphabetically) and title</a:t>
            </a:r>
          </a:p>
        </p:txBody>
      </p:sp>
      <p:sp>
        <p:nvSpPr>
          <p:cNvPr id="8" name="Picture Placeholder 10">
            <a:extLst>
              <a:ext uri="{FF2B5EF4-FFF2-40B4-BE49-F238E27FC236}">
                <a16:creationId xmlns:a16="http://schemas.microsoft.com/office/drawing/2014/main" id="{62B36441-D4DC-8305-5396-D1BE296A7123}"/>
              </a:ext>
            </a:extLst>
          </p:cNvPr>
          <p:cNvSpPr>
            <a:spLocks noGrp="1" noChangeAspect="1"/>
          </p:cNvSpPr>
          <p:nvPr>
            <p:ph type="pic" sz="quarter" idx="15" hasCustomPrompt="1"/>
          </p:nvPr>
        </p:nvSpPr>
        <p:spPr>
          <a:xfrm>
            <a:off x="8839200" y="1825625"/>
            <a:ext cx="1828800" cy="2743200"/>
          </a:xfrm>
        </p:spPr>
        <p:txBody>
          <a:bodyPr>
            <a:normAutofit/>
          </a:bodyPr>
          <a:lstStyle>
            <a:lvl1pPr>
              <a:defRPr sz="2000"/>
            </a:lvl1pPr>
          </a:lstStyle>
          <a:p>
            <a:r>
              <a:rPr lang="en-US"/>
              <a:t>Add Professional Headshot</a:t>
            </a:r>
          </a:p>
        </p:txBody>
      </p:sp>
      <p:sp>
        <p:nvSpPr>
          <p:cNvPr id="9" name="Text Placeholder 12">
            <a:extLst>
              <a:ext uri="{FF2B5EF4-FFF2-40B4-BE49-F238E27FC236}">
                <a16:creationId xmlns:a16="http://schemas.microsoft.com/office/drawing/2014/main" id="{A6E6DF15-BD4D-E29B-8E7C-4EB6DBC08BB3}"/>
              </a:ext>
            </a:extLst>
          </p:cNvPr>
          <p:cNvSpPr>
            <a:spLocks noGrp="1"/>
          </p:cNvSpPr>
          <p:nvPr>
            <p:ph type="body" sz="quarter" idx="16" hasCustomPrompt="1"/>
          </p:nvPr>
        </p:nvSpPr>
        <p:spPr>
          <a:xfrm>
            <a:off x="66294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4 (alphabetically) and title</a:t>
            </a:r>
          </a:p>
        </p:txBody>
      </p:sp>
      <p:sp>
        <p:nvSpPr>
          <p:cNvPr id="10" name="Text Placeholder 12">
            <a:extLst>
              <a:ext uri="{FF2B5EF4-FFF2-40B4-BE49-F238E27FC236}">
                <a16:creationId xmlns:a16="http://schemas.microsoft.com/office/drawing/2014/main" id="{FE172D5F-59AE-F32F-D1CB-4EFD0175FC55}"/>
              </a:ext>
            </a:extLst>
          </p:cNvPr>
          <p:cNvSpPr>
            <a:spLocks noGrp="1"/>
          </p:cNvSpPr>
          <p:nvPr>
            <p:ph type="body" sz="quarter" idx="17" hasCustomPrompt="1"/>
          </p:nvPr>
        </p:nvSpPr>
        <p:spPr>
          <a:xfrm>
            <a:off x="22098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2 (alphabetically) and title</a:t>
            </a:r>
          </a:p>
        </p:txBody>
      </p:sp>
      <p:sp>
        <p:nvSpPr>
          <p:cNvPr id="11" name="Text Placeholder 12">
            <a:extLst>
              <a:ext uri="{FF2B5EF4-FFF2-40B4-BE49-F238E27FC236}">
                <a16:creationId xmlns:a16="http://schemas.microsoft.com/office/drawing/2014/main" id="{2EEAB187-123E-4293-F85A-1BCBFBFF6590}"/>
              </a:ext>
            </a:extLst>
          </p:cNvPr>
          <p:cNvSpPr>
            <a:spLocks noGrp="1"/>
          </p:cNvSpPr>
          <p:nvPr>
            <p:ph type="body" sz="quarter" idx="18" hasCustomPrompt="1"/>
          </p:nvPr>
        </p:nvSpPr>
        <p:spPr>
          <a:xfrm>
            <a:off x="44196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3 (alphabetically) and title</a:t>
            </a:r>
          </a:p>
        </p:txBody>
      </p:sp>
      <p:sp>
        <p:nvSpPr>
          <p:cNvPr id="12" name="Picture Placeholder 10">
            <a:extLst>
              <a:ext uri="{FF2B5EF4-FFF2-40B4-BE49-F238E27FC236}">
                <a16:creationId xmlns:a16="http://schemas.microsoft.com/office/drawing/2014/main" id="{C81BC737-4937-A161-DB48-F436A98167FC}"/>
              </a:ext>
            </a:extLst>
          </p:cNvPr>
          <p:cNvSpPr>
            <a:spLocks noGrp="1" noChangeAspect="1"/>
          </p:cNvSpPr>
          <p:nvPr>
            <p:ph type="pic" sz="quarter" idx="19" hasCustomPrompt="1"/>
          </p:nvPr>
        </p:nvSpPr>
        <p:spPr>
          <a:xfrm>
            <a:off x="2210843" y="2318425"/>
            <a:ext cx="1828800" cy="2743200"/>
          </a:xfrm>
        </p:spPr>
        <p:txBody>
          <a:bodyPr>
            <a:normAutofit/>
          </a:bodyPr>
          <a:lstStyle>
            <a:lvl1pPr>
              <a:defRPr sz="2000"/>
            </a:lvl1pPr>
          </a:lstStyle>
          <a:p>
            <a:r>
              <a:rPr lang="en-US"/>
              <a:t>Add Professional Headshot</a:t>
            </a:r>
          </a:p>
        </p:txBody>
      </p:sp>
      <p:sp>
        <p:nvSpPr>
          <p:cNvPr id="13" name="Picture Placeholder 10">
            <a:extLst>
              <a:ext uri="{FF2B5EF4-FFF2-40B4-BE49-F238E27FC236}">
                <a16:creationId xmlns:a16="http://schemas.microsoft.com/office/drawing/2014/main" id="{C76AEED3-3414-3E73-C9D8-F1854608125C}"/>
              </a:ext>
            </a:extLst>
          </p:cNvPr>
          <p:cNvSpPr>
            <a:spLocks noGrp="1" noChangeAspect="1"/>
          </p:cNvSpPr>
          <p:nvPr>
            <p:ph type="pic" sz="quarter" idx="20" hasCustomPrompt="1"/>
          </p:nvPr>
        </p:nvSpPr>
        <p:spPr>
          <a:xfrm>
            <a:off x="4420295" y="1825625"/>
            <a:ext cx="1828800" cy="2743200"/>
          </a:xfrm>
        </p:spPr>
        <p:txBody>
          <a:bodyPr>
            <a:normAutofit/>
          </a:bodyPr>
          <a:lstStyle>
            <a:lvl1pPr>
              <a:defRPr sz="2000"/>
            </a:lvl1pPr>
          </a:lstStyle>
          <a:p>
            <a:r>
              <a:rPr lang="en-US"/>
              <a:t>Add Professional Headshot</a:t>
            </a:r>
          </a:p>
        </p:txBody>
      </p:sp>
      <p:sp>
        <p:nvSpPr>
          <p:cNvPr id="14" name="Picture Placeholder 10">
            <a:extLst>
              <a:ext uri="{FF2B5EF4-FFF2-40B4-BE49-F238E27FC236}">
                <a16:creationId xmlns:a16="http://schemas.microsoft.com/office/drawing/2014/main" id="{99D47603-B850-C180-4CD1-4181324CE1B5}"/>
              </a:ext>
            </a:extLst>
          </p:cNvPr>
          <p:cNvSpPr>
            <a:spLocks noGrp="1" noChangeAspect="1"/>
          </p:cNvSpPr>
          <p:nvPr>
            <p:ph type="pic" sz="quarter" idx="21" hasCustomPrompt="1"/>
          </p:nvPr>
        </p:nvSpPr>
        <p:spPr>
          <a:xfrm>
            <a:off x="6629747" y="2318425"/>
            <a:ext cx="1828800" cy="2743200"/>
          </a:xfrm>
        </p:spPr>
        <p:txBody>
          <a:bodyPr>
            <a:normAutofit/>
          </a:bodyPr>
          <a:lstStyle>
            <a:lvl1pPr>
              <a:defRPr sz="2000"/>
            </a:lvl1pPr>
          </a:lstStyle>
          <a:p>
            <a:r>
              <a:rPr lang="en-US"/>
              <a:t>Add Professional Headshot</a:t>
            </a:r>
          </a:p>
        </p:txBody>
      </p:sp>
      <p:sp>
        <p:nvSpPr>
          <p:cNvPr id="15" name="Text Placeholder 12">
            <a:extLst>
              <a:ext uri="{FF2B5EF4-FFF2-40B4-BE49-F238E27FC236}">
                <a16:creationId xmlns:a16="http://schemas.microsoft.com/office/drawing/2014/main" id="{B7AC8A39-B642-D28D-3029-0323C84E2765}"/>
              </a:ext>
            </a:extLst>
          </p:cNvPr>
          <p:cNvSpPr>
            <a:spLocks noGrp="1"/>
          </p:cNvSpPr>
          <p:nvPr>
            <p:ph type="body" sz="quarter" idx="22" hasCustomPrompt="1"/>
          </p:nvPr>
        </p:nvSpPr>
        <p:spPr>
          <a:xfrm>
            <a:off x="88392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5 (alphabetically) and title</a:t>
            </a:r>
          </a:p>
        </p:txBody>
      </p:sp>
      <p:sp>
        <p:nvSpPr>
          <p:cNvPr id="18" name="Presenter Name">
            <a:extLst>
              <a:ext uri="{FF2B5EF4-FFF2-40B4-BE49-F238E27FC236}">
                <a16:creationId xmlns:a16="http://schemas.microsoft.com/office/drawing/2014/main" id="{C96C96E3-B0CD-13A2-B5A7-1E1EEA4B26C4}"/>
              </a:ext>
            </a:extLst>
          </p:cNvPr>
          <p:cNvSpPr>
            <a:spLocks noGrp="1"/>
          </p:cNvSpPr>
          <p:nvPr>
            <p:ph type="body" sz="quarter" idx="23" hasCustomPrompt="1"/>
          </p:nvPr>
        </p:nvSpPr>
        <p:spPr>
          <a:xfrm>
            <a:off x="10668000" y="0"/>
            <a:ext cx="1524000" cy="757130"/>
          </a:xfrm>
          <a:noFill/>
        </p:spPr>
        <p:txBody>
          <a:bodyPr wrap="square" lIns="91440" tIns="45720" rIns="91440" bIns="45720" rtlCol="0" anchor="ctr">
            <a:noAutofit/>
          </a:bodyPr>
          <a:lstStyle>
            <a:lvl1pPr marL="0" indent="0" algn="ctr">
              <a:buNone/>
              <a:defRPr lang="en-US" sz="1600" dirty="0">
                <a:solidFill>
                  <a:srgbClr val="FFFFFF"/>
                </a:solidFill>
                <a:cs typeface="Calibri"/>
              </a:defRPr>
            </a:lvl1pPr>
          </a:lstStyle>
          <a:p>
            <a:pPr marL="0" lvl="0" algn="ctr"/>
            <a:r>
              <a:rPr lang="en-US"/>
              <a:t>Type the presenter First and Last Name</a:t>
            </a:r>
          </a:p>
        </p:txBody>
      </p:sp>
    </p:spTree>
    <p:extLst>
      <p:ext uri="{BB962C8B-B14F-4D97-AF65-F5344CB8AC3E}">
        <p14:creationId xmlns:p14="http://schemas.microsoft.com/office/powerpoint/2010/main" val="2249487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7/24/2026</a:t>
            </a:fld>
            <a:endParaRPr lang="en-US"/>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a:t>Click to edit Master text styles or click icon to add graphic or table</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8">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 id="2147483676" r:id="rId15"/>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9.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svg"/><Relationship Id="rId11" Type="http://schemas.openxmlformats.org/officeDocument/2006/relationships/image" Target="../media/image14.svg"/><Relationship Id="rId12"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diagramData" Target="../diagrams/data3.xml"/><Relationship Id="rId4" Type="http://schemas.openxmlformats.org/officeDocument/2006/relationships/diagramLayout" Target="../diagrams/layout3.xml"/><Relationship Id="rId5" Type="http://schemas.openxmlformats.org/officeDocument/2006/relationships/diagramQuickStyle" Target="../diagrams/quickStyle3.xml"/><Relationship Id="rId6" Type="http://schemas.openxmlformats.org/officeDocument/2006/relationships/diagramColors" Target="../diagrams/colors3.xml"/><Relationship Id="rId7" Type="http://schemas.microsoft.com/office/2007/relationships/diagramDrawing" Target="../diagrams/drawing3.xml"/><Relationship Id="rId8" Type="http://schemas.openxmlformats.org/officeDocument/2006/relationships/image" Target="../media/image14.svg"/><Relationship Id="rId9" Type="http://schemas.openxmlformats.org/officeDocument/2006/relationships/image" Target="../media/image13.svg"/><Relationship Id="rId10" Type="http://schemas.openxmlformats.org/officeDocument/2006/relationships/image" Target="../media/image26.svg"/><Relationship Id="rId11" Type="http://schemas.openxmlformats.org/officeDocument/2006/relationships/image" Target="../media/image15.svg"/><Relationship Id="rId12" Type="http://schemas.openxmlformats.org/officeDocument/2006/relationships/image" Target="../media/image27.svg"/><Relationship Id="rId13" Type="http://schemas.openxmlformats.org/officeDocument/2006/relationships/image" Target="../media/image28.svg"/><Relationship Id="rId14" Type="http://schemas.openxmlformats.org/officeDocument/2006/relationships/image" Target="../media/image29.svg"/><Relationship Id="rId15" Type="http://schemas.openxmlformats.org/officeDocument/2006/relationships/image" Target="../media/image30.svg"/><Relationship Id="rId16" Type="http://schemas.openxmlformats.org/officeDocument/2006/relationships/image" Target="../media/image31.svg"/><Relationship Id="rId17" Type="http://schemas.openxmlformats.org/officeDocument/2006/relationships/image" Target="../media/image3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3.svg"/><Relationship Id="rId4" Type="http://schemas.openxmlformats.org/officeDocument/2006/relationships/image" Target="../media/image34.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5.xml"/><Relationship Id="rId3" Type="http://schemas.openxmlformats.org/officeDocument/2006/relationships/diagramLayout" Target="../diagrams/layout5.xml"/><Relationship Id="rId4" Type="http://schemas.openxmlformats.org/officeDocument/2006/relationships/diagramQuickStyle" Target="../diagrams/quickStyle5.xml"/><Relationship Id="rId5" Type="http://schemas.openxmlformats.org/officeDocument/2006/relationships/diagramColors" Target="../diagrams/colors5.xml"/><Relationship Id="rId6" Type="http://schemas.microsoft.com/office/2007/relationships/diagramDrawing" Target="../diagrams/drawing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7.xml"/><Relationship Id="rId3" Type="http://schemas.openxmlformats.org/officeDocument/2006/relationships/diagramLayout" Target="../diagrams/layout7.xml"/><Relationship Id="rId4" Type="http://schemas.openxmlformats.org/officeDocument/2006/relationships/diagramQuickStyle" Target="../diagrams/quickStyle7.xml"/><Relationship Id="rId5" Type="http://schemas.openxmlformats.org/officeDocument/2006/relationships/diagramColors" Target="../diagrams/colors7.xml"/><Relationship Id="rId6" Type="http://schemas.microsoft.com/office/2007/relationships/diagramDrawing" Target="../diagrams/drawing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a:t>Evolving Energy Programs Under Funding Uncertainty</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a:latin typeface="Arial"/>
                <a:cs typeface="Arial"/>
              </a:rPr>
              <a:t>Alexander Brown, Christian Gracia, Jenny Isham, Maija Miller, John Woods</a:t>
            </a:r>
          </a:p>
          <a:p>
            <a:r>
              <a:rPr lang="en-US"/>
              <a:t>Date</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238147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8BC2B-447D-F588-3D91-F0DEA555B354}"/>
              </a:ext>
            </a:extLst>
          </p:cNvPr>
          <p:cNvSpPr>
            <a:spLocks noGrp="1"/>
          </p:cNvSpPr>
          <p:nvPr>
            <p:ph type="title"/>
          </p:nvPr>
        </p:nvSpPr>
        <p:spPr/>
        <p:txBody>
          <a:bodyPr/>
          <a:lstStyle/>
          <a:p>
            <a:r>
              <a:rPr lang="en-US">
                <a:latin typeface="Arial Black"/>
                <a:cs typeface="Arial"/>
              </a:rPr>
              <a:t>The Dream Team</a:t>
            </a:r>
            <a:endParaRPr lang="en-US"/>
          </a:p>
        </p:txBody>
      </p:sp>
      <p:sp>
        <p:nvSpPr>
          <p:cNvPr id="3" name="Slide Number Placeholder 2">
            <a:extLst>
              <a:ext uri="{FF2B5EF4-FFF2-40B4-BE49-F238E27FC236}">
                <a16:creationId xmlns:a16="http://schemas.microsoft.com/office/drawing/2014/main" id="{921551E4-713F-AA64-0B60-ACFE8208A0DB}"/>
              </a:ext>
            </a:extLst>
          </p:cNvPr>
          <p:cNvSpPr>
            <a:spLocks noGrp="1"/>
          </p:cNvSpPr>
          <p:nvPr>
            <p:ph type="sldNum" sz="quarter" idx="10"/>
          </p:nvPr>
        </p:nvSpPr>
        <p:spPr/>
        <p:txBody>
          <a:bodyPr/>
          <a:lstStyle/>
          <a:p>
            <a:fld id="{72E20F18-833A-4542-A439-FC39BC210022}" type="slidenum">
              <a:rPr lang="en-US" smtClean="0"/>
              <a:pPr/>
              <a:t>2</a:t>
            </a:fld>
            <a:endParaRPr lang="en-US"/>
          </a:p>
        </p:txBody>
      </p:sp>
      <p:sp>
        <p:nvSpPr>
          <p:cNvPr id="4" name="Footer Placeholder 3">
            <a:extLst>
              <a:ext uri="{FF2B5EF4-FFF2-40B4-BE49-F238E27FC236}">
                <a16:creationId xmlns:a16="http://schemas.microsoft.com/office/drawing/2014/main" id="{D91D99CB-02AE-21FD-5DE4-0308A1EA90A8}"/>
              </a:ext>
            </a:extLst>
          </p:cNvPr>
          <p:cNvSpPr>
            <a:spLocks noGrp="1"/>
          </p:cNvSpPr>
          <p:nvPr>
            <p:ph type="ftr" sz="quarter" idx="11"/>
          </p:nvPr>
        </p:nvSpPr>
        <p:spPr/>
        <p:txBody>
          <a:bodyPr/>
          <a:lstStyle/>
          <a:p>
            <a:endParaRPr lang="en-US"/>
          </a:p>
        </p:txBody>
      </p:sp>
      <p:sp>
        <p:nvSpPr>
          <p:cNvPr id="5" name="Picture Placeholder 4">
            <a:extLst>
              <a:ext uri="{FF2B5EF4-FFF2-40B4-BE49-F238E27FC236}">
                <a16:creationId xmlns:a16="http://schemas.microsoft.com/office/drawing/2014/main" id="{3626F35C-2F42-1673-A24D-EAFED75CB96A}"/>
              </a:ext>
            </a:extLst>
          </p:cNvPr>
          <p:cNvSpPr>
            <a:spLocks noGrp="1"/>
          </p:cNvSpPr>
          <p:nvPr>
            <p:ph type="pic" sz="quarter" idx="13"/>
          </p:nvPr>
        </p:nvSpPr>
        <p:spPr>
          <a:xfrm>
            <a:off x="751199" y="1764858"/>
            <a:ext cx="1828800" cy="2743200"/>
          </a:xfrm>
        </p:spPr>
        <p:txBody>
          <a:bodyPr/>
          <a:lstStyle/>
          <a:p>
            <a:endParaRPr lang="en-US"/>
          </a:p>
        </p:txBody>
      </p:sp>
      <p:sp>
        <p:nvSpPr>
          <p:cNvPr id="6" name="Text Placeholder 5">
            <a:extLst>
              <a:ext uri="{FF2B5EF4-FFF2-40B4-BE49-F238E27FC236}">
                <a16:creationId xmlns:a16="http://schemas.microsoft.com/office/drawing/2014/main" id="{326FAA2A-23FE-50CC-F3CC-C50F38617BC1}"/>
              </a:ext>
            </a:extLst>
          </p:cNvPr>
          <p:cNvSpPr>
            <a:spLocks noGrp="1"/>
          </p:cNvSpPr>
          <p:nvPr>
            <p:ph type="body" sz="quarter" idx="14"/>
          </p:nvPr>
        </p:nvSpPr>
        <p:spPr>
          <a:xfrm>
            <a:off x="749808" y="4553066"/>
            <a:ext cx="1828800" cy="618118"/>
          </a:xfrm>
        </p:spPr>
        <p:txBody>
          <a:bodyPr/>
          <a:lstStyle/>
          <a:p>
            <a:r>
              <a:rPr lang="en-US" b="1"/>
              <a:t>Alexander Brown</a:t>
            </a:r>
          </a:p>
          <a:p>
            <a:endParaRPr lang="en-US"/>
          </a:p>
        </p:txBody>
      </p:sp>
      <p:pic>
        <p:nvPicPr>
          <p:cNvPr id="15" name="Picture Placeholder 14">
            <a:extLst>
              <a:ext uri="{FF2B5EF4-FFF2-40B4-BE49-F238E27FC236}">
                <a16:creationId xmlns:a16="http://schemas.microsoft.com/office/drawing/2014/main" id="{BC69E68D-3474-CDE0-C137-3D5E49DD0222}"/>
              </a:ext>
            </a:extLst>
          </p:cNvPr>
          <p:cNvPicPr>
            <a:picLocks noGrp="1" noChangeAspect="1"/>
          </p:cNvPicPr>
          <p:nvPr>
            <p:ph type="pic" sz="quarter" idx="15"/>
          </p:nvPr>
        </p:nvPicPr>
        <p:blipFill>
          <a:blip r:embed="rId2"/>
          <a:srcRect l="13757" t="357" r="11129" b="-357"/>
          <a:stretch>
            <a:fillRect/>
          </a:stretch>
        </p:blipFill>
        <p:spPr>
          <a:xfrm>
            <a:off x="9508671" y="1763987"/>
            <a:ext cx="2060557" cy="2743203"/>
          </a:xfrm>
          <a:prstGeom prst="rect">
            <a:avLst/>
          </a:prstGeom>
        </p:spPr>
      </p:pic>
      <p:sp>
        <p:nvSpPr>
          <p:cNvPr id="8" name="Text Placeholder 7">
            <a:extLst>
              <a:ext uri="{FF2B5EF4-FFF2-40B4-BE49-F238E27FC236}">
                <a16:creationId xmlns:a16="http://schemas.microsoft.com/office/drawing/2014/main" id="{D5C19598-634D-36D0-C064-349B7E6A1DD8}"/>
              </a:ext>
            </a:extLst>
          </p:cNvPr>
          <p:cNvSpPr>
            <a:spLocks noGrp="1"/>
          </p:cNvSpPr>
          <p:nvPr>
            <p:ph type="body" sz="quarter" idx="16"/>
          </p:nvPr>
        </p:nvSpPr>
        <p:spPr>
          <a:xfrm>
            <a:off x="7379208" y="5045866"/>
            <a:ext cx="1828800" cy="895117"/>
          </a:xfrm>
        </p:spPr>
        <p:txBody>
          <a:bodyPr/>
          <a:lstStyle/>
          <a:p>
            <a:r>
              <a:rPr lang="en-US" b="1"/>
              <a:t>Maija Miller</a:t>
            </a:r>
          </a:p>
          <a:p>
            <a:r>
              <a:rPr lang="en-US"/>
              <a:t>Environmental Engineering Intern</a:t>
            </a:r>
          </a:p>
        </p:txBody>
      </p:sp>
      <p:sp>
        <p:nvSpPr>
          <p:cNvPr id="9" name="Text Placeholder 8">
            <a:extLst>
              <a:ext uri="{FF2B5EF4-FFF2-40B4-BE49-F238E27FC236}">
                <a16:creationId xmlns:a16="http://schemas.microsoft.com/office/drawing/2014/main" id="{4B47FEE4-846E-F8B8-E297-D64A17BD1252}"/>
              </a:ext>
            </a:extLst>
          </p:cNvPr>
          <p:cNvSpPr>
            <a:spLocks noGrp="1"/>
          </p:cNvSpPr>
          <p:nvPr>
            <p:ph type="body" sz="quarter" idx="17"/>
          </p:nvPr>
        </p:nvSpPr>
        <p:spPr>
          <a:xfrm>
            <a:off x="2959608" y="5045866"/>
            <a:ext cx="1828800" cy="276999"/>
          </a:xfrm>
        </p:spPr>
        <p:txBody>
          <a:bodyPr/>
          <a:lstStyle/>
          <a:p>
            <a:r>
              <a:rPr lang="en-US" b="1"/>
              <a:t>Christian Garcia </a:t>
            </a:r>
          </a:p>
        </p:txBody>
      </p:sp>
      <p:sp>
        <p:nvSpPr>
          <p:cNvPr id="10" name="Text Placeholder 9">
            <a:extLst>
              <a:ext uri="{FF2B5EF4-FFF2-40B4-BE49-F238E27FC236}">
                <a16:creationId xmlns:a16="http://schemas.microsoft.com/office/drawing/2014/main" id="{D09783BE-494C-A327-A8BE-1D2D55A38E3C}"/>
              </a:ext>
            </a:extLst>
          </p:cNvPr>
          <p:cNvSpPr>
            <a:spLocks noGrp="1"/>
          </p:cNvSpPr>
          <p:nvPr>
            <p:ph type="body" sz="quarter" idx="18"/>
          </p:nvPr>
        </p:nvSpPr>
        <p:spPr>
          <a:xfrm>
            <a:off x="5169408" y="4553066"/>
            <a:ext cx="1828800" cy="895117"/>
          </a:xfrm>
        </p:spPr>
        <p:txBody>
          <a:bodyPr vert="horz" wrap="square" lIns="0" tIns="0" rIns="0" bIns="0" rtlCol="0" anchor="t">
            <a:spAutoFit/>
          </a:bodyPr>
          <a:lstStyle/>
          <a:p>
            <a:r>
              <a:rPr lang="en-US" b="1"/>
              <a:t>Jenny Isham</a:t>
            </a:r>
            <a:endParaRPr lang="en-US"/>
          </a:p>
          <a:p>
            <a:r>
              <a:rPr lang="en-US"/>
              <a:t>Civil Engineering Intern</a:t>
            </a:r>
          </a:p>
        </p:txBody>
      </p:sp>
      <p:sp>
        <p:nvSpPr>
          <p:cNvPr id="11" name="Picture Placeholder 10">
            <a:extLst>
              <a:ext uri="{FF2B5EF4-FFF2-40B4-BE49-F238E27FC236}">
                <a16:creationId xmlns:a16="http://schemas.microsoft.com/office/drawing/2014/main" id="{E0F0DD91-5435-BD69-E7E6-32B045873F9B}"/>
              </a:ext>
            </a:extLst>
          </p:cNvPr>
          <p:cNvSpPr>
            <a:spLocks noGrp="1"/>
          </p:cNvSpPr>
          <p:nvPr>
            <p:ph type="pic" sz="quarter" idx="19"/>
          </p:nvPr>
        </p:nvSpPr>
        <p:spPr>
          <a:xfrm>
            <a:off x="2960651" y="2246194"/>
            <a:ext cx="1828800" cy="2743200"/>
          </a:xfrm>
        </p:spPr>
        <p:txBody>
          <a:bodyPr/>
          <a:lstStyle/>
          <a:p>
            <a:endParaRPr lang="en-US"/>
          </a:p>
        </p:txBody>
      </p:sp>
      <p:sp>
        <p:nvSpPr>
          <p:cNvPr id="12" name="Picture Placeholder 11">
            <a:extLst>
              <a:ext uri="{FF2B5EF4-FFF2-40B4-BE49-F238E27FC236}">
                <a16:creationId xmlns:a16="http://schemas.microsoft.com/office/drawing/2014/main" id="{068EB5FF-6B14-4259-546F-407583665002}"/>
              </a:ext>
            </a:extLst>
          </p:cNvPr>
          <p:cNvSpPr>
            <a:spLocks noGrp="1"/>
          </p:cNvSpPr>
          <p:nvPr>
            <p:ph type="pic" sz="quarter" idx="20"/>
          </p:nvPr>
        </p:nvSpPr>
        <p:spPr>
          <a:xfrm>
            <a:off x="5170103" y="1753394"/>
            <a:ext cx="1828800" cy="2743200"/>
          </a:xfrm>
        </p:spPr>
        <p:txBody>
          <a:bodyPr/>
          <a:lstStyle/>
          <a:p>
            <a:endParaRPr lang="en-US"/>
          </a:p>
        </p:txBody>
      </p:sp>
      <p:sp>
        <p:nvSpPr>
          <p:cNvPr id="13" name="Picture Placeholder 12">
            <a:extLst>
              <a:ext uri="{FF2B5EF4-FFF2-40B4-BE49-F238E27FC236}">
                <a16:creationId xmlns:a16="http://schemas.microsoft.com/office/drawing/2014/main" id="{0B0216DA-96B4-1AF3-5A90-44B0A6C925A4}"/>
              </a:ext>
            </a:extLst>
          </p:cNvPr>
          <p:cNvSpPr>
            <a:spLocks noGrp="1"/>
          </p:cNvSpPr>
          <p:nvPr>
            <p:ph type="pic" sz="quarter" idx="21"/>
          </p:nvPr>
        </p:nvSpPr>
        <p:spPr>
          <a:xfrm>
            <a:off x="7379555" y="2246194"/>
            <a:ext cx="1828800" cy="2743200"/>
          </a:xfrm>
        </p:spPr>
        <p:txBody>
          <a:bodyPr/>
          <a:lstStyle/>
          <a:p>
            <a:endParaRPr lang="en-US"/>
          </a:p>
        </p:txBody>
      </p:sp>
      <p:sp>
        <p:nvSpPr>
          <p:cNvPr id="14" name="Text Placeholder 13">
            <a:extLst>
              <a:ext uri="{FF2B5EF4-FFF2-40B4-BE49-F238E27FC236}">
                <a16:creationId xmlns:a16="http://schemas.microsoft.com/office/drawing/2014/main" id="{8D71C4B5-C3DE-6429-B429-D997B984B758}"/>
              </a:ext>
            </a:extLst>
          </p:cNvPr>
          <p:cNvSpPr>
            <a:spLocks noGrp="1"/>
          </p:cNvSpPr>
          <p:nvPr>
            <p:ph type="body" sz="quarter" idx="22"/>
          </p:nvPr>
        </p:nvSpPr>
        <p:spPr>
          <a:xfrm>
            <a:off x="9589008" y="4553066"/>
            <a:ext cx="1828800" cy="1236236"/>
          </a:xfrm>
        </p:spPr>
        <p:txBody>
          <a:bodyPr vert="horz" wrap="square" lIns="0" tIns="0" rIns="0" bIns="0" rtlCol="0" anchor="t">
            <a:spAutoFit/>
          </a:bodyPr>
          <a:lstStyle/>
          <a:p>
            <a:r>
              <a:rPr lang="en-US" b="1"/>
              <a:t>John Woods</a:t>
            </a:r>
          </a:p>
          <a:p>
            <a:r>
              <a:rPr lang="en-US"/>
              <a:t>Mechanical Engineering Intern</a:t>
            </a:r>
          </a:p>
          <a:p>
            <a:r>
              <a:rPr lang="en-US"/>
              <a:t>Knoxville, TN</a:t>
            </a:r>
          </a:p>
        </p:txBody>
      </p:sp>
    </p:spTree>
    <p:extLst>
      <p:ext uri="{BB962C8B-B14F-4D97-AF65-F5344CB8AC3E}">
        <p14:creationId xmlns:p14="http://schemas.microsoft.com/office/powerpoint/2010/main" val="1828113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BB29BABF-9F2A-BFC5-62C4-ED276D0E09BB}"/>
              </a:ext>
            </a:extLst>
          </p:cNvPr>
          <p:cNvSpPr/>
          <p:nvPr/>
        </p:nvSpPr>
        <p:spPr>
          <a:xfrm>
            <a:off x="486926" y="3222082"/>
            <a:ext cx="3741404" cy="2329148"/>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a:solidFill>
                  <a:schemeClr val="tx1"/>
                </a:solidFill>
                <a:cs typeface="Arial"/>
              </a:rPr>
              <a:t>How could APTIM leverage its existing capabilities across </a:t>
            </a:r>
            <a:r>
              <a:rPr lang="en-US" b="1">
                <a:solidFill>
                  <a:schemeClr val="tx1"/>
                </a:solidFill>
              </a:rPr>
              <a:t>consulting and management to help deliver effective programs under constrained funding?</a:t>
            </a:r>
          </a:p>
        </p:txBody>
      </p:sp>
      <p:sp>
        <p:nvSpPr>
          <p:cNvPr id="9" name="Title 8">
            <a:extLst>
              <a:ext uri="{FF2B5EF4-FFF2-40B4-BE49-F238E27FC236}">
                <a16:creationId xmlns:a16="http://schemas.microsoft.com/office/drawing/2014/main" id="{CF013CD0-1ED7-54E6-8681-3CFFE6ADBE0A}"/>
              </a:ext>
            </a:extLst>
          </p:cNvPr>
          <p:cNvSpPr>
            <a:spLocks noGrp="1"/>
          </p:cNvSpPr>
          <p:nvPr>
            <p:ph type="title"/>
          </p:nvPr>
        </p:nvSpPr>
        <p:spPr>
          <a:xfrm>
            <a:off x="609600" y="370511"/>
            <a:ext cx="10972799" cy="804735"/>
          </a:xfrm>
        </p:spPr>
        <p:txBody>
          <a:bodyPr/>
          <a:lstStyle/>
          <a:p>
            <a:r>
              <a:rPr lang="en-US"/>
              <a:t>The Problem </a:t>
            </a:r>
          </a:p>
        </p:txBody>
      </p:sp>
      <p:sp>
        <p:nvSpPr>
          <p:cNvPr id="7" name="Footer Placeholder 6">
            <a:extLst>
              <a:ext uri="{FF2B5EF4-FFF2-40B4-BE49-F238E27FC236}">
                <a16:creationId xmlns:a16="http://schemas.microsoft.com/office/drawing/2014/main" id="{6281D506-D025-5D72-D80D-ECACC270B56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5359DF0C-675C-38C3-DD98-2540894C87E9}"/>
              </a:ext>
            </a:extLst>
          </p:cNvPr>
          <p:cNvSpPr>
            <a:spLocks noGrp="1"/>
          </p:cNvSpPr>
          <p:nvPr>
            <p:ph type="sldNum" sz="quarter" idx="12"/>
          </p:nvPr>
        </p:nvSpPr>
        <p:spPr>
          <a:xfrm>
            <a:off x="11178391" y="6140991"/>
            <a:ext cx="285135" cy="251845"/>
          </a:xfrm>
        </p:spPr>
        <p:txBody>
          <a:bodyPr/>
          <a:lstStyle/>
          <a:p>
            <a:fld id="{F8F6B9CD-BE6B-498B-93B3-0FAD7ADE75E3}" type="slidenum">
              <a:rPr lang="en-US" smtClean="0"/>
              <a:t>3</a:t>
            </a:fld>
            <a:endParaRPr lang="en-US"/>
          </a:p>
        </p:txBody>
      </p:sp>
      <p:graphicFrame>
        <p:nvGraphicFramePr>
          <p:cNvPr id="10" name="Diagram 9">
            <a:extLst>
              <a:ext uri="{FF2B5EF4-FFF2-40B4-BE49-F238E27FC236}">
                <a16:creationId xmlns:a16="http://schemas.microsoft.com/office/drawing/2014/main" id="{1A6EFDD8-730D-CF5E-726B-CAD06D0B4A79}"/>
              </a:ext>
            </a:extLst>
          </p:cNvPr>
          <p:cNvGraphicFramePr/>
          <p:nvPr>
            <p:extLst>
              <p:ext uri="{D42A27DB-BD31-4B8C-83A1-F6EECF244321}">
                <p14:modId xmlns:p14="http://schemas.microsoft.com/office/powerpoint/2010/main" val="1125097939"/>
              </p:ext>
            </p:extLst>
          </p:nvPr>
        </p:nvGraphicFramePr>
        <p:xfrm>
          <a:off x="4105656" y="942378"/>
          <a:ext cx="7874000" cy="49732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3" name="TextBox 12">
            <a:extLst>
              <a:ext uri="{FF2B5EF4-FFF2-40B4-BE49-F238E27FC236}">
                <a16:creationId xmlns:a16="http://schemas.microsoft.com/office/drawing/2014/main" id="{27A59918-E638-25AF-CB5A-1AA8C557485B}"/>
              </a:ext>
            </a:extLst>
          </p:cNvPr>
          <p:cNvSpPr txBox="1"/>
          <p:nvPr/>
        </p:nvSpPr>
        <p:spPr>
          <a:xfrm>
            <a:off x="609600" y="1598499"/>
            <a:ext cx="3922776" cy="1200329"/>
          </a:xfrm>
          <a:prstGeom prst="rect">
            <a:avLst/>
          </a:prstGeom>
          <a:noFill/>
        </p:spPr>
        <p:txBody>
          <a:bodyPr wrap="square" rtlCol="0">
            <a:spAutoFit/>
          </a:bodyPr>
          <a:lstStyle/>
          <a:p>
            <a:r>
              <a:rPr lang="en-US">
                <a:solidFill>
                  <a:schemeClr val="accent3"/>
                </a:solidFill>
              </a:rPr>
              <a:t>Utilities, states, counties, cities and program administrators have to balance growing expectations and growing constraints:</a:t>
            </a:r>
          </a:p>
        </p:txBody>
      </p:sp>
      <p:sp>
        <p:nvSpPr>
          <p:cNvPr id="16" name="Isosceles Triangle 15">
            <a:extLst>
              <a:ext uri="{FF2B5EF4-FFF2-40B4-BE49-F238E27FC236}">
                <a16:creationId xmlns:a16="http://schemas.microsoft.com/office/drawing/2014/main" id="{FFE324C8-3785-EDFE-DCBD-0D7B83E4F2E3}"/>
              </a:ext>
            </a:extLst>
          </p:cNvPr>
          <p:cNvSpPr/>
          <p:nvPr/>
        </p:nvSpPr>
        <p:spPr>
          <a:xfrm>
            <a:off x="7638318" y="3422238"/>
            <a:ext cx="722376" cy="566928"/>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BB85ADBA-4A18-1D3B-816B-CFD9C28A0CC9}"/>
              </a:ext>
            </a:extLst>
          </p:cNvPr>
          <p:cNvPicPr>
            <a:picLocks noChangeAspect="1"/>
          </p:cNvPicPr>
          <p:nvPr/>
        </p:nvPicPr>
        <p:blipFill>
          <a:blip r:embed="rId8"/>
          <a:stretch>
            <a:fillRect/>
          </a:stretch>
        </p:blipFill>
        <p:spPr>
          <a:xfrm rot="21286481">
            <a:off x="7667582" y="3129707"/>
            <a:ext cx="669499" cy="549106"/>
          </a:xfrm>
          <a:prstGeom prst="rect">
            <a:avLst/>
          </a:prstGeom>
          <a:ln w="28575">
            <a:solidFill>
              <a:schemeClr val="tx1"/>
            </a:solidFill>
          </a:ln>
        </p:spPr>
      </p:pic>
    </p:spTree>
    <p:extLst>
      <p:ext uri="{BB962C8B-B14F-4D97-AF65-F5344CB8AC3E}">
        <p14:creationId xmlns:p14="http://schemas.microsoft.com/office/powerpoint/2010/main" val="1438802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1000"/>
                                        <p:tgtEl>
                                          <p:spTgt spid="16"/>
                                        </p:tgtEl>
                                      </p:cBhvr>
                                    </p:animEffect>
                                    <p:anim calcmode="lin" valueType="num">
                                      <p:cBhvr>
                                        <p:cTn id="23" dur="1000" fill="hold"/>
                                        <p:tgtEl>
                                          <p:spTgt spid="16"/>
                                        </p:tgtEl>
                                        <p:attrNameLst>
                                          <p:attrName>ppt_x</p:attrName>
                                        </p:attrNameLst>
                                      </p:cBhvr>
                                      <p:tavLst>
                                        <p:tav tm="0">
                                          <p:val>
                                            <p:strVal val="#ppt_x"/>
                                          </p:val>
                                        </p:tav>
                                        <p:tav tm="100000">
                                          <p:val>
                                            <p:strVal val="#ppt_x"/>
                                          </p:val>
                                        </p:tav>
                                      </p:tavLst>
                                    </p:anim>
                                    <p:anim calcmode="lin" valueType="num">
                                      <p:cBhvr>
                                        <p:cTn id="24"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 calcmode="lin" valueType="num">
                                      <p:cBhvr additive="base">
                                        <p:cTn id="29" dur="500" fill="hold"/>
                                        <p:tgtEl>
                                          <p:spTgt spid="17"/>
                                        </p:tgtEl>
                                        <p:attrNameLst>
                                          <p:attrName>ppt_x</p:attrName>
                                        </p:attrNameLst>
                                      </p:cBhvr>
                                      <p:tavLst>
                                        <p:tav tm="0">
                                          <p:val>
                                            <p:strVal val="#ppt_x"/>
                                          </p:val>
                                        </p:tav>
                                        <p:tav tm="100000">
                                          <p:val>
                                            <p:strVal val="#ppt_x"/>
                                          </p:val>
                                        </p:tav>
                                      </p:tavLst>
                                    </p:anim>
                                    <p:anim calcmode="lin" valueType="num">
                                      <p:cBhvr additive="base">
                                        <p:cTn id="30"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Graphic spid="10" grpId="0">
        <p:bldAsOne/>
      </p:bldGraphic>
      <p:bldP spid="13" grpId="0"/>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E3043-B4A8-8DA4-5BEE-DC9249CA2396}"/>
              </a:ext>
            </a:extLst>
          </p:cNvPr>
          <p:cNvSpPr>
            <a:spLocks noGrp="1"/>
          </p:cNvSpPr>
          <p:nvPr>
            <p:ph type="title"/>
          </p:nvPr>
        </p:nvSpPr>
        <p:spPr/>
        <p:txBody>
          <a:bodyPr/>
          <a:lstStyle/>
          <a:p>
            <a:r>
              <a:rPr lang="en-US">
                <a:latin typeface="Arial Black"/>
                <a:cs typeface="Arial"/>
              </a:rPr>
              <a:t>Pain Point</a:t>
            </a:r>
            <a:endParaRPr lang="en-US"/>
          </a:p>
        </p:txBody>
      </p:sp>
      <p:sp>
        <p:nvSpPr>
          <p:cNvPr id="5" name="Content Placeholder 4">
            <a:extLst>
              <a:ext uri="{FF2B5EF4-FFF2-40B4-BE49-F238E27FC236}">
                <a16:creationId xmlns:a16="http://schemas.microsoft.com/office/drawing/2014/main" id="{A8ADC309-BDA1-B72D-7986-0888DCF1F3E9}"/>
              </a:ext>
            </a:extLst>
          </p:cNvPr>
          <p:cNvSpPr>
            <a:spLocks noGrp="1"/>
          </p:cNvSpPr>
          <p:nvPr>
            <p:ph idx="1"/>
          </p:nvPr>
        </p:nvSpPr>
        <p:spPr>
          <a:xfrm>
            <a:off x="609600" y="1346201"/>
            <a:ext cx="10972800" cy="1232408"/>
          </a:xfrm>
        </p:spPr>
        <p:txBody>
          <a:bodyPr vert="horz" lIns="0" tIns="0" rIns="0" bIns="0" rtlCol="0" anchor="t">
            <a:noAutofit/>
          </a:bodyPr>
          <a:lstStyle/>
          <a:p>
            <a:pPr marL="0" indent="0" algn="ctr">
              <a:buNone/>
            </a:pPr>
            <a:r>
              <a:rPr lang="en-US" sz="2000">
                <a:latin typeface="Aptos Black" panose="020F0502020204030204" pitchFamily="34" charset="0"/>
              </a:rPr>
              <a:t>“…the US power sector is expected to require sustained capital investments over the next two to three decades. Investments could total as much as </a:t>
            </a:r>
          </a:p>
          <a:p>
            <a:pPr marL="0" indent="0" algn="ctr">
              <a:buNone/>
            </a:pPr>
            <a:r>
              <a:rPr lang="en-US" sz="2000">
                <a:latin typeface="Aptos Black" panose="020F0502020204030204" pitchFamily="34" charset="0"/>
              </a:rPr>
              <a:t>$1.4 trillion from 2025 to 2030…”</a:t>
            </a:r>
          </a:p>
        </p:txBody>
      </p:sp>
      <p:sp>
        <p:nvSpPr>
          <p:cNvPr id="3" name="Footer Placeholder 2">
            <a:extLst>
              <a:ext uri="{FF2B5EF4-FFF2-40B4-BE49-F238E27FC236}">
                <a16:creationId xmlns:a16="http://schemas.microsoft.com/office/drawing/2014/main" id="{B26D0BB9-591A-2092-23E0-657EBE6B59A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60A32DB5-0325-0A48-3ECB-E8236ACF0CA3}"/>
              </a:ext>
            </a:extLst>
          </p:cNvPr>
          <p:cNvSpPr>
            <a:spLocks noGrp="1"/>
          </p:cNvSpPr>
          <p:nvPr>
            <p:ph type="sldNum" sz="quarter" idx="12"/>
          </p:nvPr>
        </p:nvSpPr>
        <p:spPr/>
        <p:txBody>
          <a:bodyPr/>
          <a:lstStyle/>
          <a:p>
            <a:fld id="{F8F6B9CD-BE6B-498B-93B3-0FAD7ADE75E3}" type="slidenum">
              <a:rPr lang="en-US" smtClean="0"/>
              <a:t>4</a:t>
            </a:fld>
            <a:endParaRPr lang="en-US"/>
          </a:p>
        </p:txBody>
      </p:sp>
      <p:sp>
        <p:nvSpPr>
          <p:cNvPr id="8" name="Rectangle: Rounded Corners 7">
            <a:extLst>
              <a:ext uri="{FF2B5EF4-FFF2-40B4-BE49-F238E27FC236}">
                <a16:creationId xmlns:a16="http://schemas.microsoft.com/office/drawing/2014/main" id="{CFBD705B-CDFC-82C8-0551-AF9CFA197FFE}"/>
              </a:ext>
            </a:extLst>
          </p:cNvPr>
          <p:cNvSpPr/>
          <p:nvPr/>
        </p:nvSpPr>
        <p:spPr>
          <a:xfrm>
            <a:off x="4517899" y="3139914"/>
            <a:ext cx="3156202" cy="275685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Why We Need It?</a:t>
            </a:r>
          </a:p>
          <a:p>
            <a:pPr algn="ctr"/>
            <a:endParaRPr lang="en-US"/>
          </a:p>
          <a:p>
            <a:pPr marL="285750" indent="-285750">
              <a:buClr>
                <a:schemeClr val="bg1"/>
              </a:buClr>
              <a:buFont typeface="Aptos" panose="020B0004020202020204" pitchFamily="34" charset="0"/>
              <a:buChar char="→"/>
            </a:pPr>
            <a:r>
              <a:rPr lang="en-US"/>
              <a:t>AI Infrastructure</a:t>
            </a:r>
          </a:p>
          <a:p>
            <a:pPr marL="285750" indent="-285750">
              <a:buClr>
                <a:schemeClr val="bg1"/>
              </a:buClr>
              <a:buFont typeface="Aptos" panose="020B0004020202020204" pitchFamily="34" charset="0"/>
              <a:buChar char="→"/>
            </a:pPr>
            <a:r>
              <a:rPr lang="en-US"/>
              <a:t>Climate Effects</a:t>
            </a:r>
          </a:p>
          <a:p>
            <a:pPr marL="285750" indent="-285750">
              <a:buClr>
                <a:schemeClr val="bg1"/>
              </a:buClr>
              <a:buFont typeface="Aptos" panose="020B0004020202020204" pitchFamily="34" charset="0"/>
              <a:buChar char="→"/>
            </a:pPr>
            <a:r>
              <a:rPr lang="en-US"/>
              <a:t>Politics</a:t>
            </a:r>
          </a:p>
          <a:p>
            <a:pPr marL="285750" indent="-285750">
              <a:buClr>
                <a:schemeClr val="bg1"/>
              </a:buClr>
              <a:buFont typeface="Aptos" panose="020B0004020202020204" pitchFamily="34" charset="0"/>
              <a:buChar char="→"/>
            </a:pPr>
            <a:endParaRPr lang="en-US"/>
          </a:p>
        </p:txBody>
      </p:sp>
      <p:sp>
        <p:nvSpPr>
          <p:cNvPr id="10" name="Rectangle: Rounded Corners 9">
            <a:extLst>
              <a:ext uri="{FF2B5EF4-FFF2-40B4-BE49-F238E27FC236}">
                <a16:creationId xmlns:a16="http://schemas.microsoft.com/office/drawing/2014/main" id="{7B290406-E2CD-0732-94A5-FE3350B2664C}"/>
              </a:ext>
            </a:extLst>
          </p:cNvPr>
          <p:cNvSpPr/>
          <p:nvPr/>
        </p:nvSpPr>
        <p:spPr>
          <a:xfrm>
            <a:off x="381763" y="3139914"/>
            <a:ext cx="3156202" cy="275685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a:t>What We Need?</a:t>
            </a:r>
          </a:p>
          <a:p>
            <a:pPr algn="ctr"/>
            <a:endParaRPr lang="en-US"/>
          </a:p>
          <a:p>
            <a:pPr marL="285750" indent="-285750">
              <a:buClr>
                <a:schemeClr val="bg1"/>
              </a:buClr>
              <a:buFont typeface="Aptos" panose="020B0004020202020204" pitchFamily="34" charset="0"/>
              <a:buChar char="→"/>
            </a:pPr>
            <a:r>
              <a:rPr lang="en-US"/>
              <a:t>Efficient Energy Usage</a:t>
            </a:r>
          </a:p>
          <a:p>
            <a:pPr marL="285750" indent="-285750">
              <a:buClr>
                <a:schemeClr val="bg1"/>
              </a:buClr>
              <a:buFont typeface="Aptos" panose="020B0004020202020204" pitchFamily="34" charset="0"/>
              <a:buChar char="→"/>
            </a:pPr>
            <a:r>
              <a:rPr lang="en-US"/>
              <a:t>Resource Independence</a:t>
            </a:r>
          </a:p>
          <a:p>
            <a:pPr marL="285750" indent="-285750">
              <a:buClr>
                <a:schemeClr val="bg1"/>
              </a:buClr>
              <a:buFont typeface="Aptos" panose="020B0004020202020204" pitchFamily="34" charset="0"/>
              <a:buChar char="→"/>
            </a:pPr>
            <a:r>
              <a:rPr lang="en-US"/>
              <a:t>Cost Reduction</a:t>
            </a:r>
          </a:p>
          <a:p>
            <a:pPr marL="285750" indent="-285750">
              <a:buClr>
                <a:schemeClr val="bg1"/>
              </a:buClr>
              <a:buFont typeface="Aptos" panose="020B0004020202020204" pitchFamily="34" charset="0"/>
              <a:buChar char="→"/>
            </a:pPr>
            <a:endParaRPr lang="en-US"/>
          </a:p>
        </p:txBody>
      </p:sp>
      <p:sp>
        <p:nvSpPr>
          <p:cNvPr id="12" name="Rectangle: Rounded Corners 11">
            <a:extLst>
              <a:ext uri="{FF2B5EF4-FFF2-40B4-BE49-F238E27FC236}">
                <a16:creationId xmlns:a16="http://schemas.microsoft.com/office/drawing/2014/main" id="{F0EBADC1-BD09-98EA-CFA1-52196F81CBD0}"/>
              </a:ext>
            </a:extLst>
          </p:cNvPr>
          <p:cNvSpPr/>
          <p:nvPr/>
        </p:nvSpPr>
        <p:spPr>
          <a:xfrm>
            <a:off x="8654035" y="3139914"/>
            <a:ext cx="3156202" cy="2756850"/>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t>Consequences</a:t>
            </a:r>
          </a:p>
          <a:p>
            <a:pPr algn="ctr"/>
            <a:endParaRPr lang="en-US"/>
          </a:p>
          <a:p>
            <a:pPr marL="285750" indent="-285750">
              <a:buClr>
                <a:schemeClr val="bg1"/>
              </a:buClr>
              <a:buFont typeface="Aptos" panose="020B0004020202020204" pitchFamily="34" charset="0"/>
              <a:buChar char="→"/>
            </a:pPr>
            <a:r>
              <a:rPr lang="en-US"/>
              <a:t>Grid Overload</a:t>
            </a:r>
          </a:p>
          <a:p>
            <a:pPr marL="285750" indent="-285750">
              <a:buClr>
                <a:schemeClr val="bg1"/>
              </a:buClr>
              <a:buFont typeface="Aptos" panose="020B0004020202020204" pitchFamily="34" charset="0"/>
              <a:buChar char="→"/>
            </a:pPr>
            <a:r>
              <a:rPr lang="en-US"/>
              <a:t>Complex Solutions</a:t>
            </a:r>
          </a:p>
          <a:p>
            <a:pPr marL="285750" indent="-285750">
              <a:buClr>
                <a:schemeClr val="bg1"/>
              </a:buClr>
              <a:buFont typeface="Aptos" panose="020B0004020202020204" pitchFamily="34" charset="0"/>
              <a:buChar char="→"/>
            </a:pPr>
            <a:r>
              <a:rPr lang="en-US"/>
              <a:t>Funding Pressure</a:t>
            </a:r>
          </a:p>
          <a:p>
            <a:pPr algn="ctr"/>
            <a:endParaRPr lang="en-US"/>
          </a:p>
        </p:txBody>
      </p:sp>
      <p:cxnSp>
        <p:nvCxnSpPr>
          <p:cNvPr id="14" name="Straight Arrow Connector 13">
            <a:extLst>
              <a:ext uri="{FF2B5EF4-FFF2-40B4-BE49-F238E27FC236}">
                <a16:creationId xmlns:a16="http://schemas.microsoft.com/office/drawing/2014/main" id="{136723FF-1A95-C5EB-7274-34475C2F21B3}"/>
              </a:ext>
            </a:extLst>
          </p:cNvPr>
          <p:cNvCxnSpPr>
            <a:stCxn id="10" idx="3"/>
            <a:endCxn id="8" idx="1"/>
          </p:cNvCxnSpPr>
          <p:nvPr/>
        </p:nvCxnSpPr>
        <p:spPr>
          <a:xfrm>
            <a:off x="3537965"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7B320C94-5E01-B10E-BC97-517CDF7F5871}"/>
              </a:ext>
            </a:extLst>
          </p:cNvPr>
          <p:cNvCxnSpPr>
            <a:stCxn id="8" idx="3"/>
            <a:endCxn id="12" idx="1"/>
          </p:cNvCxnSpPr>
          <p:nvPr/>
        </p:nvCxnSpPr>
        <p:spPr>
          <a:xfrm>
            <a:off x="7674101"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81003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500"/>
                                        <p:tgtEl>
                                          <p:spTgt spid="10"/>
                                        </p:tgtEl>
                                      </p:cBhvr>
                                    </p:animEffect>
                                    <p:anim calcmode="lin" valueType="num">
                                      <p:cBhvr>
                                        <p:cTn id="8" dur="1500" fill="hold"/>
                                        <p:tgtEl>
                                          <p:spTgt spid="10"/>
                                        </p:tgtEl>
                                        <p:attrNameLst>
                                          <p:attrName>ppt_x</p:attrName>
                                        </p:attrNameLst>
                                      </p:cBhvr>
                                      <p:tavLst>
                                        <p:tav tm="0">
                                          <p:val>
                                            <p:strVal val="#ppt_x"/>
                                          </p:val>
                                        </p:tav>
                                        <p:tav tm="100000">
                                          <p:val>
                                            <p:strVal val="#ppt_x"/>
                                          </p:val>
                                        </p:tav>
                                      </p:tavLst>
                                    </p:anim>
                                    <p:anim calcmode="lin" valueType="num">
                                      <p:cBhvr>
                                        <p:cTn id="9" dur="1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1500"/>
                                        <p:tgtEl>
                                          <p:spTgt spid="14"/>
                                        </p:tgtEl>
                                      </p:cBhvr>
                                    </p:animEffect>
                                    <p:anim calcmode="lin" valueType="num">
                                      <p:cBhvr>
                                        <p:cTn id="15" dur="1500" fill="hold"/>
                                        <p:tgtEl>
                                          <p:spTgt spid="14"/>
                                        </p:tgtEl>
                                        <p:attrNameLst>
                                          <p:attrName>ppt_x</p:attrName>
                                        </p:attrNameLst>
                                      </p:cBhvr>
                                      <p:tavLst>
                                        <p:tav tm="0">
                                          <p:val>
                                            <p:strVal val="#ppt_x"/>
                                          </p:val>
                                        </p:tav>
                                        <p:tav tm="100000">
                                          <p:val>
                                            <p:strVal val="#ppt_x"/>
                                          </p:val>
                                        </p:tav>
                                      </p:tavLst>
                                    </p:anim>
                                    <p:anim calcmode="lin" valueType="num">
                                      <p:cBhvr>
                                        <p:cTn id="16" dur="1500" fill="hold"/>
                                        <p:tgtEl>
                                          <p:spTgt spid="1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1500"/>
                                        <p:tgtEl>
                                          <p:spTgt spid="8"/>
                                        </p:tgtEl>
                                      </p:cBhvr>
                                    </p:animEffect>
                                    <p:anim calcmode="lin" valueType="num">
                                      <p:cBhvr>
                                        <p:cTn id="20" dur="1500" fill="hold"/>
                                        <p:tgtEl>
                                          <p:spTgt spid="8"/>
                                        </p:tgtEl>
                                        <p:attrNameLst>
                                          <p:attrName>ppt_x</p:attrName>
                                        </p:attrNameLst>
                                      </p:cBhvr>
                                      <p:tavLst>
                                        <p:tav tm="0">
                                          <p:val>
                                            <p:strVal val="#ppt_x"/>
                                          </p:val>
                                        </p:tav>
                                        <p:tav tm="100000">
                                          <p:val>
                                            <p:strVal val="#ppt_x"/>
                                          </p:val>
                                        </p:tav>
                                      </p:tavLst>
                                    </p:anim>
                                    <p:anim calcmode="lin" valueType="num">
                                      <p:cBhvr>
                                        <p:cTn id="21" dur="1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1500"/>
                                        <p:tgtEl>
                                          <p:spTgt spid="16"/>
                                        </p:tgtEl>
                                      </p:cBhvr>
                                    </p:animEffect>
                                    <p:anim calcmode="lin" valueType="num">
                                      <p:cBhvr>
                                        <p:cTn id="27" dur="1500" fill="hold"/>
                                        <p:tgtEl>
                                          <p:spTgt spid="16"/>
                                        </p:tgtEl>
                                        <p:attrNameLst>
                                          <p:attrName>ppt_x</p:attrName>
                                        </p:attrNameLst>
                                      </p:cBhvr>
                                      <p:tavLst>
                                        <p:tav tm="0">
                                          <p:val>
                                            <p:strVal val="#ppt_x"/>
                                          </p:val>
                                        </p:tav>
                                        <p:tav tm="100000">
                                          <p:val>
                                            <p:strVal val="#ppt_x"/>
                                          </p:val>
                                        </p:tav>
                                      </p:tavLst>
                                    </p:anim>
                                    <p:anim calcmode="lin" valueType="num">
                                      <p:cBhvr>
                                        <p:cTn id="28" dur="1500" fill="hold"/>
                                        <p:tgtEl>
                                          <p:spTgt spid="16"/>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1500"/>
                                        <p:tgtEl>
                                          <p:spTgt spid="12"/>
                                        </p:tgtEl>
                                      </p:cBhvr>
                                    </p:animEffect>
                                    <p:anim calcmode="lin" valueType="num">
                                      <p:cBhvr>
                                        <p:cTn id="32" dur="1500" fill="hold"/>
                                        <p:tgtEl>
                                          <p:spTgt spid="12"/>
                                        </p:tgtEl>
                                        <p:attrNameLst>
                                          <p:attrName>ppt_x</p:attrName>
                                        </p:attrNameLst>
                                      </p:cBhvr>
                                      <p:tavLst>
                                        <p:tav tm="0">
                                          <p:val>
                                            <p:strVal val="#ppt_x"/>
                                          </p:val>
                                        </p:tav>
                                        <p:tav tm="100000">
                                          <p:val>
                                            <p:strVal val="#ppt_x"/>
                                          </p:val>
                                        </p:tav>
                                      </p:tavLst>
                                    </p:anim>
                                    <p:anim calcmode="lin" valueType="num">
                                      <p:cBhvr>
                                        <p:cTn id="33" dur="1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D1CFFD3-EC78-FA7C-187F-17DEF0A2EA7B}"/>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Key Goals</a:t>
            </a:r>
          </a:p>
        </p:txBody>
      </p:sp>
      <p:graphicFrame>
        <p:nvGraphicFramePr>
          <p:cNvPr id="11" name="Content Placeholder 10">
            <a:extLst>
              <a:ext uri="{FF2B5EF4-FFF2-40B4-BE49-F238E27FC236}">
                <a16:creationId xmlns:a16="http://schemas.microsoft.com/office/drawing/2014/main" id="{E7398816-CF7F-6EFC-C1F0-06F656BF9D2E}"/>
              </a:ext>
            </a:extLst>
          </p:cNvPr>
          <p:cNvGraphicFramePr>
            <a:graphicFrameLocks noGrp="1"/>
          </p:cNvGraphicFramePr>
          <p:nvPr>
            <p:ph idx="1"/>
            <p:extLst>
              <p:ext uri="{D42A27DB-BD31-4B8C-83A1-F6EECF244321}">
                <p14:modId xmlns:p14="http://schemas.microsoft.com/office/powerpoint/2010/main" val="2994792737"/>
              </p:ext>
            </p:extLst>
          </p:nvPr>
        </p:nvGraphicFramePr>
        <p:xfrm>
          <a:off x="609600" y="1600200"/>
          <a:ext cx="10972800" cy="46863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Footer Placeholder 3">
            <a:extLst>
              <a:ext uri="{FF2B5EF4-FFF2-40B4-BE49-F238E27FC236}">
                <a16:creationId xmlns:a16="http://schemas.microsoft.com/office/drawing/2014/main" id="{F28233B4-34F2-46A7-DCFC-F4807EA732EB}"/>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810703A-B727-E6F8-9367-802013DC51BA}"/>
              </a:ext>
            </a:extLst>
          </p:cNvPr>
          <p:cNvSpPr>
            <a:spLocks noGrp="1"/>
          </p:cNvSpPr>
          <p:nvPr>
            <p:ph type="sldNum" sz="quarter" idx="12"/>
          </p:nvPr>
        </p:nvSpPr>
        <p:spPr>
          <a:xfrm>
            <a:off x="11297412" y="6469380"/>
            <a:ext cx="285292" cy="251460"/>
          </a:xfrm>
        </p:spPr>
        <p:txBody>
          <a:bodyPr/>
          <a:lstStyle/>
          <a:p>
            <a:fld id="{F8F6B9CD-BE6B-498B-93B3-0FAD7ADE75E3}" type="slidenum">
              <a:rPr lang="en-US" smtClean="0"/>
              <a:t>5</a:t>
            </a:fld>
            <a:endParaRPr lang="en-US"/>
          </a:p>
        </p:txBody>
      </p:sp>
      <p:pic>
        <p:nvPicPr>
          <p:cNvPr id="13" name="Graphic 12" descr="Monthly calendar with solid fill">
            <a:extLst>
              <a:ext uri="{FF2B5EF4-FFF2-40B4-BE49-F238E27FC236}">
                <a16:creationId xmlns:a16="http://schemas.microsoft.com/office/drawing/2014/main" id="{C0A12363-007C-4153-27F7-B2DD082C538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63399" y="5441318"/>
            <a:ext cx="559432" cy="559432"/>
          </a:xfrm>
          <a:prstGeom prst="rect">
            <a:avLst/>
          </a:prstGeom>
        </p:spPr>
      </p:pic>
      <p:pic>
        <p:nvPicPr>
          <p:cNvPr id="15" name="Graphic 14" descr="No sign with solid fill">
            <a:extLst>
              <a:ext uri="{FF2B5EF4-FFF2-40B4-BE49-F238E27FC236}">
                <a16:creationId xmlns:a16="http://schemas.microsoft.com/office/drawing/2014/main" id="{A026D276-7DEF-DAB5-949D-E87FB5F3817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79576" y="2787272"/>
            <a:ext cx="559432" cy="559432"/>
          </a:xfrm>
          <a:prstGeom prst="rect">
            <a:avLst/>
          </a:prstGeom>
        </p:spPr>
      </p:pic>
      <p:pic>
        <p:nvPicPr>
          <p:cNvPr id="17" name="Graphic 16" descr="Bar graph with upward trend with solid fill">
            <a:extLst>
              <a:ext uri="{FF2B5EF4-FFF2-40B4-BE49-F238E27FC236}">
                <a16:creationId xmlns:a16="http://schemas.microsoft.com/office/drawing/2014/main" id="{46CFAEA8-F05C-CDC8-AAAE-128A105DE89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179576" y="4558922"/>
            <a:ext cx="559432" cy="559432"/>
          </a:xfrm>
          <a:prstGeom prst="rect">
            <a:avLst/>
          </a:prstGeom>
        </p:spPr>
      </p:pic>
      <p:pic>
        <p:nvPicPr>
          <p:cNvPr id="19" name="Graphic 18" descr="Person with idea with solid fill">
            <a:extLst>
              <a:ext uri="{FF2B5EF4-FFF2-40B4-BE49-F238E27FC236}">
                <a16:creationId xmlns:a16="http://schemas.microsoft.com/office/drawing/2014/main" id="{0D97DFB5-8501-47C5-715F-21B97D930876}"/>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321183" y="3676526"/>
            <a:ext cx="559432" cy="559432"/>
          </a:xfrm>
          <a:prstGeom prst="rect">
            <a:avLst/>
          </a:prstGeom>
        </p:spPr>
      </p:pic>
      <p:pic>
        <p:nvPicPr>
          <p:cNvPr id="21" name="Graphic 20" descr="Bullseye with solid fill">
            <a:extLst>
              <a:ext uri="{FF2B5EF4-FFF2-40B4-BE49-F238E27FC236}">
                <a16:creationId xmlns:a16="http://schemas.microsoft.com/office/drawing/2014/main" id="{38BA6E44-205B-40DA-9639-74EC2576F2F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61751" y="1901447"/>
            <a:ext cx="559432" cy="559432"/>
          </a:xfrm>
          <a:prstGeom prst="rect">
            <a:avLst/>
          </a:prstGeom>
        </p:spPr>
      </p:pic>
      <p:sp>
        <p:nvSpPr>
          <p:cNvPr id="34" name="TextBox 33"/>
          <p:cNvSpPr txBox="1"/>
          <p:nvPr/>
        </p:nvSpPr>
        <p:spPr>
          <a:xfrm>
            <a:off x="1600200" y="1280160"/>
            <a:ext cx="9966960" cy="4846320"/>
          </a:xfrm>
          <a:prstGeom prst="rect">
            <a:avLst/>
          </a:prstGeom>
          <a:noFill/>
        </p:spPr>
        <p:txBody>
          <a:bodyPr wrap="square">
            <a:spAutoFit/>
          </a:bodyPr>
          <a:lstStyle/>
          <a:p>
            <a:pPr>
              <a:spcAft>
                <a:spcPts val="200"/>
              </a:spcAft>
            </a:pPr>
            <a:r>
              <a:rPr b="1" sz="1800">
                <a:solidFill>
                  <a:srgbClr val="002856"/>
                </a:solidFill>
                <a:latin typeface="Arial"/>
              </a:rPr>
              <a:t>✓  Answer funding uncertainty directly</a:t>
            </a:r>
          </a:p>
          <a:p>
            <a:pPr>
              <a:spcAft>
                <a:spcPts val="1400"/>
              </a:spcAft>
            </a:pPr>
            <a:r>
              <a:rPr sz="1300" i="1">
                <a:solidFill>
                  <a:srgbClr val="595959"/>
                </a:solidFill>
                <a:latin typeface="Arial"/>
              </a:rPr>
              <a:t>      Ratepayer-financed, not grant-dependent -- insulated from federal budget swings</a:t>
            </a:r>
          </a:p>
          <a:p>
            <a:pPr>
              <a:spcAft>
                <a:spcPts val="200"/>
              </a:spcAft>
            </a:pPr>
            <a:r>
              <a:rPr b="1" sz="1800">
                <a:solidFill>
                  <a:srgbClr val="002856"/>
                </a:solidFill>
                <a:latin typeface="Arial"/>
              </a:rPr>
              <a:t>✓  Leverage APTIM's existing strengths</a:t>
            </a:r>
          </a:p>
          <a:p>
            <a:pPr>
              <a:spcAft>
                <a:spcPts val="1400"/>
              </a:spcAft>
            </a:pPr>
            <a:r>
              <a:rPr sz="1300" i="1">
                <a:solidFill>
                  <a:srgbClr val="595959"/>
                </a:solidFill>
                <a:latin typeface="Arial"/>
              </a:rPr>
              <a:t>      Program administration, contractor management, compliance reporting -- no new capability required</a:t>
            </a:r>
          </a:p>
          <a:p>
            <a:pPr>
              <a:spcAft>
                <a:spcPts val="200"/>
              </a:spcAft>
            </a:pPr>
            <a:r>
              <a:rPr b="1" sz="1800">
                <a:solidFill>
                  <a:srgbClr val="002856"/>
                </a:solidFill>
                <a:latin typeface="Arial"/>
              </a:rPr>
              <a:t>✓  Build a scalable, multi-state model</a:t>
            </a:r>
          </a:p>
          <a:p>
            <a:pPr>
              <a:spcAft>
                <a:spcPts val="1400"/>
              </a:spcAft>
            </a:pPr>
            <a:r>
              <a:rPr sz="1300" i="1">
                <a:solidFill>
                  <a:srgbClr val="595959"/>
                </a:solidFill>
                <a:latin typeface="Arial"/>
              </a:rPr>
              <a:t>      Michigan pilot proves the concept; Wisconsin, Louisiana, and others follow</a:t>
            </a:r>
          </a:p>
          <a:p>
            <a:pPr>
              <a:spcAft>
                <a:spcPts val="200"/>
              </a:spcAft>
            </a:pPr>
            <a:r>
              <a:rPr b="1" sz="1800">
                <a:solidFill>
                  <a:srgbClr val="002856"/>
                </a:solidFill>
                <a:latin typeface="Arial"/>
              </a:rPr>
              <a:t>✓  Deliver within 1-3 years</a:t>
            </a:r>
          </a:p>
          <a:p>
            <a:pPr>
              <a:spcAft>
                <a:spcPts val="1400"/>
              </a:spcAft>
            </a:pPr>
            <a:r>
              <a:rPr sz="1300" i="1">
                <a:solidFill>
                  <a:srgbClr val="595959"/>
                </a:solidFill>
                <a:latin typeface="Arial"/>
              </a:rPr>
              <a:t>      Matches the prompt's feasibility window -- pilot approval and operation, not a decade-long build</a:t>
            </a:r>
          </a:p>
          <a:p>
            <a:pPr>
              <a:spcAft>
                <a:spcPts val="200"/>
              </a:spcAft>
            </a:pPr>
            <a:r>
              <a:rPr b="1" sz="1800">
                <a:solidFill>
                  <a:srgbClr val="002856"/>
                </a:solidFill>
                <a:latin typeface="Arial"/>
              </a:rPr>
              <a:t>✓  Create a new, resilient revenue stream</a:t>
            </a:r>
          </a:p>
          <a:p>
            <a:pPr>
              <a:spcAft>
                <a:spcPts val="1400"/>
              </a:spcAft>
            </a:pPr>
            <a:r>
              <a:rPr sz="1300" i="1">
                <a:solidFill>
                  <a:srgbClr val="595959"/>
                </a:solidFill>
                <a:latin typeface="Arial"/>
              </a:rPr>
              <a:t>      Recurring administration fees tied to infrastructure, not incentive cycles</a:t>
            </a:r>
          </a:p>
        </p:txBody>
      </p:sp>
      <p:sp>
        <p:nvSpPr>
          <p:cNvPr id="35" name="TextBox 34"/>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Five commitments this program makes to answer the prompt</a:t>
            </a:r>
          </a:p>
        </p:txBody>
      </p:sp>
    </p:spTree>
    <p:extLst>
      <p:ext uri="{BB962C8B-B14F-4D97-AF65-F5344CB8AC3E}">
        <p14:creationId xmlns:p14="http://schemas.microsoft.com/office/powerpoint/2010/main" val="1396178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ppt_x"/>
                                          </p:val>
                                        </p:tav>
                                        <p:tav tm="100000">
                                          <p:val>
                                            <p:strVal val="#ppt_x"/>
                                          </p:val>
                                        </p:tav>
                                      </p:tavLst>
                                    </p:anim>
                                    <p:anim calcmode="lin" valueType="num">
                                      <p:cBhvr additive="base">
                                        <p:cTn id="8"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additive="base">
                                        <p:cTn id="13" dur="500" fill="hold"/>
                                        <p:tgtEl>
                                          <p:spTgt spid="15"/>
                                        </p:tgtEl>
                                        <p:attrNameLst>
                                          <p:attrName>ppt_x</p:attrName>
                                        </p:attrNameLst>
                                      </p:cBhvr>
                                      <p:tavLst>
                                        <p:tav tm="0">
                                          <p:val>
                                            <p:strVal val="#ppt_x"/>
                                          </p:val>
                                        </p:tav>
                                        <p:tav tm="100000">
                                          <p:val>
                                            <p:strVal val="#ppt_x"/>
                                          </p:val>
                                        </p:tav>
                                      </p:tavLst>
                                    </p:anim>
                                    <p:anim calcmode="lin" valueType="num">
                                      <p:cBhvr additive="base">
                                        <p:cTn id="1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500" fill="hold"/>
                                        <p:tgtEl>
                                          <p:spTgt spid="19"/>
                                        </p:tgtEl>
                                        <p:attrNameLst>
                                          <p:attrName>ppt_x</p:attrName>
                                        </p:attrNameLst>
                                      </p:cBhvr>
                                      <p:tavLst>
                                        <p:tav tm="0">
                                          <p:val>
                                            <p:strVal val="#ppt_x"/>
                                          </p:val>
                                        </p:tav>
                                        <p:tav tm="100000">
                                          <p:val>
                                            <p:strVal val="#ppt_x"/>
                                          </p:val>
                                        </p:tav>
                                      </p:tavLst>
                                    </p:anim>
                                    <p:anim calcmode="lin" valueType="num">
                                      <p:cBhvr additive="base">
                                        <p:cTn id="2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1000"/>
                                        <p:tgtEl>
                                          <p:spTgt spid="13"/>
                                        </p:tgtEl>
                                      </p:cBhvr>
                                    </p:animEffect>
                                    <p:anim calcmode="lin" valueType="num">
                                      <p:cBhvr>
                                        <p:cTn id="32" dur="1000" fill="hold"/>
                                        <p:tgtEl>
                                          <p:spTgt spid="13"/>
                                        </p:tgtEl>
                                        <p:attrNameLst>
                                          <p:attrName>ppt_x</p:attrName>
                                        </p:attrNameLst>
                                      </p:cBhvr>
                                      <p:tavLst>
                                        <p:tav tm="0">
                                          <p:val>
                                            <p:strVal val="#ppt_x"/>
                                          </p:val>
                                        </p:tav>
                                        <p:tav tm="100000">
                                          <p:val>
                                            <p:strVal val="#ppt_x"/>
                                          </p:val>
                                        </p:tav>
                                      </p:tavLst>
                                    </p:anim>
                                    <p:anim calcmode="lin" valueType="num">
                                      <p:cBhvr>
                                        <p:cTn id="33"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Prioritization Framework: Why Battery + Solar Administration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Two paths considered against the prompt's requirements -- cost, ease, timeframe, impact</a:t>
            </a:r>
          </a:p>
        </p:txBody>
      </p:sp>
      <p:graphicFrame>
        <p:nvGraphicFramePr>
          <p:cNvPr id="4" name="Table 3"/>
          <p:cNvGraphicFramePr>
            <a:graphicFrameLocks noGrp="1"/>
          </p:cNvGraphicFramePr>
          <p:nvPr/>
        </p:nvGraphicFramePr>
        <p:xfrm>
          <a:off x="457200" y="1280160"/>
          <a:ext cx="11247120" cy="2103120"/>
        </p:xfrm>
        <a:graphic>
          <a:graphicData uri="http://schemas.openxmlformats.org/drawingml/2006/table">
            <a:tbl>
              <a:tblPr firstRow="1" bandRow="1">
                <a:tableStyleId>{5C22544A-7EE6-4342-B048-85BDC9FD1C3A}</a:tableStyleId>
              </a:tblPr>
              <a:tblGrid>
                <a:gridCol w="3657600"/>
                <a:gridCol w="2286000"/>
                <a:gridCol w="3931920"/>
                <a:gridCol w="1371600"/>
              </a:tblGrid>
              <a:tr h="701040">
                <a:tc>
                  <a:txBody>
                    <a:bodyPr/>
                    <a:lstStyle/>
                    <a:p>
                      <a:pPr>
                        <a:defRPr sz="1100" b="1">
                          <a:solidFill>
                            <a:srgbClr val="FFFFFF"/>
                          </a:solidFill>
                          <a:latin typeface="Arial"/>
                        </a:defRPr>
                      </a:pPr>
                      <a:r>
                        <a:t>Approach Considered</a:t>
                      </a:r>
                    </a:p>
                  </a:txBody>
                  <a:tcPr>
                    <a:solidFill>
                      <a:srgbClr val="002856"/>
                    </a:solidFill>
                  </a:tcPr>
                </a:tc>
                <a:tc>
                  <a:txBody>
                    <a:bodyPr/>
                    <a:lstStyle/>
                    <a:p>
                      <a:pPr>
                        <a:defRPr sz="1100" b="1">
                          <a:solidFill>
                            <a:srgbClr val="FFFFFF"/>
                          </a:solidFill>
                          <a:latin typeface="Arial"/>
                        </a:defRPr>
                      </a:pPr>
                      <a:r>
                        <a:t>1-3 Yr Feasibility</a:t>
                      </a:r>
                    </a:p>
                  </a:txBody>
                  <a:tcPr>
                    <a:solidFill>
                      <a:srgbClr val="002856"/>
                    </a:solidFill>
                  </a:tcPr>
                </a:tc>
                <a:tc>
                  <a:txBody>
                    <a:bodyPr/>
                    <a:lstStyle/>
                    <a:p>
                      <a:pPr>
                        <a:defRPr sz="1100" b="1">
                          <a:solidFill>
                            <a:srgbClr val="FFFFFF"/>
                          </a:solidFill>
                          <a:latin typeface="Arial"/>
                        </a:defRPr>
                      </a:pPr>
                      <a:r>
                        <a:t>Alignment with Prompt</a:t>
                      </a:r>
                    </a:p>
                  </a:txBody>
                  <a:tcPr>
                    <a:solidFill>
                      <a:srgbClr val="002856"/>
                    </a:solidFill>
                  </a:tcPr>
                </a:tc>
                <a:tc>
                  <a:txBody>
                    <a:bodyPr/>
                    <a:lstStyle/>
                    <a:p>
                      <a:pPr>
                        <a:defRPr sz="1100" b="1">
                          <a:solidFill>
                            <a:srgbClr val="FFFFFF"/>
                          </a:solidFill>
                          <a:latin typeface="Arial"/>
                        </a:defRPr>
                      </a:pPr>
                      <a:r>
                        <a:t>Verdict</a:t>
                      </a:r>
                    </a:p>
                  </a:txBody>
                  <a:tcPr>
                    <a:solidFill>
                      <a:srgbClr val="002856"/>
                    </a:solidFill>
                  </a:tcPr>
                </a:tc>
              </a:tr>
              <a:tr h="701040">
                <a:tc>
                  <a:txBody>
                    <a:bodyPr/>
                    <a:lstStyle/>
                    <a:p>
                      <a:pPr>
                        <a:defRPr sz="1100">
                          <a:solidFill>
                            <a:srgbClr val="002856"/>
                          </a:solidFill>
                          <a:latin typeface="Arial"/>
                        </a:defRPr>
                      </a:pPr>
                      <a:r>
                        <a:t>Broad "Program Resilience Toolkit" (multi-module: adaptation support, funding navigation, compliance/reporting, contractor continuity)</a:t>
                      </a:r>
                    </a:p>
                  </a:txBody>
                  <a:tcPr>
                    <a:solidFill>
                      <a:srgbClr val="F5E4E7"/>
                    </a:solidFill>
                  </a:tcPr>
                </a:tc>
                <a:tc>
                  <a:txBody>
                    <a:bodyPr/>
                    <a:lstStyle/>
                    <a:p>
                      <a:pPr>
                        <a:defRPr sz="1100">
                          <a:solidFill>
                            <a:srgbClr val="002856"/>
                          </a:solidFill>
                          <a:latin typeface="Arial"/>
                        </a:defRPr>
                      </a:pPr>
                      <a:r>
                        <a:t>Medium -- every module individually feasible, but no single concrete offering</a:t>
                      </a:r>
                    </a:p>
                  </a:txBody>
                  <a:tcPr>
                    <a:solidFill>
                      <a:srgbClr val="F5E4E7"/>
                    </a:solidFill>
                  </a:tcPr>
                </a:tc>
                <a:tc>
                  <a:txBody>
                    <a:bodyPr/>
                    <a:lstStyle/>
                    <a:p>
                      <a:pPr>
                        <a:defRPr sz="1100">
                          <a:solidFill>
                            <a:srgbClr val="002856"/>
                          </a:solidFill>
                          <a:latin typeface="Arial"/>
                        </a:defRPr>
                      </a:pPr>
                      <a:r>
                        <a:t>Partial -- leadership explicitly asked for a specific program, not a broad toolkit; prompt calls for a focused solution, not a general capability set</a:t>
                      </a:r>
                    </a:p>
                  </a:txBody>
                  <a:tcPr>
                    <a:solidFill>
                      <a:srgbClr val="F5E4E7"/>
                    </a:solidFill>
                  </a:tcPr>
                </a:tc>
                <a:tc>
                  <a:txBody>
                    <a:bodyPr/>
                    <a:lstStyle/>
                    <a:p>
                      <a:pPr>
                        <a:defRPr sz="1100">
                          <a:solidFill>
                            <a:srgbClr val="002856"/>
                          </a:solidFill>
                          <a:latin typeface="Arial"/>
                        </a:defRPr>
                      </a:pPr>
                      <a:r>
                        <a:t>NOT SELECTED as standalone pitch</a:t>
                      </a:r>
                    </a:p>
                  </a:txBody>
                  <a:tcPr>
                    <a:solidFill>
                      <a:srgbClr val="F5E4E7"/>
                    </a:solidFill>
                  </a:tcPr>
                </a:tc>
              </a:tr>
              <a:tr h="701040">
                <a:tc>
                  <a:txBody>
                    <a:bodyPr/>
                    <a:lstStyle/>
                    <a:p>
                      <a:pPr>
                        <a:defRPr sz="1100">
                          <a:solidFill>
                            <a:srgbClr val="002856"/>
                          </a:solidFill>
                          <a:latin typeface="Arial"/>
                        </a:defRPr>
                      </a:pPr>
                      <a:r>
                        <a:t>Utility-Owned Battery + Solar Fleet, APTIM-Administered</a:t>
                      </a:r>
                    </a:p>
                  </a:txBody>
                  <a:tcPr>
                    <a:solidFill>
                      <a:srgbClr val="E0F2F1"/>
                    </a:solidFill>
                  </a:tcPr>
                </a:tc>
                <a:tc>
                  <a:txBody>
                    <a:bodyPr/>
                    <a:lstStyle/>
                    <a:p>
                      <a:pPr>
                        <a:defRPr sz="1100">
                          <a:solidFill>
                            <a:srgbClr val="002856"/>
                          </a:solidFill>
                          <a:latin typeface="Arial"/>
                        </a:defRPr>
                      </a:pPr>
                      <a:r>
                        <a:t>High -- matches an existing, proven APTIM capability</a:t>
                      </a:r>
                    </a:p>
                  </a:txBody>
                  <a:tcPr>
                    <a:solidFill>
                      <a:srgbClr val="E0F2F1"/>
                    </a:solidFill>
                  </a:tcPr>
                </a:tc>
                <a:tc>
                  <a:txBody>
                    <a:bodyPr/>
                    <a:lstStyle/>
                    <a:p>
                      <a:pPr>
                        <a:defRPr sz="1100">
                          <a:solidFill>
                            <a:srgbClr val="002856"/>
                          </a:solidFill>
                          <a:latin typeface="Arial"/>
                        </a:defRPr>
                      </a:pPr>
                      <a:r>
                        <a:t>Full -- single client group (utilities), no new technology, leverages current APTIM capabilities, achievable in 1-3 years, scalable across states</a:t>
                      </a:r>
                    </a:p>
                  </a:txBody>
                  <a:tcPr>
                    <a:solidFill>
                      <a:srgbClr val="E0F2F1"/>
                    </a:solidFill>
                  </a:tcPr>
                </a:tc>
                <a:tc>
                  <a:txBody>
                    <a:bodyPr/>
                    <a:lstStyle/>
                    <a:p>
                      <a:pPr>
                        <a:defRPr sz="1100">
                          <a:solidFill>
                            <a:srgbClr val="002856"/>
                          </a:solidFill>
                          <a:latin typeface="Arial"/>
                        </a:defRPr>
                      </a:pPr>
                      <a:r>
                        <a:t>SELECTED</a:t>
                      </a:r>
                    </a:p>
                  </a:txBody>
                  <a:tcPr>
                    <a:solidFill>
                      <a:srgbClr val="E0F2F1"/>
                    </a:solidFill>
                  </a:tcPr>
                </a:tc>
              </a:tr>
            </a:tbl>
          </a:graphicData>
        </a:graphic>
      </p:graphicFrame>
      <p:sp>
        <p:nvSpPr>
          <p:cNvPr id="5" name="Rectangle 4"/>
          <p:cNvSpPr/>
          <p:nvPr/>
        </p:nvSpPr>
        <p:spPr>
          <a:xfrm>
            <a:off x="457200" y="3611880"/>
            <a:ext cx="11247120" cy="260604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800"/>
              </a:spcAft>
            </a:pPr>
            <a:r>
              <a:rPr b="1" sz="1500">
                <a:solidFill>
                  <a:srgbClr val="002856"/>
                </a:solidFill>
                <a:latin typeface="Arial"/>
              </a:rPr>
              <a:t>Why We Didn't Stop at the Toolkit</a:t>
            </a:r>
          </a:p>
          <a:p>
            <a:pPr>
              <a:spcAft>
                <a:spcPts val="600"/>
              </a:spcAft>
            </a:pPr>
            <a:r>
              <a:rPr sz="1300">
                <a:solidFill>
                  <a:srgbClr val="002856"/>
                </a:solidFill>
                <a:latin typeface="Arial"/>
              </a:rPr>
              <a:t>•  Describes HOW APTIM operates -- not a sellable program</a:t>
            </a:r>
          </a:p>
          <a:p>
            <a:pPr>
              <a:spcAft>
                <a:spcPts val="600"/>
              </a:spcAft>
            </a:pPr>
            <a:r>
              <a:rPr sz="1300">
                <a:solidFill>
                  <a:srgbClr val="002856"/>
                </a:solidFill>
                <a:latin typeface="Arial"/>
              </a:rPr>
              <a:t>•  Leadership asked for one specific offer, not a capability list</a:t>
            </a:r>
          </a:p>
          <a:p>
            <a:pPr>
              <a:spcAft>
                <a:spcPts val="600"/>
              </a:spcAft>
            </a:pPr>
            <a:r>
              <a:rPr sz="1300">
                <a:solidFill>
                  <a:srgbClr val="002856"/>
                </a:solidFill>
                <a:latin typeface="Arial"/>
              </a:rPr>
              <a:t>•  Not DTE's generation strategy -- a distribution-resilience play (see notes)</a:t>
            </a:r>
          </a:p>
        </p:txBody>
      </p:sp>
      <p:sp>
        <p:nvSpPr>
          <p:cNvPr id="6" name="TextBox 5"/>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7" name="TextBox 6"/>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a:t>
            </a:r>
            <a:endParaRPr lang="en-US"/>
          </a:p>
        </p:txBody>
      </p:sp>
      <p:sp>
        <p:nvSpPr>
          <p:cNvPr id="9" name="Text Placeholder 8">
            <a:extLst>
              <a:ext uri="{FF2B5EF4-FFF2-40B4-BE49-F238E27FC236}">
                <a16:creationId xmlns:a16="http://schemas.microsoft.com/office/drawing/2014/main" id="{892846F0-890B-EB31-149B-374234B03834}"/>
              </a:ext>
            </a:extLst>
          </p:cNvPr>
          <p:cNvSpPr>
            <a:spLocks noGrp="1"/>
          </p:cNvSpPr>
          <p:nvPr>
            <p:ph type="body" idx="1"/>
          </p:nvPr>
        </p:nvSpPr>
        <p:spPr/>
        <p:txBody>
          <a:bodyPr/>
          <a:lstStyle/>
          <a:p>
            <a:r>
              <a:rPr lang="en-US">
                <a:latin typeface="Arial"/>
                <a:cs typeface="Arial"/>
              </a:rPr>
              <a:t>APTIM's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sz="half" idx="2"/>
          </p:nvPr>
        </p:nvSpPr>
        <p:spPr/>
        <p:txBody>
          <a:bodyPr vert="horz" lIns="0" tIns="0" rIns="0" bIns="0" rtlCol="0" anchor="t">
            <a:noAutofit/>
          </a:bodyPr>
          <a:lstStyle/>
          <a:p>
            <a:pPr marL="233045" indent="-233045">
              <a:spcAft>
                <a:spcPts val="1000"/>
              </a:spcAft>
            </a:pPr>
            <a:r>
              <a:rPr b="1" sz="1600">
                <a:solidFill>
                  <a:srgbClr val="002856"/>
                </a:solidFill>
                <a:latin typeface="Arial"/>
              </a:rPr>
              <a:t>APTIM's Role</a:t>
            </a:r>
          </a:p>
          <a:p>
            <a:pPr>
              <a:spcAft>
                <a:spcPts val="1000"/>
              </a:spcAft>
            </a:pPr>
            <a:r>
              <a:rPr b="1" sz="1300">
                <a:solidFill>
                  <a:srgbClr val="002856"/>
                </a:solidFill>
                <a:latin typeface="Arial"/>
              </a:rPr>
              <a:t>•  Program administrator</a:t>
            </a:r>
            <a:r>
              <a:rPr sz="1300">
                <a:solidFill>
                  <a:srgbClr val="002856"/>
                </a:solidFill>
                <a:latin typeface="Arial"/>
              </a:rPr>
              <a:t> in multiple states -- Wisconsin (Focus on Energy) is our proof point</a:t>
            </a:r>
          </a:p>
          <a:p>
            <a:pPr>
              <a:spcAft>
                <a:spcPts val="1000"/>
              </a:spcAft>
            </a:pPr>
            <a:r>
              <a:rPr b="1" sz="1300">
                <a:solidFill>
                  <a:srgbClr val="002856"/>
                </a:solidFill>
                <a:latin typeface="Arial"/>
              </a:rPr>
              <a:t>•  Market shift:</a:t>
            </a:r>
            <a:r>
              <a:rPr sz="1300">
                <a:solidFill>
                  <a:srgbClr val="002856"/>
                </a:solidFill>
                <a:latin typeface="Arial"/>
              </a:rPr>
              <a:t> utilities moving from broad electrification programs toward demand response, grid management, and storage</a:t>
            </a:r>
          </a:p>
          <a:p>
            <a:pPr>
              <a:spcAft>
                <a:spcPts val="1000"/>
              </a:spcAft>
            </a:pPr>
            <a:r>
              <a:rPr b="1" sz="1300">
                <a:solidFill>
                  <a:srgbClr val="002856"/>
                </a:solidFill>
                <a:latin typeface="Arial"/>
              </a:rPr>
              <a:t>•  Why now:</a:t>
            </a:r>
            <a:r>
              <a:rPr sz="1300">
                <a:solidFill>
                  <a:srgbClr val="002856"/>
                </a:solidFill>
                <a:latin typeface="Arial"/>
              </a:rPr>
              <a:t> data centers and electrification are driving new interest in reducing grid costs and stress</a:t>
            </a:r>
          </a:p>
        </p:txBody>
      </p:sp>
      <p:sp>
        <p:nvSpPr>
          <p:cNvPr id="10" name="Text Placeholder 9">
            <a:extLst>
              <a:ext uri="{FF2B5EF4-FFF2-40B4-BE49-F238E27FC236}">
                <a16:creationId xmlns:a16="http://schemas.microsoft.com/office/drawing/2014/main" id="{091C5262-D700-F529-7241-16B94B968863}"/>
              </a:ext>
            </a:extLst>
          </p:cNvPr>
          <p:cNvSpPr>
            <a:spLocks noGrp="1"/>
          </p:cNvSpPr>
          <p:nvPr>
            <p:ph type="body" sz="quarter" idx="3"/>
          </p:nvPr>
        </p:nvSpPr>
        <p:spPr/>
        <p:txBody>
          <a:bodyPr/>
          <a:lstStyle/>
          <a:p>
            <a:r>
              <a:rPr lang="en-US">
                <a:latin typeface="Arial"/>
                <a:cs typeface="Arial"/>
              </a:rPr>
              <a:t>Market Comparisons </a:t>
            </a:r>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
            <p:extLst>
              <p:ext uri="{D42A27DB-BD31-4B8C-83A1-F6EECF244321}">
                <p14:modId xmlns:p14="http://schemas.microsoft.com/office/powerpoint/2010/main" val="1541297111"/>
              </p:ext>
            </p:extLst>
          </p:nvPr>
        </p:nvGraphicFramePr>
        <p:xfrm>
          <a:off x="6023428" y="1712685"/>
          <a:ext cx="5906174" cy="4840416"/>
        </p:xfrm>
        <a:graphic>
          <a:graphicData uri="http://schemas.openxmlformats.org/drawingml/2006/table">
            <a:tbl>
              <a:tblPr firstRow="1" bandRow="1">
                <a:tableStyleId>{5C22544A-7EE6-4342-B048-85BDC9FD1C3A}</a:tableStyleId>
              </a:tblPr>
              <a:tblGrid>
                <a:gridCol w="1289538">
                  <a:extLst>
                    <a:ext uri="{9D8B030D-6E8A-4147-A177-3AD203B41FA5}">
                      <a16:colId xmlns:a16="http://schemas.microsoft.com/office/drawing/2014/main" val="957739651"/>
                    </a:ext>
                  </a:extLst>
                </a:gridCol>
                <a:gridCol w="1158239">
                  <a:extLst>
                    <a:ext uri="{9D8B030D-6E8A-4147-A177-3AD203B41FA5}">
                      <a16:colId xmlns:a16="http://schemas.microsoft.com/office/drawing/2014/main" val="3082199612"/>
                    </a:ext>
                  </a:extLst>
                </a:gridCol>
                <a:gridCol w="1346032">
                  <a:extLst>
                    <a:ext uri="{9D8B030D-6E8A-4147-A177-3AD203B41FA5}">
                      <a16:colId xmlns:a16="http://schemas.microsoft.com/office/drawing/2014/main" val="613011870"/>
                    </a:ext>
                  </a:extLst>
                </a:gridCol>
                <a:gridCol w="2112365">
                  <a:extLst>
                    <a:ext uri="{9D8B030D-6E8A-4147-A177-3AD203B41FA5}">
                      <a16:colId xmlns:a16="http://schemas.microsoft.com/office/drawing/2014/main" val="182092073"/>
                    </a:ext>
                  </a:extLst>
                </a:gridCol>
              </a:tblGrid>
              <a:tr h="781538">
                <a:tc>
                  <a:txBody>
                    <a:bodyPr/>
                    <a:lstStyle/>
                    <a:p>
                      <a:r>
                        <a:t>State</a:t>
                      </a:r>
                    </a:p>
                  </a:txBody>
                  <a:tcPr/>
                </a:tc>
                <a:tc>
                  <a:txBody>
                    <a:bodyPr/>
                    <a:lstStyle/>
                    <a:p>
                      <a:r>
                        <a:t>Market Status</a:t>
                      </a:r>
                    </a:p>
                  </a:txBody>
                  <a:tcPr/>
                </a:tc>
                <a:tc>
                  <a:txBody>
                    <a:bodyPr/>
                    <a:lstStyle/>
                    <a:p>
                      <a:r>
                        <a:t>Challenge</a:t>
                      </a:r>
                    </a:p>
                  </a:txBody>
                  <a:tcPr/>
                </a:tc>
                <a:tc>
                  <a:txBody>
                    <a:bodyPr/>
                    <a:lstStyle/>
                    <a:p>
                      <a:r>
                        <a:t>Opportunity</a:t>
                      </a:r>
                    </a:p>
                  </a:txBody>
                  <a:tcPr/>
                </a:tc>
                <a:extLst>
                  <a:ext uri="{0D108BD9-81ED-4DB2-BD59-A6C34878D82A}">
                    <a16:rowId xmlns:a16="http://schemas.microsoft.com/office/drawing/2014/main" val="2062150352"/>
                  </a:ext>
                </a:extLst>
              </a:tr>
              <a:tr h="487680">
                <a:tc>
                  <a:txBody>
                    <a:bodyPr/>
                    <a:lstStyle/>
                    <a:p>
                      <a:r>
                        <a:t>California</a:t>
                      </a:r>
                    </a:p>
                  </a:txBody>
                  <a:tcPr/>
                </a:tc>
                <a:tc>
                  <a:txBody>
                    <a:bodyPr/>
                    <a:lstStyle/>
                    <a:p>
                      <a:r>
                        <a:t>Mature</a:t>
                      </a:r>
                    </a:p>
                  </a:txBody>
                  <a:tcPr/>
                </a:tc>
                <a:tc>
                  <a:txBody>
                    <a:bodyPr/>
                    <a:lstStyle/>
                    <a:p>
                      <a:r>
                        <a:t>Highly saturated -- competitors entrenched</a:t>
                      </a:r>
                    </a:p>
                  </a:txBody>
                  <a:tcPr/>
                </a:tc>
                <a:tc>
                  <a:txBody>
                    <a:bodyPr/>
                    <a:lstStyle/>
                    <a:p>
                      <a:r>
                        <a:t>Reference case proving the model works</a:t>
                      </a:r>
                    </a:p>
                  </a:txBody>
                  <a:tcPr/>
                </a:tc>
                <a:extLst>
                  <a:ext uri="{0D108BD9-81ED-4DB2-BD59-A6C34878D82A}">
                    <a16:rowId xmlns:a16="http://schemas.microsoft.com/office/drawing/2014/main" val="4077176013"/>
                  </a:ext>
                </a:extLst>
              </a:tr>
              <a:tr h="965200">
                <a:tc>
                  <a:txBody>
                    <a:bodyPr/>
                    <a:lstStyle/>
                    <a:p>
                      <a:r>
                        <a:t>North Carolina</a:t>
                      </a:r>
                    </a:p>
                  </a:txBody>
                  <a:tcPr/>
                </a:tc>
                <a:tc>
                  <a:txBody>
                    <a:bodyPr/>
                    <a:lstStyle/>
                    <a:p>
                      <a:r>
                        <a:t>Growing</a:t>
                      </a:r>
                    </a:p>
                  </a:txBody>
                  <a:tcPr/>
                </a:tc>
                <a:tc>
                  <a:txBody>
                    <a:bodyPr/>
                    <a:lstStyle/>
                    <a:p>
                      <a:r>
                        <a:t>Solar adoption straining the grid</a:t>
                      </a:r>
                    </a:p>
                  </a:txBody>
                  <a:tcPr/>
                </a:tc>
                <a:tc>
                  <a:txBody>
                    <a:bodyPr/>
                    <a:lstStyle/>
                    <a:p>
                      <a:r>
                        <a:t>Duke PowerPair fully subscribed -- proves demand exists</a:t>
                      </a:r>
                    </a:p>
                  </a:txBody>
                  <a:tcPr/>
                </a:tc>
                <a:extLst>
                  <a:ext uri="{0D108BD9-81ED-4DB2-BD59-A6C34878D82A}">
                    <a16:rowId xmlns:a16="http://schemas.microsoft.com/office/drawing/2014/main" val="1662102389"/>
                  </a:ext>
                </a:extLst>
              </a:tr>
              <a:tr h="1463039">
                <a:tc>
                  <a:txBody>
                    <a:bodyPr/>
                    <a:lstStyle/>
                    <a:p>
                      <a:r>
                        <a:t>Michigan</a:t>
                      </a:r>
                    </a:p>
                  </a:txBody>
                  <a:tcPr/>
                </a:tc>
                <a:tc>
                  <a:txBody>
                    <a:bodyPr/>
                    <a:lstStyle/>
                    <a:p>
                      <a:r>
                        <a:t>Emerging (pilot)</a:t>
                      </a:r>
                    </a:p>
                  </a:txBody>
                  <a:tcPr/>
                </a:tc>
                <a:tc>
                  <a:txBody>
                    <a:bodyPr/>
                    <a:lstStyle/>
                    <a:p>
                      <a:r>
                        <a:t>No residential storage program exists yet</a:t>
                      </a:r>
                    </a:p>
                  </a:txBody>
                  <a:tcPr/>
                </a:tc>
                <a:tc>
                  <a:txBody>
                    <a:bodyPr/>
                    <a:lstStyle/>
                    <a:p>
                      <a:r>
                        <a:t>Worst outages in the nation + statutory storage mandate</a:t>
                      </a:r>
                    </a:p>
                  </a:txBody>
                  <a:tcPr/>
                </a:tc>
                <a:extLst>
                  <a:ext uri="{0D108BD9-81ED-4DB2-BD59-A6C34878D82A}">
                    <a16:rowId xmlns:a16="http://schemas.microsoft.com/office/drawing/2014/main" val="3893195930"/>
                  </a:ext>
                </a:extLst>
              </a:tr>
              <a:tr h="1142958">
                <a:tc>
                  <a:txBody>
                    <a:bodyPr/>
                    <a:lstStyle/>
                    <a:p>
                      <a:r>
                        <a:rPr lang="en-US"/>
                        <a:t>Wisconsin </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743746382"/>
                  </a:ext>
                </a:extLst>
              </a:tr>
            </a:tbl>
          </a:graphicData>
        </a:graphic>
      </p:graphicFrame>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7</a:t>
            </a:r>
            <a:endParaRPr lang="en-US"/>
          </a:p>
        </p:txBody>
      </p:sp>
      <p:sp>
        <p:nvSpPr>
          <p:cNvPr id="12" name="TextBox 11"/>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Where APTIM already operates, and where the opportunity is emerging</a:t>
            </a:r>
          </a:p>
        </p:txBody>
      </p:sp>
    </p:spTree>
    <p:extLst>
      <p:ext uri="{BB962C8B-B14F-4D97-AF65-F5344CB8AC3E}">
        <p14:creationId xmlns:p14="http://schemas.microsoft.com/office/powerpoint/2010/main" val="1457029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A28AF-E675-6286-20C9-FBF07F8488AC}"/>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 </a:t>
            </a:r>
            <a:r>
              <a:rPr lang="en-US" err="1" sz="2600" b="1">
                <a:solidFill>
                  <a:srgbClr val="002856"/>
                </a:solidFill>
                <a:latin typeface="Arial"/>
                <a:cs typeface="Arial"/>
              </a:rPr>
              <a:t>Cont</a:t>
            </a:r>
            <a:endParaRPr lang="en-US" err="1"/>
          </a:p>
        </p:txBody>
      </p:sp>
      <p:sp>
        <p:nvSpPr>
          <p:cNvPr id="3" name="Text Placeholder 2">
            <a:extLst>
              <a:ext uri="{FF2B5EF4-FFF2-40B4-BE49-F238E27FC236}">
                <a16:creationId xmlns:a16="http://schemas.microsoft.com/office/drawing/2014/main" id="{E28401FE-75E2-EE17-235A-E7F182B27A8E}"/>
              </a:ext>
            </a:extLst>
          </p:cNvPr>
          <p:cNvSpPr>
            <a:spLocks noGrp="1"/>
          </p:cNvSpPr>
          <p:nvPr>
            <p:ph type="body" idx="1"/>
          </p:nvPr>
        </p:nvSpPr>
        <p:spPr/>
        <p:txBody>
          <a:bodyPr/>
          <a:lstStyle/>
          <a:p>
            <a:r>
              <a:rPr lang="en-US">
                <a:latin typeface="Arial"/>
                <a:cs typeface="Arial"/>
              </a:rPr>
              <a:t>Market Size and Growth</a:t>
            </a:r>
            <a:endParaRPr lang="en-US"/>
          </a:p>
        </p:txBody>
      </p:sp>
      <p:sp>
        <p:nvSpPr>
          <p:cNvPr id="4" name="Content Placeholder 3">
            <a:extLst>
              <a:ext uri="{FF2B5EF4-FFF2-40B4-BE49-F238E27FC236}">
                <a16:creationId xmlns:a16="http://schemas.microsoft.com/office/drawing/2014/main" id="{9FC611F6-AE6C-3189-D0ED-0D6E34DD3DE5}"/>
              </a:ext>
            </a:extLst>
          </p:cNvPr>
          <p:cNvSpPr>
            <a:spLocks noGrp="1"/>
          </p:cNvSpPr>
          <p:nvPr>
            <p:ph sz="half" idx="2"/>
          </p:nvPr>
        </p:nvSpPr>
        <p:spPr/>
        <p:txBody>
          <a:bodyPr vert="horz" lIns="0" tIns="0" rIns="0" bIns="0" rtlCol="0" anchor="t">
            <a:noAutofit/>
          </a:bodyPr>
          <a:lstStyle/>
          <a:p>
            <a:pPr marL="233045" indent="-233045">
              <a:spcAft>
                <a:spcPts val="200"/>
              </a:spcAft>
            </a:pPr>
            <a:r>
              <a:rPr b="1" sz="1500">
                <a:solidFill>
                  <a:srgbClr val="002856"/>
                </a:solidFill>
                <a:latin typeface="Arial"/>
              </a:rPr>
              <a:t>TAM</a:t>
            </a:r>
          </a:p>
          <a:p>
            <a:pPr>
              <a:spcAft>
                <a:spcPts val="1600"/>
              </a:spcAft>
            </a:pPr>
            <a:r>
              <a:rPr sz="1100" i="1">
                <a:solidFill>
                  <a:srgbClr val="002856"/>
                </a:solidFill>
                <a:latin typeface="Arial"/>
              </a:rPr>
              <a:t>Total Addressable Market</a:t>
            </a:r>
          </a:p>
          <a:p>
            <a:pPr>
              <a:spcAft>
                <a:spcPts val="200"/>
              </a:spcAft>
            </a:pPr>
            <a:r>
              <a:rPr b="1" sz="1500">
                <a:solidFill>
                  <a:srgbClr val="002856"/>
                </a:solidFill>
                <a:latin typeface="Arial"/>
              </a:rPr>
              <a:t>SAM</a:t>
            </a:r>
          </a:p>
          <a:p>
            <a:pPr>
              <a:spcAft>
                <a:spcPts val="1600"/>
              </a:spcAft>
            </a:pPr>
            <a:r>
              <a:rPr sz="1100" i="1">
                <a:solidFill>
                  <a:srgbClr val="002856"/>
                </a:solidFill>
                <a:latin typeface="Arial"/>
              </a:rPr>
              <a:t>Serviceable Addressable Market</a:t>
            </a:r>
          </a:p>
          <a:p>
            <a:pPr>
              <a:spcAft>
                <a:spcPts val="200"/>
              </a:spcAft>
            </a:pPr>
            <a:r>
              <a:rPr b="1" sz="1500">
                <a:solidFill>
                  <a:srgbClr val="002856"/>
                </a:solidFill>
                <a:latin typeface="Arial"/>
              </a:rPr>
              <a:t>SOM</a:t>
            </a:r>
          </a:p>
          <a:p>
            <a:r>
              <a:rPr sz="1100" i="1">
                <a:solidFill>
                  <a:srgbClr val="002856"/>
                </a:solidFill>
                <a:latin typeface="Arial"/>
              </a:rPr>
              <a:t>Serviceable Obtainable Market</a:t>
            </a:r>
          </a:p>
        </p:txBody>
      </p:sp>
      <p:sp>
        <p:nvSpPr>
          <p:cNvPr id="5" name="Text Placeholder 4">
            <a:extLst>
              <a:ext uri="{FF2B5EF4-FFF2-40B4-BE49-F238E27FC236}">
                <a16:creationId xmlns:a16="http://schemas.microsoft.com/office/drawing/2014/main" id="{8B67ACEE-A473-E2DC-BD06-1E7165040186}"/>
              </a:ext>
            </a:extLst>
          </p:cNvPr>
          <p:cNvSpPr>
            <a:spLocks noGrp="1"/>
          </p:cNvSpPr>
          <p:nvPr>
            <p:ph type="body" sz="quarter" idx="3"/>
          </p:nvPr>
        </p:nvSpPr>
        <p:spPr/>
        <p:txBody>
          <a:bodyPr/>
          <a:lstStyle/>
          <a:p>
            <a:endParaRPr lang="en-US"/>
          </a:p>
        </p:txBody>
      </p:sp>
      <p:graphicFrame>
        <p:nvGraphicFramePr>
          <p:cNvPr id="9" name="Content Placeholder 8">
            <a:extLst>
              <a:ext uri="{FF2B5EF4-FFF2-40B4-BE49-F238E27FC236}">
                <a16:creationId xmlns:a16="http://schemas.microsoft.com/office/drawing/2014/main" id="{F20EB8F4-9CC4-0139-6816-23D0233735CE}"/>
              </a:ext>
            </a:extLst>
          </p:cNvPr>
          <p:cNvGraphicFramePr>
            <a:graphicFrameLocks noGrp="1"/>
          </p:cNvGraphicFramePr>
          <p:nvPr>
            <p:ph sz="quarter" idx="4"/>
            <p:extLst>
              <p:ext uri="{D42A27DB-BD31-4B8C-83A1-F6EECF244321}">
                <p14:modId xmlns:p14="http://schemas.microsoft.com/office/powerpoint/2010/main" val="3130878174"/>
              </p:ext>
            </p:extLst>
          </p:nvPr>
        </p:nvGraphicFramePr>
        <p:xfrm>
          <a:off x="6388100" y="1600200"/>
          <a:ext cx="5183188" cy="1752600"/>
        </p:xfrm>
        <a:graphic>
          <a:graphicData uri="http://schemas.openxmlformats.org/drawingml/2006/table">
            <a:tbl>
              <a:tblPr firstRow="1" bandRow="1">
                <a:tableStyleId>{5C22544A-7EE6-4342-B048-85BDC9FD1C3A}</a:tableStyleId>
              </a:tblPr>
              <a:tblGrid>
                <a:gridCol w="1295797">
                  <a:extLst>
                    <a:ext uri="{9D8B030D-6E8A-4147-A177-3AD203B41FA5}">
                      <a16:colId xmlns:a16="http://schemas.microsoft.com/office/drawing/2014/main" val="4018510367"/>
                    </a:ext>
                  </a:extLst>
                </a:gridCol>
                <a:gridCol w="1295797">
                  <a:extLst>
                    <a:ext uri="{9D8B030D-6E8A-4147-A177-3AD203B41FA5}">
                      <a16:colId xmlns:a16="http://schemas.microsoft.com/office/drawing/2014/main" val="3747735664"/>
                    </a:ext>
                  </a:extLst>
                </a:gridCol>
                <a:gridCol w="1295797">
                  <a:extLst>
                    <a:ext uri="{9D8B030D-6E8A-4147-A177-3AD203B41FA5}">
                      <a16:colId xmlns:a16="http://schemas.microsoft.com/office/drawing/2014/main" val="1400594476"/>
                    </a:ext>
                  </a:extLst>
                </a:gridCol>
                <a:gridCol w="1295797">
                  <a:extLst>
                    <a:ext uri="{9D8B030D-6E8A-4147-A177-3AD203B41FA5}">
                      <a16:colId xmlns:a16="http://schemas.microsoft.com/office/drawing/2014/main" val="3546640825"/>
                    </a:ext>
                  </a:extLst>
                </a:gridCol>
              </a:tblGrid>
              <a:tr h="370840">
                <a:tc>
                  <a:txBody>
                    <a:bodyPr/>
                    <a:lstStyle/>
                    <a:p/>
                  </a:txBody>
                  <a:tcPr/>
                </a:tc>
                <a:tc>
                  <a:txBody>
                    <a:bodyPr/>
                    <a:lstStyle/>
                    <a:p>
                      <a:r>
                        <a:t>Value</a:t>
                      </a:r>
                    </a:p>
                  </a:txBody>
                  <a:tcPr/>
                </a:tc>
                <a:tc gridSpan="2">
                  <a:txBody>
                    <a:bodyPr/>
                    <a:lstStyle/>
                    <a:p>
                      <a:r>
                        <a:t>Basis</a:t>
                      </a:r>
                    </a:p>
                    <a:p>
                      <a:r>
                        <a:rPr lang="en-US"/>
                        <a:t>Virginia </a:t>
                      </a:r>
                    </a:p>
                  </a:txBody>
                  <a:tcPr/>
                </a:tc>
                <a:tc hMerge="1">
                  <a:txBody>
                    <a:bodyPr/>
                    <a:lstStyle/>
                    <a:p/>
                  </a:txBody>
                  <a:tcPr/>
                </a:tc>
                <a:extLst>
                  <a:ext uri="{0D108BD9-81ED-4DB2-BD59-A6C34878D82A}">
                    <a16:rowId xmlns:a16="http://schemas.microsoft.com/office/drawing/2014/main" val="2090497449"/>
                  </a:ext>
                </a:extLst>
              </a:tr>
              <a:tr h="370840">
                <a:tc>
                  <a:txBody>
                    <a:bodyPr/>
                    <a:lstStyle/>
                    <a:p>
                      <a:r>
                        <a:t>TAM</a:t>
                      </a:r>
                    </a:p>
                  </a:txBody>
                  <a:tcPr/>
                </a:tc>
                <a:tc>
                  <a:txBody>
                    <a:bodyPr/>
                    <a:lstStyle/>
                    <a:p>
                      <a:r>
                        <a:t>$8.8B</a:t>
                      </a:r>
                    </a:p>
                  </a:txBody>
                  <a:tcPr/>
                </a:tc>
                <a:tc gridSpan="2">
                  <a:txBody>
                    <a:bodyPr/>
                    <a:lstStyle/>
                    <a:p>
                      <a:r>
                        <a:t>National utility energy-efficiency &amp; storage program administration market (ACEEE 2025)</a:t>
                      </a:r>
                    </a:p>
                  </a:txBody>
                  <a:tcPr/>
                </a:tc>
                <a:tc hMerge="1">
                  <a:txBody>
                    <a:bodyPr/>
                    <a:lstStyle/>
                    <a:p>
                      <a:endParaRPr lang="en-US"/>
                    </a:p>
                  </a:txBody>
                  <a:tcPr/>
                </a:tc>
                <a:extLst>
                  <a:ext uri="{0D108BD9-81ED-4DB2-BD59-A6C34878D82A}">
                    <a16:rowId xmlns:a16="http://schemas.microsoft.com/office/drawing/2014/main" val="126375793"/>
                  </a:ext>
                </a:extLst>
              </a:tr>
              <a:tr h="370840">
                <a:tc>
                  <a:txBody>
                    <a:bodyPr/>
                    <a:lstStyle/>
                    <a:p>
                      <a:r>
                        <a:t>SAM</a:t>
                      </a:r>
                    </a:p>
                  </a:txBody>
                  <a:tcPr/>
                </a:tc>
                <a:tc>
                  <a:txBody>
                    <a:bodyPr/>
                    <a:lstStyle/>
                    <a:p>
                      <a:r>
                        <a:t>~$1-2B</a:t>
                      </a:r>
                    </a:p>
                  </a:txBody>
                  <a:tcPr/>
                </a:tc>
                <a:tc gridSpan="2">
                  <a:txBody>
                    <a:bodyPr/>
                    <a:lstStyle/>
                    <a:p>
                      <a:r>
                        <a:t>States with utility storage mandates + vertically integrated utilities (near-term addressable)</a:t>
                      </a:r>
                    </a:p>
                  </a:txBody>
                  <a:tcPr/>
                </a:tc>
                <a:tc hMerge="1">
                  <a:txBody>
                    <a:bodyPr/>
                    <a:lstStyle/>
                    <a:p>
                      <a:endParaRPr lang="en-US"/>
                    </a:p>
                  </a:txBody>
                  <a:tcPr/>
                </a:tc>
                <a:extLst>
                  <a:ext uri="{0D108BD9-81ED-4DB2-BD59-A6C34878D82A}">
                    <a16:rowId xmlns:a16="http://schemas.microsoft.com/office/drawing/2014/main" val="3203715919"/>
                  </a:ext>
                </a:extLst>
              </a:tr>
              <a:tr h="370840">
                <a:tc>
                  <a:txBody>
                    <a:bodyPr/>
                    <a:lstStyle/>
                    <a:p>
                      <a:r>
                        <a:t>SOM</a:t>
                      </a:r>
                    </a:p>
                  </a:txBody>
                  <a:tcPr/>
                </a:tc>
                <a:tc>
                  <a:txBody>
                    <a:bodyPr/>
                    <a:lstStyle/>
                    <a:p>
                      <a:r>
                        <a:t>$1.5M-$4.5M/yr</a:t>
                      </a:r>
                    </a:p>
                  </a:txBody>
                  <a:tcPr/>
                </a:tc>
                <a:tc gridSpan="2">
                  <a:txBody>
                    <a:bodyPr/>
                    <a:lstStyle/>
                    <a:p>
                      <a:r>
                        <a:t>Michigan pilot + early expansion -- APTIM administration fees, Years 1-3</a:t>
                      </a:r>
                    </a:p>
                  </a:txBody>
                  <a:tcPr/>
                </a:tc>
                <a:tc hMerge="1">
                  <a:txBody>
                    <a:bodyPr/>
                    <a:lstStyle/>
                    <a:p>
                      <a:endParaRPr lang="en-US"/>
                    </a:p>
                  </a:txBody>
                  <a:tcPr/>
                </a:tc>
                <a:extLst>
                  <a:ext uri="{0D108BD9-81ED-4DB2-BD59-A6C34878D82A}">
                    <a16:rowId xmlns:a16="http://schemas.microsoft.com/office/drawing/2014/main" val="796525128"/>
                  </a:ext>
                </a:extLst>
              </a:tr>
            </a:tbl>
          </a:graphicData>
        </a:graphic>
      </p:graphicFrame>
      <p:sp>
        <p:nvSpPr>
          <p:cNvPr id="7" name="Footer Placeholder 6">
            <a:extLst>
              <a:ext uri="{FF2B5EF4-FFF2-40B4-BE49-F238E27FC236}">
                <a16:creationId xmlns:a16="http://schemas.microsoft.com/office/drawing/2014/main" id="{A1298351-0804-63D7-AA4D-300CCB071AA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4EFA6261-7106-B081-F1FA-CA434C399E9E}"/>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8</a:t>
            </a:r>
            <a:endParaRPr lang="en-US"/>
          </a:p>
        </p:txBody>
      </p:sp>
      <p:sp>
        <p:nvSpPr>
          <p:cNvPr id="10" name="TextBox 9"/>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Sizing the opportunity from national market to Michigan pilot</a:t>
            </a:r>
          </a:p>
        </p:txBody>
      </p:sp>
    </p:spTree>
    <p:extLst>
      <p:ext uri="{BB962C8B-B14F-4D97-AF65-F5344CB8AC3E}">
        <p14:creationId xmlns:p14="http://schemas.microsoft.com/office/powerpoint/2010/main" val="371783914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The Big Picture: How This Program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Before the mechanics -- the simple version of what we're proposing</a:t>
            </a:r>
          </a:p>
        </p:txBody>
      </p:sp>
      <p:sp>
        <p:nvSpPr>
          <p:cNvPr id="4" name="Rectangle 3"/>
          <p:cNvSpPr/>
          <p:nvPr/>
        </p:nvSpPr>
        <p:spPr>
          <a:xfrm>
            <a:off x="365760" y="1463040"/>
            <a:ext cx="2555748" cy="2651760"/>
          </a:xfrm>
          <a:prstGeom prst="rect">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1. The Problem</a:t>
            </a:r>
          </a:p>
          <a:p>
            <a:pPr algn="ctr"/>
            <a:r>
              <a:rPr sz="1100">
                <a:solidFill>
                  <a:srgbClr val="FFFFFF"/>
                </a:solidFill>
                <a:latin typeface="Arial"/>
              </a:rPr>
              <a:t>Utilities must keep energy programs
running, but federal funding is
unreliable and mandates don't go away</a:t>
            </a:r>
          </a:p>
        </p:txBody>
      </p:sp>
      <p:sp>
        <p:nvSpPr>
          <p:cNvPr id="5" name="Rectangle 4"/>
          <p:cNvSpPr/>
          <p:nvPr/>
        </p:nvSpPr>
        <p:spPr>
          <a:xfrm>
            <a:off x="3332988" y="1463040"/>
            <a:ext cx="2555748" cy="265176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2. The Fix</a:t>
            </a:r>
          </a:p>
          <a:p>
            <a:pPr algn="ctr"/>
            <a:r>
              <a:rPr sz="1100">
                <a:solidFill>
                  <a:srgbClr val="FFFFFF"/>
                </a:solidFill>
                <a:latin typeface="Arial"/>
              </a:rPr>
              <a:t>The UTILITY buys and owns a fleet
of home batteries + solar --
financed like any grid infrastructure,
not a grant</a:t>
            </a:r>
          </a:p>
        </p:txBody>
      </p:sp>
      <p:sp>
        <p:nvSpPr>
          <p:cNvPr id="6" name="Rectangle 5"/>
          <p:cNvSpPr/>
          <p:nvPr/>
        </p:nvSpPr>
        <p:spPr>
          <a:xfrm>
            <a:off x="6300216" y="1463040"/>
            <a:ext cx="2555748" cy="265176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3. The Roles</a:t>
            </a:r>
          </a:p>
          <a:p>
            <a:pPr algn="ctr"/>
            <a:r>
              <a:rPr sz="1100">
                <a:solidFill>
                  <a:srgbClr val="FFFFFF"/>
                </a:solidFill>
                <a:latin typeface="Arial"/>
              </a:rPr>
              <a:t>APTIM administers the program.
The household just hosts the
equipment -- $0 cost to them</a:t>
            </a:r>
          </a:p>
        </p:txBody>
      </p:sp>
      <p:sp>
        <p:nvSpPr>
          <p:cNvPr id="7" name="Rectangle 6"/>
          <p:cNvSpPr/>
          <p:nvPr/>
        </p:nvSpPr>
        <p:spPr>
          <a:xfrm>
            <a:off x="9267444" y="1463040"/>
            <a:ext cx="2555748" cy="2651760"/>
          </a:xfrm>
          <a:prstGeom prst="rect">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4. The Outcome</a:t>
            </a:r>
          </a:p>
          <a:p>
            <a:pPr algn="ctr"/>
            <a:r>
              <a:rPr sz="1100">
                <a:solidFill>
                  <a:srgbClr val="FFFFFF"/>
                </a:solidFill>
                <a:latin typeface="Arial"/>
              </a:rPr>
              <a:t>Utility meets its resilience mandate
and earns a return. APTIM gains a
new revenue line. Household gets
free backup power</a:t>
            </a:r>
          </a:p>
        </p:txBody>
      </p:sp>
      <p:sp>
        <p:nvSpPr>
          <p:cNvPr id="8" name="TextBox 7"/>
          <p:cNvSpPr txBox="1"/>
          <p:nvPr/>
        </p:nvSpPr>
        <p:spPr>
          <a:xfrm>
            <a:off x="2967227" y="2560320"/>
            <a:ext cx="320040" cy="457200"/>
          </a:xfrm>
          <a:prstGeom prst="rect">
            <a:avLst/>
          </a:prstGeom>
          <a:noFill/>
        </p:spPr>
        <p:txBody>
          <a:bodyPr wrap="none">
            <a:spAutoFit/>
          </a:bodyPr>
          <a:lstStyle/>
          <a:p>
            <a:pPr algn="ctr"/>
            <a:r>
              <a:rPr sz="2200" b="1">
                <a:solidFill>
                  <a:srgbClr val="002856"/>
                </a:solidFill>
              </a:rPr>
              <a:t>→</a:t>
            </a:r>
          </a:p>
        </p:txBody>
      </p:sp>
      <p:sp>
        <p:nvSpPr>
          <p:cNvPr id="9" name="TextBox 8"/>
          <p:cNvSpPr txBox="1"/>
          <p:nvPr/>
        </p:nvSpPr>
        <p:spPr>
          <a:xfrm>
            <a:off x="5934456" y="2560320"/>
            <a:ext cx="320040" cy="457200"/>
          </a:xfrm>
          <a:prstGeom prst="rect">
            <a:avLst/>
          </a:prstGeom>
          <a:noFill/>
        </p:spPr>
        <p:txBody>
          <a:bodyPr wrap="none">
            <a:spAutoFit/>
          </a:bodyPr>
          <a:lstStyle/>
          <a:p>
            <a:pPr algn="ctr"/>
            <a:r>
              <a:rPr sz="2200" b="1">
                <a:solidFill>
                  <a:srgbClr val="002856"/>
                </a:solidFill>
              </a:rPr>
              <a:t>→</a:t>
            </a:r>
          </a:p>
        </p:txBody>
      </p:sp>
      <p:sp>
        <p:nvSpPr>
          <p:cNvPr id="10" name="TextBox 9"/>
          <p:cNvSpPr txBox="1"/>
          <p:nvPr/>
        </p:nvSpPr>
        <p:spPr>
          <a:xfrm>
            <a:off x="8901684" y="2560320"/>
            <a:ext cx="320040" cy="457200"/>
          </a:xfrm>
          <a:prstGeom prst="rect">
            <a:avLst/>
          </a:prstGeom>
          <a:noFill/>
        </p:spPr>
        <p:txBody>
          <a:bodyPr wrap="none">
            <a:spAutoFit/>
          </a:bodyPr>
          <a:lstStyle/>
          <a:p>
            <a:pPr algn="ctr"/>
            <a:r>
              <a:rPr sz="2200" b="1">
                <a:solidFill>
                  <a:srgbClr val="002856"/>
                </a:solidFill>
              </a:rPr>
              <a:t>→</a:t>
            </a:r>
          </a:p>
        </p:txBody>
      </p:sp>
      <p:sp>
        <p:nvSpPr>
          <p:cNvPr id="11" name="Rectangle 10"/>
          <p:cNvSpPr/>
          <p:nvPr/>
        </p:nvSpPr>
        <p:spPr>
          <a:xfrm>
            <a:off x="365760" y="4434840"/>
            <a:ext cx="11430000" cy="82296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ctr"/>
            <a:r>
              <a:rPr b="1" sz="1400">
                <a:solidFill>
                  <a:srgbClr val="002856"/>
                </a:solidFill>
                <a:latin typeface="Arial"/>
              </a:rPr>
              <a:t>In one sentence: </a:t>
            </a:r>
            <a:r>
              <a:rPr sz="1400">
                <a:solidFill>
                  <a:srgbClr val="002856"/>
                </a:solidFill>
                <a:latin typeface="Arial"/>
              </a:rPr>
              <a:t>APTIM administers a utility-owned battery + solar fleet -- the utility finances it, APTIM runs it, the household hosts it for free.</a:t>
            </a:r>
          </a:p>
        </p:txBody>
      </p:sp>
      <p:sp>
        <p:nvSpPr>
          <p:cNvPr id="12" name="TextBox 11"/>
          <p:cNvSpPr txBox="1"/>
          <p:nvPr/>
        </p:nvSpPr>
        <p:spPr>
          <a:xfrm>
            <a:off x="365760" y="5486400"/>
            <a:ext cx="11430000" cy="731520"/>
          </a:xfrm>
          <a:prstGeom prst="rect">
            <a:avLst/>
          </a:prstGeom>
          <a:noFill/>
        </p:spPr>
        <p:txBody>
          <a:bodyPr wrap="square">
            <a:spAutoFit/>
          </a:bodyPr>
          <a:lstStyle/>
          <a:p>
            <a:r>
              <a:rPr sz="1200" i="1">
                <a:solidFill>
                  <a:srgbClr val="595959"/>
                </a:solidFill>
                <a:latin typeface="Arial"/>
              </a:rPr>
              <a:t>The next slide breaks down exactly how this works -- who owns what, how money flows, and how APTIM gets paid.</a:t>
            </a:r>
          </a:p>
        </p:txBody>
      </p:sp>
      <p:sp>
        <p:nvSpPr>
          <p:cNvPr id="13" name="TextBox 12"/>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4" name="TextBox 13"/>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2AF80-10E3-8BE1-45CC-0803639F96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A4FF38-A895-E5AD-7B7D-E210952D7017}"/>
              </a:ext>
            </a:extLst>
          </p:cNvPr>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Service Concept: Utility-Owned Battery + Solar Fleet</a:t>
            </a:r>
          </a:p>
        </p:txBody>
      </p:sp>
      <p:sp>
        <p:nvSpPr>
          <p:cNvPr id="3" name="TextBox 2">
            <a:extLst>
              <a:ext uri="{FF2B5EF4-FFF2-40B4-BE49-F238E27FC236}">
                <a16:creationId xmlns:a16="http://schemas.microsoft.com/office/drawing/2014/main" id="{D9E4D0C4-67EB-CF21-1EFA-DA9079CB590F}"/>
              </a:ext>
            </a:extLst>
          </p:cNvPr>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The utility owns the fleet. APTIM administers it. The household hosts it at no cost.</a:t>
            </a:r>
          </a:p>
        </p:txBody>
      </p:sp>
      <p:sp>
        <p:nvSpPr>
          <p:cNvPr id="4" name="Rectangle 3">
            <a:extLst>
              <a:ext uri="{FF2B5EF4-FFF2-40B4-BE49-F238E27FC236}">
                <a16:creationId xmlns:a16="http://schemas.microsoft.com/office/drawing/2014/main" id="{138D4283-7822-FC9D-F50B-C0138675BA66}"/>
              </a:ext>
            </a:extLst>
          </p:cNvPr>
          <p:cNvSpPr/>
          <p:nvPr/>
        </p:nvSpPr>
        <p:spPr>
          <a:xfrm>
            <a:off x="457200" y="1371600"/>
            <a:ext cx="3483864" cy="1554480"/>
          </a:xfrm>
          <a:prstGeom prst="rect">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Hardware Maker</a:t>
            </a:r>
          </a:p>
          <a:p>
            <a:pPr algn="ctr"/>
            <a:r>
              <a:rPr sz="1200" b="1">
                <a:solidFill>
                  <a:srgbClr val="FFFFFF"/>
                </a:solidFill>
                <a:latin typeface="Arial"/>
              </a:rPr>
              <a:t>e.g., Tesla, Enphase</a:t>
            </a:r>
          </a:p>
          <a:p>
            <a:pPr algn="ctr"/>
            <a:r>
              <a:rPr sz="1100">
                <a:solidFill>
                  <a:srgbClr val="FFFFFF"/>
                </a:solidFill>
                <a:latin typeface="Arial"/>
              </a:rPr>
              <a:t>Manufactures the battery + solar hardware</a:t>
            </a:r>
          </a:p>
        </p:txBody>
      </p:sp>
      <p:sp>
        <p:nvSpPr>
          <p:cNvPr id="5" name="Rectangle 4">
            <a:extLst>
              <a:ext uri="{FF2B5EF4-FFF2-40B4-BE49-F238E27FC236}">
                <a16:creationId xmlns:a16="http://schemas.microsoft.com/office/drawing/2014/main" id="{1A649AB2-5AFF-AE36-992D-9C1F37D39A46}"/>
              </a:ext>
            </a:extLst>
          </p:cNvPr>
          <p:cNvSpPr/>
          <p:nvPr/>
        </p:nvSpPr>
        <p:spPr>
          <a:xfrm>
            <a:off x="4352544" y="1371600"/>
            <a:ext cx="3483864" cy="155448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bIns="45720" rtlCol="0" anchor="ctr"/>
          <a:lstStyle/>
          <a:p>
            <a:pPr algn="ctr"/>
            <a:r>
              <a:rPr sz="1300" b="1">
                <a:solidFill>
                  <a:srgbClr val="FFFFFF"/>
                </a:solidFill>
                <a:latin typeface="Arial"/>
              </a:rPr>
              <a:t>Asset Owner + Dispatcher</a:t>
            </a:r>
          </a:p>
          <a:p>
            <a:pPr algn="ctr"/>
            <a:r>
              <a:rPr sz="1200" b="1">
                <a:solidFill>
                  <a:srgbClr val="FFFFFF"/>
                </a:solidFill>
                <a:latin typeface="Arial"/>
              </a:rPr>
              <a:t>The Utility</a:t>
            </a:r>
          </a:p>
          <a:p>
            <a:pPr algn="ctr"/>
            <a:r>
              <a:rPr lang="en-US" sz="1100">
                <a:solidFill>
                  <a:srgbClr val="FFFFFF"/>
                </a:solidFill>
                <a:latin typeface="Arial"/>
              </a:rPr>
              <a:t>Finances, owns, rate-bases the fleet; earns regulated return; dispatches via software partner</a:t>
            </a:r>
            <a:endParaRPr lang="en-US"/>
          </a:p>
        </p:txBody>
      </p:sp>
      <p:sp>
        <p:nvSpPr>
          <p:cNvPr id="6" name="Rectangle 5">
            <a:extLst>
              <a:ext uri="{FF2B5EF4-FFF2-40B4-BE49-F238E27FC236}">
                <a16:creationId xmlns:a16="http://schemas.microsoft.com/office/drawing/2014/main" id="{F87FDEAC-D4E3-2260-737F-DD8AD45F87E4}"/>
              </a:ext>
            </a:extLst>
          </p:cNvPr>
          <p:cNvSpPr/>
          <p:nvPr/>
        </p:nvSpPr>
        <p:spPr>
          <a:xfrm>
            <a:off x="8247888" y="1371600"/>
            <a:ext cx="3483864" cy="155448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Program Administrator (APTIM)</a:t>
            </a:r>
          </a:p>
          <a:p>
            <a:pPr algn="ctr"/>
            <a:r>
              <a:rPr sz="1200" b="1">
                <a:solidFill>
                  <a:srgbClr val="FFFFFF"/>
                </a:solidFill>
                <a:latin typeface="Arial"/>
              </a:rPr>
              <a:t>APTIM</a:t>
            </a:r>
          </a:p>
          <a:p>
            <a:pPr algn="ctr"/>
            <a:r>
              <a:rPr sz="1100">
                <a:solidFill>
                  <a:srgbClr val="FFFFFF"/>
                </a:solidFill>
                <a:latin typeface="Arial"/>
              </a:rPr>
              <a:t>Site selection, household recruitment, hosting agreements, contractor network, install QA, fleet reporting, compliance</a:t>
            </a:r>
          </a:p>
        </p:txBody>
      </p:sp>
      <p:sp>
        <p:nvSpPr>
          <p:cNvPr id="7" name="TextBox 6">
            <a:extLst>
              <a:ext uri="{FF2B5EF4-FFF2-40B4-BE49-F238E27FC236}">
                <a16:creationId xmlns:a16="http://schemas.microsoft.com/office/drawing/2014/main" id="{45D9B8C9-2E0C-6396-2593-3EA9C48FAAD0}"/>
              </a:ext>
            </a:extLst>
          </p:cNvPr>
          <p:cNvSpPr txBox="1"/>
          <p:nvPr/>
        </p:nvSpPr>
        <p:spPr>
          <a:xfrm>
            <a:off x="3986784" y="1920240"/>
            <a:ext cx="320040" cy="457200"/>
          </a:xfrm>
          <a:prstGeom prst="rect">
            <a:avLst/>
          </a:prstGeom>
          <a:noFill/>
        </p:spPr>
        <p:txBody>
          <a:bodyPr wrap="square">
            <a:spAutoFit/>
          </a:bodyPr>
          <a:lstStyle/>
          <a:p>
            <a:pPr algn="ctr"/>
            <a:r>
              <a:rPr sz="2200" b="1">
                <a:solidFill>
                  <a:srgbClr val="002856"/>
                </a:solidFill>
              </a:rPr>
              <a:t>→</a:t>
            </a:r>
          </a:p>
        </p:txBody>
      </p:sp>
      <p:sp>
        <p:nvSpPr>
          <p:cNvPr id="8" name="TextBox 7">
            <a:extLst>
              <a:ext uri="{FF2B5EF4-FFF2-40B4-BE49-F238E27FC236}">
                <a16:creationId xmlns:a16="http://schemas.microsoft.com/office/drawing/2014/main" id="{ED16DC1E-ACD4-FCA4-6042-7C8B6FB0E4D4}"/>
              </a:ext>
            </a:extLst>
          </p:cNvPr>
          <p:cNvSpPr txBox="1"/>
          <p:nvPr/>
        </p:nvSpPr>
        <p:spPr>
          <a:xfrm>
            <a:off x="7882128" y="1920240"/>
            <a:ext cx="320040" cy="457200"/>
          </a:xfrm>
          <a:prstGeom prst="rect">
            <a:avLst/>
          </a:prstGeom>
          <a:noFill/>
        </p:spPr>
        <p:txBody>
          <a:bodyPr wrap="square">
            <a:spAutoFit/>
          </a:bodyPr>
          <a:lstStyle/>
          <a:p>
            <a:pPr algn="ctr"/>
            <a:r>
              <a:rPr sz="2200" b="1">
                <a:solidFill>
                  <a:srgbClr val="002856"/>
                </a:solidFill>
              </a:rPr>
              <a:t>→</a:t>
            </a:r>
          </a:p>
        </p:txBody>
      </p:sp>
      <p:sp>
        <p:nvSpPr>
          <p:cNvPr id="9" name="Rectangle 8">
            <a:extLst>
              <a:ext uri="{FF2B5EF4-FFF2-40B4-BE49-F238E27FC236}">
                <a16:creationId xmlns:a16="http://schemas.microsoft.com/office/drawing/2014/main" id="{4719FA5B-4C6D-90AC-08EA-ACD2E15BDAA7}"/>
              </a:ext>
            </a:extLst>
          </p:cNvPr>
          <p:cNvSpPr/>
          <p:nvPr/>
        </p:nvSpPr>
        <p:spPr>
          <a:xfrm>
            <a:off x="457200" y="3063240"/>
            <a:ext cx="11247120" cy="594360"/>
          </a:xfrm>
          <a:prstGeom prst="rect">
            <a:avLst/>
          </a:prstGeom>
          <a:solidFill>
            <a:srgbClr val="FDF1D9"/>
          </a:solidFill>
          <a:ln w="12700">
            <a:solidFill>
              <a:srgbClr val="FF8200"/>
            </a:solidFill>
          </a:ln>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r>
              <a:rPr sz="1100" i="1">
                <a:solidFill>
                  <a:srgbClr val="002856"/>
                </a:solidFill>
                <a:latin typeface="Arial"/>
              </a:rPr>
              <a:t>Who pays: the utility recovers its investment from ALL ratepayers via rate base (standard cost-of-service regulation) -- not a special charge to the hosting household. The household's "payment" for hosting is free backup power and lower bills. This is NOT a Power Purchase Agreement -- the utility owns the asset directly, it does not buy output from a third-party owner.</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1000">
                <a:solidFill>
                  <a:srgbClr val="595959"/>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1000">
                <a:solidFill>
                  <a:srgbClr val="595959"/>
                </a:solidFill>
                <a:latin typeface="Arial"/>
                <a:cs typeface="Arial"/>
              </a:rPr>
              <a:t>10</a:t>
            </a:r>
          </a:p>
        </p:txBody>
      </p:sp>
      <p:sp>
        <p:nvSpPr>
          <p:cNvPr id="17" name="TextBox 16"/>
          <p:cNvSpPr txBox="1"/>
          <p:nvPr/>
        </p:nvSpPr>
        <p:spPr>
          <a:xfrm>
            <a:off x="457200" y="3657600"/>
            <a:ext cx="3606698" cy="320040"/>
          </a:xfrm>
          <a:prstGeom prst="rect">
            <a:avLst/>
          </a:prstGeom>
          <a:noFill/>
        </p:spPr>
        <p:txBody>
          <a:bodyPr wrap="none">
            <a:spAutoFit/>
          </a:bodyPr>
          <a:lstStyle/>
          <a:p>
            <a:r>
              <a:rPr b="1" sz="1300">
                <a:solidFill>
                  <a:srgbClr val="FF8200"/>
                </a:solidFill>
                <a:latin typeface="Arial"/>
              </a:rPr>
              <a:t>How APTIM Gets Paid</a:t>
            </a:r>
          </a:p>
        </p:txBody>
      </p:sp>
      <p:sp>
        <p:nvSpPr>
          <p:cNvPr id="18" name="TextBox 17"/>
          <p:cNvSpPr txBox="1"/>
          <p:nvPr/>
        </p:nvSpPr>
        <p:spPr>
          <a:xfrm>
            <a:off x="457200" y="4023360"/>
            <a:ext cx="3606698" cy="2286000"/>
          </a:xfrm>
          <a:prstGeom prst="rect">
            <a:avLst/>
          </a:prstGeom>
          <a:noFill/>
        </p:spPr>
        <p:txBody>
          <a:bodyPr wrap="square">
            <a:spAutoFit/>
          </a:bodyPr>
          <a:lstStyle/>
          <a:p>
            <a:pPr>
              <a:spcAft>
                <a:spcPts val="600"/>
              </a:spcAft>
            </a:pPr>
            <a:r>
              <a:rPr b="1" sz="1100">
                <a:solidFill>
                  <a:srgbClr val="002856"/>
                </a:solidFill>
                <a:latin typeface="Arial"/>
              </a:rPr>
              <a:t>Model: </a:t>
            </a:r>
            <a:r>
              <a:rPr sz="1100">
                <a:solidFill>
                  <a:srgbClr val="002856"/>
                </a:solidFill>
                <a:latin typeface="Arial"/>
              </a:rPr>
              <a:t>Base fee as % of program budget + performance bonus overlay</a:t>
            </a:r>
          </a:p>
          <a:p>
            <a:pPr>
              <a:spcAft>
                <a:spcPts val="600"/>
              </a:spcAft>
            </a:pPr>
            <a:r>
              <a:rPr b="1" sz="1100">
                <a:solidFill>
                  <a:srgbClr val="002856"/>
                </a:solidFill>
                <a:latin typeface="Arial"/>
              </a:rPr>
              <a:t>Precedent: </a:t>
            </a:r>
            <a:r>
              <a:rPr sz="1100">
                <a:solidFill>
                  <a:srgbClr val="002856"/>
                </a:solidFill>
                <a:latin typeface="Arial"/>
              </a:rPr>
              <a:t>APTIM's real Focus on Energy contract (2023-2026) uses this exact structure</a:t>
            </a:r>
          </a:p>
          <a:p>
            <a:pPr>
              <a:spcAft>
                <a:spcPts val="600"/>
              </a:spcAft>
            </a:pPr>
            <a:r>
              <a:rPr b="1" sz="1100">
                <a:solidFill>
                  <a:srgbClr val="002856"/>
                </a:solidFill>
                <a:latin typeface="Arial"/>
              </a:rPr>
              <a:t>Benchmark: </a:t>
            </a:r>
            <a:r>
              <a:rPr sz="1100">
                <a:solidFill>
                  <a:srgbClr val="002856"/>
                </a:solidFill>
                <a:latin typeface="Arial"/>
              </a:rPr>
              <a:t>Federal EECBG caps admin fees at 10% of funds -- a citable floor</a:t>
            </a:r>
          </a:p>
          <a:p>
            <a:pPr>
              <a:spcAft>
                <a:spcPts val="600"/>
              </a:spcAft>
            </a:pPr>
            <a:r>
              <a:rPr b="1" sz="1100">
                <a:solidFill>
                  <a:srgbClr val="002856"/>
                </a:solidFill>
                <a:latin typeface="Arial"/>
              </a:rPr>
              <a:t>Exact %: </a:t>
            </a:r>
            <a:r>
              <a:rPr sz="1100">
                <a:solidFill>
                  <a:srgbClr val="002856"/>
                </a:solidFill>
                <a:latin typeface="Arial"/>
              </a:rPr>
              <a:t>Negotiated at RFP stage, not fixed here</a:t>
            </a:r>
          </a:p>
        </p:txBody>
      </p:sp>
      <p:sp>
        <p:nvSpPr>
          <p:cNvPr id="19" name="TextBox 18"/>
          <p:cNvSpPr txBox="1"/>
          <p:nvPr/>
        </p:nvSpPr>
        <p:spPr>
          <a:xfrm>
            <a:off x="4292498" y="3657600"/>
            <a:ext cx="3606698" cy="320040"/>
          </a:xfrm>
          <a:prstGeom prst="rect">
            <a:avLst/>
          </a:prstGeom>
          <a:noFill/>
        </p:spPr>
        <p:txBody>
          <a:bodyPr wrap="none">
            <a:spAutoFit/>
          </a:bodyPr>
          <a:lstStyle/>
          <a:p>
            <a:r>
              <a:rPr b="1" sz="1300">
                <a:solidFill>
                  <a:srgbClr val="FF8200"/>
                </a:solidFill>
                <a:latin typeface="Arial"/>
              </a:rPr>
              <a:t>Why All Parties Say Yes</a:t>
            </a:r>
          </a:p>
        </p:txBody>
      </p:sp>
      <p:sp>
        <p:nvSpPr>
          <p:cNvPr id="20" name="TextBox 19"/>
          <p:cNvSpPr txBox="1"/>
          <p:nvPr/>
        </p:nvSpPr>
        <p:spPr>
          <a:xfrm>
            <a:off x="4292498" y="4023360"/>
            <a:ext cx="3606698" cy="2286000"/>
          </a:xfrm>
          <a:prstGeom prst="rect">
            <a:avLst/>
          </a:prstGeom>
          <a:noFill/>
        </p:spPr>
        <p:txBody>
          <a:bodyPr wrap="square">
            <a:spAutoFit/>
          </a:bodyPr>
          <a:lstStyle/>
          <a:p>
            <a:pPr>
              <a:spcAft>
                <a:spcPts val="600"/>
              </a:spcAft>
            </a:pPr>
            <a:r>
              <a:rPr b="1" sz="1100">
                <a:solidFill>
                  <a:srgbClr val="002856"/>
                </a:solidFill>
                <a:latin typeface="Arial"/>
              </a:rPr>
              <a:t>Utility: </a:t>
            </a:r>
            <a:r>
              <a:rPr sz="1100">
                <a:solidFill>
                  <a:srgbClr val="002856"/>
                </a:solidFill>
                <a:latin typeface="Arial"/>
              </a:rPr>
              <a:t>Meets storage mandate, grows rate base, cheaper than new peaker capacity</a:t>
            </a:r>
          </a:p>
          <a:p>
            <a:pPr>
              <a:spcAft>
                <a:spcPts val="600"/>
              </a:spcAft>
            </a:pPr>
            <a:r>
              <a:rPr b="1" sz="1100">
                <a:solidFill>
                  <a:srgbClr val="002856"/>
                </a:solidFill>
                <a:latin typeface="Arial"/>
              </a:rPr>
              <a:t>Household: </a:t>
            </a:r>
            <a:r>
              <a:rPr sz="1100">
                <a:solidFill>
                  <a:srgbClr val="002856"/>
                </a:solidFill>
                <a:latin typeface="Arial"/>
              </a:rPr>
              <a:t>Free backup power, zero upfront or monthly cost</a:t>
            </a:r>
          </a:p>
          <a:p>
            <a:pPr>
              <a:spcAft>
                <a:spcPts val="600"/>
              </a:spcAft>
            </a:pPr>
            <a:r>
              <a:rPr b="1" sz="1100">
                <a:solidFill>
                  <a:srgbClr val="002856"/>
                </a:solidFill>
                <a:latin typeface="Arial"/>
              </a:rPr>
              <a:t>APTIM: </a:t>
            </a:r>
            <a:r>
              <a:rPr sz="1100">
                <a:solidFill>
                  <a:srgbClr val="002856"/>
                </a:solidFill>
                <a:latin typeface="Arial"/>
              </a:rPr>
              <a:t>Recurring fee + Michigan market entry, filling an unadministered service niche</a:t>
            </a:r>
          </a:p>
          <a:p>
            <a:pPr>
              <a:spcAft>
                <a:spcPts val="600"/>
              </a:spcAft>
            </a:pPr>
            <a:r>
              <a:rPr b="1" sz="1100">
                <a:solidFill>
                  <a:srgbClr val="002856"/>
                </a:solidFill>
                <a:latin typeface="Arial"/>
              </a:rPr>
              <a:t>Regulator: </a:t>
            </a:r>
            <a:r>
              <a:rPr sz="1100">
                <a:solidFill>
                  <a:srgbClr val="002856"/>
                </a:solidFill>
                <a:latin typeface="Arial"/>
              </a:rPr>
              <a:t>Resilience delivered without a new tax; performance-linked fee keeps utility accountable</a:t>
            </a:r>
          </a:p>
        </p:txBody>
      </p:sp>
      <p:sp>
        <p:nvSpPr>
          <p:cNvPr id="21" name="TextBox 20"/>
          <p:cNvSpPr txBox="1"/>
          <p:nvPr/>
        </p:nvSpPr>
        <p:spPr>
          <a:xfrm>
            <a:off x="8127796" y="3657600"/>
            <a:ext cx="3606698" cy="320040"/>
          </a:xfrm>
          <a:prstGeom prst="rect">
            <a:avLst/>
          </a:prstGeom>
          <a:noFill/>
        </p:spPr>
        <p:txBody>
          <a:bodyPr wrap="none">
            <a:spAutoFit/>
          </a:bodyPr>
          <a:lstStyle/>
          <a:p>
            <a:r>
              <a:rPr b="1" sz="1300">
                <a:solidFill>
                  <a:srgbClr val="FF8200"/>
                </a:solidFill>
                <a:latin typeface="Arial"/>
              </a:rPr>
              <a:t>Design &amp; Rollout</a:t>
            </a:r>
          </a:p>
        </p:txBody>
      </p:sp>
      <p:sp>
        <p:nvSpPr>
          <p:cNvPr id="22" name="TextBox 21"/>
          <p:cNvSpPr txBox="1"/>
          <p:nvPr/>
        </p:nvSpPr>
        <p:spPr>
          <a:xfrm>
            <a:off x="8127796" y="4023360"/>
            <a:ext cx="3606698" cy="2286000"/>
          </a:xfrm>
          <a:prstGeom prst="rect">
            <a:avLst/>
          </a:prstGeom>
          <a:noFill/>
        </p:spPr>
        <p:txBody>
          <a:bodyPr wrap="square">
            <a:spAutoFit/>
          </a:bodyPr>
          <a:lstStyle/>
          <a:p>
            <a:pPr>
              <a:spcAft>
                <a:spcPts val="600"/>
              </a:spcAft>
            </a:pPr>
            <a:r>
              <a:rPr b="1" sz="1100">
                <a:solidFill>
                  <a:srgbClr val="002856"/>
                </a:solidFill>
                <a:latin typeface="Arial"/>
              </a:rPr>
              <a:t>Cold weather: </a:t>
            </a:r>
            <a:r>
              <a:rPr sz="1100">
                <a:solidFill>
                  <a:srgbClr val="002856"/>
                </a:solidFill>
                <a:latin typeface="Arial"/>
              </a:rPr>
              <a:t>Thermally-managed battery chemistry, sized with a winter capacity buffer -- Michigan's worst outages are winter/ice-storm driven</a:t>
            </a:r>
          </a:p>
          <a:p>
            <a:pPr>
              <a:spcAft>
                <a:spcPts val="600"/>
              </a:spcAft>
            </a:pPr>
            <a:r>
              <a:rPr b="1" sz="1100">
                <a:solidFill>
                  <a:srgbClr val="002856"/>
                </a:solidFill>
                <a:latin typeface="Arial"/>
              </a:rPr>
              <a:t>Maintenance: </a:t>
            </a:r>
            <a:r>
              <a:rPr sz="1100">
                <a:solidFill>
                  <a:srgbClr val="002856"/>
                </a:solidFill>
                <a:latin typeface="Arial"/>
              </a:rPr>
              <a:t>Utility owns the fleet, so utility (via APTIM's contractor network) maintains it -- zero burden on the household</a:t>
            </a:r>
          </a:p>
          <a:p>
            <a:pPr>
              <a:spcAft>
                <a:spcPts val="600"/>
              </a:spcAft>
            </a:pPr>
            <a:r>
              <a:rPr b="1" sz="1100">
                <a:solidFill>
                  <a:srgbClr val="002856"/>
                </a:solidFill>
                <a:latin typeface="Arial"/>
              </a:rPr>
              <a:t>Pilot targeting: </a:t>
            </a:r>
            <a:r>
              <a:rPr sz="1100">
                <a:solidFill>
                  <a:srgbClr val="002856"/>
                </a:solidFill>
                <a:latin typeface="Arial"/>
              </a:rPr>
              <a:t>Phase 1 enrolls qualifying, stable homeowners to prove the model; Phase 2 expands to higher-need areas</a:t>
            </a:r>
          </a:p>
        </p:txBody>
      </p:sp>
    </p:spTree>
    <p:extLst>
      <p:ext uri="{BB962C8B-B14F-4D97-AF65-F5344CB8AC3E}">
        <p14:creationId xmlns:p14="http://schemas.microsoft.com/office/powerpoint/2010/main" val="738984277"/>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Deeper Dive: Why This Approach, How It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Supporting context -- full detail in speaker notes</a:t>
            </a:r>
          </a:p>
        </p:txBody>
      </p:sp>
      <p:sp>
        <p:nvSpPr>
          <p:cNvPr id="4" name="TextBox 3"/>
          <p:cNvSpPr txBox="1"/>
          <p:nvPr/>
        </p:nvSpPr>
        <p:spPr>
          <a:xfrm>
            <a:off x="457200" y="1371600"/>
            <a:ext cx="5394960" cy="365760"/>
          </a:xfrm>
          <a:prstGeom prst="rect">
            <a:avLst/>
          </a:prstGeom>
          <a:noFill/>
        </p:spPr>
        <p:txBody>
          <a:bodyPr wrap="none">
            <a:spAutoFit/>
          </a:bodyPr>
          <a:lstStyle/>
          <a:p>
            <a:r>
              <a:rPr b="1" sz="1600">
                <a:solidFill>
                  <a:srgbClr val="002856"/>
                </a:solidFill>
                <a:latin typeface="Arial"/>
              </a:rPr>
              <a:t>Why We Chose This Approach</a:t>
            </a:r>
          </a:p>
        </p:txBody>
      </p:sp>
      <p:sp>
        <p:nvSpPr>
          <p:cNvPr id="5" name="TextBox 4"/>
          <p:cNvSpPr txBox="1"/>
          <p:nvPr/>
        </p:nvSpPr>
        <p:spPr>
          <a:xfrm>
            <a:off x="457200" y="1828800"/>
            <a:ext cx="5394960" cy="4114800"/>
          </a:xfrm>
          <a:prstGeom prst="rect">
            <a:avLst/>
          </a:prstGeom>
          <a:noFill/>
        </p:spPr>
        <p:txBody>
          <a:bodyPr wrap="square">
            <a:spAutoFit/>
          </a:bodyPr>
          <a:lstStyle/>
          <a:p>
            <a:pPr>
              <a:spcAft>
                <a:spcPts val="1600"/>
              </a:spcAft>
            </a:pPr>
            <a:r>
              <a:rPr sz="1500">
                <a:solidFill>
                  <a:srgbClr val="002856"/>
                </a:solidFill>
                <a:latin typeface="Arial"/>
              </a:rPr>
              <a:t>✓  A specific program, not a capability list</a:t>
            </a:r>
          </a:p>
          <a:p>
            <a:pPr>
              <a:spcAft>
                <a:spcPts val="1600"/>
              </a:spcAft>
            </a:pPr>
            <a:r>
              <a:rPr sz="1500">
                <a:solidFill>
                  <a:srgbClr val="002856"/>
                </a:solidFill>
                <a:latin typeface="Arial"/>
              </a:rPr>
              <a:t>✓  Not a generation strategy -- a distribution-resilience play</a:t>
            </a:r>
          </a:p>
          <a:p>
            <a:pPr>
              <a:spcAft>
                <a:spcPts val="1600"/>
              </a:spcAft>
            </a:pPr>
            <a:r>
              <a:rPr sz="1500">
                <a:solidFill>
                  <a:srgbClr val="002856"/>
                </a:solidFill>
                <a:latin typeface="Arial"/>
              </a:rPr>
              <a:t>✓  Fits DTE's existing $1B/yr Distribution Grid Plan</a:t>
            </a:r>
          </a:p>
          <a:p>
            <a:pPr>
              <a:spcAft>
                <a:spcPts val="1600"/>
              </a:spcAft>
            </a:pPr>
            <a:r>
              <a:rPr sz="1500">
                <a:solidFill>
                  <a:srgbClr val="002856"/>
                </a:solidFill>
                <a:latin typeface="Arial"/>
              </a:rPr>
              <a:t>✓  Feasible: pilot approval in 1-2 years, operating within 3</a:t>
            </a:r>
          </a:p>
        </p:txBody>
      </p:sp>
      <p:sp>
        <p:nvSpPr>
          <p:cNvPr id="6" name="TextBox 5"/>
          <p:cNvSpPr txBox="1"/>
          <p:nvPr/>
        </p:nvSpPr>
        <p:spPr>
          <a:xfrm>
            <a:off x="6309360" y="1371600"/>
            <a:ext cx="5394960" cy="365760"/>
          </a:xfrm>
          <a:prstGeom prst="rect">
            <a:avLst/>
          </a:prstGeom>
          <a:noFill/>
        </p:spPr>
        <p:txBody>
          <a:bodyPr wrap="none">
            <a:spAutoFit/>
          </a:bodyPr>
          <a:lstStyle/>
          <a:p>
            <a:r>
              <a:rPr b="1" sz="1600">
                <a:solidFill>
                  <a:srgbClr val="002856"/>
                </a:solidFill>
                <a:latin typeface="Arial"/>
              </a:rPr>
              <a:t>How the Program Actually Works</a:t>
            </a:r>
          </a:p>
        </p:txBody>
      </p:sp>
      <p:sp>
        <p:nvSpPr>
          <p:cNvPr id="7" name="TextBox 6"/>
          <p:cNvSpPr txBox="1"/>
          <p:nvPr/>
        </p:nvSpPr>
        <p:spPr>
          <a:xfrm>
            <a:off x="6309360" y="1828800"/>
            <a:ext cx="5394960" cy="4114800"/>
          </a:xfrm>
          <a:prstGeom prst="rect">
            <a:avLst/>
          </a:prstGeom>
          <a:noFill/>
        </p:spPr>
        <p:txBody>
          <a:bodyPr wrap="square">
            <a:spAutoFit/>
          </a:bodyPr>
          <a:lstStyle/>
          <a:p>
            <a:pPr>
              <a:spcAft>
                <a:spcPts val="1600"/>
              </a:spcAft>
            </a:pPr>
            <a:r>
              <a:rPr sz="1500">
                <a:solidFill>
                  <a:srgbClr val="002856"/>
                </a:solidFill>
                <a:latin typeface="Arial"/>
              </a:rPr>
              <a:t>✓  Ownership settled: utility owns, homeowner-loan math rejected</a:t>
            </a:r>
          </a:p>
          <a:p>
            <a:pPr>
              <a:spcAft>
                <a:spcPts val="1600"/>
              </a:spcAft>
            </a:pPr>
            <a:r>
              <a:rPr sz="1500">
                <a:solidFill>
                  <a:srgbClr val="002856"/>
                </a:solidFill>
                <a:latin typeface="Arial"/>
              </a:rPr>
              <a:t>✓  Engineered for Michigan winters -- cold-rated battery chemistry</a:t>
            </a:r>
          </a:p>
          <a:p>
            <a:pPr>
              <a:spcAft>
                <a:spcPts val="1600"/>
              </a:spcAft>
            </a:pPr>
            <a:r>
              <a:rPr sz="1500">
                <a:solidFill>
                  <a:srgbClr val="002856"/>
                </a:solidFill>
                <a:latin typeface="Arial"/>
              </a:rPr>
              <a:t>✓  Utility owns it, utility maintains it -- zero burden on host</a:t>
            </a:r>
          </a:p>
          <a:p>
            <a:pPr>
              <a:spcAft>
                <a:spcPts val="1600"/>
              </a:spcAft>
            </a:pPr>
            <a:r>
              <a:rPr sz="1500">
                <a:solidFill>
                  <a:srgbClr val="002856"/>
                </a:solidFill>
                <a:latin typeface="Arial"/>
              </a:rPr>
              <a:t>✓  Phase 1: stable homeowners. Phase 2: higher-need areas</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Competitive Landscape</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Where APTIM sits between specialized implementers and large engineering firms</a:t>
            </a:r>
          </a:p>
        </p:txBody>
      </p:sp>
      <p:graphicFrame>
        <p:nvGraphicFramePr>
          <p:cNvPr id="4" name="Table 3"/>
          <p:cNvGraphicFramePr>
            <a:graphicFrameLocks noGrp="1"/>
          </p:cNvGraphicFramePr>
          <p:nvPr/>
        </p:nvGraphicFramePr>
        <p:xfrm>
          <a:off x="457200" y="1280160"/>
          <a:ext cx="11247120" cy="2377440"/>
        </p:xfrm>
        <a:graphic>
          <a:graphicData uri="http://schemas.openxmlformats.org/drawingml/2006/table">
            <a:tbl>
              <a:tblPr firstRow="1" bandRow="1">
                <a:tableStyleId>{5C22544A-7EE6-4342-B048-85BDC9FD1C3A}</a:tableStyleId>
              </a:tblPr>
              <a:tblGrid>
                <a:gridCol w="3931920"/>
                <a:gridCol w="1828800"/>
                <a:gridCol w="1828800"/>
                <a:gridCol w="1828800"/>
                <a:gridCol w="1828800"/>
              </a:tblGrid>
              <a:tr h="396240">
                <a:tc>
                  <a:txBody>
                    <a:bodyPr/>
                    <a:lstStyle/>
                    <a:p>
                      <a:pPr algn="ctr">
                        <a:defRPr sz="1200" b="1">
                          <a:solidFill>
                            <a:srgbClr val="FFFFFF"/>
                          </a:solidFill>
                          <a:latin typeface="Arial"/>
                        </a:defRPr>
                      </a:pPr>
                    </a:p>
                  </a:txBody>
                  <a:tcPr>
                    <a:solidFill>
                      <a:srgbClr val="002856"/>
                    </a:solidFill>
                  </a:tcPr>
                </a:tc>
                <a:tc>
                  <a:txBody>
                    <a:bodyPr/>
                    <a:lstStyle/>
                    <a:p>
                      <a:pPr algn="ctr">
                        <a:defRPr sz="1200" b="1">
                          <a:solidFill>
                            <a:srgbClr val="FFFFFF"/>
                          </a:solidFill>
                          <a:latin typeface="Arial"/>
                        </a:defRPr>
                      </a:pPr>
                      <a:r>
                        <a:t>CLEAResult</a:t>
                      </a:r>
                    </a:p>
                  </a:txBody>
                  <a:tcPr>
                    <a:solidFill>
                      <a:srgbClr val="002856"/>
                    </a:solidFill>
                  </a:tcPr>
                </a:tc>
                <a:tc>
                  <a:txBody>
                    <a:bodyPr/>
                    <a:lstStyle/>
                    <a:p>
                      <a:pPr algn="ctr">
                        <a:defRPr sz="1200" b="1">
                          <a:solidFill>
                            <a:srgbClr val="FFFFFF"/>
                          </a:solidFill>
                          <a:latin typeface="Arial"/>
                        </a:defRPr>
                      </a:pPr>
                      <a:r>
                        <a:t>ICF</a:t>
                      </a:r>
                    </a:p>
                  </a:txBody>
                  <a:tcPr>
                    <a:solidFill>
                      <a:srgbClr val="002856"/>
                    </a:solidFill>
                  </a:tcPr>
                </a:tc>
                <a:tc>
                  <a:txBody>
                    <a:bodyPr/>
                    <a:lstStyle/>
                    <a:p>
                      <a:pPr algn="ctr">
                        <a:defRPr sz="1200" b="1">
                          <a:solidFill>
                            <a:srgbClr val="FFFFFF"/>
                          </a:solidFill>
                          <a:latin typeface="Arial"/>
                        </a:defRPr>
                      </a:pPr>
                      <a:r>
                        <a:t>Stantec</a:t>
                      </a:r>
                    </a:p>
                  </a:txBody>
                  <a:tcPr>
                    <a:solidFill>
                      <a:srgbClr val="002856"/>
                    </a:solidFill>
                  </a:tcPr>
                </a:tc>
                <a:tc>
                  <a:txBody>
                    <a:bodyPr/>
                    <a:lstStyle/>
                    <a:p>
                      <a:pPr algn="ctr">
                        <a:defRPr sz="1200" b="1">
                          <a:solidFill>
                            <a:srgbClr val="FFFFFF"/>
                          </a:solidFill>
                          <a:latin typeface="Arial"/>
                        </a:defRPr>
                      </a:pPr>
                      <a:r>
                        <a:t>APTIM</a:t>
                      </a:r>
                    </a:p>
                  </a:txBody>
                  <a:tcPr>
                    <a:solidFill>
                      <a:srgbClr val="002856"/>
                    </a:solidFill>
                  </a:tcPr>
                </a:tc>
              </a:tr>
              <a:tr h="396240">
                <a:tc>
                  <a:txBody>
                    <a:bodyPr/>
                    <a:lstStyle/>
                    <a:p>
                      <a:pPr>
                        <a:defRPr sz="1200">
                          <a:solidFill>
                            <a:srgbClr val="002856"/>
                          </a:solidFill>
                          <a:latin typeface="Arial"/>
                        </a:defRPr>
                      </a:pPr>
                      <a:r>
                        <a:t>Energy Efficiency Programs</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r>
              <a:tr h="396240">
                <a:tc>
                  <a:txBody>
                    <a:bodyPr/>
                    <a:lstStyle/>
                    <a:p>
                      <a:pPr>
                        <a:defRPr sz="1200">
                          <a:solidFill>
                            <a:srgbClr val="002856"/>
                          </a:solidFill>
                          <a:latin typeface="Arial"/>
                        </a:defRPr>
                      </a:pPr>
                      <a:r>
                        <a:t>Rebate Administration</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r>
              <a:tr h="396240">
                <a:tc>
                  <a:txBody>
                    <a:bodyPr/>
                    <a:lstStyle/>
                    <a:p>
                      <a:pPr>
                        <a:defRPr sz="1200">
                          <a:solidFill>
                            <a:srgbClr val="002856"/>
                          </a:solidFill>
                          <a:latin typeface="Arial"/>
                        </a:defRPr>
                      </a:pPr>
                      <a:r>
                        <a:t>Government Programs</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r>
              <a:tr h="396240">
                <a:tc>
                  <a:txBody>
                    <a:bodyPr/>
                    <a:lstStyle/>
                    <a:p>
                      <a:pPr>
                        <a:defRPr sz="1200">
                          <a:solidFill>
                            <a:srgbClr val="002856"/>
                          </a:solidFill>
                          <a:latin typeface="Arial"/>
                        </a:defRPr>
                      </a:pPr>
                      <a:r>
                        <a:t>Engineering &amp; Infrastructure</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r>
              <a:tr h="396240">
                <a:tc>
                  <a:txBody>
                    <a:bodyPr/>
                    <a:lstStyle/>
                    <a:p>
                      <a:pPr>
                        <a:defRPr sz="1200">
                          <a:solidFill>
                            <a:srgbClr val="002856"/>
                          </a:solidFill>
                          <a:latin typeface="Arial"/>
                        </a:defRPr>
                      </a:pPr>
                      <a:r>
                        <a:t>Utility-Owned Fleet Admin</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 (only one)</a:t>
                      </a:r>
                    </a:p>
                  </a:txBody>
                  <a:tcPr>
                    <a:solidFill>
                      <a:srgbClr val="E9EEF5"/>
                    </a:solidFill>
                  </a:tcPr>
                </a:tc>
              </a:tr>
            </a:tbl>
          </a:graphicData>
        </a:graphic>
      </p:graphicFrame>
      <p:sp>
        <p:nvSpPr>
          <p:cNvPr id="5" name="TextBox 4"/>
          <p:cNvSpPr txBox="1"/>
          <p:nvPr/>
        </p:nvSpPr>
        <p:spPr>
          <a:xfrm>
            <a:off x="457200" y="3749039"/>
            <a:ext cx="11247120" cy="274320"/>
          </a:xfrm>
          <a:prstGeom prst="rect">
            <a:avLst/>
          </a:prstGeom>
          <a:noFill/>
        </p:spPr>
        <p:txBody>
          <a:bodyPr wrap="none">
            <a:spAutoFit/>
          </a:bodyPr>
          <a:lstStyle/>
          <a:p>
            <a:r>
              <a:rPr sz="1100" i="1">
                <a:solidFill>
                  <a:srgbClr val="595959"/>
                </a:solidFill>
                <a:latin typeface="Arial"/>
              </a:rPr>
              <a:t>● Core service     ◐ Secondary service     ○ Not offered / weak</a:t>
            </a:r>
          </a:p>
        </p:txBody>
      </p:sp>
      <p:sp>
        <p:nvSpPr>
          <p:cNvPr id="6" name="Rounded Rectangle 5"/>
          <p:cNvSpPr/>
          <p:nvPr/>
        </p:nvSpPr>
        <p:spPr>
          <a:xfrm>
            <a:off x="457200" y="4160520"/>
            <a:ext cx="11247120" cy="1965960"/>
          </a:xfrm>
          <a:prstGeom prst="roundRect">
            <a:avLst>
              <a:gd name="adj" fmla="val 6000"/>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500">
                <a:solidFill>
                  <a:srgbClr val="002856"/>
                </a:solidFill>
                <a:latin typeface="Arial"/>
              </a:rPr>
              <a:t>The Gap: Nobody Administers Utility-Owned Residential Fleets</a:t>
            </a:r>
          </a:p>
          <a:p>
            <a:pPr>
              <a:spcAft>
                <a:spcPts val="600"/>
              </a:spcAft>
            </a:pPr>
            <a:r>
              <a:rPr b="1" sz="1200">
                <a:solidFill>
                  <a:srgbClr val="FF8200"/>
                </a:solidFill>
                <a:latin typeface="Arial"/>
              </a:rPr>
              <a:t>•  CLEAResult:</a:t>
            </a:r>
            <a:r>
              <a:rPr sz="1200">
                <a:solidFill>
                  <a:srgbClr val="002856"/>
                </a:solidFill>
                <a:latin typeface="Arial"/>
              </a:rPr>
              <a:t> largest EE implementer, but only administers customer-owned (BYOD) programs</a:t>
            </a:r>
          </a:p>
          <a:p>
            <a:pPr>
              <a:spcAft>
                <a:spcPts val="600"/>
              </a:spcAft>
            </a:pPr>
            <a:r>
              <a:rPr b="1" sz="1200">
                <a:solidFill>
                  <a:srgbClr val="FF8200"/>
                </a:solidFill>
                <a:latin typeface="Arial"/>
              </a:rPr>
              <a:t>•  ICF:</a:t>
            </a:r>
            <a:r>
              <a:rPr sz="1200">
                <a:solidFill>
                  <a:srgbClr val="002856"/>
                </a:solidFill>
                <a:latin typeface="Arial"/>
              </a:rPr>
              <a:t> strong analytics and program design, no utility-owned asset administration</a:t>
            </a:r>
          </a:p>
          <a:p>
            <a:pPr>
              <a:spcAft>
                <a:spcPts val="600"/>
              </a:spcAft>
            </a:pPr>
            <a:r>
              <a:rPr b="1" sz="1200">
                <a:solidFill>
                  <a:srgbClr val="FF8200"/>
                </a:solidFill>
                <a:latin typeface="Arial"/>
              </a:rPr>
              <a:t>•  Stantec:</a:t>
            </a:r>
            <a:r>
              <a:rPr sz="1200">
                <a:solidFill>
                  <a:srgbClr val="002856"/>
                </a:solidFill>
                <a:latin typeface="Arial"/>
              </a:rPr>
              <a:t> engineering and infrastructure, not day-to-day program delivery</a:t>
            </a:r>
          </a:p>
          <a:p>
            <a:pPr>
              <a:spcAft>
                <a:spcPts val="600"/>
              </a:spcAft>
            </a:pPr>
            <a:r>
              <a:rPr b="1" sz="1200">
                <a:solidFill>
                  <a:srgbClr val="FF8200"/>
                </a:solidFill>
                <a:latin typeface="Arial"/>
              </a:rPr>
              <a:t>•  Proof:</a:t>
            </a:r>
            <a:r>
              <a:rPr sz="1200">
                <a:solidFill>
                  <a:srgbClr val="002856"/>
                </a:solidFill>
                <a:latin typeface="Arial"/>
              </a:rPr>
              <a:t> Green Mountain Power -- the largest utility-owned fleet in the US -- had to build this role in-house because no company sells it</a:t>
            </a:r>
          </a:p>
        </p:txBody>
      </p:sp>
      <p:sp>
        <p:nvSpPr>
          <p:cNvPr id="7" name="TextBox 6"/>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8" name="TextBox 7"/>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12</a:t>
            </a:r>
          </a:p>
        </p:txBody>
      </p:sp>
    </p:spTree>
    <p:extLst>
      <p:ext uri="{BB962C8B-B14F-4D97-AF65-F5344CB8AC3E}">
        <p14:creationId xmlns:p14="http://schemas.microsoft.com/office/powerpoint/2010/main" val="35741668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CBB8E-0210-7681-A04F-5FA1D6C77E1A}"/>
            </a:ext>
          </a:extLst>
        </p:cNvPr>
        <p:cNvGrpSpPr/>
        <p:nvPr/>
      </p:nvGrpSpPr>
      <p:grpSpPr>
        <a:xfrm>
          <a:off x="0" y="0"/>
          <a:ext cx="0" cy="0"/>
          <a:chOff x="0" y="0"/>
          <a:chExt cx="0" cy="0"/>
        </a:xfrm>
      </p:grpSpPr>
      <p:sp>
        <p:nvSpPr>
          <p:cNvPr id="81" name="TextBox 80"/>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Strategic Fit: Why This Works for APTIM</a:t>
            </a:r>
          </a:p>
        </p:txBody>
      </p:sp>
      <p:sp>
        <p:nvSpPr>
          <p:cNvPr id="82" name="Rounded Rectangle 81"/>
          <p:cNvSpPr/>
          <p:nvPr/>
        </p:nvSpPr>
        <p:spPr>
          <a:xfrm>
            <a:off x="365760" y="1005840"/>
            <a:ext cx="5577840" cy="205740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Leverages Existing Capabilities</a:t>
            </a:r>
          </a:p>
          <a:p>
            <a:r>
              <a:rPr sz="1300">
                <a:solidFill>
                  <a:srgbClr val="FFFFFF"/>
                </a:solidFill>
                <a:latin typeface="Arial"/>
              </a:rPr>
              <a:t>Program admin, contractor networks, compliance reporting -- already in-house</a:t>
            </a:r>
          </a:p>
        </p:txBody>
      </p:sp>
      <p:sp>
        <p:nvSpPr>
          <p:cNvPr id="83" name="Rounded Rectangle 82"/>
          <p:cNvSpPr/>
          <p:nvPr/>
        </p:nvSpPr>
        <p:spPr>
          <a:xfrm>
            <a:off x="6172200" y="1005840"/>
            <a:ext cx="5577840" cy="205740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Expands Into New Markets</a:t>
            </a:r>
          </a:p>
          <a:p>
            <a:r>
              <a:rPr sz="1300">
                <a:solidFill>
                  <a:srgbClr val="FFFFFF"/>
                </a:solidFill>
                <a:latin typeface="Arial"/>
              </a:rPr>
              <a:t>First-mover in an unadministered service category</a:t>
            </a:r>
          </a:p>
        </p:txBody>
      </p:sp>
      <p:sp>
        <p:nvSpPr>
          <p:cNvPr id="84" name="Rounded Rectangle 83"/>
          <p:cNvSpPr/>
          <p:nvPr/>
        </p:nvSpPr>
        <p:spPr>
          <a:xfrm>
            <a:off x="365760" y="3200400"/>
            <a:ext cx="5577840" cy="2057400"/>
          </a:xfrm>
          <a:prstGeom prst="roundRect">
            <a:avLst>
              <a:gd name="adj" fmla="val 6000"/>
            </a:avLst>
          </a:prstGeom>
          <a:solidFill>
            <a:srgbClr val="3D7CC9"/>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Scales Through Relationships</a:t>
            </a:r>
          </a:p>
          <a:p>
            <a:r>
              <a:rPr sz="1300">
                <a:solidFill>
                  <a:srgbClr val="FFFFFF"/>
                </a:solidFill>
                <a:latin typeface="Arial"/>
              </a:rPr>
              <a:t>Wisconsin and Louisiana already trust APTIM to deliver</a:t>
            </a:r>
          </a:p>
        </p:txBody>
      </p:sp>
      <p:sp>
        <p:nvSpPr>
          <p:cNvPr id="85" name="Rounded Rectangle 84"/>
          <p:cNvSpPr/>
          <p:nvPr/>
        </p:nvSpPr>
        <p:spPr>
          <a:xfrm>
            <a:off x="6172200" y="3200400"/>
            <a:ext cx="5577840" cy="205740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Creates Resilient Revenue</a:t>
            </a:r>
          </a:p>
          <a:p>
            <a:r>
              <a:rPr sz="1300">
                <a:solidFill>
                  <a:srgbClr val="FFFFFF"/>
                </a:solidFill>
                <a:latin typeface="Arial"/>
              </a:rPr>
              <a:t>Ratepayer-financed -- insulated from federal funding swings</a:t>
            </a:r>
          </a:p>
        </p:txBody>
      </p:sp>
      <p:sp>
        <p:nvSpPr>
          <p:cNvPr id="86" name="Rounded Rectangle 85"/>
          <p:cNvSpPr/>
          <p:nvPr/>
        </p:nvSpPr>
        <p:spPr>
          <a:xfrm>
            <a:off x="365760" y="5394960"/>
            <a:ext cx="11384280" cy="822960"/>
          </a:xfrm>
          <a:prstGeom prst="round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i="1">
                <a:solidFill>
                  <a:srgbClr val="002856"/>
                </a:solidFill>
                <a:latin typeface="Arial"/>
              </a:rPr>
              <a:t>Existing capabilities + trusted relationships + a differentiated market position = a scalable win for APTIM.</a:t>
            </a:r>
          </a:p>
        </p:txBody>
      </p:sp>
      <p:sp>
        <p:nvSpPr>
          <p:cNvPr id="87" name="TextBox 86"/>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88" name="TextBox 87"/>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13</a:t>
            </a:r>
          </a:p>
        </p:txBody>
      </p:sp>
    </p:spTree>
    <p:extLst>
      <p:ext uri="{BB962C8B-B14F-4D97-AF65-F5344CB8AC3E}">
        <p14:creationId xmlns:p14="http://schemas.microsoft.com/office/powerpoint/2010/main" val="121817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Client Use Case: Michigan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Legal pathway, feasibility, and how APTIM wins the bid</a:t>
            </a:r>
          </a:p>
        </p:txBody>
      </p:sp>
      <p:sp>
        <p:nvSpPr>
          <p:cNvPr id="4" name="TextBox 3"/>
          <p:cNvSpPr txBox="1"/>
          <p:nvPr/>
        </p:nvSpPr>
        <p:spPr>
          <a:xfrm>
            <a:off x="365760" y="1143000"/>
            <a:ext cx="5486400" cy="274320"/>
          </a:xfrm>
          <a:prstGeom prst="rect">
            <a:avLst/>
          </a:prstGeom>
          <a:noFill/>
        </p:spPr>
        <p:txBody>
          <a:bodyPr wrap="none">
            <a:spAutoFit/>
          </a:bodyPr>
          <a:lstStyle/>
          <a:p>
            <a:r>
              <a:rPr b="1" sz="1500">
                <a:solidFill>
                  <a:srgbClr val="FF8200"/>
                </a:solidFill>
                <a:latin typeface="Arial"/>
              </a:rPr>
              <a:t>Legal Pathway</a:t>
            </a:r>
          </a:p>
        </p:txBody>
      </p:sp>
      <p:sp>
        <p:nvSpPr>
          <p:cNvPr id="5" name="TextBox 4"/>
          <p:cNvSpPr txBox="1"/>
          <p:nvPr/>
        </p:nvSpPr>
        <p:spPr>
          <a:xfrm>
            <a:off x="365760" y="1508760"/>
            <a:ext cx="5486400" cy="1828800"/>
          </a:xfrm>
          <a:prstGeom prst="rect">
            <a:avLst/>
          </a:prstGeom>
          <a:noFill/>
        </p:spPr>
        <p:txBody>
          <a:bodyPr wrap="square">
            <a:spAutoFit/>
          </a:bodyPr>
          <a:lstStyle/>
          <a:p>
            <a:pPr>
              <a:spcAft>
                <a:spcPts val="800"/>
              </a:spcAft>
            </a:pPr>
            <a:r>
              <a:rPr sz="1300">
                <a:solidFill>
                  <a:srgbClr val="002856"/>
                </a:solidFill>
                <a:latin typeface="Arial"/>
              </a:rPr>
              <a:t>✓  MPSC precedent: 1,332 MW utility-owned storage approved (Mar 2026)</a:t>
            </a:r>
          </a:p>
          <a:p>
            <a:pPr>
              <a:spcAft>
                <a:spcPts val="800"/>
              </a:spcAft>
            </a:pPr>
            <a:r>
              <a:rPr sz="1300">
                <a:solidFill>
                  <a:srgbClr val="002856"/>
                </a:solidFill>
                <a:latin typeface="Arial"/>
              </a:rPr>
              <a:t>✓  PA 235 mandate: 2,500 MW statewide storage target by 2029</a:t>
            </a:r>
          </a:p>
          <a:p>
            <a:pPr>
              <a:spcAft>
                <a:spcPts val="800"/>
              </a:spcAft>
            </a:pPr>
            <a:r>
              <a:rPr sz="1300">
                <a:solidFill>
                  <a:srgbClr val="002856"/>
                </a:solidFill>
                <a:latin typeface="Arial"/>
              </a:rPr>
              <a:t>✓  Filing route: expedited DER pilot pathway (Case U-21653)</a:t>
            </a:r>
          </a:p>
        </p:txBody>
      </p:sp>
      <p:sp>
        <p:nvSpPr>
          <p:cNvPr id="6" name="TextBox 5"/>
          <p:cNvSpPr txBox="1"/>
          <p:nvPr/>
        </p:nvSpPr>
        <p:spPr>
          <a:xfrm>
            <a:off x="365760" y="3429000"/>
            <a:ext cx="5486400" cy="822960"/>
          </a:xfrm>
          <a:prstGeom prst="rect">
            <a:avLst/>
          </a:prstGeom>
          <a:noFill/>
        </p:spPr>
        <p:txBody>
          <a:bodyPr wrap="square">
            <a:spAutoFit/>
          </a:bodyPr>
          <a:lstStyle/>
          <a:p>
            <a:r>
              <a:rPr b="1" sz="1200">
                <a:solidFill>
                  <a:srgbClr val="A32036"/>
                </a:solidFill>
                <a:latin typeface="Arial"/>
              </a:rPr>
              <a:t>Known risk: </a:t>
            </a:r>
            <a:r>
              <a:rPr sz="1200">
                <a:solidFill>
                  <a:srgbClr val="002856"/>
                </a:solidFill>
                <a:latin typeface="Arial"/>
              </a:rPr>
              <a:t>DTE's prior residential battery pilot was rejected -- exact rationale unverified, case number needs docket confirmation.</a:t>
            </a:r>
          </a:p>
        </p:txBody>
      </p:sp>
      <p:sp>
        <p:nvSpPr>
          <p:cNvPr id="7" name="TextBox 6"/>
          <p:cNvSpPr txBox="1"/>
          <p:nvPr/>
        </p:nvSpPr>
        <p:spPr>
          <a:xfrm>
            <a:off x="365760" y="4343400"/>
            <a:ext cx="5486400" cy="274320"/>
          </a:xfrm>
          <a:prstGeom prst="rect">
            <a:avLst/>
          </a:prstGeom>
          <a:noFill/>
        </p:spPr>
        <p:txBody>
          <a:bodyPr wrap="none">
            <a:spAutoFit/>
          </a:bodyPr>
          <a:lstStyle/>
          <a:p>
            <a:r>
              <a:rPr b="1" sz="1500">
                <a:solidFill>
                  <a:srgbClr val="FF8200"/>
                </a:solidFill>
                <a:latin typeface="Arial"/>
              </a:rPr>
              <a:t>Why We Win the Bid</a:t>
            </a:r>
          </a:p>
        </p:txBody>
      </p:sp>
      <p:sp>
        <p:nvSpPr>
          <p:cNvPr id="8" name="TextBox 7"/>
          <p:cNvSpPr txBox="1"/>
          <p:nvPr/>
        </p:nvSpPr>
        <p:spPr>
          <a:xfrm>
            <a:off x="365760" y="4663440"/>
            <a:ext cx="5486400" cy="1005840"/>
          </a:xfrm>
          <a:prstGeom prst="rect">
            <a:avLst/>
          </a:prstGeom>
          <a:noFill/>
        </p:spPr>
        <p:txBody>
          <a:bodyPr wrap="square">
            <a:spAutoFit/>
          </a:bodyPr>
          <a:lstStyle/>
          <a:p>
            <a:pPr>
              <a:spcAft>
                <a:spcPts val="800"/>
              </a:spcAft>
            </a:pPr>
            <a:r>
              <a:rPr sz="1200">
                <a:solidFill>
                  <a:srgbClr val="002856"/>
                </a:solidFill>
                <a:latin typeface="Arial"/>
              </a:rPr>
              <a:t>✓  File as a low-exposure capped pilot, not a rate case</a:t>
            </a:r>
          </a:p>
          <a:p>
            <a:pPr>
              <a:spcAft>
                <a:spcPts val="800"/>
              </a:spcAft>
            </a:pPr>
            <a:r>
              <a:rPr sz="1200">
                <a:solidFill>
                  <a:srgbClr val="002856"/>
                </a:solidFill>
                <a:latin typeface="Arial"/>
              </a:rPr>
              <a:t>✓  APTIM brings the track record DTE lacked in 2022</a:t>
            </a:r>
          </a:p>
          <a:p>
            <a:pPr>
              <a:spcAft>
                <a:spcPts val="800"/>
              </a:spcAft>
            </a:pPr>
            <a:r>
              <a:rPr sz="1200">
                <a:solidFill>
                  <a:srgbClr val="002856"/>
                </a:solidFill>
                <a:latin typeface="Arial"/>
              </a:rPr>
              <a:t>✓  Local installer subcontracting defuses market pushback</a:t>
            </a:r>
          </a:p>
        </p:txBody>
      </p:sp>
      <p:sp>
        <p:nvSpPr>
          <p:cNvPr id="9" name="TextBox 8"/>
          <p:cNvSpPr txBox="1"/>
          <p:nvPr/>
        </p:nvSpPr>
        <p:spPr>
          <a:xfrm>
            <a:off x="6172200" y="1143000"/>
            <a:ext cx="5577840" cy="274320"/>
          </a:xfrm>
          <a:prstGeom prst="rect">
            <a:avLst/>
          </a:prstGeom>
          <a:noFill/>
        </p:spPr>
        <p:txBody>
          <a:bodyPr wrap="none">
            <a:spAutoFit/>
          </a:bodyPr>
          <a:lstStyle/>
          <a:p>
            <a:r>
              <a:rPr b="1" sz="1500">
                <a:solidFill>
                  <a:srgbClr val="FF8200"/>
                </a:solidFill>
                <a:latin typeface="Arial"/>
              </a:rPr>
              <a:t>Pros vs. Cons (Mitigated)</a:t>
            </a:r>
          </a:p>
        </p:txBody>
      </p:sp>
      <p:graphicFrame>
        <p:nvGraphicFramePr>
          <p:cNvPr id="10" name="Table 9"/>
          <p:cNvGraphicFramePr>
            <a:graphicFrameLocks noGrp="1"/>
          </p:cNvGraphicFramePr>
          <p:nvPr/>
        </p:nvGraphicFramePr>
        <p:xfrm>
          <a:off x="6172200" y="1508760"/>
          <a:ext cx="5577840" cy="1737360"/>
        </p:xfrm>
        <a:graphic>
          <a:graphicData uri="http://schemas.openxmlformats.org/drawingml/2006/table">
            <a:tbl>
              <a:tblPr firstRow="1" bandRow="1">
                <a:tableStyleId>{5C22544A-7EE6-4342-B048-85BDC9FD1C3A}</a:tableStyleId>
              </a:tblPr>
              <a:tblGrid>
                <a:gridCol w="2788920"/>
                <a:gridCol w="2788920"/>
              </a:tblGrid>
              <a:tr h="434340">
                <a:tc>
                  <a:txBody>
                    <a:bodyPr/>
                    <a:lstStyle/>
                    <a:p>
                      <a:pPr>
                        <a:defRPr sz="1100" b="1">
                          <a:solidFill>
                            <a:srgbClr val="FFFFFF"/>
                          </a:solidFill>
                          <a:latin typeface="Arial"/>
                        </a:defRPr>
                      </a:pPr>
                      <a:r>
                        <a:t>Pros</a:t>
                      </a:r>
                    </a:p>
                  </a:txBody>
                  <a:tcPr>
                    <a:solidFill>
                      <a:srgbClr val="002856"/>
                    </a:solidFill>
                  </a:tcPr>
                </a:tc>
                <a:tc>
                  <a:txBody>
                    <a:bodyPr/>
                    <a:lstStyle/>
                    <a:p>
                      <a:pPr>
                        <a:defRPr sz="1100" b="1">
                          <a:solidFill>
                            <a:srgbClr val="FFFFFF"/>
                          </a:solidFill>
                          <a:latin typeface="Arial"/>
                        </a:defRPr>
                      </a:pPr>
                      <a:r>
                        <a:t>Cons (Addressed Above)</a:t>
                      </a:r>
                    </a:p>
                  </a:txBody>
                  <a:tcPr>
                    <a:solidFill>
                      <a:srgbClr val="002856"/>
                    </a:solidFill>
                  </a:tcPr>
                </a:tc>
              </a:tr>
              <a:tr h="434340">
                <a:tc>
                  <a:txBody>
                    <a:bodyPr/>
                    <a:lstStyle/>
                    <a:p>
                      <a:pPr>
                        <a:defRPr sz="1100">
                          <a:solidFill>
                            <a:srgbClr val="002856"/>
                          </a:solidFill>
                          <a:latin typeface="Arial"/>
                        </a:defRPr>
                      </a:pPr>
                      <a:r>
                        <a:t>No statutory ban on utility DER ownership</a:t>
                      </a:r>
                    </a:p>
                  </a:txBody>
                  <a:tcPr>
                    <a:solidFill>
                      <a:srgbClr val="E9EEF5"/>
                    </a:solidFill>
                  </a:tcPr>
                </a:tc>
                <a:tc>
                  <a:txBody>
                    <a:bodyPr/>
                    <a:lstStyle/>
                    <a:p>
                      <a:pPr>
                        <a:defRPr sz="1100">
                          <a:solidFill>
                            <a:srgbClr val="002856"/>
                          </a:solidFill>
                          <a:latin typeface="Arial"/>
                        </a:defRPr>
                      </a:pPr>
                      <a:r>
                        <a:t>One prior attempt rejected</a:t>
                      </a:r>
                    </a:p>
                  </a:txBody>
                  <a:tcPr>
                    <a:solidFill>
                      <a:srgbClr val="E9EEF5"/>
                    </a:solidFill>
                  </a:tcPr>
                </a:tc>
              </a:tr>
              <a:tr h="434340">
                <a:tc>
                  <a:txBody>
                    <a:bodyPr/>
                    <a:lstStyle/>
                    <a:p>
                      <a:pPr>
                        <a:defRPr sz="1100">
                          <a:solidFill>
                            <a:srgbClr val="002856"/>
                          </a:solidFill>
                          <a:latin typeface="Arial"/>
                        </a:defRPr>
                      </a:pPr>
                      <a:r>
                        <a:t>Real 2026 utility-owned storage precedent</a:t>
                      </a:r>
                    </a:p>
                  </a:txBody>
                  <a:tcPr>
                    <a:solidFill>
                      <a:srgbClr val="FFFFFF"/>
                    </a:solidFill>
                  </a:tcPr>
                </a:tc>
                <a:tc>
                  <a:txBody>
                    <a:bodyPr/>
                    <a:lstStyle/>
                    <a:p>
                      <a:pPr>
                        <a:defRPr sz="1100">
                          <a:solidFill>
                            <a:srgbClr val="002856"/>
                          </a:solidFill>
                          <a:latin typeface="Arial"/>
                        </a:defRPr>
                      </a:pPr>
                      <a:r>
                        <a:t>Active rate-case political climate</a:t>
                      </a:r>
                    </a:p>
                  </a:txBody>
                  <a:tcPr>
                    <a:solidFill>
                      <a:srgbClr val="FFFFFF"/>
                    </a:solidFill>
                  </a:tcPr>
                </a:tc>
              </a:tr>
              <a:tr h="434340">
                <a:tc>
                  <a:txBody>
                    <a:bodyPr/>
                    <a:lstStyle/>
                    <a:p>
                      <a:pPr>
                        <a:defRPr sz="1100">
                          <a:solidFill>
                            <a:srgbClr val="002856"/>
                          </a:solidFill>
                          <a:latin typeface="Arial"/>
                        </a:defRPr>
                      </a:pPr>
                      <a:r>
                        <a:t>Purpose-built expedited pilot pathway exists</a:t>
                      </a:r>
                    </a:p>
                  </a:txBody>
                  <a:tcPr>
                    <a:solidFill>
                      <a:srgbClr val="E9EEF5"/>
                    </a:solidFill>
                  </a:tcPr>
                </a:tc>
                <a:tc>
                  <a:txBody>
                    <a:bodyPr/>
                    <a:lstStyle/>
                    <a:p>
                      <a:pPr>
                        <a:defRPr sz="1100">
                          <a:solidFill>
                            <a:srgbClr val="002856"/>
                          </a:solidFill>
                          <a:latin typeface="Arial"/>
                        </a:defRPr>
                      </a:pPr>
                      <a:r>
                        <a:t>No settled template for in-home equipment</a:t>
                      </a:r>
                    </a:p>
                  </a:txBody>
                  <a:tcPr>
                    <a:solidFill>
                      <a:srgbClr val="E9EEF5"/>
                    </a:solidFill>
                  </a:tcPr>
                </a:tc>
              </a:tr>
            </a:tbl>
          </a:graphicData>
        </a:graphic>
      </p:graphicFrame>
      <p:sp>
        <p:nvSpPr>
          <p:cNvPr id="11" name="TextBox 10"/>
          <p:cNvSpPr txBox="1"/>
          <p:nvPr/>
        </p:nvSpPr>
        <p:spPr>
          <a:xfrm>
            <a:off x="6172200" y="3429000"/>
            <a:ext cx="5577840" cy="274320"/>
          </a:xfrm>
          <a:prstGeom prst="rect">
            <a:avLst/>
          </a:prstGeom>
          <a:noFill/>
        </p:spPr>
        <p:txBody>
          <a:bodyPr wrap="none">
            <a:spAutoFit/>
          </a:bodyPr>
          <a:lstStyle/>
          <a:p>
            <a:r>
              <a:rPr b="1" sz="1500">
                <a:solidFill>
                  <a:srgbClr val="FF8200"/>
                </a:solidFill>
                <a:latin typeface="Arial"/>
              </a:rPr>
              <a:t>Timeline</a:t>
            </a:r>
          </a:p>
        </p:txBody>
      </p:sp>
      <p:sp>
        <p:nvSpPr>
          <p:cNvPr id="12" name="TextBox 11"/>
          <p:cNvSpPr txBox="1"/>
          <p:nvPr/>
        </p:nvSpPr>
        <p:spPr>
          <a:xfrm>
            <a:off x="6172200" y="3749039"/>
            <a:ext cx="5577840" cy="1920240"/>
          </a:xfrm>
          <a:prstGeom prst="rect">
            <a:avLst/>
          </a:prstGeom>
          <a:noFill/>
        </p:spPr>
        <p:txBody>
          <a:bodyPr wrap="square">
            <a:spAutoFit/>
          </a:bodyPr>
          <a:lstStyle/>
          <a:p>
            <a:pPr>
              <a:spcAft>
                <a:spcPts val="1000"/>
              </a:spcAft>
            </a:pPr>
            <a:r>
              <a:rPr b="1" sz="1200">
                <a:solidFill>
                  <a:srgbClr val="002856"/>
                </a:solidFill>
                <a:latin typeface="Arial"/>
              </a:rPr>
              <a:t>Year 1-2:</a:t>
            </a:r>
            <a:r>
              <a:rPr sz="1200">
                <a:solidFill>
                  <a:srgbClr val="002856"/>
                </a:solidFill>
                <a:latin typeface="Arial"/>
              </a:rPr>
              <a:t> Pilot filing, MPSC review, Phase 1 enrollment of qualifying homeowners</a:t>
            </a:r>
          </a:p>
          <a:p>
            <a:pPr>
              <a:spcAft>
                <a:spcPts val="1000"/>
              </a:spcAft>
            </a:pPr>
            <a:r>
              <a:rPr b="1" sz="1200">
                <a:solidFill>
                  <a:srgbClr val="002856"/>
                </a:solidFill>
                <a:latin typeface="Arial"/>
              </a:rPr>
              <a:t>Year 2-3:</a:t>
            </a:r>
            <a:r>
              <a:rPr sz="1200">
                <a:solidFill>
                  <a:srgbClr val="002856"/>
                </a:solidFill>
                <a:latin typeface="Arial"/>
              </a:rPr>
              <a:t> Fleet operational; results support a follow-on rate case</a:t>
            </a:r>
          </a:p>
          <a:p>
            <a:pPr>
              <a:spcAft>
                <a:spcPts val="1000"/>
              </a:spcAft>
            </a:pPr>
            <a:r>
              <a:rPr b="1" sz="1200">
                <a:solidFill>
                  <a:srgbClr val="002856"/>
                </a:solidFill>
                <a:latin typeface="Arial"/>
              </a:rPr>
              <a:t>Honest note:</a:t>
            </a:r>
            <a:r>
              <a:rPr sz="1200">
                <a:solidFill>
                  <a:srgbClr val="002856"/>
                </a:solidFill>
                <a:latin typeface="Arial"/>
              </a:rPr>
              <a:t> full-scale rate-basing may extend past year 3 -- pilot operation is the 1-3 year deliverable</a:t>
            </a:r>
          </a:p>
        </p:txBody>
      </p:sp>
      <p:sp>
        <p:nvSpPr>
          <p:cNvPr id="13" name="Rounded Rectangle 12"/>
          <p:cNvSpPr/>
          <p:nvPr/>
        </p:nvSpPr>
        <p:spPr>
          <a:xfrm>
            <a:off x="365760" y="5806440"/>
            <a:ext cx="11384280" cy="594360"/>
          </a:xfrm>
          <a:prstGeom prst="roundRect">
            <a:avLst/>
          </a:prstGeom>
          <a:solidFill>
            <a:srgbClr val="E0F2F1"/>
          </a:solidFill>
          <a:ln w="12700">
            <a:solidFill>
              <a:srgbClr val="00A19B"/>
            </a:solidFill>
          </a:ln>
        </p:spPr>
        <p:style>
          <a:lnRef idx="1">
            <a:schemeClr val="accent1"/>
          </a:lnRef>
          <a:fillRef idx="3">
            <a:schemeClr val="accent1"/>
          </a:fillRef>
          <a:effectRef idx="2">
            <a:schemeClr val="accent1"/>
          </a:effectRef>
          <a:fontRef idx="minor">
            <a:schemeClr val="lt1"/>
          </a:fontRef>
        </p:style>
        <p:txBody>
          <a:bodyPr rtlCol="0" anchor="ctr" wrap="square" lIns="182880" tIns="54864"/>
          <a:lstStyle/>
          <a:p>
            <a:pPr algn="ctr"/>
            <a:r>
              <a:rPr b="1" sz="1100">
                <a:solidFill>
                  <a:srgbClr val="002856"/>
                </a:solidFill>
                <a:latin typeface="Arial"/>
              </a:rPr>
              <a:t>Answers the prompt: </a:t>
            </a:r>
            <a:r>
              <a:rPr sz="1100">
                <a:solidFill>
                  <a:srgbClr val="002856"/>
                </a:solidFill>
                <a:latin typeface="Arial"/>
              </a:rPr>
              <a:t>no new technology | single client group | leverages APTIM capabilities | 1-3 year feasibility | scalable</a:t>
            </a:r>
          </a:p>
        </p:txBody>
      </p:sp>
      <p:sp>
        <p:nvSpPr>
          <p:cNvPr id="14" name="TextBox 13"/>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5" name="TextBox 14"/>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14</a:t>
            </a:r>
          </a:p>
        </p:txBody>
      </p:sp>
    </p:spTree>
    <p:extLst>
      <p:ext uri="{BB962C8B-B14F-4D97-AF65-F5344CB8AC3E}">
        <p14:creationId xmlns:p14="http://schemas.microsoft.com/office/powerpoint/2010/main" val="12628144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Future / Scaling</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One pilot, then a repeatable path to every state where APTIM already operates</a:t>
            </a:r>
          </a:p>
        </p:txBody>
      </p:sp>
      <p:sp>
        <p:nvSpPr>
          <p:cNvPr id="4" name="Rounded Rectangle 3"/>
          <p:cNvSpPr/>
          <p:nvPr/>
        </p:nvSpPr>
        <p:spPr>
          <a:xfrm>
            <a:off x="457200" y="1463040"/>
            <a:ext cx="3483864" cy="283464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B71B"/>
                </a:solidFill>
                <a:latin typeface="Arial"/>
              </a:rPr>
              <a:t>Phase 1</a:t>
            </a:r>
          </a:p>
          <a:p>
            <a:pPr>
              <a:spcAft>
                <a:spcPts val="1000"/>
              </a:spcAft>
            </a:pPr>
            <a:r>
              <a:rPr b="1" sz="1700">
                <a:solidFill>
                  <a:srgbClr val="FFFFFF"/>
                </a:solidFill>
                <a:latin typeface="Arial"/>
              </a:rPr>
              <a:t>Michigan Pilot</a:t>
            </a:r>
          </a:p>
          <a:p>
            <a:r>
              <a:rPr sz="1200">
                <a:solidFill>
                  <a:srgbClr val="FFFFFF"/>
                </a:solidFill>
                <a:latin typeface="Arial"/>
              </a:rPr>
              <a:t>Prove the model: technology, ownership structure, and regulatory pathway</a:t>
            </a:r>
          </a:p>
        </p:txBody>
      </p:sp>
      <p:sp>
        <p:nvSpPr>
          <p:cNvPr id="5" name="Rounded Rectangle 4"/>
          <p:cNvSpPr/>
          <p:nvPr/>
        </p:nvSpPr>
        <p:spPr>
          <a:xfrm>
            <a:off x="4352544" y="1463040"/>
            <a:ext cx="3483864" cy="283464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B71B"/>
                </a:solidFill>
                <a:latin typeface="Arial"/>
              </a:rPr>
              <a:t>Phase 2</a:t>
            </a:r>
          </a:p>
          <a:p>
            <a:pPr>
              <a:spcAft>
                <a:spcPts val="1000"/>
              </a:spcAft>
            </a:pPr>
            <a:r>
              <a:rPr b="1" sz="1700">
                <a:solidFill>
                  <a:srgbClr val="FFFFFF"/>
                </a:solidFill>
                <a:latin typeface="Arial"/>
              </a:rPr>
              <a:t>Existing Relationships</a:t>
            </a:r>
          </a:p>
          <a:p>
            <a:r>
              <a:rPr sz="1200">
                <a:solidFill>
                  <a:srgbClr val="FFFFFF"/>
                </a:solidFill>
                <a:latin typeface="Arial"/>
              </a:rPr>
              <a:t>Wisconsin (Focus on Energy) and Louisiana (Entergy) -- fastest path, APTIM already has the seat</a:t>
            </a:r>
          </a:p>
        </p:txBody>
      </p:sp>
      <p:sp>
        <p:nvSpPr>
          <p:cNvPr id="6" name="Rounded Rectangle 5"/>
          <p:cNvSpPr/>
          <p:nvPr/>
        </p:nvSpPr>
        <p:spPr>
          <a:xfrm>
            <a:off x="8247888" y="1463040"/>
            <a:ext cx="3483864" cy="283464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B71B"/>
                </a:solidFill>
                <a:latin typeface="Arial"/>
              </a:rPr>
              <a:t>Phase 3</a:t>
            </a:r>
          </a:p>
          <a:p>
            <a:pPr>
              <a:spcAft>
                <a:spcPts val="1000"/>
              </a:spcAft>
            </a:pPr>
            <a:r>
              <a:rPr b="1" sz="1700">
                <a:solidFill>
                  <a:srgbClr val="FFFFFF"/>
                </a:solidFill>
                <a:latin typeface="Arial"/>
              </a:rPr>
              <a:t>Mandate-Heavy Markets</a:t>
            </a:r>
          </a:p>
          <a:p>
            <a:r>
              <a:rPr sz="1200">
                <a:solidFill>
                  <a:srgbClr val="FFFFFF"/>
                </a:solidFill>
                <a:latin typeface="Arial"/>
              </a:rPr>
              <a:t>States with storage mandates + vertically integrated utilities -- validated criteria, new markets</a:t>
            </a:r>
          </a:p>
        </p:txBody>
      </p:sp>
      <p:sp>
        <p:nvSpPr>
          <p:cNvPr id="7" name="TextBox 6"/>
          <p:cNvSpPr txBox="1"/>
          <p:nvPr/>
        </p:nvSpPr>
        <p:spPr>
          <a:xfrm>
            <a:off x="3986784" y="2651760"/>
            <a:ext cx="320040" cy="457200"/>
          </a:xfrm>
          <a:prstGeom prst="rect">
            <a:avLst/>
          </a:prstGeom>
          <a:noFill/>
        </p:spPr>
        <p:txBody>
          <a:bodyPr wrap="none">
            <a:spAutoFit/>
          </a:bodyPr>
          <a:lstStyle/>
          <a:p>
            <a:pPr algn="ctr"/>
            <a:r>
              <a:rPr sz="2200" b="1">
                <a:solidFill>
                  <a:srgbClr val="002856"/>
                </a:solidFill>
              </a:rPr>
              <a:t>→</a:t>
            </a:r>
          </a:p>
        </p:txBody>
      </p:sp>
      <p:sp>
        <p:nvSpPr>
          <p:cNvPr id="8" name="TextBox 7"/>
          <p:cNvSpPr txBox="1"/>
          <p:nvPr/>
        </p:nvSpPr>
        <p:spPr>
          <a:xfrm>
            <a:off x="7882128" y="2651760"/>
            <a:ext cx="320040" cy="457200"/>
          </a:xfrm>
          <a:prstGeom prst="rect">
            <a:avLst/>
          </a:prstGeom>
          <a:noFill/>
        </p:spPr>
        <p:txBody>
          <a:bodyPr wrap="none">
            <a:spAutoFit/>
          </a:bodyPr>
          <a:lstStyle/>
          <a:p>
            <a:pPr algn="ctr"/>
            <a:r>
              <a:rPr sz="2200" b="1">
                <a:solidFill>
                  <a:srgbClr val="002856"/>
                </a:solidFill>
              </a:rPr>
              <a:t>→</a:t>
            </a:r>
          </a:p>
        </p:txBody>
      </p:sp>
      <p:sp>
        <p:nvSpPr>
          <p:cNvPr id="9" name="Rounded Rectangle 8"/>
          <p:cNvSpPr/>
          <p:nvPr/>
        </p:nvSpPr>
        <p:spPr>
          <a:xfrm>
            <a:off x="457200" y="4572000"/>
            <a:ext cx="10972800" cy="1188720"/>
          </a:xfrm>
          <a:prstGeom prst="round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300">
                <a:solidFill>
                  <a:srgbClr val="002856"/>
                </a:solidFill>
                <a:latin typeface="Arial"/>
              </a:rPr>
              <a:t>Scaling logic: </a:t>
            </a:r>
            <a:r>
              <a:rPr sz="1300">
                <a:solidFill>
                  <a:srgbClr val="002856"/>
                </a:solidFill>
                <a:latin typeface="Arial"/>
              </a:rPr>
              <a:t>each new state is evaluated on the same criteria that selected Michigan -- storage mandate, vertically integrated ownership structure, and real outage/reliability need.</a:t>
            </a:r>
          </a:p>
        </p:txBody>
      </p:sp>
      <p:sp>
        <p:nvSpPr>
          <p:cNvPr id="10" name="TextBox 9"/>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1" name="TextBox 10"/>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15</a:t>
            </a:r>
          </a:p>
        </p:txBody>
      </p:sp>
    </p:spTree>
    <p:extLst>
      <p:ext uri="{BB962C8B-B14F-4D97-AF65-F5344CB8AC3E}">
        <p14:creationId xmlns:p14="http://schemas.microsoft.com/office/powerpoint/2010/main" val="16474001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How APTIM Wins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Four reasons this is APTIM's opportunity to take</a:t>
            </a:r>
          </a:p>
        </p:txBody>
      </p:sp>
      <p:sp>
        <p:nvSpPr>
          <p:cNvPr id="4" name="Rounded Rectangle 3"/>
          <p:cNvSpPr/>
          <p:nvPr/>
        </p:nvSpPr>
        <p:spPr>
          <a:xfrm>
            <a:off x="457200" y="1463040"/>
            <a:ext cx="5394960" cy="210312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Proven Large-Scale Delivery</a:t>
            </a:r>
          </a:p>
          <a:p>
            <a:r>
              <a:rPr sz="1200">
                <a:solidFill>
                  <a:srgbClr val="FFFFFF"/>
                </a:solidFill>
                <a:latin typeface="Arial"/>
              </a:rPr>
              <a:t>$3B+ in rebates delivered, $75M+ in annual incentives administered across multiple states</a:t>
            </a:r>
          </a:p>
        </p:txBody>
      </p:sp>
      <p:sp>
        <p:nvSpPr>
          <p:cNvPr id="5" name="Rounded Rectangle 4"/>
          <p:cNvSpPr/>
          <p:nvPr/>
        </p:nvSpPr>
        <p:spPr>
          <a:xfrm>
            <a:off x="6309360" y="1463040"/>
            <a:ext cx="5394960" cy="210312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Integrated Capability</a:t>
            </a:r>
          </a:p>
          <a:p>
            <a:r>
              <a:rPr sz="1200">
                <a:solidFill>
                  <a:srgbClr val="FFFFFF"/>
                </a:solidFill>
                <a:latin typeface="Arial"/>
              </a:rPr>
              <a:t>Combines program implementation, analytics, and infrastructure expertise no single competitor offers together</a:t>
            </a:r>
          </a:p>
        </p:txBody>
      </p:sp>
      <p:sp>
        <p:nvSpPr>
          <p:cNvPr id="6" name="Rounded Rectangle 5"/>
          <p:cNvSpPr/>
          <p:nvPr/>
        </p:nvSpPr>
        <p:spPr>
          <a:xfrm>
            <a:off x="457200" y="3794760"/>
            <a:ext cx="5394960" cy="210312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Track Record That Matters</a:t>
            </a:r>
          </a:p>
          <a:p>
            <a:r>
              <a:rPr sz="1200">
                <a:solidFill>
                  <a:srgbClr val="FFFFFF"/>
                </a:solidFill>
                <a:latin typeface="Arial"/>
              </a:rPr>
              <a:t>Focus on Energy (Wisconsin) since 2010, Energy Smart (Louisiana) since 2017 -- proven resilience and compliance delivery</a:t>
            </a:r>
          </a:p>
        </p:txBody>
      </p:sp>
      <p:sp>
        <p:nvSpPr>
          <p:cNvPr id="7" name="Rounded Rectangle 6"/>
          <p:cNvSpPr/>
          <p:nvPr/>
        </p:nvSpPr>
        <p:spPr>
          <a:xfrm>
            <a:off x="6309360" y="3794760"/>
            <a:ext cx="5394960" cy="2103120"/>
          </a:xfrm>
          <a:prstGeom prst="roundRect">
            <a:avLst>
              <a:gd name="adj" fmla="val 6000"/>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First Mover, Empty Market</a:t>
            </a:r>
          </a:p>
          <a:p>
            <a:r>
              <a:rPr sz="1200">
                <a:solidFill>
                  <a:srgbClr val="FFFFFF"/>
                </a:solidFill>
                <a:latin typeface="Arial"/>
              </a:rPr>
              <a:t>No company today administers utility-owned residential battery fleets end-to-end -- APTIM would be first</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16</a:t>
            </a:r>
          </a:p>
        </p:txBody>
      </p:sp>
    </p:spTree>
    <p:extLst>
      <p:ext uri="{BB962C8B-B14F-4D97-AF65-F5344CB8AC3E}">
        <p14:creationId xmlns:p14="http://schemas.microsoft.com/office/powerpoint/2010/main" val="38799359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2580-621B-84DC-179E-3ACB50F4E391}"/>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4C8383CF-FB71-ACA0-C993-E7D5AA4487A8}"/>
              </a:ext>
            </a:extLst>
          </p:cNvPr>
          <p:cNvSpPr>
            <a:spLocks noGrp="1"/>
          </p:cNvSpPr>
          <p:nvPr>
            <p:ph type="subTitle" idx="1"/>
          </p:nvPr>
        </p:nvSpPr>
        <p:spPr/>
        <p:txBody>
          <a:bodyPr/>
          <a:lstStyle/>
          <a:p>
            <a:r>
              <a:rPr lang="en-US"/>
              <a:t>Any questions? </a:t>
            </a:r>
          </a:p>
        </p:txBody>
      </p:sp>
      <p:sp>
        <p:nvSpPr>
          <p:cNvPr id="4" name="Footer Placeholder 3">
            <a:extLst>
              <a:ext uri="{FF2B5EF4-FFF2-40B4-BE49-F238E27FC236}">
                <a16:creationId xmlns:a16="http://schemas.microsoft.com/office/drawing/2014/main" id="{21040B46-EDA1-89DA-A37D-B38B831A084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19C1C7-80E4-A147-1864-0296D9F5B6E7}"/>
              </a:ext>
            </a:extLst>
          </p:cNvPr>
          <p:cNvSpPr>
            <a:spLocks noGrp="1"/>
          </p:cNvSpPr>
          <p:nvPr>
            <p:ph type="sldNum" sz="quarter" idx="12"/>
          </p:nvPr>
        </p:nvSpPr>
        <p:spPr/>
        <p:txBody>
          <a:bodyPr/>
          <a:lstStyle/>
          <a:p>
            <a:fld id="{F8F6B9CD-BE6B-498B-93B3-0FAD7ADE75E3}" type="slidenum">
              <a:rPr lang="en-US" smtClean="0"/>
              <a:t>17</a:t>
            </a:fld>
            <a:endParaRPr lang="en-US"/>
          </a:p>
        </p:txBody>
      </p:sp>
      <p:pic>
        <p:nvPicPr>
          <p:cNvPr id="7" name="Graphic 6" descr="Hill scene with solid fill">
            <a:extLst>
              <a:ext uri="{FF2B5EF4-FFF2-40B4-BE49-F238E27FC236}">
                <a16:creationId xmlns:a16="http://schemas.microsoft.com/office/drawing/2014/main" id="{CA14C5A4-F592-8B7F-E27B-B84A3E22174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17345" y="2698101"/>
            <a:ext cx="2636982" cy="2636982"/>
          </a:xfrm>
          <a:prstGeom prst="rect">
            <a:avLst/>
          </a:prstGeom>
        </p:spPr>
      </p:pic>
      <p:pic>
        <p:nvPicPr>
          <p:cNvPr id="9" name="Picture 8" descr="Cow in pasture">
            <a:extLst>
              <a:ext uri="{FF2B5EF4-FFF2-40B4-BE49-F238E27FC236}">
                <a16:creationId xmlns:a16="http://schemas.microsoft.com/office/drawing/2014/main" id="{F3476969-A05E-184C-BE8E-219CBFDD489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560" y="1275844"/>
            <a:ext cx="3132168" cy="4306311"/>
          </a:xfrm>
          <a:prstGeom prst="rect">
            <a:avLst/>
          </a:prstGeom>
        </p:spPr>
      </p:pic>
    </p:spTree>
    <p:extLst>
      <p:ext uri="{BB962C8B-B14F-4D97-AF65-F5344CB8AC3E}">
        <p14:creationId xmlns:p14="http://schemas.microsoft.com/office/powerpoint/2010/main" val="24153850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7FA5F-5ED6-4CCD-0B0A-314902B7F1E6}"/>
              </a:ext>
            </a:extLst>
          </p:cNvPr>
          <p:cNvSpPr>
            <a:spLocks noGrp="1"/>
          </p:cNvSpPr>
          <p:nvPr>
            <p:ph type="title"/>
          </p:nvPr>
        </p:nvSpPr>
        <p:spPr/>
        <p:txBody>
          <a:bodyPr/>
          <a:lstStyle/>
          <a:p>
            <a:r>
              <a:rPr lang="en-US">
                <a:latin typeface="Arial Black"/>
                <a:cs typeface="Arial"/>
              </a:rPr>
              <a:t>Appendix</a:t>
            </a:r>
            <a:endParaRPr lang="en-US"/>
          </a:p>
        </p:txBody>
      </p:sp>
      <p:sp>
        <p:nvSpPr>
          <p:cNvPr id="3" name="Content Placeholder 2">
            <a:extLst>
              <a:ext uri="{FF2B5EF4-FFF2-40B4-BE49-F238E27FC236}">
                <a16:creationId xmlns:a16="http://schemas.microsoft.com/office/drawing/2014/main" id="{21716690-59FD-F1C2-11AD-5A32C5AF705C}"/>
              </a:ext>
            </a:extLst>
          </p:cNvPr>
          <p:cNvSpPr>
            <a:spLocks noGrp="1"/>
          </p:cNvSpPr>
          <p:nvPr>
            <p:ph idx="1"/>
          </p:nvPr>
        </p:nvSpPr>
        <p:spPr/>
        <p:txBody>
          <a:bodyPr vert="horz" lIns="0" tIns="0" rIns="0" bIns="0" rtlCol="0" anchor="t">
            <a:noAutofit/>
          </a:bodyPr>
          <a:lstStyle/>
          <a:p>
            <a:pPr marL="233045" indent="-233045"/>
            <a:r>
              <a:rPr lang="en-US">
                <a:latin typeface="Arial"/>
                <a:cs typeface="Arial"/>
              </a:rPr>
              <a:t>Don’t delete stuff just add it to appendix</a:t>
            </a:r>
            <a:endParaRPr lang="en-US"/>
          </a:p>
        </p:txBody>
      </p:sp>
      <p:sp>
        <p:nvSpPr>
          <p:cNvPr id="4" name="Footer Placeholder 3">
            <a:extLst>
              <a:ext uri="{FF2B5EF4-FFF2-40B4-BE49-F238E27FC236}">
                <a16:creationId xmlns:a16="http://schemas.microsoft.com/office/drawing/2014/main" id="{87A0E524-1D12-63DA-EB1A-DC86BE99DC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505D3F1-5E1F-EDBB-CAD6-938CAB67CA38}"/>
              </a:ext>
            </a:extLst>
          </p:cNvPr>
          <p:cNvSpPr>
            <a:spLocks noGrp="1"/>
          </p:cNvSpPr>
          <p:nvPr>
            <p:ph type="sldNum" sz="quarter" idx="12"/>
          </p:nvPr>
        </p:nvSpPr>
        <p:spPr/>
        <p:txBody>
          <a:bodyPr/>
          <a:lstStyle/>
          <a:p>
            <a:fld id="{F8F6B9CD-BE6B-498B-93B3-0FAD7ADE75E3}" type="slidenum">
              <a:rPr lang="en-US" smtClean="0"/>
              <a:t>20</a:t>
            </a:fld>
            <a:endParaRPr lang="en-US"/>
          </a:p>
        </p:txBody>
      </p:sp>
    </p:spTree>
    <p:extLst>
      <p:ext uri="{BB962C8B-B14F-4D97-AF65-F5344CB8AC3E}">
        <p14:creationId xmlns:p14="http://schemas.microsoft.com/office/powerpoint/2010/main" val="32650049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40CE-36FF-4C58-01BD-BC36B81C55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57B56-BD8B-50CC-3313-7C6350014775}"/>
              </a:ext>
            </a:extLst>
          </p:cNvPr>
          <p:cNvSpPr>
            <a:spLocks noGrp="1"/>
          </p:cNvSpPr>
          <p:nvPr>
            <p:ph idx="1"/>
          </p:nvPr>
        </p:nvSpPr>
        <p:spPr/>
        <p:txBody>
          <a:bodyPr vert="horz" lIns="0" tIns="0" rIns="0" bIns="0" rtlCol="0" anchor="t">
            <a:noAutofit/>
          </a:bodyPr>
          <a:lstStyle/>
          <a:p>
            <a:pPr marL="233045" indent="-233045"/>
            <a:r>
              <a:rPr lang="en-US">
                <a:latin typeface="Arial"/>
                <a:cs typeface="Arial"/>
              </a:rPr>
              <a:t>Find some way to quantify how important each factor is (decision matrix?)</a:t>
            </a:r>
          </a:p>
          <a:p>
            <a:pPr lvl="1">
              <a:buFont typeface="Courier New" panose="020B0604020202020204" pitchFamily="34" charset="0"/>
              <a:buChar char="o"/>
            </a:pPr>
            <a:r>
              <a:rPr lang="en-US">
                <a:latin typeface="Arial"/>
                <a:cs typeface="Arial"/>
              </a:rPr>
              <a:t>This will help the best concept be chosen and provide a concrete reason as too why</a:t>
            </a:r>
          </a:p>
          <a:p>
            <a:pPr lvl="1">
              <a:buFont typeface="Courier New" panose="020B0604020202020204" pitchFamily="34" charset="0"/>
              <a:buChar char="o"/>
            </a:pPr>
            <a:r>
              <a:rPr lang="en-US">
                <a:latin typeface="Arial"/>
                <a:cs typeface="Arial"/>
              </a:rPr>
              <a:t>Make a list of factors: cost, ease, implementation timeframe, impact</a:t>
            </a:r>
          </a:p>
          <a:p>
            <a:pPr lvl="1">
              <a:buFont typeface="Courier New" panose="020B0604020202020204" pitchFamily="34" charset="0"/>
              <a:buChar char="o"/>
            </a:pPr>
            <a:r>
              <a:rPr lang="en-US">
                <a:latin typeface="Arial"/>
                <a:cs typeface="Arial"/>
              </a:rPr>
              <a:t>Give each one a weight based on how import it is </a:t>
            </a:r>
          </a:p>
          <a:p>
            <a:pPr lvl="2">
              <a:buFont typeface="Wingdings" panose="020B0604020202020204" pitchFamily="34" charset="0"/>
              <a:buChar char="§"/>
            </a:pPr>
            <a:r>
              <a:rPr lang="en-US">
                <a:latin typeface="Arial"/>
                <a:cs typeface="Arial"/>
              </a:rPr>
              <a:t>Maybe interview APTIM people who make financial/program decisions to see what they find the be the most important thing </a:t>
            </a:r>
          </a:p>
          <a:p>
            <a:pPr lvl="1">
              <a:buFont typeface="Courier New" panose="020B0604020202020204" pitchFamily="34" charset="0"/>
              <a:buChar char="o"/>
            </a:pPr>
            <a:r>
              <a:rPr lang="en-US">
                <a:latin typeface="Arial"/>
                <a:cs typeface="Arial"/>
              </a:rPr>
              <a:t>Rate each </a:t>
            </a:r>
            <a:r>
              <a:rPr lang="en-US" err="1">
                <a:latin typeface="Arial"/>
                <a:cs typeface="Arial"/>
              </a:rPr>
              <a:t>conce</a:t>
            </a:r>
            <a:r>
              <a:rPr lang="en-US">
                <a:latin typeface="Arial"/>
                <a:cs typeface="Arial"/>
              </a:rPr>
              <a:t>pt on each factor, include the weights, highest score wins</a:t>
            </a:r>
          </a:p>
        </p:txBody>
      </p:sp>
      <p:sp>
        <p:nvSpPr>
          <p:cNvPr id="4" name="Footer Placeholder 3">
            <a:extLst>
              <a:ext uri="{FF2B5EF4-FFF2-40B4-BE49-F238E27FC236}">
                <a16:creationId xmlns:a16="http://schemas.microsoft.com/office/drawing/2014/main" id="{EEAC4552-094D-E846-0855-E0EC80371B6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8B43AE-F1EA-494D-3EC8-60EF3D6DC188}"/>
              </a:ext>
            </a:extLst>
          </p:cNvPr>
          <p:cNvSpPr>
            <a:spLocks noGrp="1"/>
          </p:cNvSpPr>
          <p:nvPr>
            <p:ph type="sldNum" sz="quarter" idx="12"/>
          </p:nvPr>
        </p:nvSpPr>
        <p:spPr/>
        <p:txBody>
          <a:bodyPr/>
          <a:lstStyle/>
          <a:p>
            <a:fld id="{F8F6B9CD-BE6B-498B-93B3-0FAD7ADE75E3}" type="slidenum">
              <a:rPr lang="en-US" smtClean="0"/>
              <a:t>19</a:t>
            </a:fld>
            <a:endParaRPr lang="en-US"/>
          </a:p>
        </p:txBody>
      </p:sp>
    </p:spTree>
    <p:extLst>
      <p:ext uri="{BB962C8B-B14F-4D97-AF65-F5344CB8AC3E}">
        <p14:creationId xmlns:p14="http://schemas.microsoft.com/office/powerpoint/2010/main" val="17188323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B8BF6-FECC-2C0A-6612-5FE94A1B0DED}"/>
              </a:ext>
            </a:extLst>
          </p:cNvPr>
          <p:cNvSpPr>
            <a:spLocks noGrp="1"/>
          </p:cNvSpPr>
          <p:nvPr>
            <p:ph type="title"/>
          </p:nvPr>
        </p:nvSpPr>
        <p:spPr/>
        <p:txBody>
          <a:bodyPr/>
          <a:lstStyle/>
          <a:p>
            <a:r>
              <a:rPr lang="en-US">
                <a:latin typeface="Arial Black"/>
                <a:cs typeface="Arial"/>
              </a:rPr>
              <a:t>Goal of presentation </a:t>
            </a:r>
            <a:endParaRPr lang="en-US"/>
          </a:p>
        </p:txBody>
      </p:sp>
      <p:sp>
        <p:nvSpPr>
          <p:cNvPr id="3" name="Content Placeholder 2">
            <a:extLst>
              <a:ext uri="{FF2B5EF4-FFF2-40B4-BE49-F238E27FC236}">
                <a16:creationId xmlns:a16="http://schemas.microsoft.com/office/drawing/2014/main" id="{A29A4B8D-FD93-CF23-4C5D-E53B653AF492}"/>
              </a:ext>
            </a:extLst>
          </p:cNvPr>
          <p:cNvSpPr>
            <a:spLocks noGrp="1"/>
          </p:cNvSpPr>
          <p:nvPr>
            <p:ph idx="1"/>
          </p:nvPr>
        </p:nvSpPr>
        <p:spPr/>
        <p:txBody>
          <a:bodyPr vert="horz" lIns="0" tIns="0" rIns="0" bIns="0" rtlCol="0" anchor="t">
            <a:noAutofit/>
          </a:bodyPr>
          <a:lstStyle/>
          <a:p>
            <a:pPr marL="233045" indent="-233045">
              <a:buFont typeface="Calibri" panose="020B0604020202020204" pitchFamily="34" charset="0"/>
              <a:buChar char="-"/>
            </a:pPr>
            <a:r>
              <a:rPr lang="en-US">
                <a:latin typeface="Arial"/>
                <a:cs typeface="Arial"/>
              </a:rPr>
              <a:t>20 to 25 minutes </a:t>
            </a:r>
            <a:endParaRPr lang="en-US"/>
          </a:p>
          <a:p>
            <a:pPr marL="233045" indent="-233045">
              <a:buFont typeface="Calibri" panose="020B0604020202020204" pitchFamily="34" charset="0"/>
              <a:buChar char="-"/>
            </a:pPr>
            <a:r>
              <a:rPr lang="en-US">
                <a:latin typeface="Arial"/>
                <a:cs typeface="Arial"/>
              </a:rPr>
              <a:t>10 minutes Q&amp;A</a:t>
            </a:r>
            <a:endParaRPr lang="en-US"/>
          </a:p>
          <a:p>
            <a:pPr lvl="1">
              <a:buFont typeface="Courier New" panose="020B0604020202020204" pitchFamily="34" charset="0"/>
              <a:buChar char="o"/>
            </a:pPr>
            <a:r>
              <a:rPr lang="en-US">
                <a:latin typeface="Arial"/>
                <a:cs typeface="Arial"/>
              </a:rPr>
              <a:t>Could be people very knowledgeable about the subject so be </a:t>
            </a:r>
            <a:r>
              <a:rPr lang="en-US" err="1">
                <a:latin typeface="Arial"/>
                <a:cs typeface="Arial"/>
              </a:rPr>
              <a:t>prepaired</a:t>
            </a:r>
            <a:endParaRPr lang="en-US">
              <a:latin typeface="Arial"/>
              <a:cs typeface="Arial"/>
            </a:endParaRPr>
          </a:p>
          <a:p>
            <a:pPr marL="233045" indent="-233045">
              <a:buFont typeface="Calibri" panose="020B0604020202020204" pitchFamily="34" charset="0"/>
              <a:buChar char="-"/>
            </a:pPr>
            <a:r>
              <a:rPr lang="en-US">
                <a:latin typeface="Arial"/>
                <a:cs typeface="Arial"/>
              </a:rPr>
              <a:t>Audience: Various APTIM employees and leadership </a:t>
            </a:r>
            <a:endParaRPr lang="en-US"/>
          </a:p>
          <a:p>
            <a:pPr marL="233045" indent="-233045">
              <a:buFont typeface="Calibri" panose="020B0604020202020204" pitchFamily="34" charset="0"/>
              <a:buChar char="-"/>
            </a:pPr>
            <a:endParaRPr lang="en-US"/>
          </a:p>
          <a:p>
            <a:pPr marL="233045" indent="-233045">
              <a:buFont typeface="Calibri" panose="020B0604020202020204" pitchFamily="34" charset="0"/>
              <a:buChar char="-"/>
            </a:pPr>
            <a:r>
              <a:rPr lang="en-US">
                <a:latin typeface="Arial"/>
                <a:cs typeface="Arial"/>
              </a:rPr>
              <a:t>Use a lot of images/visual items rather than massive blocks of text</a:t>
            </a:r>
          </a:p>
          <a:p>
            <a:pPr marL="233045" indent="-233045">
              <a:buFont typeface="Calibri" panose="020B0604020202020204" pitchFamily="34" charset="0"/>
              <a:buChar char="-"/>
            </a:pPr>
            <a:r>
              <a:rPr lang="en-US">
                <a:latin typeface="Arial"/>
                <a:cs typeface="Arial"/>
              </a:rPr>
              <a:t>Keep the audience engaged, tell a story from start to finish </a:t>
            </a:r>
          </a:p>
          <a:p>
            <a:pPr lvl="1">
              <a:buFont typeface="Courier New" panose="020B0604020202020204" pitchFamily="34" charset="0"/>
              <a:buChar char="o"/>
            </a:pPr>
            <a:r>
              <a:rPr lang="en-US">
                <a:latin typeface="Arial"/>
                <a:cs typeface="Arial"/>
              </a:rPr>
              <a:t>Act as if the audience has no prior knowledge on your work/research (they don’t)</a:t>
            </a:r>
            <a:endParaRPr lang="en-US"/>
          </a:p>
          <a:p>
            <a:pPr lvl="1">
              <a:buFont typeface="Courier New" panose="020B0604020202020204" pitchFamily="34" charset="0"/>
              <a:buChar char="o"/>
            </a:pPr>
            <a:endParaRPr lang="en-US"/>
          </a:p>
        </p:txBody>
      </p:sp>
      <p:sp>
        <p:nvSpPr>
          <p:cNvPr id="4" name="Footer Placeholder 3">
            <a:extLst>
              <a:ext uri="{FF2B5EF4-FFF2-40B4-BE49-F238E27FC236}">
                <a16:creationId xmlns:a16="http://schemas.microsoft.com/office/drawing/2014/main" id="{9520CA0E-5D04-3BD1-766D-206A05B3ECB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DC6254A-47E9-6B7F-46ED-54B5363E35B1}"/>
              </a:ext>
            </a:extLst>
          </p:cNvPr>
          <p:cNvSpPr>
            <a:spLocks noGrp="1"/>
          </p:cNvSpPr>
          <p:nvPr>
            <p:ph type="sldNum" sz="quarter" idx="12"/>
          </p:nvPr>
        </p:nvSpPr>
        <p:spPr/>
        <p:txBody>
          <a:bodyPr/>
          <a:lstStyle/>
          <a:p>
            <a:fld id="{F8F6B9CD-BE6B-498B-93B3-0FAD7ADE75E3}" type="slidenum">
              <a:rPr lang="en-US" smtClean="0"/>
              <a:t>21</a:t>
            </a:fld>
            <a:endParaRPr lang="en-US"/>
          </a:p>
        </p:txBody>
      </p:sp>
    </p:spTree>
    <p:extLst>
      <p:ext uri="{BB962C8B-B14F-4D97-AF65-F5344CB8AC3E}">
        <p14:creationId xmlns:p14="http://schemas.microsoft.com/office/powerpoint/2010/main" val="25084529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E4B58-894C-A9A8-5CDD-90256BF0F7E6}"/>
              </a:ext>
            </a:extLst>
          </p:cNvPr>
          <p:cNvSpPr>
            <a:spLocks noGrp="1"/>
          </p:cNvSpPr>
          <p:nvPr>
            <p:ph type="title"/>
          </p:nvPr>
        </p:nvSpPr>
        <p:spPr/>
        <p:txBody>
          <a:bodyPr/>
          <a:lstStyle/>
          <a:p>
            <a:r>
              <a:rPr lang="en-US">
                <a:latin typeface="Arial Black"/>
                <a:cs typeface="Arial"/>
              </a:rPr>
              <a:t>Given big blurb</a:t>
            </a:r>
            <a:endParaRPr lang="en-US"/>
          </a:p>
        </p:txBody>
      </p:sp>
      <p:sp>
        <p:nvSpPr>
          <p:cNvPr id="3" name="Content Placeholder 2">
            <a:extLst>
              <a:ext uri="{FF2B5EF4-FFF2-40B4-BE49-F238E27FC236}">
                <a16:creationId xmlns:a16="http://schemas.microsoft.com/office/drawing/2014/main" id="{397D538C-01EA-A82C-2282-AC4AD81F2D9F}"/>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p:txBody>
      </p:sp>
      <p:sp>
        <p:nvSpPr>
          <p:cNvPr id="4" name="Footer Placeholder 3">
            <a:extLst>
              <a:ext uri="{FF2B5EF4-FFF2-40B4-BE49-F238E27FC236}">
                <a16:creationId xmlns:a16="http://schemas.microsoft.com/office/drawing/2014/main" id="{871C8934-17E8-E45D-0C5F-28D26145E59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0051E5C-773B-65DD-DCFC-DCF645CF8A19}"/>
              </a:ext>
            </a:extLst>
          </p:cNvPr>
          <p:cNvSpPr>
            <a:spLocks noGrp="1"/>
          </p:cNvSpPr>
          <p:nvPr>
            <p:ph type="sldNum" sz="quarter" idx="12"/>
          </p:nvPr>
        </p:nvSpPr>
        <p:spPr/>
        <p:txBody>
          <a:bodyPr/>
          <a:lstStyle/>
          <a:p>
            <a:fld id="{F8F6B9CD-BE6B-498B-93B3-0FAD7ADE75E3}" type="slidenum">
              <a:rPr lang="en-US" smtClean="0"/>
              <a:t>22</a:t>
            </a:fld>
            <a:endParaRPr lang="en-US"/>
          </a:p>
        </p:txBody>
      </p:sp>
    </p:spTree>
    <p:extLst>
      <p:ext uri="{BB962C8B-B14F-4D97-AF65-F5344CB8AC3E}">
        <p14:creationId xmlns:p14="http://schemas.microsoft.com/office/powerpoint/2010/main" val="26657812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r>
              <a:rPr lang="en-US">
                <a:latin typeface="Arial Black"/>
                <a:cs typeface="Arial"/>
              </a:rPr>
              <a:t>Given Scope Focus</a:t>
            </a:r>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vert="horz" lIns="0" tIns="0" rIns="0" bIns="0" rtlCol="0" anchor="t">
            <a:noAutofit/>
          </a:bodyPr>
          <a:lstStyle/>
          <a:p>
            <a:pPr marL="0" indent="0">
              <a:buNone/>
            </a:pPr>
            <a:r>
              <a:rPr lang="en-US"/>
              <a:t>Scope focus:</a:t>
            </a:r>
          </a:p>
          <a:p>
            <a:pPr marL="0" indent="0">
              <a:buNone/>
            </a:pPr>
            <a:r>
              <a:rPr lang="en-US">
                <a:latin typeface="Arial"/>
                <a:cs typeface="Arial"/>
              </a:rPr>
              <a:t>– Assume no invention of new technology!!</a:t>
            </a:r>
          </a:p>
          <a:p>
            <a:pPr marL="0" indent="0">
              <a:buNone/>
            </a:pPr>
            <a:r>
              <a:rPr lang="en-US">
                <a:latin typeface="Arial"/>
                <a:cs typeface="Arial"/>
              </a:rPr>
              <a:t> Us</a:t>
            </a:r>
          </a:p>
          <a:p>
            <a:pPr marL="0" indent="0">
              <a:buNone/>
            </a:pPr>
            <a:r>
              <a:rPr lang="en-US">
                <a:latin typeface="Arial"/>
                <a:cs typeface="Arial"/>
              </a:rPr>
              <a:t>– Focus on a single group (utility, state, county, city, or customer segment)</a:t>
            </a:r>
          </a:p>
          <a:p>
            <a:pPr marL="0" indent="0">
              <a:buNone/>
            </a:pPr>
            <a:endParaRPr lang="en-US">
              <a:latin typeface="Arial"/>
              <a:cs typeface="Arial"/>
            </a:endParaRPr>
          </a:p>
          <a:p>
            <a:pPr marL="0" indent="0">
              <a:buNone/>
            </a:pPr>
            <a:r>
              <a:rPr lang="en-US">
                <a:latin typeface="Arial"/>
                <a:cs typeface="Arial"/>
              </a:rPr>
              <a:t>– Consider solutions that leverage current or APTIM-adjacent capabilities</a:t>
            </a:r>
          </a:p>
          <a:p>
            <a:pPr marL="0" indent="0">
              <a:buNone/>
            </a:pPr>
            <a:endParaRPr lang="en-US">
              <a:latin typeface="Arial"/>
              <a:cs typeface="Arial"/>
            </a:endParaRPr>
          </a:p>
          <a:p>
            <a:pPr marL="0" indent="0">
              <a:buNone/>
            </a:pPr>
            <a:r>
              <a:rPr lang="en-US"/>
              <a:t>– Allow for scaling, and should be achievable within the next 1-3 years, accounting for market conditions that may shift.</a:t>
            </a:r>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23</a:t>
            </a:fld>
            <a:endParaRPr lang="en-US"/>
          </a:p>
        </p:txBody>
      </p:sp>
    </p:spTree>
    <p:extLst>
      <p:ext uri="{BB962C8B-B14F-4D97-AF65-F5344CB8AC3E}">
        <p14:creationId xmlns:p14="http://schemas.microsoft.com/office/powerpoint/2010/main" val="4239608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E0E2-2F66-EDDC-BAD8-1CF00241C51C}"/>
              </a:ext>
            </a:extLst>
          </p:cNvPr>
          <p:cNvSpPr>
            <a:spLocks noGrp="1"/>
          </p:cNvSpPr>
          <p:nvPr>
            <p:ph type="title"/>
          </p:nvPr>
        </p:nvSpPr>
        <p:spPr/>
        <p:txBody>
          <a:bodyPr/>
          <a:lstStyle/>
          <a:p>
            <a:r>
              <a:rPr lang="en-US">
                <a:latin typeface="Arial Black"/>
                <a:cs typeface="Arial"/>
              </a:rPr>
              <a:t>Given Output</a:t>
            </a:r>
            <a:endParaRPr lang="en-US"/>
          </a:p>
        </p:txBody>
      </p:sp>
      <p:sp>
        <p:nvSpPr>
          <p:cNvPr id="3" name="Content Placeholder 2">
            <a:extLst>
              <a:ext uri="{FF2B5EF4-FFF2-40B4-BE49-F238E27FC236}">
                <a16:creationId xmlns:a16="http://schemas.microsoft.com/office/drawing/2014/main" id="{191B82BD-C002-D9D4-706E-BF5E61D4FECA}"/>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Output:</a:t>
            </a:r>
            <a:endParaRPr lang="en-US"/>
          </a:p>
          <a:p>
            <a:pPr marL="233045" indent="-233045">
              <a:buNone/>
            </a:pPr>
            <a:r>
              <a:rPr lang="en-US">
                <a:highlight>
                  <a:srgbClr val="FFB71B"/>
                </a:highlight>
                <a:latin typeface="Arial"/>
                <a:cs typeface="Arial"/>
              </a:rPr>
              <a:t>– Problem Definition (Pain point)</a:t>
            </a:r>
          </a:p>
          <a:p>
            <a:pPr marL="233045" indent="-233045">
              <a:buNone/>
            </a:pPr>
            <a:r>
              <a:rPr lang="en-US">
                <a:highlight>
                  <a:srgbClr val="FFB71B"/>
                </a:highlight>
                <a:latin typeface="Arial"/>
                <a:cs typeface="Arial"/>
              </a:rPr>
              <a:t>– Market/Policy Analysis: (current state, changes impacting space)</a:t>
            </a:r>
          </a:p>
          <a:p>
            <a:pPr marL="233045" indent="-233045">
              <a:buNone/>
            </a:pPr>
            <a:r>
              <a:rPr lang="en-US">
                <a:highlight>
                  <a:srgbClr val="FFB71B"/>
                </a:highlight>
                <a:latin typeface="Arial"/>
                <a:cs typeface="Arial"/>
              </a:rPr>
              <a:t>– Competitive landscape: current providers of similar services, gaps in service, or inefficiencies of services.</a:t>
            </a:r>
          </a:p>
          <a:p>
            <a:pPr marL="233045" indent="-233045">
              <a:buNone/>
            </a:pPr>
            <a:r>
              <a:rPr lang="en-US">
                <a:latin typeface="Arial"/>
                <a:cs typeface="Arial"/>
              </a:rPr>
              <a:t>– Prioritization framework of where to focus based on cost, ease, implementation timeframe and impact</a:t>
            </a:r>
          </a:p>
          <a:p>
            <a:pPr marL="233045" indent="-233045">
              <a:buNone/>
            </a:pPr>
            <a:r>
              <a:rPr lang="en-US">
                <a:latin typeface="Arial"/>
                <a:cs typeface="Arial"/>
              </a:rPr>
              <a:t>– Strategic Fit (Why this works for APTIM)</a:t>
            </a:r>
          </a:p>
          <a:p>
            <a:pPr marL="233045" indent="-233045">
              <a:buNone/>
            </a:pPr>
            <a:r>
              <a:rPr lang="en-US">
                <a:latin typeface="Arial"/>
                <a:cs typeface="Arial"/>
              </a:rPr>
              <a:t>– Service Concept, including revenue model, delivery model, scalability, costs, implementation requirements, and</a:t>
            </a:r>
          </a:p>
          <a:p>
            <a:pPr marL="233045" indent="-233045">
              <a:buNone/>
            </a:pPr>
            <a:r>
              <a:rPr lang="en-US">
                <a:latin typeface="Arial"/>
                <a:cs typeface="Arial"/>
              </a:rPr>
              <a:t>operational risks.</a:t>
            </a:r>
          </a:p>
          <a:p>
            <a:pPr marL="233045" indent="-233045">
              <a:buNone/>
            </a:pPr>
            <a:r>
              <a:rPr lang="en-US">
                <a:latin typeface="Arial"/>
                <a:cs typeface="Arial"/>
              </a:rPr>
              <a:t>– Pilot a client use case or business case to support your idea, detailing value, constraints and risks.</a:t>
            </a:r>
          </a:p>
          <a:p>
            <a:pPr marL="233045" indent="-233045">
              <a:buNone/>
            </a:pPr>
            <a:r>
              <a:rPr lang="en-US">
                <a:latin typeface="Arial"/>
                <a:cs typeface="Arial"/>
              </a:rPr>
              <a:t>Intern gains: Evaluation of growth opportunities, market analysis skills, financial and service modeling, regulatory literacy,</a:t>
            </a:r>
          </a:p>
          <a:p>
            <a:pPr marL="0" indent="0">
              <a:buNone/>
            </a:pPr>
            <a:r>
              <a:rPr lang="en-US">
                <a:latin typeface="Arial"/>
                <a:cs typeface="Arial"/>
              </a:rPr>
              <a:t>energy business</a:t>
            </a:r>
          </a:p>
        </p:txBody>
      </p:sp>
      <p:sp>
        <p:nvSpPr>
          <p:cNvPr id="4" name="Footer Placeholder 3">
            <a:extLst>
              <a:ext uri="{FF2B5EF4-FFF2-40B4-BE49-F238E27FC236}">
                <a16:creationId xmlns:a16="http://schemas.microsoft.com/office/drawing/2014/main" id="{35199ECE-9922-81D5-E4DB-F8448D038A0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74BD898-07FA-C0CE-C69D-CF9B3FF91F41}"/>
              </a:ext>
            </a:extLst>
          </p:cNvPr>
          <p:cNvSpPr>
            <a:spLocks noGrp="1"/>
          </p:cNvSpPr>
          <p:nvPr>
            <p:ph type="sldNum" sz="quarter" idx="12"/>
          </p:nvPr>
        </p:nvSpPr>
        <p:spPr/>
        <p:txBody>
          <a:bodyPr/>
          <a:lstStyle/>
          <a:p>
            <a:fld id="{F8F6B9CD-BE6B-498B-93B3-0FAD7ADE75E3}" type="slidenum">
              <a:rPr lang="en-US" smtClean="0"/>
              <a:t>24</a:t>
            </a:fld>
            <a:endParaRPr lang="en-US"/>
          </a:p>
        </p:txBody>
      </p:sp>
    </p:spTree>
    <p:extLst>
      <p:ext uri="{BB962C8B-B14F-4D97-AF65-F5344CB8AC3E}">
        <p14:creationId xmlns:p14="http://schemas.microsoft.com/office/powerpoint/2010/main" val="622591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3CA76-B55D-7C53-05EF-A2D84F2DC277}"/>
              </a:ext>
            </a:extLst>
          </p:cNvPr>
          <p:cNvSpPr>
            <a:spLocks noGrp="1"/>
          </p:cNvSpPr>
          <p:nvPr>
            <p:ph type="title"/>
          </p:nvPr>
        </p:nvSpPr>
        <p:spPr/>
        <p:txBody>
          <a:bodyPr/>
          <a:lstStyle/>
          <a:p>
            <a:r>
              <a:rPr lang="en-US"/>
              <a:t>The Problem </a:t>
            </a:r>
          </a:p>
        </p:txBody>
      </p:sp>
      <p:sp>
        <p:nvSpPr>
          <p:cNvPr id="3" name="Content Placeholder 2">
            <a:extLst>
              <a:ext uri="{FF2B5EF4-FFF2-40B4-BE49-F238E27FC236}">
                <a16:creationId xmlns:a16="http://schemas.microsoft.com/office/drawing/2014/main" id="{962A8EF5-735E-A1F2-4794-491CE0DA626D}"/>
              </a:ext>
            </a:extLst>
          </p:cNvPr>
          <p:cNvSpPr>
            <a:spLocks noGrp="1"/>
          </p:cNvSpPr>
          <p:nvPr>
            <p:ph idx="1"/>
          </p:nvPr>
        </p:nvSpPr>
        <p:spPr/>
        <p:txBody>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a:p>
            <a:endParaRPr lang="en-US"/>
          </a:p>
        </p:txBody>
      </p:sp>
      <p:sp>
        <p:nvSpPr>
          <p:cNvPr id="4" name="Footer Placeholder 3">
            <a:extLst>
              <a:ext uri="{FF2B5EF4-FFF2-40B4-BE49-F238E27FC236}">
                <a16:creationId xmlns:a16="http://schemas.microsoft.com/office/drawing/2014/main" id="{3D9850D2-EADD-C40D-5059-1B37B1B4C3D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1C24CFE-0A65-6052-E5D7-4C1214ABE545}"/>
              </a:ext>
            </a:extLst>
          </p:cNvPr>
          <p:cNvSpPr>
            <a:spLocks noGrp="1"/>
          </p:cNvSpPr>
          <p:nvPr>
            <p:ph type="sldNum" sz="quarter" idx="12"/>
          </p:nvPr>
        </p:nvSpPr>
        <p:spPr/>
        <p:txBody>
          <a:bodyPr/>
          <a:lstStyle/>
          <a:p>
            <a:fld id="{F8F6B9CD-BE6B-498B-93B3-0FAD7ADE75E3}" type="slidenum">
              <a:rPr lang="en-US" smtClean="0"/>
              <a:t>25</a:t>
            </a:fld>
            <a:endParaRPr lang="en-US"/>
          </a:p>
        </p:txBody>
      </p:sp>
    </p:spTree>
    <p:extLst>
      <p:ext uri="{BB962C8B-B14F-4D97-AF65-F5344CB8AC3E}">
        <p14:creationId xmlns:p14="http://schemas.microsoft.com/office/powerpoint/2010/main" val="1452315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5710-52BA-CD25-A13E-B327218A400D}"/>
              </a:ext>
            </a:extLst>
          </p:cNvPr>
          <p:cNvSpPr>
            <a:spLocks noGrp="1"/>
          </p:cNvSpPr>
          <p:nvPr>
            <p:ph type="title"/>
          </p:nvPr>
        </p:nvSpPr>
        <p:spPr/>
        <p:txBody>
          <a:bodyPr/>
          <a:lstStyle/>
          <a:p>
            <a:r>
              <a:rPr lang="en-US"/>
              <a:t>The Problem </a:t>
            </a:r>
          </a:p>
        </p:txBody>
      </p:sp>
      <p:sp>
        <p:nvSpPr>
          <p:cNvPr id="3" name="Text Placeholder 2">
            <a:extLst>
              <a:ext uri="{FF2B5EF4-FFF2-40B4-BE49-F238E27FC236}">
                <a16:creationId xmlns:a16="http://schemas.microsoft.com/office/drawing/2014/main" id="{B90D45D4-3146-FFB8-54F9-BFE0FD6B2884}"/>
              </a:ext>
            </a:extLst>
          </p:cNvPr>
          <p:cNvSpPr>
            <a:spLocks noGrp="1"/>
          </p:cNvSpPr>
          <p:nvPr>
            <p:ph type="body" idx="1"/>
          </p:nvPr>
        </p:nvSpPr>
        <p:spPr>
          <a:xfrm>
            <a:off x="638049" y="1199342"/>
            <a:ext cx="5157787" cy="301752"/>
          </a:xfrm>
        </p:spPr>
        <p:txBody>
          <a:bodyPr/>
          <a:lstStyle/>
          <a:p>
            <a:r>
              <a:rPr lang="en-US"/>
              <a:t>Growing Expectations</a:t>
            </a:r>
          </a:p>
        </p:txBody>
      </p:sp>
      <p:sp>
        <p:nvSpPr>
          <p:cNvPr id="4" name="Content Placeholder 3">
            <a:extLst>
              <a:ext uri="{FF2B5EF4-FFF2-40B4-BE49-F238E27FC236}">
                <a16:creationId xmlns:a16="http://schemas.microsoft.com/office/drawing/2014/main" id="{245BF68E-8388-BE8E-0C68-932147BB7560}"/>
              </a:ext>
            </a:extLst>
          </p:cNvPr>
          <p:cNvSpPr>
            <a:spLocks noGrp="1"/>
          </p:cNvSpPr>
          <p:nvPr>
            <p:ph sz="half" idx="2"/>
          </p:nvPr>
        </p:nvSpPr>
        <p:spPr>
          <a:xfrm>
            <a:off x="612648" y="1600201"/>
            <a:ext cx="4270247" cy="2258566"/>
          </a:xfrm>
        </p:spPr>
        <p:txBody>
          <a:bodyPr/>
          <a:lstStyle/>
          <a:p>
            <a:r>
              <a:rPr lang="en-US"/>
              <a:t>Energy efficiency</a:t>
            </a:r>
          </a:p>
          <a:p>
            <a:r>
              <a:rPr lang="en-US"/>
              <a:t>Sustainability Initiatives</a:t>
            </a:r>
          </a:p>
          <a:p>
            <a:r>
              <a:rPr lang="en-US"/>
              <a:t>Grid Resilience </a:t>
            </a:r>
          </a:p>
          <a:p>
            <a:r>
              <a:rPr lang="en-US"/>
              <a:t>Electrification </a:t>
            </a:r>
          </a:p>
          <a:p>
            <a:r>
              <a:rPr lang="en-US"/>
              <a:t>Implementation Support</a:t>
            </a:r>
          </a:p>
          <a:p>
            <a:r>
              <a:rPr lang="en-US"/>
              <a:t>Cost Effective Solutions </a:t>
            </a:r>
          </a:p>
        </p:txBody>
      </p:sp>
      <p:sp>
        <p:nvSpPr>
          <p:cNvPr id="5" name="Text Placeholder 4">
            <a:extLst>
              <a:ext uri="{FF2B5EF4-FFF2-40B4-BE49-F238E27FC236}">
                <a16:creationId xmlns:a16="http://schemas.microsoft.com/office/drawing/2014/main" id="{04A2047A-A713-49BD-7AD4-43D2BA199A65}"/>
              </a:ext>
            </a:extLst>
          </p:cNvPr>
          <p:cNvSpPr>
            <a:spLocks noGrp="1"/>
          </p:cNvSpPr>
          <p:nvPr>
            <p:ph type="body" sz="quarter" idx="3"/>
          </p:nvPr>
        </p:nvSpPr>
        <p:spPr/>
        <p:txBody>
          <a:bodyPr/>
          <a:lstStyle/>
          <a:p>
            <a:r>
              <a:rPr lang="en-US"/>
              <a:t>Growing Constraints</a:t>
            </a:r>
          </a:p>
        </p:txBody>
      </p:sp>
      <p:sp>
        <p:nvSpPr>
          <p:cNvPr id="6" name="Content Placeholder 5">
            <a:extLst>
              <a:ext uri="{FF2B5EF4-FFF2-40B4-BE49-F238E27FC236}">
                <a16:creationId xmlns:a16="http://schemas.microsoft.com/office/drawing/2014/main" id="{5FFC6A64-68BF-9BED-55F5-3B106DAF8CE5}"/>
              </a:ext>
            </a:extLst>
          </p:cNvPr>
          <p:cNvSpPr>
            <a:spLocks noGrp="1"/>
          </p:cNvSpPr>
          <p:nvPr>
            <p:ph sz="quarter" idx="4"/>
          </p:nvPr>
        </p:nvSpPr>
        <p:spPr>
          <a:xfrm>
            <a:off x="6388099" y="1600201"/>
            <a:ext cx="4270247" cy="2258566"/>
          </a:xfrm>
        </p:spPr>
        <p:txBody>
          <a:bodyPr/>
          <a:lstStyle/>
          <a:p>
            <a:r>
              <a:rPr lang="en-US"/>
              <a:t>Federal Funding Uncertainty</a:t>
            </a:r>
          </a:p>
          <a:p>
            <a:r>
              <a:rPr lang="en-US"/>
              <a:t>Changing Incentive Structure </a:t>
            </a:r>
          </a:p>
          <a:p>
            <a:r>
              <a:rPr lang="en-US"/>
              <a:t>Operational Complexity </a:t>
            </a:r>
          </a:p>
          <a:p>
            <a:r>
              <a:rPr lang="en-US"/>
              <a:t>Aging Infrastructure </a:t>
            </a:r>
          </a:p>
        </p:txBody>
      </p:sp>
      <p:sp>
        <p:nvSpPr>
          <p:cNvPr id="7" name="Footer Placeholder 6">
            <a:extLst>
              <a:ext uri="{FF2B5EF4-FFF2-40B4-BE49-F238E27FC236}">
                <a16:creationId xmlns:a16="http://schemas.microsoft.com/office/drawing/2014/main" id="{65668E8F-2503-C5E9-2010-F59BE3EF2B69}"/>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894EA1E-021D-2089-CA60-1880278003FA}"/>
              </a:ext>
            </a:extLst>
          </p:cNvPr>
          <p:cNvSpPr>
            <a:spLocks noGrp="1"/>
          </p:cNvSpPr>
          <p:nvPr>
            <p:ph type="sldNum" sz="quarter" idx="12"/>
          </p:nvPr>
        </p:nvSpPr>
        <p:spPr/>
        <p:txBody>
          <a:bodyPr/>
          <a:lstStyle/>
          <a:p>
            <a:fld id="{F8F6B9CD-BE6B-498B-93B3-0FAD7ADE75E3}" type="slidenum">
              <a:rPr lang="en-US" smtClean="0"/>
              <a:t>26</a:t>
            </a:fld>
            <a:endParaRPr lang="en-US"/>
          </a:p>
        </p:txBody>
      </p:sp>
    </p:spTree>
    <p:extLst>
      <p:ext uri="{BB962C8B-B14F-4D97-AF65-F5344CB8AC3E}">
        <p14:creationId xmlns:p14="http://schemas.microsoft.com/office/powerpoint/2010/main" val="17543130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581285B-3A25-DB58-BF5A-E61B75E08621}"/>
              </a:ext>
            </a:extLst>
          </p:cNvPr>
          <p:cNvSpPr>
            <a:spLocks noGrp="1"/>
          </p:cNvSpPr>
          <p:nvPr>
            <p:ph type="title"/>
          </p:nvPr>
        </p:nvSpPr>
        <p:spPr/>
        <p:txBody>
          <a:bodyPr/>
          <a:lstStyle/>
          <a:p>
            <a:endParaRPr lang="en-US"/>
          </a:p>
        </p:txBody>
      </p:sp>
      <p:sp>
        <p:nvSpPr>
          <p:cNvPr id="7" name="Footer Placeholder 6">
            <a:extLst>
              <a:ext uri="{FF2B5EF4-FFF2-40B4-BE49-F238E27FC236}">
                <a16:creationId xmlns:a16="http://schemas.microsoft.com/office/drawing/2014/main" id="{472629F9-D267-B5BC-60C9-F5B0538CCC3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3DC21DB-0E36-5E68-87FD-F048B9D14873}"/>
              </a:ext>
            </a:extLst>
          </p:cNvPr>
          <p:cNvSpPr>
            <a:spLocks noGrp="1"/>
          </p:cNvSpPr>
          <p:nvPr>
            <p:ph type="sldNum" sz="quarter" idx="12"/>
          </p:nvPr>
        </p:nvSpPr>
        <p:spPr/>
        <p:txBody>
          <a:bodyPr/>
          <a:lstStyle/>
          <a:p>
            <a:fld id="{F8F6B9CD-BE6B-498B-93B3-0FAD7ADE75E3}" type="slidenum">
              <a:rPr lang="en-US" smtClean="0"/>
              <a:t>27</a:t>
            </a:fld>
            <a:endParaRPr lang="en-US"/>
          </a:p>
        </p:txBody>
      </p:sp>
      <p:graphicFrame>
        <p:nvGraphicFramePr>
          <p:cNvPr id="10" name="Diagram 9">
            <a:extLst>
              <a:ext uri="{FF2B5EF4-FFF2-40B4-BE49-F238E27FC236}">
                <a16:creationId xmlns:a16="http://schemas.microsoft.com/office/drawing/2014/main" id="{15026CBB-5CD8-DD46-C640-B3B8756D6CED}"/>
              </a:ext>
            </a:extLst>
          </p:cNvPr>
          <p:cNvGraphicFramePr/>
          <p:nvPr>
            <p:extLst>
              <p:ext uri="{D42A27DB-BD31-4B8C-83A1-F6EECF244321}">
                <p14:modId xmlns:p14="http://schemas.microsoft.com/office/powerpoint/2010/main" val="2986449711"/>
              </p:ext>
            </p:extLst>
          </p:nvPr>
        </p:nvGraphicFramePr>
        <p:xfrm>
          <a:off x="2032000" y="1444752"/>
          <a:ext cx="7806944" cy="46935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64047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D3ACE-088E-1AF7-0D95-E6381971A9DA}"/>
              </a:ext>
            </a:extLst>
          </p:cNvPr>
          <p:cNvSpPr>
            <a:spLocks noGrp="1"/>
          </p:cNvSpPr>
          <p:nvPr>
            <p:ph type="title"/>
          </p:nvPr>
        </p:nvSpPr>
        <p:spPr/>
        <p:txBody>
          <a:bodyPr/>
          <a:lstStyle/>
          <a:p>
            <a:r>
              <a:rPr lang="en-US"/>
              <a:t>Project Scope</a:t>
            </a:r>
          </a:p>
        </p:txBody>
      </p:sp>
      <p:sp>
        <p:nvSpPr>
          <p:cNvPr id="3" name="Content Placeholder 2">
            <a:extLst>
              <a:ext uri="{FF2B5EF4-FFF2-40B4-BE49-F238E27FC236}">
                <a16:creationId xmlns:a16="http://schemas.microsoft.com/office/drawing/2014/main" id="{7D8514F4-7669-43A3-2D8D-3BDABCD82F75}"/>
              </a:ext>
            </a:extLst>
          </p:cNvPr>
          <p:cNvSpPr>
            <a:spLocks noGrp="1"/>
          </p:cNvSpPr>
          <p:nvPr>
            <p:ph idx="1"/>
          </p:nvPr>
        </p:nvSpPr>
        <p:spPr>
          <a:xfrm>
            <a:off x="609600" y="1600200"/>
            <a:ext cx="3971544" cy="4686299"/>
          </a:xfrm>
        </p:spPr>
        <p:txBody>
          <a:bodyPr/>
          <a:lstStyle/>
          <a:p>
            <a:r>
              <a:rPr lang="en-US"/>
              <a:t>Scope focus:</a:t>
            </a:r>
          </a:p>
          <a:p>
            <a:pPr marL="0" indent="0">
              <a:buNone/>
            </a:pPr>
            <a:r>
              <a:rPr lang="en-US"/>
              <a:t>-  Assume no invention of new technology!!</a:t>
            </a:r>
          </a:p>
          <a:p>
            <a:r>
              <a:rPr lang="en-US"/>
              <a:t> Us</a:t>
            </a:r>
          </a:p>
          <a:p>
            <a:r>
              <a:rPr lang="en-US"/>
              <a:t>– Focus on a single group (utility, state, county, city, or customer segment)</a:t>
            </a:r>
          </a:p>
          <a:p>
            <a:endParaRPr lang="en-US"/>
          </a:p>
          <a:p>
            <a:r>
              <a:rPr lang="en-US"/>
              <a:t>– Consider solutions that leverage current or APTIM-adjacent capabilities</a:t>
            </a:r>
          </a:p>
          <a:p>
            <a:endParaRPr lang="en-US"/>
          </a:p>
          <a:p>
            <a:r>
              <a:rPr lang="en-US"/>
              <a:t>– Allow for scaling, and should be achievable within the next 1-3 years, accounting for market conditions that may shift.</a:t>
            </a:r>
          </a:p>
          <a:p>
            <a:endParaRPr lang="en-US"/>
          </a:p>
        </p:txBody>
      </p:sp>
      <p:sp>
        <p:nvSpPr>
          <p:cNvPr id="4" name="Footer Placeholder 3">
            <a:extLst>
              <a:ext uri="{FF2B5EF4-FFF2-40B4-BE49-F238E27FC236}">
                <a16:creationId xmlns:a16="http://schemas.microsoft.com/office/drawing/2014/main" id="{A08F9881-9EC2-2725-4516-2730222AE8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E4EE8B6-FE34-61EE-9235-1E7A117F1BF0}"/>
              </a:ext>
            </a:extLst>
          </p:cNvPr>
          <p:cNvSpPr>
            <a:spLocks noGrp="1"/>
          </p:cNvSpPr>
          <p:nvPr>
            <p:ph type="sldNum" sz="quarter" idx="12"/>
          </p:nvPr>
        </p:nvSpPr>
        <p:spPr/>
        <p:txBody>
          <a:bodyPr/>
          <a:lstStyle/>
          <a:p>
            <a:fld id="{F8F6B9CD-BE6B-498B-93B3-0FAD7ADE75E3}" type="slidenum">
              <a:rPr lang="en-US" smtClean="0"/>
              <a:t>28</a:t>
            </a:fld>
            <a:endParaRPr lang="en-US"/>
          </a:p>
        </p:txBody>
      </p:sp>
      <p:graphicFrame>
        <p:nvGraphicFramePr>
          <p:cNvPr id="7" name="Diagram 6">
            <a:extLst>
              <a:ext uri="{FF2B5EF4-FFF2-40B4-BE49-F238E27FC236}">
                <a16:creationId xmlns:a16="http://schemas.microsoft.com/office/drawing/2014/main" id="{998C88D0-1809-1D8C-99F4-8AC1233F43A7}"/>
              </a:ext>
            </a:extLst>
          </p:cNvPr>
          <p:cNvGraphicFramePr/>
          <p:nvPr>
            <p:extLst>
              <p:ext uri="{D42A27DB-BD31-4B8C-83A1-F6EECF244321}">
                <p14:modId xmlns:p14="http://schemas.microsoft.com/office/powerpoint/2010/main" val="2513964316"/>
              </p:ext>
            </p:extLst>
          </p:nvPr>
        </p:nvGraphicFramePr>
        <p:xfrm>
          <a:off x="5458968" y="813816"/>
          <a:ext cx="5376672" cy="53245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695363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ACC363-0CB5-8DD9-EABF-BEB3A5815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47174-338B-8898-3409-D8B19D702B21}"/>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E01FD7CD-DE41-4FB2-5F6E-A248DAE46ABC}"/>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1E4C203-8212-439F-58BB-948201C573D0}"/>
              </a:ext>
            </a:extLst>
          </p:cNvPr>
          <p:cNvSpPr>
            <a:spLocks noGrp="1"/>
          </p:cNvSpPr>
          <p:nvPr>
            <p:ph type="sldNum" sz="quarter" idx="12"/>
          </p:nvPr>
        </p:nvSpPr>
        <p:spPr/>
        <p:txBody>
          <a:bodyPr/>
          <a:lstStyle/>
          <a:p>
            <a:fld id="{F8F6B9CD-BE6B-498B-93B3-0FAD7ADE75E3}" type="slidenum">
              <a:rPr lang="en-US" smtClean="0"/>
              <a:t>29</a:t>
            </a:fld>
            <a:endParaRPr lang="en-US"/>
          </a:p>
        </p:txBody>
      </p:sp>
      <p:sp>
        <p:nvSpPr>
          <p:cNvPr id="7" name="Rectangle: Rounded Corners 6">
            <a:extLst>
              <a:ext uri="{FF2B5EF4-FFF2-40B4-BE49-F238E27FC236}">
                <a16:creationId xmlns:a16="http://schemas.microsoft.com/office/drawing/2014/main" id="{DF4E33A7-E745-C0CB-B8ED-CB26EF47359A}"/>
              </a:ext>
            </a:extLst>
          </p:cNvPr>
          <p:cNvSpPr/>
          <p:nvPr/>
        </p:nvSpPr>
        <p:spPr>
          <a:xfrm>
            <a:off x="5575137" y="3477291"/>
            <a:ext cx="1041726" cy="80473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52E9A809-1696-990E-7AE5-8C53E529A271}"/>
              </a:ext>
            </a:extLst>
          </p:cNvPr>
          <p:cNvSpPr/>
          <p:nvPr/>
        </p:nvSpPr>
        <p:spPr>
          <a:xfrm>
            <a:off x="7074702"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Expands Into New Markets</a:t>
            </a:r>
          </a:p>
          <a:p>
            <a:pPr algn="r"/>
            <a:r>
              <a:rPr lang="en-US" sz="1600"/>
              <a:t>There is little direct competition providing end-to-end administration of utility-owned residential battery fleets. This positions APTIM to establish a </a:t>
            </a:r>
            <a:r>
              <a:rPr lang="en-US"/>
              <a:t>differentiated</a:t>
            </a:r>
            <a:r>
              <a:rPr lang="en-US" sz="1600"/>
              <a:t> offering within the growing demand response and distributed energy resources market.</a:t>
            </a:r>
          </a:p>
        </p:txBody>
      </p:sp>
      <p:sp>
        <p:nvSpPr>
          <p:cNvPr id="15" name="Rectangle: Rounded Corners 14">
            <a:extLst>
              <a:ext uri="{FF2B5EF4-FFF2-40B4-BE49-F238E27FC236}">
                <a16:creationId xmlns:a16="http://schemas.microsoft.com/office/drawing/2014/main" id="{3EEB4CF0-B6A9-B01C-4975-270D1A8462A0}"/>
              </a:ext>
            </a:extLst>
          </p:cNvPr>
          <p:cNvSpPr/>
          <p:nvPr/>
        </p:nvSpPr>
        <p:spPr>
          <a:xfrm>
            <a:off x="449728"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en-US" sz="2000" b="1"/>
              <a:t>Leverages Existing Capabilities</a:t>
            </a:r>
          </a:p>
          <a:p>
            <a:pPr lvl="0"/>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p:txBody>
      </p:sp>
      <p:sp>
        <p:nvSpPr>
          <p:cNvPr id="16" name="Rectangle: Rounded Corners 15">
            <a:extLst>
              <a:ext uri="{FF2B5EF4-FFF2-40B4-BE49-F238E27FC236}">
                <a16:creationId xmlns:a16="http://schemas.microsoft.com/office/drawing/2014/main" id="{EC30C8C7-F71E-3C7E-B606-E4B9888C3C97}"/>
              </a:ext>
            </a:extLst>
          </p:cNvPr>
          <p:cNvSpPr/>
          <p:nvPr/>
        </p:nvSpPr>
        <p:spPr>
          <a:xfrm>
            <a:off x="7074702"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Creates More Resilient Revenue Streams</a:t>
            </a:r>
          </a:p>
          <a:p>
            <a:pPr algn="r"/>
            <a:r>
              <a:rPr lang="en-US" sz="1600"/>
              <a:t>This program shifts funding away from grants and incentives toward utility infrastructure investments. Reducing reliance on uncertain federal funding creates a more stable revenue source while supporting grid resilience goals.</a:t>
            </a:r>
          </a:p>
        </p:txBody>
      </p:sp>
      <p:sp>
        <p:nvSpPr>
          <p:cNvPr id="17" name="Rectangle: Rounded Corners 16">
            <a:extLst>
              <a:ext uri="{FF2B5EF4-FFF2-40B4-BE49-F238E27FC236}">
                <a16:creationId xmlns:a16="http://schemas.microsoft.com/office/drawing/2014/main" id="{946D30D6-F083-AC84-F938-3626CDA86348}"/>
              </a:ext>
            </a:extLst>
          </p:cNvPr>
          <p:cNvSpPr/>
          <p:nvPr/>
        </p:nvSpPr>
        <p:spPr>
          <a:xfrm>
            <a:off x="449728"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a:t>Scales Through Existing Relationships </a:t>
            </a:r>
          </a:p>
          <a:p>
            <a:r>
              <a:rPr lang="en-US" sz="16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p:txBody>
      </p:sp>
    </p:spTree>
    <p:extLst>
      <p:ext uri="{BB962C8B-B14F-4D97-AF65-F5344CB8AC3E}">
        <p14:creationId xmlns:p14="http://schemas.microsoft.com/office/powerpoint/2010/main" val="21306323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626C83-D865-5ADB-A5CA-A06D91A678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B034BF-5D27-05A2-A814-9D080042C13B}"/>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0E4E21FD-5434-C8A9-A426-8BE301BAEC25}"/>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818380D7-A65F-58A1-3F02-9E570E969C23}"/>
              </a:ext>
            </a:extLst>
          </p:cNvPr>
          <p:cNvSpPr>
            <a:spLocks noGrp="1"/>
          </p:cNvSpPr>
          <p:nvPr>
            <p:ph type="sldNum" sz="quarter" idx="12"/>
          </p:nvPr>
        </p:nvSpPr>
        <p:spPr/>
        <p:txBody>
          <a:bodyPr/>
          <a:lstStyle/>
          <a:p>
            <a:fld id="{F8F6B9CD-BE6B-498B-93B3-0FAD7ADE75E3}" type="slidenum">
              <a:rPr lang="en-US" smtClean="0"/>
              <a:t>30</a:t>
            </a:fld>
            <a:endParaRPr lang="en-US"/>
          </a:p>
        </p:txBody>
      </p:sp>
      <p:graphicFrame>
        <p:nvGraphicFramePr>
          <p:cNvPr id="6" name="Diagram 5">
            <a:extLst>
              <a:ext uri="{FF2B5EF4-FFF2-40B4-BE49-F238E27FC236}">
                <a16:creationId xmlns:a16="http://schemas.microsoft.com/office/drawing/2014/main" id="{F8C039D1-02F6-4E1E-B1E9-F6D3CD8F33A6}"/>
              </a:ext>
            </a:extLst>
          </p:cNvPr>
          <p:cNvGraphicFramePr/>
          <p:nvPr>
            <p:extLst>
              <p:ext uri="{D42A27DB-BD31-4B8C-83A1-F6EECF244321}">
                <p14:modId xmlns:p14="http://schemas.microsoft.com/office/powerpoint/2010/main" val="1744580376"/>
              </p:ext>
            </p:extLst>
          </p:nvPr>
        </p:nvGraphicFramePr>
        <p:xfrm>
          <a:off x="115821" y="1095612"/>
          <a:ext cx="11960353" cy="53455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03544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3C5BF-1CE3-5E00-9A6C-61575109B464}"/>
              </a:ext>
            </a:extLst>
          </p:cNvPr>
          <p:cNvSpPr>
            <a:spLocks noGrp="1"/>
          </p:cNvSpPr>
          <p:nvPr>
            <p:ph type="title"/>
          </p:nvPr>
        </p:nvSpPr>
        <p:spPr/>
        <p:txBody>
          <a:bodyPr/>
          <a:lstStyle/>
          <a:p>
            <a:r>
              <a:rPr lang="en-US">
                <a:latin typeface="Arial Black"/>
                <a:cs typeface="Arial"/>
              </a:rPr>
              <a:t>Strategic Fit (fix wording/choose format) </a:t>
            </a:r>
            <a:endParaRPr lang="en-US"/>
          </a:p>
        </p:txBody>
      </p:sp>
      <p:sp>
        <p:nvSpPr>
          <p:cNvPr id="3" name="Content Placeholder 2">
            <a:extLst>
              <a:ext uri="{FF2B5EF4-FFF2-40B4-BE49-F238E27FC236}">
                <a16:creationId xmlns:a16="http://schemas.microsoft.com/office/drawing/2014/main" id="{632696D0-A287-073E-977C-2F77E5DC7769}"/>
              </a:ext>
            </a:extLst>
          </p:cNvPr>
          <p:cNvSpPr>
            <a:spLocks noGrp="1"/>
          </p:cNvSpPr>
          <p:nvPr>
            <p:ph idx="1"/>
          </p:nvPr>
        </p:nvSpPr>
        <p:spPr>
          <a:xfrm>
            <a:off x="609600" y="1169862"/>
            <a:ext cx="10972800" cy="5116638"/>
          </a:xfrm>
        </p:spPr>
        <p:txBody>
          <a:bodyPr vert="horz" lIns="0" tIns="0" rIns="0" bIns="0" rtlCol="0" anchor="t">
            <a:noAutofit/>
          </a:bodyPr>
          <a:lstStyle/>
          <a:p>
            <a:pPr marL="233045" indent="-233045"/>
            <a:r>
              <a:rPr lang="en-US" sz="1600"/>
              <a:t>Leverages Existing Capabilities</a:t>
            </a:r>
          </a:p>
          <a:p>
            <a:pPr marL="574357" lvl="1" indent="-233045"/>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a:p>
            <a:pPr marL="233045" indent="-233045"/>
            <a:r>
              <a:rPr lang="en-US" sz="1600"/>
              <a:t>Expands Into New Markets (update with market research) </a:t>
            </a:r>
          </a:p>
          <a:p>
            <a:pPr marL="574357" lvl="1" indent="-233045"/>
            <a:r>
              <a:rPr lang="en-US">
                <a:solidFill>
                  <a:srgbClr val="002856"/>
                </a:solidFill>
              </a:rPr>
              <a:t>There is little direct competition providing end-to-end administration of utility-owned residential battery fleets. This positions APTIM to establish a differentiated offering within the growing demand response and distributed energy resources market.</a:t>
            </a:r>
            <a:endParaRPr lang="en-US" sz="1400">
              <a:solidFill>
                <a:srgbClr val="002856"/>
              </a:solidFill>
            </a:endParaRPr>
          </a:p>
          <a:p>
            <a:pPr marL="233045" indent="-233045"/>
            <a:r>
              <a:rPr lang="en-US" sz="1600">
                <a:solidFill>
                  <a:srgbClr val="002856"/>
                </a:solidFill>
              </a:rPr>
              <a:t>Scales Through Existing Relationships </a:t>
            </a:r>
          </a:p>
          <a:p>
            <a:pPr marL="574357" lvl="1" indent="-233045"/>
            <a:r>
              <a:rPr lang="en-US" sz="1400">
                <a:solidFill>
                  <a:srgbClr val="002856"/>
                </a:solidFill>
              </a:rPr>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endParaRPr lang="en-US" sz="1200">
              <a:solidFill>
                <a:srgbClr val="002856"/>
              </a:solidFill>
            </a:endParaRPr>
          </a:p>
          <a:p>
            <a:pPr marL="233045" indent="-233045"/>
            <a:r>
              <a:rPr lang="en-US" sz="1600">
                <a:solidFill>
                  <a:srgbClr val="002856"/>
                </a:solidFill>
              </a:rPr>
              <a:t>Creates More Resilient Revenue Streams</a:t>
            </a:r>
          </a:p>
          <a:p>
            <a:pPr marL="574357" lvl="1" indent="-233045"/>
            <a:r>
              <a:rPr lang="en-US" sz="1400">
                <a:solidFill>
                  <a:srgbClr val="002856"/>
                </a:solidFill>
              </a:rPr>
              <a:t>This program shifts funding away from grants and incentives toward utility infrastructure investments. Reducing reliance on uncertain federal funding creates a more stable revenue source while supporting grid resilience goals.</a:t>
            </a:r>
          </a:p>
          <a:p>
            <a:pPr marL="233045" indent="-233045"/>
            <a:r>
              <a:rPr lang="en-US" sz="1600">
                <a:solidFill>
                  <a:srgbClr val="002856"/>
                </a:solidFill>
              </a:rPr>
              <a:t>Bottom Text to highlight point</a:t>
            </a:r>
          </a:p>
          <a:p>
            <a:pPr marL="574357" lvl="1" indent="-233045"/>
            <a:r>
              <a:rPr lang="en-US" b="1">
                <a:solidFill>
                  <a:srgbClr val="002856"/>
                </a:solidFill>
              </a:rPr>
              <a:t>By combining existing capabilities, strong utility relationships, and a differentiated market position, APTIM can deliver a scalable solution that supports both utility resilience goals and long-term business growth.</a:t>
            </a:r>
            <a:endParaRPr lang="en-US">
              <a:solidFill>
                <a:srgbClr val="002856"/>
              </a:solidFill>
            </a:endParaRPr>
          </a:p>
        </p:txBody>
      </p:sp>
      <p:sp>
        <p:nvSpPr>
          <p:cNvPr id="4" name="Footer Placeholder 3">
            <a:extLst>
              <a:ext uri="{FF2B5EF4-FFF2-40B4-BE49-F238E27FC236}">
                <a16:creationId xmlns:a16="http://schemas.microsoft.com/office/drawing/2014/main" id="{B376DFCC-E25A-D4CF-34A0-D1CCE7C60E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5210E7-4F09-0931-C3E2-52C07484CB0B}"/>
              </a:ext>
            </a:extLst>
          </p:cNvPr>
          <p:cNvSpPr>
            <a:spLocks noGrp="1"/>
          </p:cNvSpPr>
          <p:nvPr>
            <p:ph type="sldNum" sz="quarter" idx="12"/>
          </p:nvPr>
        </p:nvSpPr>
        <p:spPr/>
        <p:txBody>
          <a:bodyPr/>
          <a:lstStyle/>
          <a:p>
            <a:fld id="{F8F6B9CD-BE6B-498B-93B3-0FAD7ADE75E3}" type="slidenum">
              <a:rPr lang="en-US" smtClean="0"/>
              <a:t>31</a:t>
            </a:fld>
            <a:endParaRPr lang="en-US"/>
          </a:p>
        </p:txBody>
      </p:sp>
    </p:spTree>
    <p:extLst>
      <p:ext uri="{BB962C8B-B14F-4D97-AF65-F5344CB8AC3E}">
        <p14:creationId xmlns:p14="http://schemas.microsoft.com/office/powerpoint/2010/main" val="27049970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D991-6DA8-258D-D39B-7F99DD167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6AB51-5774-9E2B-6B1D-3B0952DAAB1B}"/>
              </a:ext>
            </a:extLst>
          </p:cNvPr>
          <p:cNvSpPr>
            <a:spLocks noGrp="1"/>
          </p:cNvSpPr>
          <p:nvPr>
            <p:ph type="title"/>
          </p:nvPr>
        </p:nvSpPr>
        <p:spPr/>
        <p:txBody>
          <a:bodyPr/>
          <a:lstStyle/>
          <a:p>
            <a:r>
              <a:rPr lang="en-US"/>
              <a:t>Project Scope</a:t>
            </a:r>
          </a:p>
        </p:txBody>
      </p:sp>
      <p:sp>
        <p:nvSpPr>
          <p:cNvPr id="4" name="Footer Placeholder 3">
            <a:extLst>
              <a:ext uri="{FF2B5EF4-FFF2-40B4-BE49-F238E27FC236}">
                <a16:creationId xmlns:a16="http://schemas.microsoft.com/office/drawing/2014/main" id="{68FD7BA1-6FB8-EA92-31F0-5DF81B03DD4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9645986-E349-6DA7-EE2D-C4FBB3647919}"/>
              </a:ext>
            </a:extLst>
          </p:cNvPr>
          <p:cNvSpPr>
            <a:spLocks noGrp="1"/>
          </p:cNvSpPr>
          <p:nvPr>
            <p:ph type="sldNum" sz="quarter" idx="12"/>
          </p:nvPr>
        </p:nvSpPr>
        <p:spPr/>
        <p:txBody>
          <a:bodyPr/>
          <a:lstStyle/>
          <a:p>
            <a:fld id="{F8F6B9CD-BE6B-498B-93B3-0FAD7ADE75E3}" type="slidenum">
              <a:rPr lang="en-US" smtClean="0"/>
              <a:t>32</a:t>
            </a:fld>
            <a:endParaRPr lang="en-US"/>
          </a:p>
        </p:txBody>
      </p:sp>
      <p:graphicFrame>
        <p:nvGraphicFramePr>
          <p:cNvPr id="7" name="Diagram 6">
            <a:extLst>
              <a:ext uri="{FF2B5EF4-FFF2-40B4-BE49-F238E27FC236}">
                <a16:creationId xmlns:a16="http://schemas.microsoft.com/office/drawing/2014/main" id="{EE182609-8E0C-0878-99E1-64BFAD089F61}"/>
              </a:ext>
            </a:extLst>
          </p:cNvPr>
          <p:cNvGraphicFramePr/>
          <p:nvPr>
            <p:extLst>
              <p:ext uri="{D42A27DB-BD31-4B8C-83A1-F6EECF244321}">
                <p14:modId xmlns:p14="http://schemas.microsoft.com/office/powerpoint/2010/main" val="2222289066"/>
              </p:ext>
            </p:extLst>
          </p:nvPr>
        </p:nvGraphicFramePr>
        <p:xfrm>
          <a:off x="466344" y="1178434"/>
          <a:ext cx="10579608" cy="503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2068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a:t>APTIM PowerPoint </a:t>
            </a:r>
            <a:br>
              <a:rPr lang="en-US"/>
            </a:br>
            <a:r>
              <a:rPr lang="en-US"/>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33</a:t>
            </a:fld>
            <a:endParaRPr lang="en-US"/>
          </a:p>
        </p:txBody>
      </p:sp>
    </p:spTree>
    <p:extLst>
      <p:ext uri="{BB962C8B-B14F-4D97-AF65-F5344CB8AC3E}">
        <p14:creationId xmlns:p14="http://schemas.microsoft.com/office/powerpoint/2010/main" val="23005613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About</a:t>
            </a:r>
          </a:p>
          <a:p>
            <a:r>
              <a:rPr lang="en-US"/>
              <a:t>Please use this template only to create your APTIM PowerPoint presentations. Do not share this template externally.</a:t>
            </a:r>
          </a:p>
          <a:p>
            <a:r>
              <a:rPr lang="en-US"/>
              <a:t>The most updated presentation template can be found on </a:t>
            </a:r>
            <a:r>
              <a:rPr lang="en-US">
                <a:hlinkClick r:id="rId2"/>
              </a:rPr>
              <a:t>Marketing &amp; Communication’s </a:t>
            </a:r>
            <a:r>
              <a:rPr lang="en-US" err="1">
                <a:hlinkClick r:id="rId2"/>
              </a:rPr>
              <a:t>APTNet</a:t>
            </a:r>
            <a:r>
              <a:rPr lang="en-US">
                <a:hlinkClick r:id="rId2"/>
              </a:rPr>
              <a:t> site</a:t>
            </a:r>
            <a:r>
              <a:rPr lang="en-US"/>
              <a:t>.</a:t>
            </a:r>
          </a:p>
          <a:p>
            <a:endParaRPr lang="en-US"/>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Formatting</a:t>
            </a:r>
          </a:p>
          <a:p>
            <a:pPr marL="0" indent="0">
              <a:buNone/>
            </a:pPr>
            <a:r>
              <a:rPr lang="en-US"/>
              <a:t>The presentation has pre-built templates. Use one of these template slides when creating a new slide. (See instructions on following slides.) They have been pre-built for the APTIM brand with fonts, colors, and graphics.</a:t>
            </a:r>
          </a:p>
          <a:p>
            <a:r>
              <a:rPr lang="en-US" b="1">
                <a:solidFill>
                  <a:schemeClr val="accent1"/>
                </a:solidFill>
              </a:rPr>
              <a:t>Font should be Arial</a:t>
            </a:r>
            <a:r>
              <a:rPr lang="en-US"/>
              <a:t>.</a:t>
            </a:r>
          </a:p>
          <a:p>
            <a:r>
              <a:rPr lang="en-US"/>
              <a:t>Colors should follow the built-in APTIM color scheme. This palette can be found under View&gt;Slide Master&gt;Colors. Select “</a:t>
            </a:r>
            <a:r>
              <a:rPr lang="en-US" b="1">
                <a:solidFill>
                  <a:schemeClr val="accent1"/>
                </a:solidFill>
              </a:rPr>
              <a:t>2025_APTIM_Colors</a:t>
            </a:r>
            <a:r>
              <a:rPr lang="en-US"/>
              <a:t>” to set your default palette under the Home tab.</a:t>
            </a:r>
          </a:p>
          <a:p>
            <a:endParaRPr lang="en-US"/>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34</a:t>
            </a:fld>
            <a:endParaRPr lang="en-US"/>
          </a:p>
        </p:txBody>
      </p:sp>
    </p:spTree>
    <p:extLst>
      <p:ext uri="{BB962C8B-B14F-4D97-AF65-F5344CB8AC3E}">
        <p14:creationId xmlns:p14="http://schemas.microsoft.com/office/powerpoint/2010/main" val="28936045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How to Use</a:t>
            </a:r>
          </a:p>
          <a:p>
            <a:r>
              <a:rPr lang="en-US" b="1">
                <a:solidFill>
                  <a:schemeClr val="accent1"/>
                </a:solidFill>
              </a:rPr>
              <a:t>Save a copy of this PowerPoint template</a:t>
            </a:r>
            <a:r>
              <a:rPr lang="en-US"/>
              <a:t> to your files to begin.</a:t>
            </a:r>
          </a:p>
          <a:p>
            <a:r>
              <a:rPr lang="en-US"/>
              <a:t>Do not modify the Slide Master.</a:t>
            </a:r>
          </a:p>
          <a:p>
            <a:r>
              <a:rPr lang="en-US"/>
              <a:t>Use the instructions on the following slides to build your presentation.</a:t>
            </a:r>
          </a:p>
          <a:p>
            <a:r>
              <a:rPr lang="en-US"/>
              <a:t>Remember to </a:t>
            </a:r>
            <a:r>
              <a:rPr lang="en-US" b="1">
                <a:solidFill>
                  <a:schemeClr val="accent1"/>
                </a:solidFill>
              </a:rPr>
              <a:t>delete this slide and any other unused slides</a:t>
            </a:r>
            <a:r>
              <a:rPr lang="en-US"/>
              <a:t> provided in this template upon submission or use.</a:t>
            </a:r>
          </a:p>
          <a:p>
            <a:r>
              <a:rPr lang="en-US"/>
              <a:t>Always </a:t>
            </a:r>
            <a:r>
              <a:rPr lang="en-US" b="1">
                <a:solidFill>
                  <a:schemeClr val="accent1"/>
                </a:solidFill>
              </a:rPr>
              <a:t>use spellcheck</a:t>
            </a:r>
            <a:r>
              <a:rPr lang="en-US"/>
              <a:t>.</a:t>
            </a:r>
          </a:p>
          <a:p>
            <a:endParaRPr lang="en-US"/>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Contact the Marketing &amp; </a:t>
            </a:r>
            <a:br>
              <a:rPr lang="en-US" b="1">
                <a:solidFill>
                  <a:schemeClr val="accent3"/>
                </a:solidFill>
              </a:rPr>
            </a:br>
            <a:r>
              <a:rPr lang="en-US" b="1">
                <a:solidFill>
                  <a:schemeClr val="accent3"/>
                </a:solidFill>
              </a:rPr>
              <a:t>Communications Team</a:t>
            </a:r>
          </a:p>
          <a:p>
            <a:r>
              <a:rPr lang="en-US"/>
              <a:t>If you would like your final draft presentation to be reviewed for style, grammar, and/or design, please submit a </a:t>
            </a:r>
            <a:r>
              <a:rPr lang="en-US">
                <a:hlinkClick r:id="rId2"/>
              </a:rPr>
              <a:t>Marketing &amp; Communications request</a:t>
            </a:r>
            <a:r>
              <a:rPr lang="en-US"/>
              <a:t>.</a:t>
            </a:r>
          </a:p>
          <a:p>
            <a:r>
              <a:rPr lang="en-US"/>
              <a:t>If there is a new slide that you would like to have created, please </a:t>
            </a:r>
            <a:r>
              <a:rPr lang="en-US">
                <a:hlinkClick r:id="rId2"/>
              </a:rPr>
              <a:t>submit a request</a:t>
            </a:r>
            <a:r>
              <a:rPr lang="en-US"/>
              <a:t>. Note that it will have to be approved to become part of the overall template.</a:t>
            </a:r>
          </a:p>
          <a:p>
            <a:pPr marL="0" indent="0">
              <a:buNone/>
            </a:pPr>
            <a:endParaRPr lang="en-US"/>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35</a:t>
            </a:fld>
            <a:endParaRPr lang="en-US"/>
          </a:p>
        </p:txBody>
      </p:sp>
    </p:spTree>
    <p:extLst>
      <p:ext uri="{BB962C8B-B14F-4D97-AF65-F5344CB8AC3E}">
        <p14:creationId xmlns:p14="http://schemas.microsoft.com/office/powerpoint/2010/main" val="20555952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Zoom View</a:t>
            </a:r>
          </a:p>
          <a:p>
            <a:pPr marL="0" indent="0">
              <a:buNone/>
            </a:pPr>
            <a:r>
              <a:rPr lang="en-US" b="1">
                <a:solidFill>
                  <a:schemeClr val="accent1"/>
                </a:solidFill>
              </a:rPr>
              <a:t>Press and hold Ctrl key while turning the mouse</a:t>
            </a:r>
            <a:r>
              <a:rPr lang="en-US" b="1"/>
              <a:t> wheel </a:t>
            </a:r>
            <a:r>
              <a:rPr lang="en-US"/>
              <a:t>to zoom in or out.</a:t>
            </a:r>
          </a:p>
          <a:p>
            <a:pPr marL="0" indent="0">
              <a:buNone/>
            </a:pPr>
            <a:r>
              <a:rPr lang="en-US" b="1">
                <a:solidFill>
                  <a:schemeClr val="accent3"/>
                </a:solidFill>
              </a:rPr>
              <a:t>Insert Slides</a:t>
            </a:r>
          </a:p>
          <a:p>
            <a:pPr marL="0" indent="0">
              <a:buNone/>
            </a:pPr>
            <a:r>
              <a:rPr lang="en-US"/>
              <a:t>Under the Home tab, </a:t>
            </a:r>
            <a:r>
              <a:rPr lang="en-US" b="1">
                <a:solidFill>
                  <a:schemeClr val="accent1"/>
                </a:solidFill>
              </a:rPr>
              <a:t>click the arrow next to New Slide</a:t>
            </a:r>
            <a:r>
              <a:rPr lang="en-US"/>
              <a:t>. Then, choose from any of the APTIM THEME-branded slide templates.</a:t>
            </a:r>
          </a:p>
          <a:p>
            <a:pPr marL="0" indent="0">
              <a:buNone/>
            </a:pPr>
            <a:r>
              <a:rPr lang="en-US" b="1">
                <a:solidFill>
                  <a:schemeClr val="accent3"/>
                </a:solidFill>
              </a:rPr>
              <a:t>Add Text</a:t>
            </a:r>
          </a:p>
          <a:p>
            <a:pPr marL="0" indent="0">
              <a:buNone/>
            </a:pPr>
            <a:r>
              <a:rPr lang="en-US"/>
              <a:t>To use the default text styles in the template when pasting text from another source, </a:t>
            </a:r>
            <a:r>
              <a:rPr lang="en-US" b="1">
                <a:solidFill>
                  <a:schemeClr val="accent1"/>
                </a:solidFill>
              </a:rPr>
              <a:t>right-click to show the Paste Options</a:t>
            </a:r>
            <a:r>
              <a:rPr lang="en-US"/>
              <a:t> and </a:t>
            </a:r>
            <a:r>
              <a:rPr lang="en-US" b="1">
                <a:solidFill>
                  <a:schemeClr val="accent1"/>
                </a:solidFill>
              </a:rPr>
              <a:t>select Keep Text Only. </a:t>
            </a:r>
          </a:p>
          <a:p>
            <a:endParaRPr lang="en-US"/>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Clear Formatting</a:t>
            </a:r>
          </a:p>
          <a:p>
            <a:pPr marL="0" indent="0">
              <a:buNone/>
            </a:pPr>
            <a:r>
              <a:rPr lang="en-US"/>
              <a:t>To remove all formatting from selected text, press </a:t>
            </a:r>
            <a:r>
              <a:rPr lang="en-US" b="1">
                <a:solidFill>
                  <a:schemeClr val="accent1"/>
                </a:solidFill>
              </a:rPr>
              <a:t>Control (Ctrl)+Space Bar.</a:t>
            </a:r>
          </a:p>
          <a:p>
            <a:pPr marL="0" indent="0">
              <a:buNone/>
            </a:pPr>
            <a:r>
              <a:rPr lang="en-US" b="1">
                <a:solidFill>
                  <a:schemeClr val="accent3"/>
                </a:solidFill>
              </a:rPr>
              <a:t>Font Size</a:t>
            </a:r>
          </a:p>
          <a:p>
            <a:pPr marL="0" indent="0">
              <a:buNone/>
            </a:pPr>
            <a:r>
              <a:rPr lang="en-US"/>
              <a:t>Standard font size is 18pt for body text. The font sizes for bullets are 18, 16, 14, and 12pt in descending order of indentation.</a:t>
            </a:r>
          </a:p>
          <a:p>
            <a:pPr marL="0" indent="0">
              <a:buNone/>
            </a:pPr>
            <a:r>
              <a:rPr lang="en-US" b="1">
                <a:solidFill>
                  <a:schemeClr val="accent1"/>
                </a:solidFill>
              </a:rPr>
              <a:t>Please adhere to these sizes and do not increase or decrease</a:t>
            </a:r>
            <a:r>
              <a:rPr lang="en-US"/>
              <a:t> </a:t>
            </a:r>
            <a:r>
              <a:rPr lang="en-US" b="1">
                <a:solidFill>
                  <a:schemeClr val="accent1"/>
                </a:solidFill>
              </a:rPr>
              <a:t>the font sizes.</a:t>
            </a:r>
          </a:p>
          <a:p>
            <a:r>
              <a:rPr lang="en-US"/>
              <a:t>If your text is too lengthy to fit on the slide, edit the text or add another slide. </a:t>
            </a:r>
          </a:p>
          <a:p>
            <a:r>
              <a:rPr lang="en-US"/>
              <a:t>The absolute minimum font size is 14pt except for fourth- and fifth-level bullets.</a:t>
            </a:r>
          </a:p>
          <a:p>
            <a:pPr marL="0" indent="0">
              <a:buNone/>
            </a:pP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36</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Bullets</a:t>
            </a:r>
          </a:p>
          <a:p>
            <a:r>
              <a:rPr lang="en-US"/>
              <a:t>If your original text includes bullets, we recommend that you </a:t>
            </a:r>
            <a:r>
              <a:rPr lang="en-US" b="1">
                <a:solidFill>
                  <a:schemeClr val="accent1"/>
                </a:solidFill>
              </a:rPr>
              <a:t>remove the bullets within the source document prior to copying and pasting into your PowerPoint</a:t>
            </a:r>
            <a:r>
              <a:rPr lang="en-US"/>
              <a:t>.</a:t>
            </a:r>
          </a:p>
          <a:p>
            <a:r>
              <a:rPr lang="en-US" b="1">
                <a:solidFill>
                  <a:schemeClr val="accent1"/>
                </a:solidFill>
              </a:rPr>
              <a:t>Use the Decrease and Increase List Level buttons</a:t>
            </a:r>
            <a:r>
              <a:rPr lang="en-US"/>
              <a:t> (to the right of Numbering on the Home tab) to create second-, third-, etc., level bullets.</a:t>
            </a:r>
          </a:p>
          <a:p>
            <a:endParaRPr lang="en-US"/>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Bullet Formatting</a:t>
            </a:r>
          </a:p>
          <a:p>
            <a:pPr marL="0" indent="0">
              <a:buNone/>
            </a:pPr>
            <a:r>
              <a:rPr lang="en-US"/>
              <a:t>Follow the rules in the Bullets section of the </a:t>
            </a:r>
            <a:r>
              <a:rPr lang="en-US" b="1">
                <a:solidFill>
                  <a:schemeClr val="accent1"/>
                </a:solidFill>
                <a:hlinkClick r:id="rId2"/>
              </a:rPr>
              <a:t>APTIM Written Style Guide</a:t>
            </a:r>
            <a:r>
              <a:rPr lang="en-US"/>
              <a:t>:</a:t>
            </a:r>
          </a:p>
          <a:p>
            <a:r>
              <a:rPr lang="en-US"/>
              <a:t>All bullets should start with a </a:t>
            </a:r>
            <a:r>
              <a:rPr lang="en-US" b="1">
                <a:solidFill>
                  <a:schemeClr val="accent1"/>
                </a:solidFill>
              </a:rPr>
              <a:t>capitalized letter</a:t>
            </a:r>
            <a:r>
              <a:rPr lang="en-US"/>
              <a:t>.</a:t>
            </a:r>
          </a:p>
          <a:p>
            <a:r>
              <a:rPr lang="en-US"/>
              <a:t>For lists with brief items of four words or fewer that are not complete sentences, follow the rules of title capitalization. Do not use punctuation. This is APTIM’s preference.</a:t>
            </a:r>
          </a:p>
          <a:p>
            <a:r>
              <a:rPr lang="en-US"/>
              <a:t>For lists with items of five words or more that are NOT complete sentences, do not use punctuation.</a:t>
            </a:r>
          </a:p>
          <a:p>
            <a:r>
              <a:rPr lang="en-US"/>
              <a:t>For lists with items that are complete sentences, use punctuation.</a:t>
            </a: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37</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a:solidFill>
                  <a:schemeClr val="accent3"/>
                </a:solidFill>
              </a:rPr>
              <a:t>Insert Photos Within a Shape</a:t>
            </a:r>
          </a:p>
          <a:p>
            <a:pPr marL="0" indent="0">
              <a:buNone/>
            </a:pPr>
            <a:r>
              <a:rPr lang="en-US"/>
              <a:t>To add a photo to fit within a shape on a template slide, place your cursor over the edge of the shape.</a:t>
            </a:r>
          </a:p>
          <a:p>
            <a:r>
              <a:rPr lang="en-US" b="1">
                <a:solidFill>
                  <a:schemeClr val="accent1"/>
                </a:solidFill>
              </a:rPr>
              <a:t>Right click.</a:t>
            </a:r>
          </a:p>
          <a:p>
            <a:r>
              <a:rPr lang="en-US" b="1">
                <a:solidFill>
                  <a:schemeClr val="accent1"/>
                </a:solidFill>
              </a:rPr>
              <a:t>Click the arrow next to Fill.</a:t>
            </a:r>
          </a:p>
          <a:p>
            <a:r>
              <a:rPr lang="en-US" b="1">
                <a:solidFill>
                  <a:schemeClr val="accent1"/>
                </a:solidFill>
              </a:rPr>
              <a:t>Click Picture.</a:t>
            </a:r>
          </a:p>
          <a:p>
            <a:r>
              <a:rPr lang="en-US" b="1">
                <a:solidFill>
                  <a:schemeClr val="accent1"/>
                </a:solidFill>
              </a:rPr>
              <a:t>Click From File.</a:t>
            </a:r>
          </a:p>
          <a:p>
            <a:r>
              <a:rPr lang="en-US" b="1">
                <a:solidFill>
                  <a:schemeClr val="accent1"/>
                </a:solidFill>
              </a:rPr>
              <a:t>Locate photo within files. </a:t>
            </a:r>
          </a:p>
          <a:p>
            <a:r>
              <a:rPr lang="en-US" b="1">
                <a:solidFill>
                  <a:schemeClr val="accent1"/>
                </a:solidFill>
              </a:rPr>
              <a:t>Click Insert.</a:t>
            </a:r>
          </a:p>
          <a:p>
            <a:pPr marL="0" indent="0">
              <a:buNone/>
            </a:pPr>
            <a:r>
              <a:rPr lang="en-US"/>
              <a:t>To move the photo, right click on the photo and select Crop. Then drag the photo within the frame.</a:t>
            </a:r>
          </a:p>
          <a:p>
            <a:endParaRPr lang="en-US"/>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Keep Objects in Proportion when Resizing</a:t>
            </a:r>
          </a:p>
          <a:p>
            <a:r>
              <a:rPr lang="en-US" b="1">
                <a:solidFill>
                  <a:schemeClr val="accent1"/>
                </a:solidFill>
              </a:rPr>
              <a:t>Press and hold the Shift key while dragging one of the handles</a:t>
            </a:r>
            <a:r>
              <a:rPr lang="en-US">
                <a:solidFill>
                  <a:schemeClr val="accent1"/>
                </a:solidFill>
              </a:rPr>
              <a:t> </a:t>
            </a:r>
            <a:r>
              <a:rPr lang="en-US"/>
              <a:t>to keep an object, graphic, or photo in proportion while resizing it.</a:t>
            </a:r>
          </a:p>
          <a:p>
            <a:pPr marL="0" indent="0">
              <a:buNone/>
            </a:pPr>
            <a:r>
              <a:rPr lang="en-US" b="1">
                <a:solidFill>
                  <a:schemeClr val="accent3"/>
                </a:solidFill>
              </a:rPr>
              <a:t>Draw Straight Lines</a:t>
            </a:r>
          </a:p>
          <a:p>
            <a:r>
              <a:rPr lang="en-US" b="1">
                <a:solidFill>
                  <a:schemeClr val="accent1"/>
                </a:solidFill>
              </a:rPr>
              <a:t>Press and hold the Shift key</a:t>
            </a:r>
            <a:r>
              <a:rPr lang="en-US">
                <a:solidFill>
                  <a:schemeClr val="accent1"/>
                </a:solidFill>
              </a:rPr>
              <a:t> </a:t>
            </a:r>
            <a:r>
              <a:rPr lang="en-US"/>
              <a:t>while inserting or drawing lines. This will keep your lines vertical, horizontal, or at a 45-degree angle.</a:t>
            </a:r>
          </a:p>
          <a:p>
            <a:pPr marL="0" indent="0">
              <a:buNone/>
            </a:pPr>
            <a:r>
              <a:rPr lang="en-US" b="1">
                <a:solidFill>
                  <a:schemeClr val="accent3"/>
                </a:solidFill>
              </a:rPr>
              <a:t>Group &amp; Ungroup Objects</a:t>
            </a:r>
          </a:p>
          <a:p>
            <a:r>
              <a:rPr lang="en-US"/>
              <a:t>To</a:t>
            </a:r>
            <a:r>
              <a:rPr lang="en-US">
                <a:solidFill>
                  <a:schemeClr val="accent1"/>
                </a:solidFill>
              </a:rPr>
              <a:t> group objects, </a:t>
            </a:r>
            <a:r>
              <a:rPr lang="en-US" b="1">
                <a:solidFill>
                  <a:schemeClr val="accent1"/>
                </a:solidFill>
              </a:rPr>
              <a:t>press </a:t>
            </a:r>
            <a:r>
              <a:rPr lang="en-US" b="1" err="1">
                <a:solidFill>
                  <a:schemeClr val="accent1"/>
                </a:solidFill>
              </a:rPr>
              <a:t>Ctrl+G</a:t>
            </a:r>
            <a:r>
              <a:rPr lang="en-US">
                <a:solidFill>
                  <a:schemeClr val="accent1"/>
                </a:solidFill>
              </a:rPr>
              <a:t>. </a:t>
            </a:r>
          </a:p>
          <a:p>
            <a:r>
              <a:rPr lang="en-US"/>
              <a:t>To </a:t>
            </a:r>
            <a:r>
              <a:rPr lang="en-US">
                <a:solidFill>
                  <a:schemeClr val="accent1"/>
                </a:solidFill>
              </a:rPr>
              <a:t>ungroup objects, </a:t>
            </a:r>
            <a:r>
              <a:rPr lang="en-US" b="1">
                <a:solidFill>
                  <a:schemeClr val="accent1"/>
                </a:solidFill>
              </a:rPr>
              <a:t>press </a:t>
            </a:r>
            <a:r>
              <a:rPr lang="en-US" b="1" err="1">
                <a:solidFill>
                  <a:schemeClr val="accent1"/>
                </a:solidFill>
              </a:rPr>
              <a:t>Ctrl+Shift+G</a:t>
            </a:r>
            <a:r>
              <a:rPr lang="en-US" b="1">
                <a:solidFill>
                  <a:schemeClr val="accent1"/>
                </a:solidFill>
              </a:rPr>
              <a:t>.</a:t>
            </a:r>
          </a:p>
          <a:p>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38</a:t>
            </a:fld>
            <a:endParaRPr lang="en-US"/>
          </a:p>
        </p:txBody>
      </p:sp>
    </p:spTree>
    <p:extLst>
      <p:ext uri="{BB962C8B-B14F-4D97-AF65-F5344CB8AC3E}">
        <p14:creationId xmlns:p14="http://schemas.microsoft.com/office/powerpoint/2010/main" val="18627052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a:solidFill>
                  <a:schemeClr val="accent3"/>
                </a:solidFill>
              </a:rPr>
              <a:t>Crop Photos</a:t>
            </a:r>
          </a:p>
          <a:p>
            <a:pPr>
              <a:spcBef>
                <a:spcPts val="0"/>
              </a:spcBef>
              <a:spcAft>
                <a:spcPts val="500"/>
              </a:spcAft>
            </a:pPr>
            <a:r>
              <a:rPr lang="en-US" b="1">
                <a:solidFill>
                  <a:schemeClr val="accent1"/>
                </a:solidFill>
              </a:rPr>
              <a:t>Click on the photo </a:t>
            </a:r>
            <a:r>
              <a:rPr lang="en-US"/>
              <a:t>to Select it.  </a:t>
            </a:r>
          </a:p>
          <a:p>
            <a:pPr>
              <a:spcBef>
                <a:spcPts val="0"/>
              </a:spcBef>
              <a:spcAft>
                <a:spcPts val="500"/>
              </a:spcAft>
            </a:pPr>
            <a:r>
              <a:rPr lang="en-US"/>
              <a:t>Click the </a:t>
            </a:r>
            <a:r>
              <a:rPr lang="en-US" b="1">
                <a:solidFill>
                  <a:schemeClr val="accent1"/>
                </a:solidFill>
              </a:rPr>
              <a:t>Picture Format Tab</a:t>
            </a:r>
            <a:r>
              <a:rPr lang="en-US"/>
              <a:t>. </a:t>
            </a:r>
          </a:p>
          <a:p>
            <a:pPr>
              <a:spcBef>
                <a:spcPts val="0"/>
              </a:spcBef>
              <a:spcAft>
                <a:spcPts val="500"/>
              </a:spcAft>
            </a:pPr>
            <a:r>
              <a:rPr lang="en-US" b="1">
                <a:solidFill>
                  <a:schemeClr val="accent1"/>
                </a:solidFill>
              </a:rPr>
              <a:t>Select the Crop tool</a:t>
            </a:r>
            <a:r>
              <a:rPr lang="en-US"/>
              <a:t> in the Size Group.</a:t>
            </a:r>
          </a:p>
          <a:p>
            <a:pPr>
              <a:spcBef>
                <a:spcPts val="0"/>
              </a:spcBef>
              <a:spcAft>
                <a:spcPts val="500"/>
              </a:spcAft>
            </a:pPr>
            <a:r>
              <a:rPr lang="en-US"/>
              <a:t>A drop-down menu appears. </a:t>
            </a:r>
            <a:r>
              <a:rPr lang="en-US" b="1">
                <a:solidFill>
                  <a:schemeClr val="accent1"/>
                </a:solidFill>
              </a:rPr>
              <a:t>Select Crop</a:t>
            </a:r>
            <a:r>
              <a:rPr lang="en-US"/>
              <a:t>. The handles around the photo turn to black bars; when the cursor is moved over the handles, it changes to look like a “T.” </a:t>
            </a:r>
          </a:p>
          <a:p>
            <a:pPr>
              <a:spcBef>
                <a:spcPts val="0"/>
              </a:spcBef>
              <a:spcAft>
                <a:spcPts val="500"/>
              </a:spcAft>
            </a:pPr>
            <a:r>
              <a:rPr lang="en-US" b="1">
                <a:solidFill>
                  <a:schemeClr val="accent1"/>
                </a:solidFill>
              </a:rPr>
              <a:t>Click and drag the handles</a:t>
            </a:r>
            <a:r>
              <a:rPr lang="en-US"/>
              <a:t> to show only the desired areas of the photo.</a:t>
            </a:r>
          </a:p>
          <a:p>
            <a:pPr>
              <a:spcBef>
                <a:spcPts val="0"/>
              </a:spcBef>
            </a:pPr>
            <a:r>
              <a:rPr lang="en-US" b="1">
                <a:solidFill>
                  <a:schemeClr val="accent1"/>
                </a:solidFill>
              </a:rPr>
              <a:t>Click Crop</a:t>
            </a:r>
            <a:r>
              <a:rPr lang="en-US"/>
              <a:t> again.</a:t>
            </a:r>
          </a:p>
          <a:p>
            <a:pPr marL="0" indent="0">
              <a:buNone/>
            </a:pPr>
            <a:r>
              <a:rPr lang="en-US" b="1">
                <a:solidFill>
                  <a:schemeClr val="accent3"/>
                </a:solidFill>
              </a:rPr>
              <a:t>Crop Photos to a Shape</a:t>
            </a:r>
          </a:p>
          <a:p>
            <a:pPr>
              <a:spcBef>
                <a:spcPts val="0"/>
              </a:spcBef>
              <a:spcAft>
                <a:spcPts val="500"/>
              </a:spcAft>
            </a:pPr>
            <a:r>
              <a:rPr lang="en-US" b="1">
                <a:solidFill>
                  <a:schemeClr val="accent1"/>
                </a:solidFill>
              </a:rPr>
              <a:t>Follow steps 1–3</a:t>
            </a:r>
            <a:r>
              <a:rPr lang="en-US"/>
              <a:t> for Crop Photos.</a:t>
            </a:r>
          </a:p>
          <a:p>
            <a:pPr>
              <a:spcBef>
                <a:spcPts val="0"/>
              </a:spcBef>
              <a:spcAft>
                <a:spcPts val="500"/>
              </a:spcAft>
            </a:pPr>
            <a:r>
              <a:rPr lang="en-US"/>
              <a:t>From the drop-down menu, select </a:t>
            </a:r>
            <a:r>
              <a:rPr lang="en-US" b="1">
                <a:solidFill>
                  <a:schemeClr val="accent1"/>
                </a:solidFill>
              </a:rPr>
              <a:t>Crop to Shape</a:t>
            </a:r>
            <a:r>
              <a:rPr lang="en-US"/>
              <a:t>.</a:t>
            </a:r>
          </a:p>
          <a:p>
            <a:pPr>
              <a:spcBef>
                <a:spcPts val="0"/>
              </a:spcBef>
              <a:spcAft>
                <a:spcPts val="500"/>
              </a:spcAft>
            </a:pPr>
            <a:r>
              <a:rPr lang="en-US"/>
              <a:t>From the drop down, </a:t>
            </a:r>
            <a:r>
              <a:rPr lang="en-US" b="1">
                <a:solidFill>
                  <a:schemeClr val="accent1"/>
                </a:solidFill>
              </a:rPr>
              <a:t>choose the shape</a:t>
            </a:r>
            <a:r>
              <a:rPr lang="en-US"/>
              <a:t>.</a:t>
            </a:r>
          </a:p>
          <a:p>
            <a:pPr>
              <a:spcBef>
                <a:spcPts val="0"/>
              </a:spcBef>
              <a:spcAft>
                <a:spcPts val="500"/>
              </a:spcAft>
            </a:pPr>
            <a:r>
              <a:rPr lang="en-US" b="1">
                <a:solidFill>
                  <a:schemeClr val="accent1"/>
                </a:solidFill>
              </a:rPr>
              <a:t>Click Crop</a:t>
            </a:r>
            <a:r>
              <a:rPr lang="en-US"/>
              <a:t> again.</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39</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a:solidFill>
                  <a:schemeClr val="accent3"/>
                </a:solidFill>
              </a:rPr>
              <a:t>Adding Text Over an Image</a:t>
            </a:r>
          </a:p>
          <a:p>
            <a:pPr marL="0" indent="0">
              <a:spcBef>
                <a:spcPts val="0"/>
              </a:spcBef>
              <a:spcAft>
                <a:spcPts val="500"/>
              </a:spcAft>
              <a:buNone/>
            </a:pPr>
            <a:r>
              <a:rPr lang="en-US"/>
              <a:t>If there is a need to add text over an image, the brightness and contrast may need to be adjusted so the text is legible.</a:t>
            </a:r>
          </a:p>
          <a:p>
            <a:pPr>
              <a:spcBef>
                <a:spcPts val="0"/>
              </a:spcBef>
              <a:spcAft>
                <a:spcPts val="500"/>
              </a:spcAft>
            </a:pPr>
            <a:r>
              <a:rPr lang="en-US"/>
              <a:t>Click on the </a:t>
            </a:r>
            <a:r>
              <a:rPr lang="en-US" b="1">
                <a:solidFill>
                  <a:schemeClr val="accent1"/>
                </a:solidFill>
              </a:rPr>
              <a:t>photo to Select it</a:t>
            </a:r>
            <a:r>
              <a:rPr lang="en-US"/>
              <a:t>.  </a:t>
            </a:r>
          </a:p>
          <a:p>
            <a:pPr>
              <a:spcBef>
                <a:spcPts val="0"/>
              </a:spcBef>
              <a:spcAft>
                <a:spcPts val="500"/>
              </a:spcAft>
            </a:pPr>
            <a:r>
              <a:rPr lang="en-US"/>
              <a:t>Click the </a:t>
            </a:r>
            <a:r>
              <a:rPr lang="en-US" b="1">
                <a:solidFill>
                  <a:schemeClr val="accent1"/>
                </a:solidFill>
              </a:rPr>
              <a:t>Picture Format</a:t>
            </a:r>
            <a:r>
              <a:rPr lang="en-US"/>
              <a:t> tab. </a:t>
            </a:r>
          </a:p>
          <a:p>
            <a:pPr>
              <a:spcBef>
                <a:spcPts val="0"/>
              </a:spcBef>
              <a:spcAft>
                <a:spcPts val="500"/>
              </a:spcAft>
            </a:pPr>
            <a:r>
              <a:rPr lang="en-US"/>
              <a:t>Select </a:t>
            </a:r>
            <a:r>
              <a:rPr lang="en-US" b="1">
                <a:solidFill>
                  <a:schemeClr val="accent1"/>
                </a:solidFill>
              </a:rPr>
              <a:t>Corrections</a:t>
            </a:r>
            <a:r>
              <a:rPr lang="en-US"/>
              <a:t>.</a:t>
            </a:r>
          </a:p>
          <a:p>
            <a:pPr>
              <a:spcBef>
                <a:spcPts val="0"/>
              </a:spcBef>
              <a:spcAft>
                <a:spcPts val="500"/>
              </a:spcAft>
            </a:pPr>
            <a:r>
              <a:rPr lang="en-US"/>
              <a:t>Select </a:t>
            </a:r>
            <a:r>
              <a:rPr lang="en-US" b="1">
                <a:solidFill>
                  <a:schemeClr val="accent1"/>
                </a:solidFill>
              </a:rPr>
              <a:t>Brightness -20% and Contrast: 0%</a:t>
            </a:r>
            <a:r>
              <a:rPr lang="en-US"/>
              <a:t> (Normal)</a:t>
            </a:r>
          </a:p>
          <a:p>
            <a:pPr>
              <a:spcBef>
                <a:spcPts val="0"/>
              </a:spcBef>
              <a:spcAft>
                <a:spcPts val="500"/>
              </a:spcAft>
            </a:pPr>
            <a:r>
              <a:rPr lang="en-US"/>
              <a:t>Highlight your text box and change the color of the text to white on a dark image or leave as grey on a light image. </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40</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41</a:t>
            </a:fld>
            <a:endParaRPr lang="en-US"/>
          </a:p>
        </p:txBody>
      </p:sp>
    </p:spTree>
    <p:extLst>
      <p:ext uri="{BB962C8B-B14F-4D97-AF65-F5344CB8AC3E}">
        <p14:creationId xmlns:p14="http://schemas.microsoft.com/office/powerpoint/2010/main" val="31559748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42</a:t>
            </a:fld>
            <a:endParaRPr lang="en-US"/>
          </a:p>
        </p:txBody>
      </p:sp>
    </p:spTree>
    <p:extLst>
      <p:ext uri="{BB962C8B-B14F-4D97-AF65-F5344CB8AC3E}">
        <p14:creationId xmlns:p14="http://schemas.microsoft.com/office/powerpoint/2010/main" val="389764630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43</a:t>
            </a:fld>
            <a:endParaRPr lang="en-US"/>
          </a:p>
        </p:txBody>
      </p:sp>
    </p:spTree>
    <p:extLst>
      <p:ext uri="{BB962C8B-B14F-4D97-AF65-F5344CB8AC3E}">
        <p14:creationId xmlns:p14="http://schemas.microsoft.com/office/powerpoint/2010/main" val="17140140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44</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45</a:t>
            </a:fld>
            <a:endParaRPr lang="en-US"/>
          </a:p>
        </p:txBody>
      </p:sp>
    </p:spTree>
    <p:extLst>
      <p:ext uri="{BB962C8B-B14F-4D97-AF65-F5344CB8AC3E}">
        <p14:creationId xmlns:p14="http://schemas.microsoft.com/office/powerpoint/2010/main" val="38485812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46</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47</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accent1"/>
                    </a:solidFill>
                    <a:effectLst/>
                    <a:uLnTx/>
                    <a:uFillTx/>
                    <a:latin typeface="Arial" panose="020B0604020202020204"/>
                    <a:ea typeface="+mn-ea"/>
                    <a:cs typeface="+mn-cs"/>
                  </a:rPr>
                  <a:t>APTIM Chairman &amp; CE</a:t>
                </a:r>
                <a:r>
                  <a:rPr lang="en-US" sz="1100">
                    <a:solidFill>
                      <a:schemeClr val="accent1"/>
                    </a:solidFill>
                    <a:latin typeface="Arial" panose="020B0604020202020204"/>
                  </a:rPr>
                  <a:t>O</a:t>
                </a:r>
                <a:endPar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bg1"/>
                    </a:solidFill>
                    <a:effectLst/>
                    <a:uLnTx/>
                    <a:uFillTx/>
                    <a:latin typeface="Arial" panose="020B0604020202020204"/>
                    <a:ea typeface="+mn-ea"/>
                    <a:cs typeface="+mn-cs"/>
                  </a:rPr>
                  <a:t>APTIM Chairman &amp; CE</a:t>
                </a:r>
                <a:r>
                  <a:rPr lang="en-US" sz="1100">
                    <a:solidFill>
                      <a:schemeClr val="bg1"/>
                    </a:solidFill>
                    <a:latin typeface="Arial" panose="020B0604020202020204"/>
                  </a:rPr>
                  <a:t>O</a:t>
                </a: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pPr marR="0" algn="l" rtl="0"/>
            <a:r>
              <a:rPr lang="en-US" sz="2000" b="0" i="0" u="none" strike="noStrike" baseline="30000">
                <a:solidFill>
                  <a:srgbClr val="002856"/>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48</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haredContentType xmlns="Microsoft.SharePoint.Taxonomy.ContentTypeSync" SourceId="daf5a3b8-19fe-4aaf-8551-0b725c993cda" ContentTypeId="0x0101" PreviousValue="false"/>
</file>

<file path=customXml/item2.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11" ma:contentTypeDescription="Create a new document." ma:contentTypeScope="" ma:versionID="64c85f00ec26e835cb18524be497ad09">
  <xsd:schema xmlns:xsd="http://www.w3.org/2001/XMLSchema" xmlns:xs="http://www.w3.org/2001/XMLSchema" xmlns:p="http://schemas.microsoft.com/office/2006/metadata/properties" xmlns:ns2="6cb61cf8-a1b1-4278-9585-9a56d9b9b454" targetNamespace="http://schemas.microsoft.com/office/2006/metadata/properties" ma:root="true" ma:fieldsID="33659469bdc860b0fee0e148754306f5"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AA95461-7A0F-4587-9A5F-5F7CE2A5CDC3}">
  <ds:schemaRefs>
    <ds:schemaRef ds:uri="Microsoft.SharePoint.Taxonomy.ContentTypeSync"/>
  </ds:schemaRefs>
</ds:datastoreItem>
</file>

<file path=customXml/itemProps2.xml><?xml version="1.0" encoding="utf-8"?>
<ds:datastoreItem xmlns:ds="http://schemas.openxmlformats.org/officeDocument/2006/customXml" ds:itemID="{D29E47BB-2CAF-4534-9F7E-190AC8A67243}">
  <ds:schemaRefs>
    <ds:schemaRef ds:uri="6cb61cf8-a1b1-4278-9585-9a56d9b9b45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55B5BE0-1FD9-4B5D-8EE8-533F4F958440}">
  <ds:schemaRefs>
    <ds:schemaRef ds:uri="6cb61cf8-a1b1-4278-9585-9a56d9b9b45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4.xml><?xml version="1.0" encoding="utf-8"?>
<ds:datastoreItem xmlns:ds="http://schemas.openxmlformats.org/officeDocument/2006/customXml" ds:itemID="{2A3605C4-03E5-4AAA-A5E9-706881023D5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20260101_APTIM_General_PR_TM_rev9</Template>
  <Application>Microsoft Office PowerPoint</Application>
  <PresentationFormat>Widescreen</PresentationFormat>
  <Slides>48</Slides>
  <Notes>14</Notes>
  <HiddenSlides>6</HiddenSlides>
  <ScaleCrop>false</ScaleCrop>
  <HeadingPairs>
    <vt:vector size="4" baseType="variant">
      <vt:variant>
        <vt:lpstr>Theme</vt:lpstr>
      </vt:variant>
      <vt:variant>
        <vt:i4>2</vt:i4>
      </vt:variant>
      <vt:variant>
        <vt:lpstr>Slide Titles</vt:lpstr>
      </vt:variant>
      <vt:variant>
        <vt:i4>48</vt:i4>
      </vt:variant>
    </vt:vector>
  </HeadingPairs>
  <TitlesOfParts>
    <vt:vector size="50" baseType="lpstr">
      <vt:lpstr>1_APTIM THEME</vt:lpstr>
      <vt:lpstr>2_APTIM THEME TITLES</vt:lpstr>
      <vt:lpstr>Evolving Energy Programs Under Funding Uncertainty</vt:lpstr>
      <vt:lpstr>The Dream Team</vt:lpstr>
      <vt:lpstr>The Problem </vt:lpstr>
      <vt:lpstr>Pain Point</vt:lpstr>
      <vt:lpstr>Key Goals</vt:lpstr>
      <vt:lpstr>Market Analysis</vt:lpstr>
      <vt:lpstr>Market Analysis Cont</vt:lpstr>
      <vt:lpstr>Competitive Landscape (update with research)</vt:lpstr>
      <vt:lpstr>Competitive Landscape (update with new research) </vt:lpstr>
      <vt:lpstr>National Competitive Landscape</vt:lpstr>
      <vt:lpstr>How  APTIM Wins</vt:lpstr>
      <vt:lpstr>PowerPoint Presentation</vt:lpstr>
      <vt:lpstr>PowerPoint Presentation</vt:lpstr>
      <vt:lpstr>Strategic Fit (edit with notes)</vt:lpstr>
      <vt:lpstr>Client Use Case: Michigan </vt:lpstr>
      <vt:lpstr>Future/Scaling</vt:lpstr>
      <vt:lpstr>Thank you!</vt:lpstr>
      <vt:lpstr>PowerPoint Presentation</vt:lpstr>
      <vt:lpstr>PowerPoint Presentation</vt:lpstr>
      <vt:lpstr>Appendix</vt:lpstr>
      <vt:lpstr>Goal of presentation </vt:lpstr>
      <vt:lpstr>Given big blurb</vt:lpstr>
      <vt:lpstr>Given Scope Focus</vt:lpstr>
      <vt:lpstr>Given Output</vt:lpstr>
      <vt:lpstr>The Problem </vt:lpstr>
      <vt:lpstr>The Problem </vt:lpstr>
      <vt:lpstr>PowerPoint Presentation</vt:lpstr>
      <vt:lpstr>Project Scope</vt:lpstr>
      <vt:lpstr>Strategic Fit (format needs fix) (merge slides)  </vt:lpstr>
      <vt:lpstr>Strategic Fit (format needs fix) (merge slides)  </vt:lpstr>
      <vt:lpstr>Strategic Fit (fix wording/choose format) </vt:lpstr>
      <vt:lpstr>Project Scope</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PowerPoint Presentation</vt:lpstr>
      <vt:lpstr>PowerPoint Presentation</vt:lpstr>
      <vt:lpstr>Section Title</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Gracia, Christian</dc:creator>
  <cp:revision>3</cp:revision>
  <dcterms:created xsi:type="dcterms:W3CDTF">2026-06-05T13:41:22Z</dcterms:created>
  <dcterms:modified xsi:type="dcterms:W3CDTF">2026-07-24T13:29:24Z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
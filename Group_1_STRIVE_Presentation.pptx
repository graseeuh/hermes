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diagrams/colors1.xml" ContentType="application/vnd.openxmlformats-officedocument.drawingml.diagramColors+xml"/>
  <Override PartName="/ppt/diagrams/colors10.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colors5.xml" ContentType="application/vnd.openxmlformats-officedocument.drawingml.diagramColors+xml"/>
  <Override PartName="/ppt/diagrams/colors6.xml" ContentType="application/vnd.openxmlformats-officedocument.drawingml.diagramColors+xml"/>
  <Override PartName="/ppt/diagrams/colors7.xml" ContentType="application/vnd.openxmlformats-officedocument.drawingml.diagramColors+xml"/>
  <Override PartName="/ppt/diagrams/colors8.xml" ContentType="application/vnd.openxmlformats-officedocument.drawingml.diagramColors+xml"/>
  <Override PartName="/ppt/diagrams/colors9.xml" ContentType="application/vnd.openxmlformats-officedocument.drawingml.diagramColors+xml"/>
  <Override PartName="/ppt/diagrams/data1.xml" ContentType="application/vnd.openxmlformats-officedocument.drawingml.diagramData+xml"/>
  <Override PartName="/ppt/diagrams/data10.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ata5.xml" ContentType="application/vnd.openxmlformats-officedocument.drawingml.diagramData+xml"/>
  <Override PartName="/ppt/diagrams/data6.xml" ContentType="application/vnd.openxmlformats-officedocument.drawingml.diagramData+xml"/>
  <Override PartName="/ppt/diagrams/data7.xml" ContentType="application/vnd.openxmlformats-officedocument.drawingml.diagramData+xml"/>
  <Override PartName="/ppt/diagrams/data8.xml" ContentType="application/vnd.openxmlformats-officedocument.drawingml.diagramData+xml"/>
  <Override PartName="/ppt/diagrams/data9.xml" ContentType="application/vnd.openxmlformats-officedocument.drawingml.diagramData+xml"/>
  <Override PartName="/ppt/diagrams/drawing1.xml" ContentType="application/vnd.ms-office.drawingml.diagramDrawing+xml"/>
  <Override PartName="/ppt/diagrams/drawing10.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drawing5.xml" ContentType="application/vnd.ms-office.drawingml.diagramDrawing+xml"/>
  <Override PartName="/ppt/diagrams/drawing6.xml" ContentType="application/vnd.ms-office.drawingml.diagramDrawing+xml"/>
  <Override PartName="/ppt/diagrams/drawing7.xml" ContentType="application/vnd.ms-office.drawingml.diagramDrawing+xml"/>
  <Override PartName="/ppt/diagrams/drawing8.xml" ContentType="application/vnd.ms-office.drawingml.diagramDrawing+xml"/>
  <Override PartName="/ppt/diagrams/drawing9.xml" ContentType="application/vnd.ms-office.drawingml.diagramDrawing+xml"/>
  <Override PartName="/ppt/diagrams/layout1.xml" ContentType="application/vnd.openxmlformats-officedocument.drawingml.diagramLayout+xml"/>
  <Override PartName="/ppt/diagrams/layout10.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layout5.xml" ContentType="application/vnd.openxmlformats-officedocument.drawingml.diagramLayout+xml"/>
  <Override PartName="/ppt/diagrams/layout6.xml" ContentType="application/vnd.openxmlformats-officedocument.drawingml.diagramLayout+xml"/>
  <Override PartName="/ppt/diagrams/layout7.xml" ContentType="application/vnd.openxmlformats-officedocument.drawingml.diagramLayout+xml"/>
  <Override PartName="/ppt/diagrams/layout8.xml" ContentType="application/vnd.openxmlformats-officedocument.drawingml.diagramLayout+xml"/>
  <Override PartName="/ppt/diagrams/layout9.xml" ContentType="application/vnd.openxmlformats-officedocument.drawingml.diagramLayout+xml"/>
  <Override PartName="/ppt/diagrams/quickStyle1.xml" ContentType="application/vnd.openxmlformats-officedocument.drawingml.diagramStyle+xml"/>
  <Override PartName="/ppt/diagrams/quickStyle10.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diagrams/quickStyle5.xml" ContentType="application/vnd.openxmlformats-officedocument.drawingml.diagramStyle+xml"/>
  <Override PartName="/ppt/diagrams/quickStyle6.xml" ContentType="application/vnd.openxmlformats-officedocument.drawingml.diagramStyle+xml"/>
  <Override PartName="/ppt/diagrams/quickStyle7.xml" ContentType="application/vnd.openxmlformats-officedocument.drawingml.diagramStyle+xml"/>
  <Override PartName="/ppt/diagrams/quickStyle8.xml" ContentType="application/vnd.openxmlformats-officedocument.drawingml.diagramStyle+xml"/>
  <Override PartName="/ppt/diagrams/quickStyle9.xml" ContentType="application/vnd.openxmlformats-officedocument.drawingml.diagramStyle+xml"/>
  <Override PartName="/ppt/media/image13.svg" ContentType="image/svg+xml"/>
  <Override PartName="/ppt/media/image14.svg" ContentType="image/svg+xml"/>
  <Override PartName="/ppt/media/image15.svg" ContentType="image/svg+xml"/>
  <Override PartName="/ppt/media/image16.svg" ContentType="image/svg+xml"/>
  <Override PartName="/ppt/media/image17.svg" ContentType="image/svg+xml"/>
  <Override PartName="/ppt/media/image23.svg" ContentType="image/svg+xml"/>
  <Override PartName="/ppt/media/image24.svg" ContentType="image/svg+xml"/>
  <Override PartName="/ppt/media/image25.svg" ContentType="image/svg+xml"/>
  <Override PartName="/ppt/media/image26.svg" ContentType="image/svg+xml"/>
  <Override PartName="/ppt/media/image27.svg" ContentType="image/svg+xml"/>
  <Override PartName="/ppt/media/image28.svg" ContentType="image/svg+xml"/>
  <Override PartName="/ppt/media/image29.svg" ContentType="image/svg+xml"/>
  <Override PartName="/ppt/media/image35.svg" ContentType="image/svg+xml"/>
  <Override PartName="/ppt/media/image36.svg" ContentType="image/svg+xml"/>
  <Override PartName="/ppt/media/image3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5"/>
    <p:sldMasterId id="2147483660" r:id="rId6"/>
  </p:sldMasterIdLst>
  <p:notesMasterIdLst>
    <p:notesMasterId r:id="rId73"/>
  </p:notesMasterIdLst>
  <p:sldIdLst>
    <p:sldId id="261" r:id="rId7"/>
    <p:sldId id="563" r:id="rId8"/>
    <p:sldId id="567" r:id="rId9"/>
    <p:sldId id="571" r:id="rId10"/>
    <p:sldId id="599" r:id="rId11"/>
    <p:sldId id="587" r:id="rId12"/>
    <p:sldId id="601" r:id="rId80"/>
    <p:sldId id="585" r:id="rId13"/>
    <p:sldId id="306" r:id="rId14"/>
    <p:sldId id="581" r:id="rId15"/>
    <p:sldId id="295" r:id="rId16"/>
    <p:sldId id="576" r:id="rId17"/>
    <p:sldId id="590" r:id="rId18"/>
    <p:sldId id="597" r:id="rId19"/>
    <p:sldId id="578" r:id="rId20"/>
    <p:sldId id="592" r:id="rId21"/>
    <p:sldId id="589" r:id="rId22"/>
    <p:sldId id="593" r:id="rId23"/>
    <p:sldId id="595" r:id="rId24"/>
    <p:sldId id="596" r:id="rId25"/>
    <p:sldId id="575" r:id="rId26"/>
    <p:sldId id="584" r:id="rId27"/>
    <p:sldId id="598" r:id="rId28"/>
    <p:sldId id="274" r:id="rId29"/>
    <p:sldId id="570" r:id="rId30"/>
    <p:sldId id="600" r:id="rId31"/>
    <p:sldId id="588" r:id="rId32"/>
    <p:sldId id="586" r:id="rId33"/>
    <p:sldId id="577" r:id="rId34"/>
    <p:sldId id="296" r:id="rId35"/>
    <p:sldId id="304" r:id="rId36"/>
    <p:sldId id="305" r:id="rId37"/>
    <p:sldId id="300" r:id="rId38"/>
    <p:sldId id="302" r:id="rId39"/>
    <p:sldId id="275" r:id="rId40"/>
    <p:sldId id="292" r:id="rId41"/>
    <p:sldId id="573" r:id="rId42"/>
    <p:sldId id="583" r:id="rId43"/>
    <p:sldId id="293" r:id="rId44"/>
    <p:sldId id="307" r:id="rId45"/>
    <p:sldId id="565" r:id="rId46"/>
    <p:sldId id="566" r:id="rId47"/>
    <p:sldId id="564" r:id="rId48"/>
    <p:sldId id="574" r:id="rId49"/>
    <p:sldId id="299" r:id="rId50"/>
    <p:sldId id="579" r:id="rId51"/>
    <p:sldId id="580" r:id="rId52"/>
    <p:sldId id="572" r:id="rId53"/>
    <p:sldId id="297" r:id="rId54"/>
    <p:sldId id="568" r:id="rId55"/>
    <p:sldId id="582" r:id="rId56"/>
    <p:sldId id="285" r:id="rId57"/>
    <p:sldId id="279" r:id="rId58"/>
    <p:sldId id="281" r:id="rId59"/>
    <p:sldId id="282" r:id="rId60"/>
    <p:sldId id="283" r:id="rId61"/>
    <p:sldId id="284" r:id="rId62"/>
    <p:sldId id="291" r:id="rId63"/>
    <p:sldId id="287" r:id="rId64"/>
    <p:sldId id="288" r:id="rId65"/>
    <p:sldId id="290" r:id="rId66"/>
    <p:sldId id="264" r:id="rId67"/>
    <p:sldId id="289" r:id="rId68"/>
    <p:sldId id="276" r:id="rId69"/>
    <p:sldId id="277" r:id="rId70"/>
    <p:sldId id="267" r:id="rId71"/>
    <p:sldId id="273" r:id="rId7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sentation" id="{D096BDF2-302C-458D-8E99-977910712164}">
          <p14:sldIdLst>
            <p14:sldId id="261"/>
            <p14:sldId id="563"/>
            <p14:sldId id="567"/>
            <p14:sldId id="571"/>
            <p14:sldId id="599"/>
            <p14:sldId id="587"/>
            <p14:sldId id="585"/>
            <p14:sldId id="306"/>
            <p14:sldId id="581"/>
            <p14:sldId id="295"/>
            <p14:sldId id="576"/>
            <p14:sldId id="590"/>
            <p14:sldId id="597"/>
            <p14:sldId id="578"/>
            <p14:sldId id="592"/>
            <p14:sldId id="589"/>
            <p14:sldId id="593"/>
            <p14:sldId id="595"/>
            <p14:sldId id="596"/>
            <p14:sldId id="575"/>
            <p14:sldId id="584"/>
            <p14:sldId id="598"/>
            <p14:sldId id="274"/>
          </p14:sldIdLst>
        </p14:section>
        <p14:section name="Draft/Prompt Slides" id="{C2FC1F15-DB02-426B-B197-995664422535}">
          <p14:sldIdLst>
            <p14:sldId id="570"/>
            <p14:sldId id="600"/>
            <p14:sldId id="588"/>
            <p14:sldId id="586"/>
            <p14:sldId id="577"/>
            <p14:sldId id="296"/>
            <p14:sldId id="304"/>
            <p14:sldId id="305"/>
            <p14:sldId id="300"/>
            <p14:sldId id="302"/>
            <p14:sldId id="275"/>
            <p14:sldId id="292"/>
            <p14:sldId id="573"/>
            <p14:sldId id="583"/>
            <p14:sldId id="293"/>
            <p14:sldId id="307"/>
            <p14:sldId id="565"/>
            <p14:sldId id="566"/>
            <p14:sldId id="564"/>
            <p14:sldId id="574"/>
            <p14:sldId id="299"/>
            <p14:sldId id="579"/>
            <p14:sldId id="580"/>
            <p14:sldId id="572"/>
            <p14:sldId id="297"/>
            <p14:sldId id="568"/>
            <p14:sldId id="582"/>
          </p14:sldIdLst>
        </p14:section>
        <p14:section name="APTIM Slides" id="{8173148A-A6F9-4113-81F7-ECE031B97E68}">
          <p14:sldIdLst>
            <p14:sldId id="285"/>
            <p14:sldId id="279"/>
            <p14:sldId id="281"/>
            <p14:sldId id="282"/>
            <p14:sldId id="283"/>
            <p14:sldId id="284"/>
            <p14:sldId id="291"/>
            <p14:sldId id="287"/>
            <p14:sldId id="288"/>
            <p14:sldId id="290"/>
            <p14:sldId id="264"/>
            <p14:sldId id="289"/>
            <p14:sldId id="276"/>
            <p14:sldId id="277"/>
            <p14:sldId id="267"/>
            <p14:sldId id="273"/>
          </p14:sldIdLst>
        </p14:section>
      </p14:section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5DAA2F0-B172-9297-46A0-769BFF532222}" name="Popp, Marcia J" initials="MP" userId="S::marcia.popp@aptim.com::f0295421-d505-4fae-8fd4-148b70ef5ec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4F6F9"/>
    <a:srgbClr val="00682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4B5837E-D844-CF50-ED0E-6A49E564FAA0}" v="2" dt="2026-07-29T19:49:31.980"/>
    <p1510:client id="{36F90625-5776-D0F9-A77B-D7F09D9F8998}" v="11" dt="2026-07-29T15:25:35.409"/>
    <p1510:client id="{45BC3005-FD66-4A93-A1DC-14C3F12728BA}" v="3" dt="2026-07-29T14:50:44.925"/>
    <p1510:client id="{54B2ADFC-81AE-870A-BE06-36756CDBB530}" v="176" dt="2026-07-28T21:03:40.093"/>
    <p1510:client id="{59249B63-8882-4CDB-BAD3-FE5B1693C1FE}" v="578" dt="2026-07-29T16:34:08.983"/>
    <p1510:client id="{61FBE60D-93B2-174D-C565-8B05DDA60102}" v="3" dt="2026-07-28T20:45:23.162"/>
    <p1510:client id="{653EE008-862F-4FA1-9475-6B6C386264A0}" v="1635" dt="2026-07-29T02:07:20.448"/>
    <p1510:client id="{6B92752F-52C3-FF7B-455A-680757B58163}" v="409" dt="2026-07-29T02:59:43.120"/>
    <p1510:client id="{95F3748B-3667-5808-5477-DAD7A0D68FE8}" v="63" dt="2026-07-29T20:20:34.121"/>
    <p1510:client id="{D81A180E-75FE-4E89-F8EC-2CC53C762941}" v="50" dt="2026-07-29T03:26:10.524"/>
    <p1510:client id="{E021E894-E76D-5097-FD2A-2C9AD33F124F}" v="47" dt="2026-07-29T16:46:20.028"/>
    <p1510:client id="{FBC8671D-34AE-42FC-B3BF-90BE9C571919}" v="1356" dt="2026-07-29T19:41:18.759"/>
    <p1510:client id="{FFD75BEC-7EF4-6102-7448-749AB4C23D9C}" v="2" dt="2026-07-29T14:25:43.32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 Id="rId78" Type="http://schemas.microsoft.com/office/2015/10/relationships/revisionInfo" Target="revisionInfo.xml"/><Relationship Id="rId79" Type="http://schemas.microsoft.com/office/2018/10/relationships/authors" Target="authors.xml"/><Relationship Id="rId80"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2_4">
  <dgm:title val=""/>
  <dgm:desc val=""/>
  <dgm:catLst>
    <dgm:cat type="accent2" pri="11400"/>
  </dgm:catLst>
  <dgm:styleLbl name="node0">
    <dgm:fillClrLst meth="cycle">
      <a:schemeClr val="accent2">
        <a:shade val="60000"/>
      </a:schemeClr>
    </dgm:fillClrLst>
    <dgm:linClrLst meth="repeat">
      <a:schemeClr val="lt1"/>
    </dgm:linClrLst>
    <dgm:effectClrLst/>
    <dgm:txLinClrLst/>
    <dgm:txFillClrLst/>
    <dgm:txEffectClrLst/>
  </dgm:styleLbl>
  <dgm:styleLbl name="node1">
    <dgm:fillClrLst meth="cycle">
      <a:schemeClr val="accent2">
        <a:shade val="50000"/>
      </a:schemeClr>
      <a:schemeClr val="accent2">
        <a:tint val="45000"/>
      </a:schemeClr>
    </dgm:fillClrLst>
    <dgm:linClrLst meth="repeat">
      <a:schemeClr val="lt1"/>
    </dgm:linClrLst>
    <dgm:effectClrLst/>
    <dgm:txLinClrLst/>
    <dgm:txFillClrLst/>
    <dgm:txEffectClrLst/>
  </dgm:styleLbl>
  <dgm:styleLbl name="alignNode1">
    <dgm:fillClrLst meth="cycle">
      <a:schemeClr val="accent2">
        <a:shade val="50000"/>
      </a:schemeClr>
      <a:schemeClr val="accent2">
        <a:tint val="45000"/>
      </a:schemeClr>
    </dgm:fillClrLst>
    <dgm:linClrLst meth="cycle">
      <a:schemeClr val="accent2">
        <a:shade val="50000"/>
      </a:schemeClr>
      <a:schemeClr val="accent2">
        <a:tint val="45000"/>
      </a:schemeClr>
    </dgm:linClrLst>
    <dgm:effectClrLst/>
    <dgm:txLinClrLst/>
    <dgm:txFillClrLst/>
    <dgm:txEffectClrLst/>
  </dgm:styleLbl>
  <dgm:styleLbl name="lnNode1">
    <dgm:fillClrLst meth="cycle">
      <a:schemeClr val="accent2">
        <a:shade val="50000"/>
      </a:schemeClr>
      <a:schemeClr val="accent2">
        <a:tint val="45000"/>
      </a:schemeClr>
    </dgm:fillClrLst>
    <dgm:linClrLst meth="repeat">
      <a:schemeClr val="lt1"/>
    </dgm:linClrLst>
    <dgm:effectClrLst/>
    <dgm:txLinClrLst/>
    <dgm:txFillClrLst/>
    <dgm:txEffectClrLst/>
  </dgm:styleLbl>
  <dgm:styleLbl name="vennNode1">
    <dgm:fillClrLst meth="cycle">
      <a:schemeClr val="accent2">
        <a:shade val="80000"/>
        <a:alpha val="50000"/>
      </a:schemeClr>
      <a:schemeClr val="accent2">
        <a:tint val="45000"/>
        <a:alpha val="50000"/>
      </a:schemeClr>
    </dgm:fillClrLst>
    <dgm:linClrLst meth="repeat">
      <a:schemeClr val="lt1"/>
    </dgm:linClrLst>
    <dgm:effectClrLst/>
    <dgm:txLinClrLst/>
    <dgm:txFillClrLst/>
    <dgm:txEffectClrLst/>
  </dgm:styleLbl>
  <dgm:styleLbl name="node2">
    <dgm:fillClrLst>
      <a:schemeClr val="accent2">
        <a:shade val="80000"/>
      </a:schemeClr>
    </dgm:fillClrLst>
    <dgm:linClrLst meth="repeat">
      <a:schemeClr val="lt1"/>
    </dgm:linClrLst>
    <dgm:effectClrLst/>
    <dgm:txLinClrLst/>
    <dgm:txFillClrLst/>
    <dgm:txEffectClrLst/>
  </dgm:styleLbl>
  <dgm:styleLbl name="node3">
    <dgm:fillClrLst>
      <a:schemeClr val="accent2">
        <a:tint val="99000"/>
      </a:schemeClr>
    </dgm:fillClrLst>
    <dgm:linClrLst meth="repeat">
      <a:schemeClr val="lt1"/>
    </dgm:linClrLst>
    <dgm:effectClrLst/>
    <dgm:txLinClrLst/>
    <dgm:txFillClrLst/>
    <dgm:txEffectClrLst/>
  </dgm:styleLbl>
  <dgm:styleLbl name="node4">
    <dgm:fillClrLst>
      <a:schemeClr val="accent2">
        <a:tint val="70000"/>
      </a:schemeClr>
    </dgm:fillClrLst>
    <dgm:linClrLst meth="repeat">
      <a:schemeClr val="lt1"/>
    </dgm:linClrLst>
    <dgm:effectClrLst/>
    <dgm:txLinClrLst/>
    <dgm:txFillClrLst/>
    <dgm:txEffectClrLst/>
  </dgm:styleLbl>
  <dgm:styleLbl name="fg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fg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bg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sibTrans1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accent2">
        <a:shade val="80000"/>
      </a:schemeClr>
    </dgm:fillClrLst>
    <dgm:linClrLst meth="repeat">
      <a:schemeClr val="lt1"/>
    </dgm:linClrLst>
    <dgm:effectClrLst/>
    <dgm:txLinClrLst/>
    <dgm:txFillClrLst/>
    <dgm:txEffectClrLst/>
  </dgm:styleLbl>
  <dgm:styleLbl name="asst1">
    <dgm:fillClrLst meth="repeat">
      <a:schemeClr val="accent2">
        <a:shade val="80000"/>
      </a:schemeClr>
    </dgm:fillClrLst>
    <dgm:linClrLst meth="repeat">
      <a:schemeClr val="lt1"/>
    </dgm:linClrLst>
    <dgm:effectClrLst/>
    <dgm:txLinClrLst/>
    <dgm:txFillClrLst/>
    <dgm:txEffectClrLst/>
  </dgm:styleLbl>
  <dgm:styleLbl name="asst2">
    <dgm:fillClrLst>
      <a:schemeClr val="accent2">
        <a:tint val="90000"/>
      </a:schemeClr>
    </dgm:fillClrLst>
    <dgm:linClrLst meth="repeat">
      <a:schemeClr val="lt1"/>
    </dgm:linClrLst>
    <dgm:effectClrLst/>
    <dgm:txLinClrLst/>
    <dgm:txFillClrLst/>
    <dgm:txEffectClrLst/>
  </dgm:styleLbl>
  <dgm:styleLbl name="asst3">
    <dgm:fillClrLst>
      <a:schemeClr val="accent2">
        <a:tint val="70000"/>
      </a:schemeClr>
    </dgm:fillClrLst>
    <dgm:linClrLst meth="repeat">
      <a:schemeClr val="lt1"/>
    </dgm:linClrLst>
    <dgm:effectClrLst/>
    <dgm:txLinClrLst/>
    <dgm:txFillClrLst/>
    <dgm:txEffectClrLst/>
  </dgm:styleLbl>
  <dgm:styleLbl name="asst4">
    <dgm:fillClrLst>
      <a:schemeClr val="accent2">
        <a:tint val="50000"/>
      </a:schemeClr>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shade val="80000"/>
      </a:schemeClr>
    </dgm:linClrLst>
    <dgm:effectClrLst/>
    <dgm:txLinClrLst/>
    <dgm:txFillClrLst/>
    <dgm:txEffectClrLst/>
  </dgm:styleLbl>
  <dgm:styleLbl name="parChTrans2D2">
    <dgm:fillClrLst meth="repeat">
      <a:schemeClr val="accent2">
        <a:tint val="90000"/>
      </a:schemeClr>
    </dgm:fillClrLst>
    <dgm:linClrLst meth="repeat">
      <a:schemeClr val="accent2">
        <a:tint val="90000"/>
      </a:schemeClr>
    </dgm:linClrLst>
    <dgm:effectClrLst/>
    <dgm:txLinClrLst/>
    <dgm:txFillClrLst/>
    <dgm:txEffectClrLst/>
  </dgm:styleLbl>
  <dgm:styleLbl name="parChTrans2D3">
    <dgm:fillClrLst meth="repeat">
      <a:schemeClr val="accent2">
        <a:tint val="70000"/>
      </a:schemeClr>
    </dgm:fillClrLst>
    <dgm:linClrLst meth="repeat">
      <a:schemeClr val="accent2">
        <a:tint val="70000"/>
      </a:schemeClr>
    </dgm:linClrLst>
    <dgm:effectClrLst/>
    <dgm:txLinClrLst/>
    <dgm:txFillClrLst/>
    <dgm:txEffectClrLst/>
  </dgm:styleLbl>
  <dgm:styleLbl name="parChTrans2D4">
    <dgm:fillClrLst meth="repeat">
      <a:schemeClr val="accent2">
        <a:tint val="50000"/>
      </a:schemeClr>
    </dgm:fillClrLst>
    <dgm:linClrLst meth="repeat">
      <a:schemeClr val="accent2">
        <a:tint val="50000"/>
      </a:schemeClr>
    </dgm:linClrLst>
    <dgm:effectClrLst/>
    <dgm:txLinClrLst/>
    <dgm:txFillClrLst meth="repeat">
      <a:schemeClr val="dk1"/>
    </dgm:txFillClrLst>
    <dgm:txEffectClrLst/>
  </dgm:styleLbl>
  <dgm:styleLbl name="parChTrans1D1">
    <dgm:fillClrLst meth="repeat">
      <a:schemeClr val="accent2">
        <a:shade val="80000"/>
      </a:schemeClr>
    </dgm:fillClrLst>
    <dgm:linClrLst meth="repeat">
      <a:schemeClr val="accent2">
        <a:shade val="80000"/>
      </a:schemeClr>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2">
        <a:tint val="90000"/>
      </a:schemeClr>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2">
        <a:tint val="70000"/>
      </a:schemeClr>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2">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55000"/>
      </a:schemeClr>
    </dgm:fillClrLst>
    <dgm:linClrLst meth="repeat">
      <a:schemeClr val="accent2">
        <a:alpha val="90000"/>
        <a:tint val="55000"/>
      </a:schemeClr>
    </dgm:linClrLst>
    <dgm:effectClrLst/>
    <dgm:txLinClrLst/>
    <dgm:txFillClrLst meth="repeat">
      <a:schemeClr val="dk1"/>
    </dgm:txFillClrLst>
    <dgm:txEffectClrLst/>
  </dgm:styleLbl>
  <dgm:styleLbl name="alignAccFollowNode1">
    <dgm:fillClrLst meth="repeat">
      <a:schemeClr val="accent2">
        <a:alpha val="90000"/>
        <a:tint val="55000"/>
      </a:schemeClr>
    </dgm:fillClrLst>
    <dgm:linClrLst meth="repeat">
      <a:schemeClr val="accent2">
        <a:alpha val="90000"/>
        <a:tint val="55000"/>
      </a:schemeClr>
    </dgm:linClrLst>
    <dgm:effectClrLst/>
    <dgm:txLinClrLst/>
    <dgm:txFillClrLst meth="repeat">
      <a:schemeClr val="dk1"/>
    </dgm:txFillClrLst>
    <dgm:txEffectClrLst/>
  </dgm:styleLbl>
  <dgm:styleLbl name="bgAccFollowNode1">
    <dgm:fillClrLst meth="repeat">
      <a:schemeClr val="accent2">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a:tint val="50000"/>
      </a:schemeClr>
    </dgm:linClrLst>
    <dgm:effectClrLst/>
    <dgm:txLinClrLst/>
    <dgm:txFillClrLst meth="repeat">
      <a:schemeClr val="dk1"/>
    </dgm:txFillClrLst>
    <dgm:txEffectClrLst/>
  </dgm:styleLbl>
  <dgm:styleLbl name="bgShp">
    <dgm:fillClrLst meth="repeat">
      <a:schemeClr val="accent2">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55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24610A9-9734-4A01-AC45-183486814447}" type="doc">
      <dgm:prSet loTypeId="urn:microsoft.com/office/officeart/2005/8/layout/hList6" loCatId="list" qsTypeId="urn:microsoft.com/office/officeart/2005/8/quickstyle/simple1" qsCatId="simple" csTypeId="urn:microsoft.com/office/officeart/2005/8/colors/colorful1" csCatId="colorful" phldr="1"/>
      <dgm:spPr/>
      <dgm:t>
        <a:bodyPr/>
        <a:lstStyle/>
        <a:p>
          <a:endParaRPr lang="en-US"/>
        </a:p>
      </dgm:t>
    </dgm:pt>
    <dgm:pt modelId="{FC060280-3560-4D66-BF51-BACB6EB3865B}">
      <dgm:prSet phldrT="[Text]" phldr="0"/>
      <dgm:spPr/>
      <dgm:t>
        <a:bodyPr/>
        <a:lstStyle/>
        <a:p>
          <a:pPr rtl="0"/>
          <a:r>
            <a:rPr lang="en-US">
              <a:solidFill>
                <a:schemeClr val="bg1"/>
              </a:solidFill>
              <a:latin typeface="Aptos Display" panose="02110004020202020204"/>
            </a:rPr>
            <a:t>Overview:</a:t>
          </a:r>
          <a:endParaRPr lang="en-US">
            <a:solidFill>
              <a:schemeClr val="bg1"/>
            </a:solidFill>
          </a:endParaRPr>
        </a:p>
      </dgm:t>
    </dgm:pt>
    <dgm:pt modelId="{2EDF6164-DC42-4DBE-AFED-9CD2DE3CC1BE}" type="parTrans" cxnId="{4022E7E1-5560-4D15-B606-02168A0009F4}">
      <dgm:prSet/>
      <dgm:spPr/>
      <dgm:t>
        <a:bodyPr/>
        <a:lstStyle/>
        <a:p>
          <a:endParaRPr lang="en-US"/>
        </a:p>
      </dgm:t>
    </dgm:pt>
    <dgm:pt modelId="{79024C8D-D615-48D5-9ED0-0D6DBF5D2F3A}" type="sibTrans" cxnId="{4022E7E1-5560-4D15-B606-02168A0009F4}">
      <dgm:prSet/>
      <dgm:spPr/>
      <dgm:t>
        <a:bodyPr/>
        <a:lstStyle/>
        <a:p>
          <a:endParaRPr lang="en-US"/>
        </a:p>
      </dgm:t>
    </dgm:pt>
    <dgm:pt modelId="{B6F74226-2AF1-4D01-AE81-724A36242621}">
      <dgm:prSet phldrT="[Text]" custT="1"/>
      <dgm:spPr/>
      <dgm:t>
        <a:bodyPr/>
        <a:lstStyle/>
        <a:p>
          <a:pPr rtl="0"/>
          <a:r>
            <a:rPr lang="en-US" sz="2000">
              <a:solidFill>
                <a:schemeClr val="bg1"/>
              </a:solidFill>
              <a:latin typeface="Aptos Display" panose="02110004020202020204"/>
            </a:rPr>
            <a:t>Identify high-potential utility markets where APTIM can serve as Program Administrator </a:t>
          </a:r>
          <a:endParaRPr lang="en-US" sz="2000">
            <a:solidFill>
              <a:schemeClr val="bg1"/>
            </a:solidFill>
          </a:endParaRPr>
        </a:p>
      </dgm:t>
    </dgm:pt>
    <dgm:pt modelId="{DE311DFD-49F2-4E4D-8716-CCBAD64DB2CB}" type="parTrans" cxnId="{01D6D6E0-8EC9-4F17-810B-350B0326A26D}">
      <dgm:prSet/>
      <dgm:spPr/>
      <dgm:t>
        <a:bodyPr/>
        <a:lstStyle/>
        <a:p>
          <a:endParaRPr lang="en-US"/>
        </a:p>
      </dgm:t>
    </dgm:pt>
    <dgm:pt modelId="{C304E03E-20FB-4765-A47B-48BFD41B4BDD}" type="sibTrans" cxnId="{01D6D6E0-8EC9-4F17-810B-350B0326A26D}">
      <dgm:prSet/>
      <dgm:spPr/>
      <dgm:t>
        <a:bodyPr/>
        <a:lstStyle/>
        <a:p>
          <a:endParaRPr lang="en-US"/>
        </a:p>
      </dgm:t>
    </dgm:pt>
    <dgm:pt modelId="{A9DD3E7D-7344-4BFE-AF55-77D58FAE0281}">
      <dgm:prSet phldrT="[Text]" phldr="0" custT="1"/>
      <dgm:spPr/>
      <dgm:t>
        <a:bodyPr/>
        <a:lstStyle/>
        <a:p>
          <a:pPr rtl="0"/>
          <a:r>
            <a:rPr lang="en-US" sz="3200">
              <a:solidFill>
                <a:schemeClr val="bg1"/>
              </a:solidFill>
              <a:latin typeface="Aptos Display" panose="02110004020202020204"/>
            </a:rPr>
            <a:t>Benchmark: California</a:t>
          </a:r>
          <a:endParaRPr lang="en-US" sz="3200">
            <a:solidFill>
              <a:schemeClr val="bg1"/>
            </a:solidFill>
          </a:endParaRPr>
        </a:p>
      </dgm:t>
    </dgm:pt>
    <dgm:pt modelId="{30881474-27DF-46AE-90F2-2A986823E1D8}" type="parTrans" cxnId="{747DA6BC-918E-4FA8-9A8E-665C3660372B}">
      <dgm:prSet/>
      <dgm:spPr/>
      <dgm:t>
        <a:bodyPr/>
        <a:lstStyle/>
        <a:p>
          <a:endParaRPr lang="en-US"/>
        </a:p>
      </dgm:t>
    </dgm:pt>
    <dgm:pt modelId="{497C9D72-50BA-4A6A-ADBF-6966880E2B7A}" type="sibTrans" cxnId="{747DA6BC-918E-4FA8-9A8E-665C3660372B}">
      <dgm:prSet/>
      <dgm:spPr/>
      <dgm:t>
        <a:bodyPr/>
        <a:lstStyle/>
        <a:p>
          <a:endParaRPr lang="en-US"/>
        </a:p>
      </dgm:t>
    </dgm:pt>
    <dgm:pt modelId="{CAFA6F78-0DF0-4313-B394-790C742FF319}">
      <dgm:prSet phldrT="[Text]" phldr="0" custT="1"/>
      <dgm:spPr/>
      <dgm:t>
        <a:bodyPr/>
        <a:lstStyle/>
        <a:p>
          <a:pPr rtl="0"/>
          <a:r>
            <a:rPr lang="en-US" sz="2000">
              <a:solidFill>
                <a:schemeClr val="bg1"/>
              </a:solidFill>
              <a:latin typeface="Aptos Display" panose="02110004020202020204"/>
            </a:rPr>
            <a:t>Mature solar + storage market and established utility </a:t>
          </a:r>
          <a:r>
            <a:rPr lang="en-US" sz="2000">
              <a:solidFill>
                <a:schemeClr val="bg1"/>
              </a:solidFill>
              <a:latin typeface="Aptos Display"/>
              <a:ea typeface="Calibri"/>
              <a:cs typeface="Calibri"/>
            </a:rPr>
            <a:t>programs </a:t>
          </a:r>
        </a:p>
      </dgm:t>
    </dgm:pt>
    <dgm:pt modelId="{011F1E05-3F73-4DB3-ADF7-153FE084C3FE}" type="parTrans" cxnId="{83760CEC-E775-4046-8FE8-928CB38C22C6}">
      <dgm:prSet/>
      <dgm:spPr/>
      <dgm:t>
        <a:bodyPr/>
        <a:lstStyle/>
        <a:p>
          <a:endParaRPr lang="en-US"/>
        </a:p>
      </dgm:t>
    </dgm:pt>
    <dgm:pt modelId="{73BFE982-8990-4D91-94D1-A4525278A5FB}" type="sibTrans" cxnId="{83760CEC-E775-4046-8FE8-928CB38C22C6}">
      <dgm:prSet/>
      <dgm:spPr/>
      <dgm:t>
        <a:bodyPr/>
        <a:lstStyle/>
        <a:p>
          <a:endParaRPr lang="en-US"/>
        </a:p>
      </dgm:t>
    </dgm:pt>
    <dgm:pt modelId="{DC80F72A-A4FA-48DB-B2D0-9D93BBAE74DB}">
      <dgm:prSet phldrT="[Text]" phldr="0"/>
      <dgm:spPr/>
      <dgm:t>
        <a:bodyPr/>
        <a:lstStyle/>
        <a:p>
          <a:pPr rtl="0"/>
          <a:r>
            <a:rPr lang="en-US">
              <a:latin typeface="Aptos Display" panose="02110004020202020204"/>
            </a:rPr>
            <a:t>States Selected for Analysis </a:t>
          </a:r>
          <a:endParaRPr lang="en-US"/>
        </a:p>
      </dgm:t>
    </dgm:pt>
    <dgm:pt modelId="{51F092CA-EBB8-4599-BC59-28F89A2630AF}" type="parTrans" cxnId="{A2F0447A-5A53-48A1-84E6-E7D4F2AC560F}">
      <dgm:prSet/>
      <dgm:spPr/>
      <dgm:t>
        <a:bodyPr/>
        <a:lstStyle/>
        <a:p>
          <a:endParaRPr lang="en-US"/>
        </a:p>
      </dgm:t>
    </dgm:pt>
    <dgm:pt modelId="{49A7289E-6FCA-4C7E-9F4D-43BCA37D93CB}" type="sibTrans" cxnId="{A2F0447A-5A53-48A1-84E6-E7D4F2AC560F}">
      <dgm:prSet/>
      <dgm:spPr/>
      <dgm:t>
        <a:bodyPr/>
        <a:lstStyle/>
        <a:p>
          <a:endParaRPr lang="en-US"/>
        </a:p>
      </dgm:t>
    </dgm:pt>
    <dgm:pt modelId="{F76BCCBA-1B6D-4579-B1BB-3A28EA5398F0}">
      <dgm:prSet phldrT="[Text]" phldr="0" custT="1"/>
      <dgm:spPr/>
      <dgm:t>
        <a:bodyPr/>
        <a:lstStyle/>
        <a:p>
          <a:pPr rtl="0"/>
          <a:r>
            <a:rPr lang="en-US" sz="2000">
              <a:latin typeface="Aptos Display" panose="02110004020202020204"/>
            </a:rPr>
            <a:t>North Carolina</a:t>
          </a:r>
          <a:endParaRPr lang="en-US" sz="2000"/>
        </a:p>
      </dgm:t>
    </dgm:pt>
    <dgm:pt modelId="{8B229A25-92A2-4E6D-B6DD-9B0AA3A03458}" type="parTrans" cxnId="{66000238-219A-44FD-A463-D98BDFF0C1CC}">
      <dgm:prSet/>
      <dgm:spPr/>
      <dgm:t>
        <a:bodyPr/>
        <a:lstStyle/>
        <a:p>
          <a:endParaRPr lang="en-US"/>
        </a:p>
      </dgm:t>
    </dgm:pt>
    <dgm:pt modelId="{7CF2A431-A540-4DFF-BA3C-8D93DAC03759}" type="sibTrans" cxnId="{66000238-219A-44FD-A463-D98BDFF0C1CC}">
      <dgm:prSet/>
      <dgm:spPr/>
      <dgm:t>
        <a:bodyPr/>
        <a:lstStyle/>
        <a:p>
          <a:endParaRPr lang="en-US"/>
        </a:p>
      </dgm:t>
    </dgm:pt>
    <dgm:pt modelId="{0367979F-F0C5-4A13-A87E-4F5DE03C8BF4}">
      <dgm:prSet phldrT="[Text]" phldr="0"/>
      <dgm:spPr/>
      <dgm:t>
        <a:bodyPr/>
        <a:lstStyle/>
        <a:p>
          <a:r>
            <a:rPr lang="en-US" sz="2000">
              <a:latin typeface="Aptos Display" panose="02110004020202020204"/>
            </a:rPr>
            <a:t>Michigan</a:t>
          </a:r>
          <a:endParaRPr lang="en-US" sz="2000"/>
        </a:p>
      </dgm:t>
    </dgm:pt>
    <dgm:pt modelId="{E80B9C38-F685-40FD-A99C-19169C0D9B92}" type="parTrans" cxnId="{BC4DACFB-C165-44DE-9522-D5A2CCFC8547}">
      <dgm:prSet/>
      <dgm:spPr/>
      <dgm:t>
        <a:bodyPr/>
        <a:lstStyle/>
        <a:p>
          <a:endParaRPr lang="en-US"/>
        </a:p>
      </dgm:t>
    </dgm:pt>
    <dgm:pt modelId="{697EE369-603E-4D3E-B1E2-7E3F43ACC96B}" type="sibTrans" cxnId="{BC4DACFB-C165-44DE-9522-D5A2CCFC8547}">
      <dgm:prSet/>
      <dgm:spPr/>
      <dgm:t>
        <a:bodyPr/>
        <a:lstStyle/>
        <a:p>
          <a:endParaRPr lang="en-US"/>
        </a:p>
      </dgm:t>
    </dgm:pt>
    <dgm:pt modelId="{B1507A20-0D3B-4284-8DC5-A7F4D589FD4B}">
      <dgm:prSet phldrT="[Text]" phldr="0"/>
      <dgm:spPr/>
      <dgm:t>
        <a:bodyPr/>
        <a:lstStyle/>
        <a:p>
          <a:r>
            <a:rPr lang="en-US" sz="2000">
              <a:latin typeface="Aptos Display" panose="02110004020202020204"/>
            </a:rPr>
            <a:t>Wisconsin</a:t>
          </a:r>
        </a:p>
      </dgm:t>
    </dgm:pt>
    <dgm:pt modelId="{0F44B9D4-9E06-4183-AC89-4DF1C53E92E8}" type="parTrans" cxnId="{03394847-255F-4C1F-B795-427ADDA3C765}">
      <dgm:prSet/>
      <dgm:spPr/>
      <dgm:t>
        <a:bodyPr/>
        <a:lstStyle/>
        <a:p>
          <a:endParaRPr lang="en-US"/>
        </a:p>
      </dgm:t>
    </dgm:pt>
    <dgm:pt modelId="{FAC0C646-4E3F-4A24-812B-8E7FAC041167}" type="sibTrans" cxnId="{03394847-255F-4C1F-B795-427ADDA3C765}">
      <dgm:prSet/>
      <dgm:spPr/>
      <dgm:t>
        <a:bodyPr/>
        <a:lstStyle/>
        <a:p>
          <a:endParaRPr lang="en-US"/>
        </a:p>
      </dgm:t>
    </dgm:pt>
    <dgm:pt modelId="{211DF230-072A-4D9C-9757-C4C3EA8AD352}" type="pres">
      <dgm:prSet presAssocID="{B24610A9-9734-4A01-AC45-183486814447}" presName="Name0" presStyleCnt="0">
        <dgm:presLayoutVars>
          <dgm:dir/>
          <dgm:resizeHandles val="exact"/>
        </dgm:presLayoutVars>
      </dgm:prSet>
      <dgm:spPr/>
    </dgm:pt>
    <dgm:pt modelId="{6BD867FD-E662-438A-9FB0-2FE1DC683C3E}" type="pres">
      <dgm:prSet presAssocID="{FC060280-3560-4D66-BF51-BACB6EB3865B}" presName="node" presStyleLbl="node1" presStyleIdx="0" presStyleCnt="3">
        <dgm:presLayoutVars>
          <dgm:bulletEnabled val="1"/>
        </dgm:presLayoutVars>
      </dgm:prSet>
      <dgm:spPr/>
    </dgm:pt>
    <dgm:pt modelId="{838FD0BB-0589-45D5-ADF0-F9D7DC2D3562}" type="pres">
      <dgm:prSet presAssocID="{79024C8D-D615-48D5-9ED0-0D6DBF5D2F3A}" presName="sibTrans" presStyleCnt="0"/>
      <dgm:spPr/>
    </dgm:pt>
    <dgm:pt modelId="{052EA765-2E25-4FD1-B7ED-4AE22A54983F}" type="pres">
      <dgm:prSet presAssocID="{A9DD3E7D-7344-4BFE-AF55-77D58FAE0281}" presName="node" presStyleLbl="node1" presStyleIdx="1" presStyleCnt="3">
        <dgm:presLayoutVars>
          <dgm:bulletEnabled val="1"/>
        </dgm:presLayoutVars>
      </dgm:prSet>
      <dgm:spPr/>
    </dgm:pt>
    <dgm:pt modelId="{19BED297-D8AA-4A73-BB51-E4006AE5C862}" type="pres">
      <dgm:prSet presAssocID="{497C9D72-50BA-4A6A-ADBF-6966880E2B7A}" presName="sibTrans" presStyleCnt="0"/>
      <dgm:spPr/>
    </dgm:pt>
    <dgm:pt modelId="{9069B7CA-D9F5-465E-A07F-BA247150F6E9}" type="pres">
      <dgm:prSet presAssocID="{DC80F72A-A4FA-48DB-B2D0-9D93BBAE74DB}" presName="node" presStyleLbl="node1" presStyleIdx="2" presStyleCnt="3">
        <dgm:presLayoutVars>
          <dgm:bulletEnabled val="1"/>
        </dgm:presLayoutVars>
      </dgm:prSet>
      <dgm:spPr/>
    </dgm:pt>
  </dgm:ptLst>
  <dgm:cxnLst>
    <dgm:cxn modelId="{A2578305-383D-4B52-9303-44AE7E5DB165}" type="presOf" srcId="{DC80F72A-A4FA-48DB-B2D0-9D93BBAE74DB}" destId="{9069B7CA-D9F5-465E-A07F-BA247150F6E9}" srcOrd="0" destOrd="0" presId="urn:microsoft.com/office/officeart/2005/8/layout/hList6"/>
    <dgm:cxn modelId="{BCAFEF1E-2325-44BA-903B-4FC30E9ACE44}" type="presOf" srcId="{B1507A20-0D3B-4284-8DC5-A7F4D589FD4B}" destId="{9069B7CA-D9F5-465E-A07F-BA247150F6E9}" srcOrd="0" destOrd="3" presId="urn:microsoft.com/office/officeart/2005/8/layout/hList6"/>
    <dgm:cxn modelId="{66000238-219A-44FD-A463-D98BDFF0C1CC}" srcId="{DC80F72A-A4FA-48DB-B2D0-9D93BBAE74DB}" destId="{F76BCCBA-1B6D-4579-B1BB-3A28EA5398F0}" srcOrd="0" destOrd="0" parTransId="{8B229A25-92A2-4E6D-B6DD-9B0AA3A03458}" sibTransId="{7CF2A431-A540-4DFF-BA3C-8D93DAC03759}"/>
    <dgm:cxn modelId="{2883B263-5127-4B9C-958F-B8BE3AF67C33}" type="presOf" srcId="{CAFA6F78-0DF0-4313-B394-790C742FF319}" destId="{052EA765-2E25-4FD1-B7ED-4AE22A54983F}" srcOrd="0" destOrd="1" presId="urn:microsoft.com/office/officeart/2005/8/layout/hList6"/>
    <dgm:cxn modelId="{03394847-255F-4C1F-B795-427ADDA3C765}" srcId="{DC80F72A-A4FA-48DB-B2D0-9D93BBAE74DB}" destId="{B1507A20-0D3B-4284-8DC5-A7F4D589FD4B}" srcOrd="2" destOrd="0" parTransId="{0F44B9D4-9E06-4183-AC89-4DF1C53E92E8}" sibTransId="{FAC0C646-4E3F-4A24-812B-8E7FAC041167}"/>
    <dgm:cxn modelId="{A2F0447A-5A53-48A1-84E6-E7D4F2AC560F}" srcId="{B24610A9-9734-4A01-AC45-183486814447}" destId="{DC80F72A-A4FA-48DB-B2D0-9D93BBAE74DB}" srcOrd="2" destOrd="0" parTransId="{51F092CA-EBB8-4599-BC59-28F89A2630AF}" sibTransId="{49A7289E-6FCA-4C7E-9F4D-43BCA37D93CB}"/>
    <dgm:cxn modelId="{3C9E3B7F-C70D-45EA-8B90-6C0B7533F004}" type="presOf" srcId="{B6F74226-2AF1-4D01-AE81-724A36242621}" destId="{6BD867FD-E662-438A-9FB0-2FE1DC683C3E}" srcOrd="0" destOrd="1" presId="urn:microsoft.com/office/officeart/2005/8/layout/hList6"/>
    <dgm:cxn modelId="{36CCB191-7848-4B0C-81B9-096B1850DE3E}" type="presOf" srcId="{B24610A9-9734-4A01-AC45-183486814447}" destId="{211DF230-072A-4D9C-9757-C4C3EA8AD352}" srcOrd="0" destOrd="0" presId="urn:microsoft.com/office/officeart/2005/8/layout/hList6"/>
    <dgm:cxn modelId="{1B84DF94-2A58-48D2-B62D-3D94506EFFE9}" type="presOf" srcId="{F76BCCBA-1B6D-4579-B1BB-3A28EA5398F0}" destId="{9069B7CA-D9F5-465E-A07F-BA247150F6E9}" srcOrd="0" destOrd="1" presId="urn:microsoft.com/office/officeart/2005/8/layout/hList6"/>
    <dgm:cxn modelId="{C5FE7C96-402D-4EAF-9E7D-A35864F14A41}" type="presOf" srcId="{0367979F-F0C5-4A13-A87E-4F5DE03C8BF4}" destId="{9069B7CA-D9F5-465E-A07F-BA247150F6E9}" srcOrd="0" destOrd="2" presId="urn:microsoft.com/office/officeart/2005/8/layout/hList6"/>
    <dgm:cxn modelId="{747DA6BC-918E-4FA8-9A8E-665C3660372B}" srcId="{B24610A9-9734-4A01-AC45-183486814447}" destId="{A9DD3E7D-7344-4BFE-AF55-77D58FAE0281}" srcOrd="1" destOrd="0" parTransId="{30881474-27DF-46AE-90F2-2A986823E1D8}" sibTransId="{497C9D72-50BA-4A6A-ADBF-6966880E2B7A}"/>
    <dgm:cxn modelId="{F78F8EBD-278E-4570-AD93-0CFC2E924A11}" type="presOf" srcId="{A9DD3E7D-7344-4BFE-AF55-77D58FAE0281}" destId="{052EA765-2E25-4FD1-B7ED-4AE22A54983F}" srcOrd="0" destOrd="0" presId="urn:microsoft.com/office/officeart/2005/8/layout/hList6"/>
    <dgm:cxn modelId="{FD74FFDE-6930-4354-A30F-2607756A5923}" type="presOf" srcId="{FC060280-3560-4D66-BF51-BACB6EB3865B}" destId="{6BD867FD-E662-438A-9FB0-2FE1DC683C3E}" srcOrd="0" destOrd="0" presId="urn:microsoft.com/office/officeart/2005/8/layout/hList6"/>
    <dgm:cxn modelId="{01D6D6E0-8EC9-4F17-810B-350B0326A26D}" srcId="{FC060280-3560-4D66-BF51-BACB6EB3865B}" destId="{B6F74226-2AF1-4D01-AE81-724A36242621}" srcOrd="0" destOrd="0" parTransId="{DE311DFD-49F2-4E4D-8716-CCBAD64DB2CB}" sibTransId="{C304E03E-20FB-4765-A47B-48BFD41B4BDD}"/>
    <dgm:cxn modelId="{4022E7E1-5560-4D15-B606-02168A0009F4}" srcId="{B24610A9-9734-4A01-AC45-183486814447}" destId="{FC060280-3560-4D66-BF51-BACB6EB3865B}" srcOrd="0" destOrd="0" parTransId="{2EDF6164-DC42-4DBE-AFED-9CD2DE3CC1BE}" sibTransId="{79024C8D-D615-48D5-9ED0-0D6DBF5D2F3A}"/>
    <dgm:cxn modelId="{83760CEC-E775-4046-8FE8-928CB38C22C6}" srcId="{A9DD3E7D-7344-4BFE-AF55-77D58FAE0281}" destId="{CAFA6F78-0DF0-4313-B394-790C742FF319}" srcOrd="0" destOrd="0" parTransId="{011F1E05-3F73-4DB3-ADF7-153FE084C3FE}" sibTransId="{73BFE982-8990-4D91-94D1-A4525278A5FB}"/>
    <dgm:cxn modelId="{BC4DACFB-C165-44DE-9522-D5A2CCFC8547}" srcId="{DC80F72A-A4FA-48DB-B2D0-9D93BBAE74DB}" destId="{0367979F-F0C5-4A13-A87E-4F5DE03C8BF4}" srcOrd="1" destOrd="0" parTransId="{E80B9C38-F685-40FD-A99C-19169C0D9B92}" sibTransId="{697EE369-603E-4D3E-B1E2-7E3F43ACC96B}"/>
    <dgm:cxn modelId="{93AED7D9-0F31-4B6F-8A8B-A2000388DF72}" type="presParOf" srcId="{211DF230-072A-4D9C-9757-C4C3EA8AD352}" destId="{6BD867FD-E662-438A-9FB0-2FE1DC683C3E}" srcOrd="0" destOrd="0" presId="urn:microsoft.com/office/officeart/2005/8/layout/hList6"/>
    <dgm:cxn modelId="{7687F7D2-E018-423C-B878-2AE5A6107862}" type="presParOf" srcId="{211DF230-072A-4D9C-9757-C4C3EA8AD352}" destId="{838FD0BB-0589-45D5-ADF0-F9D7DC2D3562}" srcOrd="1" destOrd="0" presId="urn:microsoft.com/office/officeart/2005/8/layout/hList6"/>
    <dgm:cxn modelId="{3A023445-2E39-4CC1-B8B0-9ED1A807F5D6}" type="presParOf" srcId="{211DF230-072A-4D9C-9757-C4C3EA8AD352}" destId="{052EA765-2E25-4FD1-B7ED-4AE22A54983F}" srcOrd="2" destOrd="0" presId="urn:microsoft.com/office/officeart/2005/8/layout/hList6"/>
    <dgm:cxn modelId="{E5EFFEC9-CC8A-42D3-B8AA-281A398B3189}" type="presParOf" srcId="{211DF230-072A-4D9C-9757-C4C3EA8AD352}" destId="{19BED297-D8AA-4A73-BB51-E4006AE5C862}" srcOrd="3" destOrd="0" presId="urn:microsoft.com/office/officeart/2005/8/layout/hList6"/>
    <dgm:cxn modelId="{74C4B098-407F-4CF3-85F2-E5892AC2F5C3}" type="presParOf" srcId="{211DF230-072A-4D9C-9757-C4C3EA8AD352}" destId="{9069B7CA-D9F5-465E-A07F-BA247150F6E9}" srcOrd="4" destOrd="0" presId="urn:microsoft.com/office/officeart/2005/8/layout/hList6"/>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864771D5-BC1C-4653-9323-4B347B2210D7}"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49C0E062-F47F-4E0C-A96A-1A195B177B35}">
      <dgm:prSet phldrT="[Text]" phldr="0"/>
      <dgm:spPr/>
      <dgm:t>
        <a:bodyPr/>
        <a:lstStyle/>
        <a:p>
          <a:pPr rtl="0"/>
          <a:r>
            <a:rPr lang="en-US" sz="1100">
              <a:latin typeface="Calibri"/>
              <a:ea typeface="Calibri"/>
              <a:cs typeface="Calibri"/>
            </a:rPr>
            <a:t>North Carolina</a:t>
          </a:r>
          <a:endParaRPr lang="en-US"/>
        </a:p>
      </dgm:t>
    </dgm:pt>
    <dgm:pt modelId="{D115B911-9BB6-477A-800A-ACB8B53B6A1C}" type="parTrans" cxnId="{7125E1A8-3756-476E-9576-F71C62E5613D}">
      <dgm:prSet/>
      <dgm:spPr/>
      <dgm:t>
        <a:bodyPr/>
        <a:lstStyle/>
        <a:p>
          <a:endParaRPr lang="en-US"/>
        </a:p>
      </dgm:t>
    </dgm:pt>
    <dgm:pt modelId="{C21B7E71-B294-43C6-91D1-40E45DC406DC}" type="sibTrans" cxnId="{7125E1A8-3756-476E-9576-F71C62E5613D}">
      <dgm:prSet/>
      <dgm:spPr/>
      <dgm:t>
        <a:bodyPr/>
        <a:lstStyle/>
        <a:p>
          <a:endParaRPr lang="en-US"/>
        </a:p>
      </dgm:t>
    </dgm:pt>
    <dgm:pt modelId="{3146EFF7-0B6D-40FD-A521-9A7F65FBD55E}">
      <dgm:prSet phldrT="[Text]" phldr="0"/>
      <dgm:spPr/>
      <dgm:t>
        <a:bodyPr/>
        <a:lstStyle/>
        <a:p>
          <a:r>
            <a:rPr lang="en-US" sz="1100" b="1">
              <a:solidFill>
                <a:srgbClr val="444444"/>
              </a:solidFill>
              <a:latin typeface="Calibri"/>
              <a:ea typeface="Calibri"/>
              <a:cs typeface="Calibri"/>
            </a:rPr>
            <a:t>SOM</a:t>
          </a:r>
          <a:r>
            <a:rPr lang="en-US" sz="1100">
              <a:solidFill>
                <a:srgbClr val="444444"/>
              </a:solidFill>
              <a:latin typeface="Calibri"/>
              <a:ea typeface="Calibri"/>
              <a:cs typeface="Calibri"/>
            </a:rPr>
            <a:t> – Duke Energy</a:t>
          </a:r>
          <a:endParaRPr lang="en-US"/>
        </a:p>
      </dgm:t>
    </dgm:pt>
    <dgm:pt modelId="{112CE92C-738B-4E8A-9164-80DB7BD4FE16}" type="parTrans" cxnId="{973BC9F2-E09F-40E1-AB95-3641B8D0D234}">
      <dgm:prSet/>
      <dgm:spPr/>
      <dgm:t>
        <a:bodyPr/>
        <a:lstStyle/>
        <a:p>
          <a:endParaRPr lang="en-US"/>
        </a:p>
      </dgm:t>
    </dgm:pt>
    <dgm:pt modelId="{C9674A0F-2204-4EA3-BD0E-88BD856CB914}" type="sibTrans" cxnId="{973BC9F2-E09F-40E1-AB95-3641B8D0D234}">
      <dgm:prSet/>
      <dgm:spPr/>
      <dgm:t>
        <a:bodyPr/>
        <a:lstStyle/>
        <a:p>
          <a:endParaRPr lang="en-US"/>
        </a:p>
      </dgm:t>
    </dgm:pt>
    <dgm:pt modelId="{B83F260F-9FE0-4E14-9923-0FD4AFBE44A4}">
      <dgm:prSet phldrT="[Text]" phldr="0"/>
      <dgm:spPr/>
      <dgm:t>
        <a:bodyPr/>
        <a:lstStyle/>
        <a:p>
          <a:r>
            <a:rPr lang="en-US" sz="1100" b="1">
              <a:solidFill>
                <a:srgbClr val="444444"/>
              </a:solidFill>
              <a:latin typeface="Calibri"/>
              <a:ea typeface="Calibri"/>
              <a:cs typeface="Calibri"/>
            </a:rPr>
            <a:t>SOM</a:t>
          </a:r>
          <a:r>
            <a:rPr lang="en-US" sz="1100">
              <a:solidFill>
                <a:srgbClr val="444444"/>
              </a:solidFill>
              <a:latin typeface="Calibri"/>
              <a:ea typeface="Calibri"/>
              <a:cs typeface="Calibri"/>
            </a:rPr>
            <a:t> – DTE Energy, Consumers Energy</a:t>
          </a:r>
          <a:endParaRPr lang="en-US"/>
        </a:p>
      </dgm:t>
    </dgm:pt>
    <dgm:pt modelId="{0DAEED6B-6185-407F-AFEC-23B2B510FB37}" type="parTrans" cxnId="{ECF9796B-E8E2-4056-AD08-7E6473290FDF}">
      <dgm:prSet/>
      <dgm:spPr/>
      <dgm:t>
        <a:bodyPr/>
        <a:lstStyle/>
        <a:p>
          <a:endParaRPr lang="en-US"/>
        </a:p>
      </dgm:t>
    </dgm:pt>
    <dgm:pt modelId="{5190A896-D632-4D94-A6FE-EAC969B9AC02}" type="sibTrans" cxnId="{ECF9796B-E8E2-4056-AD08-7E6473290FDF}">
      <dgm:prSet/>
      <dgm:spPr/>
      <dgm:t>
        <a:bodyPr/>
        <a:lstStyle/>
        <a:p>
          <a:endParaRPr lang="en-US"/>
        </a:p>
      </dgm:t>
    </dgm:pt>
    <dgm:pt modelId="{EC7D27D2-D4CC-4B15-830C-9B09D25AB596}">
      <dgm:prSet phldrT="[Text]" phldr="0"/>
      <dgm:spPr/>
      <dgm:t>
        <a:bodyPr/>
        <a:lstStyle/>
        <a:p>
          <a:r>
            <a:rPr lang="en-US" sz="1100" b="1">
              <a:solidFill>
                <a:srgbClr val="444444"/>
              </a:solidFill>
              <a:latin typeface="Calibri"/>
              <a:ea typeface="Calibri"/>
              <a:cs typeface="Calibri"/>
            </a:rPr>
            <a:t>SOM </a:t>
          </a:r>
          <a:r>
            <a:rPr lang="en-US" sz="1100">
              <a:solidFill>
                <a:srgbClr val="444444"/>
              </a:solidFill>
              <a:latin typeface="Calibri"/>
              <a:ea typeface="Calibri"/>
              <a:cs typeface="Calibri"/>
            </a:rPr>
            <a:t>– WE Energies</a:t>
          </a:r>
          <a:endParaRPr lang="en-US"/>
        </a:p>
      </dgm:t>
    </dgm:pt>
    <dgm:pt modelId="{8FD49979-C5E8-48DF-95FA-E381FF86B3AA}" type="parTrans" cxnId="{B9059C19-A564-44E2-AF97-46A2C524C5CA}">
      <dgm:prSet/>
      <dgm:spPr/>
      <dgm:t>
        <a:bodyPr/>
        <a:lstStyle/>
        <a:p>
          <a:endParaRPr lang="en-US"/>
        </a:p>
      </dgm:t>
    </dgm:pt>
    <dgm:pt modelId="{41F5A414-4F40-412C-A62E-C517BD052465}" type="sibTrans" cxnId="{B9059C19-A564-44E2-AF97-46A2C524C5CA}">
      <dgm:prSet/>
      <dgm:spPr/>
      <dgm:t>
        <a:bodyPr/>
        <a:lstStyle/>
        <a:p>
          <a:endParaRPr lang="en-US"/>
        </a:p>
      </dgm:t>
    </dgm:pt>
    <dgm:pt modelId="{505BFC91-C398-4ED2-8874-043C62717359}">
      <dgm:prSet phldrT="[Text]" phldr="0"/>
      <dgm:spPr/>
      <dgm:t>
        <a:bodyPr/>
        <a:lstStyle/>
        <a:p>
          <a:pPr rtl="0"/>
          <a:r>
            <a:rPr lang="en-US" sz="1100" b="1">
              <a:solidFill>
                <a:srgbClr val="444444"/>
              </a:solidFill>
              <a:latin typeface="Calibri"/>
              <a:ea typeface="Calibri"/>
              <a:cs typeface="Calibri"/>
            </a:rPr>
            <a:t>TAM</a:t>
          </a:r>
          <a:r>
            <a:rPr lang="en-US" sz="1100">
              <a:solidFill>
                <a:srgbClr val="444444"/>
              </a:solidFill>
              <a:latin typeface="Calibri"/>
              <a:ea typeface="Calibri"/>
              <a:cs typeface="Calibri"/>
            </a:rPr>
            <a:t> – Duke, NC Electric Co-ops, Municipals</a:t>
          </a:r>
        </a:p>
      </dgm:t>
    </dgm:pt>
    <dgm:pt modelId="{DA34160E-670B-4390-9ABD-D1C41F0C3D0E}" type="parTrans" cxnId="{C571CEB2-598A-4C70-8043-A971B48ACC35}">
      <dgm:prSet/>
      <dgm:spPr/>
    </dgm:pt>
    <dgm:pt modelId="{6BA17BE7-5083-4E5C-AAE2-B91450C862EA}" type="sibTrans" cxnId="{C571CEB2-598A-4C70-8043-A971B48ACC35}">
      <dgm:prSet/>
      <dgm:spPr/>
    </dgm:pt>
    <dgm:pt modelId="{7893C8A9-CF6F-4824-9CD9-8648CAEFAC3D}">
      <dgm:prSet phldrT="[Text]" phldr="0"/>
      <dgm:spPr/>
      <dgm:t>
        <a:bodyPr/>
        <a:lstStyle/>
        <a:p>
          <a:r>
            <a:rPr lang="en-US" sz="1100" b="1">
              <a:solidFill>
                <a:srgbClr val="444444"/>
              </a:solidFill>
              <a:latin typeface="Calibri"/>
              <a:ea typeface="Calibri"/>
              <a:cs typeface="Calibri"/>
            </a:rPr>
            <a:t>SAM</a:t>
          </a:r>
          <a:r>
            <a:rPr lang="en-US" sz="1100">
              <a:solidFill>
                <a:srgbClr val="444444"/>
              </a:solidFill>
              <a:latin typeface="Calibri"/>
              <a:ea typeface="Calibri"/>
              <a:cs typeface="Calibri"/>
            </a:rPr>
            <a:t> – Duke Energy Carolinas, Duke Energy Progress</a:t>
          </a:r>
        </a:p>
      </dgm:t>
    </dgm:pt>
    <dgm:pt modelId="{7977844E-4B5C-428E-B5B2-280250177809}" type="parTrans" cxnId="{3D6BD677-044A-43AA-A0A7-AC9FA264AF77}">
      <dgm:prSet/>
      <dgm:spPr/>
    </dgm:pt>
    <dgm:pt modelId="{5F1F03AF-3424-4F06-8248-A3EAEDFA83DB}" type="sibTrans" cxnId="{3D6BD677-044A-43AA-A0A7-AC9FA264AF77}">
      <dgm:prSet/>
      <dgm:spPr/>
    </dgm:pt>
    <dgm:pt modelId="{B63E21AC-F1BA-4AC1-9450-924ECF904CDB}">
      <dgm:prSet phldrT="[Text]" phldr="0"/>
      <dgm:spPr/>
      <dgm:t>
        <a:bodyPr/>
        <a:lstStyle/>
        <a:p>
          <a:pPr rtl="0"/>
          <a:r>
            <a:rPr lang="en-US" sz="1100">
              <a:solidFill>
                <a:schemeClr val="bg1"/>
              </a:solidFill>
              <a:latin typeface="Calibri"/>
              <a:ea typeface="Calibri"/>
              <a:cs typeface="Calibri"/>
            </a:rPr>
            <a:t>Michigan</a:t>
          </a:r>
        </a:p>
      </dgm:t>
    </dgm:pt>
    <dgm:pt modelId="{54DB8425-ABCB-4DD3-A1A1-33DB85B0BA11}" type="parTrans" cxnId="{AA4FCF35-DF14-468F-993C-EEC11AB29CBD}">
      <dgm:prSet/>
      <dgm:spPr/>
    </dgm:pt>
    <dgm:pt modelId="{C4A61878-4334-4BDD-A833-00A249F73184}" type="sibTrans" cxnId="{AA4FCF35-DF14-468F-993C-EEC11AB29CBD}">
      <dgm:prSet/>
      <dgm:spPr/>
    </dgm:pt>
    <dgm:pt modelId="{4B468CD9-C2E5-4486-999A-D2088EB919B2}">
      <dgm:prSet phldrT="[Text]" phldr="0"/>
      <dgm:spPr/>
      <dgm:t>
        <a:bodyPr/>
        <a:lstStyle/>
        <a:p>
          <a:r>
            <a:rPr lang="en-US" sz="1100" b="1">
              <a:solidFill>
                <a:srgbClr val="444444"/>
              </a:solidFill>
              <a:latin typeface="Calibri"/>
              <a:ea typeface="Calibri"/>
              <a:cs typeface="Calibri"/>
            </a:rPr>
            <a:t>TAM </a:t>
          </a:r>
          <a:r>
            <a:rPr lang="en-US" sz="1100">
              <a:solidFill>
                <a:srgbClr val="444444"/>
              </a:solidFill>
              <a:latin typeface="Calibri"/>
              <a:ea typeface="Calibri"/>
              <a:cs typeface="Calibri"/>
            </a:rPr>
            <a:t>– DTE, Consumers, Co-ops, Municipals</a:t>
          </a:r>
        </a:p>
      </dgm:t>
    </dgm:pt>
    <dgm:pt modelId="{6B43B337-9617-4C83-8277-6BDA262596DD}" type="parTrans" cxnId="{E176056C-8925-4108-A8D4-FAD38788079F}">
      <dgm:prSet/>
      <dgm:spPr/>
    </dgm:pt>
    <dgm:pt modelId="{D48CA89B-D848-4CA6-A967-B0019B1A5AFC}" type="sibTrans" cxnId="{E176056C-8925-4108-A8D4-FAD38788079F}">
      <dgm:prSet/>
      <dgm:spPr/>
    </dgm:pt>
    <dgm:pt modelId="{F6EB3560-63D1-43C5-AACE-30E6FCB6C50C}">
      <dgm:prSet phldrT="[Text]" phldr="0"/>
      <dgm:spPr/>
      <dgm:t>
        <a:bodyPr/>
        <a:lstStyle/>
        <a:p>
          <a:r>
            <a:rPr lang="en-US" sz="1100" b="1">
              <a:solidFill>
                <a:srgbClr val="444444"/>
              </a:solidFill>
              <a:latin typeface="Calibri"/>
              <a:ea typeface="Calibri"/>
              <a:cs typeface="Calibri"/>
            </a:rPr>
            <a:t>SAM</a:t>
          </a:r>
          <a:r>
            <a:rPr lang="en-US" sz="1100">
              <a:solidFill>
                <a:srgbClr val="444444"/>
              </a:solidFill>
              <a:latin typeface="Calibri"/>
              <a:ea typeface="Calibri"/>
              <a:cs typeface="Calibri"/>
            </a:rPr>
            <a:t> – DTE Energy, Consumers Energy</a:t>
          </a:r>
        </a:p>
      </dgm:t>
    </dgm:pt>
    <dgm:pt modelId="{2DDC3AF1-6376-4769-85BC-8F80E8ED972A}" type="parTrans" cxnId="{F7368708-392D-43FE-8CA2-FC064F6DBEC4}">
      <dgm:prSet/>
      <dgm:spPr/>
    </dgm:pt>
    <dgm:pt modelId="{77AD0271-3535-4A02-A64A-36CFE4BB9F2C}" type="sibTrans" cxnId="{F7368708-392D-43FE-8CA2-FC064F6DBEC4}">
      <dgm:prSet/>
      <dgm:spPr/>
    </dgm:pt>
    <dgm:pt modelId="{E45A6EE9-2BC6-4233-89AD-F3AAA6113A71}">
      <dgm:prSet phldrT="[Text]" phldr="0"/>
      <dgm:spPr/>
      <dgm:t>
        <a:bodyPr/>
        <a:lstStyle/>
        <a:p>
          <a:pPr rtl="0"/>
          <a:r>
            <a:rPr lang="en-US" sz="1100">
              <a:solidFill>
                <a:schemeClr val="bg1"/>
              </a:solidFill>
              <a:latin typeface="Calibri"/>
              <a:ea typeface="Calibri"/>
              <a:cs typeface="Calibri"/>
            </a:rPr>
            <a:t>Wisconsin</a:t>
          </a:r>
        </a:p>
      </dgm:t>
    </dgm:pt>
    <dgm:pt modelId="{7D3B27DE-F9CB-409E-AB93-3DCD8359DE08}" type="parTrans" cxnId="{A7884071-5377-4ACD-94B3-8A9ACB95F725}">
      <dgm:prSet/>
      <dgm:spPr/>
    </dgm:pt>
    <dgm:pt modelId="{B5C9064A-7285-4CD5-850D-FF165F20A319}" type="sibTrans" cxnId="{A7884071-5377-4ACD-94B3-8A9ACB95F725}">
      <dgm:prSet/>
      <dgm:spPr/>
    </dgm:pt>
    <dgm:pt modelId="{0D86D34A-C867-4E57-84BF-F93E2AD50A38}">
      <dgm:prSet phldrT="[Text]" phldr="0"/>
      <dgm:spPr/>
      <dgm:t>
        <a:bodyPr/>
        <a:lstStyle/>
        <a:p>
          <a:r>
            <a:rPr lang="en-US" sz="1100" b="1">
              <a:solidFill>
                <a:srgbClr val="444444"/>
              </a:solidFill>
              <a:latin typeface="Calibri"/>
              <a:ea typeface="Calibri"/>
              <a:cs typeface="Calibri"/>
            </a:rPr>
            <a:t>TAM</a:t>
          </a:r>
          <a:r>
            <a:rPr lang="en-US" sz="1100">
              <a:solidFill>
                <a:srgbClr val="444444"/>
              </a:solidFill>
              <a:latin typeface="Calibri"/>
              <a:ea typeface="Calibri"/>
              <a:cs typeface="Calibri"/>
            </a:rPr>
            <a:t> – WE Energies, Alliant, MGE, Co-ops</a:t>
          </a:r>
        </a:p>
      </dgm:t>
    </dgm:pt>
    <dgm:pt modelId="{2A62919E-2CAF-480A-A079-551D2A9C5FCB}" type="parTrans" cxnId="{CEB39794-6B3A-450A-9DFB-9940039C2A46}">
      <dgm:prSet/>
      <dgm:spPr/>
    </dgm:pt>
    <dgm:pt modelId="{B089BE33-73BF-4217-A16C-0728EE71653B}" type="sibTrans" cxnId="{CEB39794-6B3A-450A-9DFB-9940039C2A46}">
      <dgm:prSet/>
      <dgm:spPr/>
    </dgm:pt>
    <dgm:pt modelId="{59CD0A2A-5E9E-4BBA-BAF7-FA113D9515C0}">
      <dgm:prSet phldrT="[Text]" phldr="0"/>
      <dgm:spPr/>
      <dgm:t>
        <a:bodyPr/>
        <a:lstStyle/>
        <a:p>
          <a:r>
            <a:rPr lang="en-US" sz="1100" b="1">
              <a:solidFill>
                <a:srgbClr val="444444"/>
              </a:solidFill>
              <a:latin typeface="Calibri"/>
              <a:ea typeface="Calibri"/>
              <a:cs typeface="Calibri"/>
            </a:rPr>
            <a:t>SAM</a:t>
          </a:r>
          <a:r>
            <a:rPr lang="en-US" sz="1100">
              <a:solidFill>
                <a:srgbClr val="444444"/>
              </a:solidFill>
              <a:latin typeface="Calibri"/>
              <a:ea typeface="Calibri"/>
              <a:cs typeface="Calibri"/>
            </a:rPr>
            <a:t> – WE Energies, Alliant Energy, MGE</a:t>
          </a:r>
        </a:p>
      </dgm:t>
    </dgm:pt>
    <dgm:pt modelId="{0F5B5924-F548-4EB9-B14F-C4B798D42327}" type="parTrans" cxnId="{67E8DC00-59A9-439F-9782-F550E4ECBE7C}">
      <dgm:prSet/>
      <dgm:spPr/>
    </dgm:pt>
    <dgm:pt modelId="{C154940A-A842-4775-A1F3-88B4E79720BC}" type="sibTrans" cxnId="{67E8DC00-59A9-439F-9782-F550E4ECBE7C}">
      <dgm:prSet/>
      <dgm:spPr/>
    </dgm:pt>
    <dgm:pt modelId="{B4AF6786-E33D-4BF0-A65F-154ED7084DA5}" type="pres">
      <dgm:prSet presAssocID="{864771D5-BC1C-4653-9323-4B347B2210D7}" presName="linear" presStyleCnt="0">
        <dgm:presLayoutVars>
          <dgm:dir/>
          <dgm:animLvl val="lvl"/>
          <dgm:resizeHandles val="exact"/>
        </dgm:presLayoutVars>
      </dgm:prSet>
      <dgm:spPr/>
    </dgm:pt>
    <dgm:pt modelId="{76E4B29F-4BE7-4DAF-80EB-D1B38BDD7B99}" type="pres">
      <dgm:prSet presAssocID="{49C0E062-F47F-4E0C-A96A-1A195B177B35}" presName="parentLin" presStyleCnt="0"/>
      <dgm:spPr/>
    </dgm:pt>
    <dgm:pt modelId="{15BBC1C4-AD9C-4BE5-9723-B7D1AEDE0FDA}" type="pres">
      <dgm:prSet presAssocID="{49C0E062-F47F-4E0C-A96A-1A195B177B35}" presName="parentLeftMargin" presStyleLbl="node1" presStyleIdx="0" presStyleCnt="3"/>
      <dgm:spPr/>
    </dgm:pt>
    <dgm:pt modelId="{4DAE4B56-9870-48BA-8F8C-44924084F921}" type="pres">
      <dgm:prSet presAssocID="{49C0E062-F47F-4E0C-A96A-1A195B177B35}" presName="parentText" presStyleLbl="node1" presStyleIdx="0" presStyleCnt="3">
        <dgm:presLayoutVars>
          <dgm:chMax val="0"/>
          <dgm:bulletEnabled val="1"/>
        </dgm:presLayoutVars>
      </dgm:prSet>
      <dgm:spPr/>
    </dgm:pt>
    <dgm:pt modelId="{D22A9DBD-825D-4E49-8703-272FEAB23465}" type="pres">
      <dgm:prSet presAssocID="{49C0E062-F47F-4E0C-A96A-1A195B177B35}" presName="negativeSpace" presStyleCnt="0"/>
      <dgm:spPr/>
    </dgm:pt>
    <dgm:pt modelId="{B467F81D-80C0-4020-A73F-08B4994D349A}" type="pres">
      <dgm:prSet presAssocID="{49C0E062-F47F-4E0C-A96A-1A195B177B35}" presName="childText" presStyleLbl="conFgAcc1" presStyleIdx="0" presStyleCnt="3">
        <dgm:presLayoutVars>
          <dgm:bulletEnabled val="1"/>
        </dgm:presLayoutVars>
      </dgm:prSet>
      <dgm:spPr/>
    </dgm:pt>
    <dgm:pt modelId="{5C1E8144-B989-4FAF-92B1-E0B3F95C28C8}" type="pres">
      <dgm:prSet presAssocID="{C21B7E71-B294-43C6-91D1-40E45DC406DC}" presName="spaceBetweenRectangles" presStyleCnt="0"/>
      <dgm:spPr/>
    </dgm:pt>
    <dgm:pt modelId="{B1441927-C8AE-4321-A224-FA248B91E061}" type="pres">
      <dgm:prSet presAssocID="{B63E21AC-F1BA-4AC1-9450-924ECF904CDB}" presName="parentLin" presStyleCnt="0"/>
      <dgm:spPr/>
    </dgm:pt>
    <dgm:pt modelId="{5BF2BFA1-7B13-444B-9412-B1DD1370E928}" type="pres">
      <dgm:prSet presAssocID="{B63E21AC-F1BA-4AC1-9450-924ECF904CDB}" presName="parentLeftMargin" presStyleLbl="node1" presStyleIdx="0" presStyleCnt="3"/>
      <dgm:spPr/>
    </dgm:pt>
    <dgm:pt modelId="{9B5BF6AE-95D7-4413-A144-ACC3607C8840}" type="pres">
      <dgm:prSet presAssocID="{B63E21AC-F1BA-4AC1-9450-924ECF904CDB}" presName="parentText" presStyleLbl="node1" presStyleIdx="1" presStyleCnt="3">
        <dgm:presLayoutVars>
          <dgm:chMax val="0"/>
          <dgm:bulletEnabled val="1"/>
        </dgm:presLayoutVars>
      </dgm:prSet>
      <dgm:spPr/>
    </dgm:pt>
    <dgm:pt modelId="{A5A4D88C-587E-4A67-8AB0-23FBAE405935}" type="pres">
      <dgm:prSet presAssocID="{B63E21AC-F1BA-4AC1-9450-924ECF904CDB}" presName="negativeSpace" presStyleCnt="0"/>
      <dgm:spPr/>
    </dgm:pt>
    <dgm:pt modelId="{24227075-829F-461A-A3AB-BAE980BD845A}" type="pres">
      <dgm:prSet presAssocID="{B63E21AC-F1BA-4AC1-9450-924ECF904CDB}" presName="childText" presStyleLbl="conFgAcc1" presStyleIdx="1" presStyleCnt="3">
        <dgm:presLayoutVars>
          <dgm:bulletEnabled val="1"/>
        </dgm:presLayoutVars>
      </dgm:prSet>
      <dgm:spPr/>
    </dgm:pt>
    <dgm:pt modelId="{A7756FF0-3496-4F08-8FC5-4CC4FC56E457}" type="pres">
      <dgm:prSet presAssocID="{C4A61878-4334-4BDD-A833-00A249F73184}" presName="spaceBetweenRectangles" presStyleCnt="0"/>
      <dgm:spPr/>
    </dgm:pt>
    <dgm:pt modelId="{79A0E454-77BF-4B26-8609-50C7E3852CCE}" type="pres">
      <dgm:prSet presAssocID="{E45A6EE9-2BC6-4233-89AD-F3AAA6113A71}" presName="parentLin" presStyleCnt="0"/>
      <dgm:spPr/>
    </dgm:pt>
    <dgm:pt modelId="{C727E437-FC5D-48EC-9466-F887ED89DC6D}" type="pres">
      <dgm:prSet presAssocID="{E45A6EE9-2BC6-4233-89AD-F3AAA6113A71}" presName="parentLeftMargin" presStyleLbl="node1" presStyleIdx="1" presStyleCnt="3"/>
      <dgm:spPr/>
    </dgm:pt>
    <dgm:pt modelId="{72025782-1FE6-4CA4-A362-5400037DDCE9}" type="pres">
      <dgm:prSet presAssocID="{E45A6EE9-2BC6-4233-89AD-F3AAA6113A71}" presName="parentText" presStyleLbl="node1" presStyleIdx="2" presStyleCnt="3">
        <dgm:presLayoutVars>
          <dgm:chMax val="0"/>
          <dgm:bulletEnabled val="1"/>
        </dgm:presLayoutVars>
      </dgm:prSet>
      <dgm:spPr/>
    </dgm:pt>
    <dgm:pt modelId="{1102720C-B141-452C-AD29-6968AEE21C74}" type="pres">
      <dgm:prSet presAssocID="{E45A6EE9-2BC6-4233-89AD-F3AAA6113A71}" presName="negativeSpace" presStyleCnt="0"/>
      <dgm:spPr/>
    </dgm:pt>
    <dgm:pt modelId="{ED375B58-C693-4A3C-AB64-D5B3CA2FD5FC}" type="pres">
      <dgm:prSet presAssocID="{E45A6EE9-2BC6-4233-89AD-F3AAA6113A71}" presName="childText" presStyleLbl="conFgAcc1" presStyleIdx="2" presStyleCnt="3">
        <dgm:presLayoutVars>
          <dgm:bulletEnabled val="1"/>
        </dgm:presLayoutVars>
      </dgm:prSet>
      <dgm:spPr/>
    </dgm:pt>
  </dgm:ptLst>
  <dgm:cxnLst>
    <dgm:cxn modelId="{67E8DC00-59A9-439F-9782-F550E4ECBE7C}" srcId="{E45A6EE9-2BC6-4233-89AD-F3AAA6113A71}" destId="{59CD0A2A-5E9E-4BBA-BAF7-FA113D9515C0}" srcOrd="1" destOrd="0" parTransId="{0F5B5924-F548-4EB9-B14F-C4B798D42327}" sibTransId="{C154940A-A842-4775-A1F3-88B4E79720BC}"/>
    <dgm:cxn modelId="{F50FC206-DB25-44F2-8C31-B08349429257}" type="presOf" srcId="{49C0E062-F47F-4E0C-A96A-1A195B177B35}" destId="{4DAE4B56-9870-48BA-8F8C-44924084F921}" srcOrd="1" destOrd="0" presId="urn:microsoft.com/office/officeart/2005/8/layout/list1"/>
    <dgm:cxn modelId="{F7368708-392D-43FE-8CA2-FC064F6DBEC4}" srcId="{B63E21AC-F1BA-4AC1-9450-924ECF904CDB}" destId="{F6EB3560-63D1-43C5-AACE-30E6FCB6C50C}" srcOrd="1" destOrd="0" parTransId="{2DDC3AF1-6376-4769-85BC-8F80E8ED972A}" sibTransId="{77AD0271-3535-4A02-A64A-36CFE4BB9F2C}"/>
    <dgm:cxn modelId="{B9059C19-A564-44E2-AF97-46A2C524C5CA}" srcId="{E45A6EE9-2BC6-4233-89AD-F3AAA6113A71}" destId="{EC7D27D2-D4CC-4B15-830C-9B09D25AB596}" srcOrd="2" destOrd="0" parTransId="{8FD49979-C5E8-48DF-95FA-E381FF86B3AA}" sibTransId="{41F5A414-4F40-412C-A62E-C517BD052465}"/>
    <dgm:cxn modelId="{AA4FCF35-DF14-468F-993C-EEC11AB29CBD}" srcId="{864771D5-BC1C-4653-9323-4B347B2210D7}" destId="{B63E21AC-F1BA-4AC1-9450-924ECF904CDB}" srcOrd="1" destOrd="0" parTransId="{54DB8425-ABCB-4DD3-A1A1-33DB85B0BA11}" sibTransId="{C4A61878-4334-4BDD-A833-00A249F73184}"/>
    <dgm:cxn modelId="{A7EE4737-458B-4F02-A1ED-793B5933BB33}" type="presOf" srcId="{0D86D34A-C867-4E57-84BF-F93E2AD50A38}" destId="{ED375B58-C693-4A3C-AB64-D5B3CA2FD5FC}" srcOrd="0" destOrd="0" presId="urn:microsoft.com/office/officeart/2005/8/layout/list1"/>
    <dgm:cxn modelId="{C8F45740-0556-4B0B-9DA7-5DBD7E479321}" type="presOf" srcId="{EC7D27D2-D4CC-4B15-830C-9B09D25AB596}" destId="{ED375B58-C693-4A3C-AB64-D5B3CA2FD5FC}" srcOrd="0" destOrd="2" presId="urn:microsoft.com/office/officeart/2005/8/layout/list1"/>
    <dgm:cxn modelId="{C1900664-23B3-4540-913F-9CA7FDD92A3D}" type="presOf" srcId="{59CD0A2A-5E9E-4BBA-BAF7-FA113D9515C0}" destId="{ED375B58-C693-4A3C-AB64-D5B3CA2FD5FC}" srcOrd="0" destOrd="1" presId="urn:microsoft.com/office/officeart/2005/8/layout/list1"/>
    <dgm:cxn modelId="{ECF9796B-E8E2-4056-AD08-7E6473290FDF}" srcId="{B63E21AC-F1BA-4AC1-9450-924ECF904CDB}" destId="{B83F260F-9FE0-4E14-9923-0FD4AFBE44A4}" srcOrd="2" destOrd="0" parTransId="{0DAEED6B-6185-407F-AFEC-23B2B510FB37}" sibTransId="{5190A896-D632-4D94-A6FE-EAC969B9AC02}"/>
    <dgm:cxn modelId="{E176056C-8925-4108-A8D4-FAD38788079F}" srcId="{B63E21AC-F1BA-4AC1-9450-924ECF904CDB}" destId="{4B468CD9-C2E5-4486-999A-D2088EB919B2}" srcOrd="0" destOrd="0" parTransId="{6B43B337-9617-4C83-8277-6BDA262596DD}" sibTransId="{D48CA89B-D848-4CA6-A967-B0019B1A5AFC}"/>
    <dgm:cxn modelId="{A7884071-5377-4ACD-94B3-8A9ACB95F725}" srcId="{864771D5-BC1C-4653-9323-4B347B2210D7}" destId="{E45A6EE9-2BC6-4233-89AD-F3AAA6113A71}" srcOrd="2" destOrd="0" parTransId="{7D3B27DE-F9CB-409E-AB93-3DCD8359DE08}" sibTransId="{B5C9064A-7285-4CD5-850D-FF165F20A319}"/>
    <dgm:cxn modelId="{F7C4AB71-AF5B-4262-8B29-AFB91954A04B}" type="presOf" srcId="{B63E21AC-F1BA-4AC1-9450-924ECF904CDB}" destId="{9B5BF6AE-95D7-4413-A144-ACC3607C8840}" srcOrd="1" destOrd="0" presId="urn:microsoft.com/office/officeart/2005/8/layout/list1"/>
    <dgm:cxn modelId="{D2B96B76-0B5D-4CA8-9DDF-906196D4CFD2}" type="presOf" srcId="{B83F260F-9FE0-4E14-9923-0FD4AFBE44A4}" destId="{24227075-829F-461A-A3AB-BAE980BD845A}" srcOrd="0" destOrd="2" presId="urn:microsoft.com/office/officeart/2005/8/layout/list1"/>
    <dgm:cxn modelId="{3D6BD677-044A-43AA-A0A7-AC9FA264AF77}" srcId="{49C0E062-F47F-4E0C-A96A-1A195B177B35}" destId="{7893C8A9-CF6F-4824-9CD9-8648CAEFAC3D}" srcOrd="1" destOrd="0" parTransId="{7977844E-4B5C-428E-B5B2-280250177809}" sibTransId="{5F1F03AF-3424-4F06-8248-A3EAEDFA83DB}"/>
    <dgm:cxn modelId="{3AF70D7E-527A-4CAB-AFC8-5BDDD3A8C835}" type="presOf" srcId="{7893C8A9-CF6F-4824-9CD9-8648CAEFAC3D}" destId="{B467F81D-80C0-4020-A73F-08B4994D349A}" srcOrd="0" destOrd="1" presId="urn:microsoft.com/office/officeart/2005/8/layout/list1"/>
    <dgm:cxn modelId="{CEB39794-6B3A-450A-9DFB-9940039C2A46}" srcId="{E45A6EE9-2BC6-4233-89AD-F3AAA6113A71}" destId="{0D86D34A-C867-4E57-84BF-F93E2AD50A38}" srcOrd="0" destOrd="0" parTransId="{2A62919E-2CAF-480A-A079-551D2A9C5FCB}" sibTransId="{B089BE33-73BF-4217-A16C-0728EE71653B}"/>
    <dgm:cxn modelId="{50698199-B554-4598-AA5E-3096C3C5523E}" type="presOf" srcId="{49C0E062-F47F-4E0C-A96A-1A195B177B35}" destId="{15BBC1C4-AD9C-4BE5-9723-B7D1AEDE0FDA}" srcOrd="0" destOrd="0" presId="urn:microsoft.com/office/officeart/2005/8/layout/list1"/>
    <dgm:cxn modelId="{B48178A4-0BCF-4000-923A-37A4E6960334}" type="presOf" srcId="{4B468CD9-C2E5-4486-999A-D2088EB919B2}" destId="{24227075-829F-461A-A3AB-BAE980BD845A}" srcOrd="0" destOrd="0" presId="urn:microsoft.com/office/officeart/2005/8/layout/list1"/>
    <dgm:cxn modelId="{7125E1A8-3756-476E-9576-F71C62E5613D}" srcId="{864771D5-BC1C-4653-9323-4B347B2210D7}" destId="{49C0E062-F47F-4E0C-A96A-1A195B177B35}" srcOrd="0" destOrd="0" parTransId="{D115B911-9BB6-477A-800A-ACB8B53B6A1C}" sibTransId="{C21B7E71-B294-43C6-91D1-40E45DC406DC}"/>
    <dgm:cxn modelId="{C571CEB2-598A-4C70-8043-A971B48ACC35}" srcId="{49C0E062-F47F-4E0C-A96A-1A195B177B35}" destId="{505BFC91-C398-4ED2-8874-043C62717359}" srcOrd="0" destOrd="0" parTransId="{DA34160E-670B-4390-9ABD-D1C41F0C3D0E}" sibTransId="{6BA17BE7-5083-4E5C-AAE2-B91450C862EA}"/>
    <dgm:cxn modelId="{6E80D1CA-2EE4-42F0-B91D-470B8EB1D91F}" type="presOf" srcId="{B63E21AC-F1BA-4AC1-9450-924ECF904CDB}" destId="{5BF2BFA1-7B13-444B-9412-B1DD1370E928}" srcOrd="0" destOrd="0" presId="urn:microsoft.com/office/officeart/2005/8/layout/list1"/>
    <dgm:cxn modelId="{F8EB85CC-D3B2-4C72-922C-3760779E92BC}" type="presOf" srcId="{E45A6EE9-2BC6-4233-89AD-F3AAA6113A71}" destId="{C727E437-FC5D-48EC-9466-F887ED89DC6D}" srcOrd="0" destOrd="0" presId="urn:microsoft.com/office/officeart/2005/8/layout/list1"/>
    <dgm:cxn modelId="{451A8EE1-C43E-4533-BF5B-D04A8B6CBD41}" type="presOf" srcId="{505BFC91-C398-4ED2-8874-043C62717359}" destId="{B467F81D-80C0-4020-A73F-08B4994D349A}" srcOrd="0" destOrd="0" presId="urn:microsoft.com/office/officeart/2005/8/layout/list1"/>
    <dgm:cxn modelId="{C68226E9-A0D7-47E1-85FA-1F5B0BB10396}" type="presOf" srcId="{E45A6EE9-2BC6-4233-89AD-F3AAA6113A71}" destId="{72025782-1FE6-4CA4-A362-5400037DDCE9}" srcOrd="1" destOrd="0" presId="urn:microsoft.com/office/officeart/2005/8/layout/list1"/>
    <dgm:cxn modelId="{6CAFFAE9-F7C3-4868-9AE4-A6D22B8B1655}" type="presOf" srcId="{3146EFF7-0B6D-40FD-A521-9A7F65FBD55E}" destId="{B467F81D-80C0-4020-A73F-08B4994D349A}" srcOrd="0" destOrd="2" presId="urn:microsoft.com/office/officeart/2005/8/layout/list1"/>
    <dgm:cxn modelId="{743256ED-91FE-41B7-8574-2811871C1422}" type="presOf" srcId="{F6EB3560-63D1-43C5-AACE-30E6FCB6C50C}" destId="{24227075-829F-461A-A3AB-BAE980BD845A}" srcOrd="0" destOrd="1" presId="urn:microsoft.com/office/officeart/2005/8/layout/list1"/>
    <dgm:cxn modelId="{973BC9F2-E09F-40E1-AB95-3641B8D0D234}" srcId="{49C0E062-F47F-4E0C-A96A-1A195B177B35}" destId="{3146EFF7-0B6D-40FD-A521-9A7F65FBD55E}" srcOrd="2" destOrd="0" parTransId="{112CE92C-738B-4E8A-9164-80DB7BD4FE16}" sibTransId="{C9674A0F-2204-4EA3-BD0E-88BD856CB914}"/>
    <dgm:cxn modelId="{3C2F8CFE-E4F2-4AEB-B6CD-F5B7A2824DEF}" type="presOf" srcId="{864771D5-BC1C-4653-9323-4B347B2210D7}" destId="{B4AF6786-E33D-4BF0-A65F-154ED7084DA5}" srcOrd="0" destOrd="0" presId="urn:microsoft.com/office/officeart/2005/8/layout/list1"/>
    <dgm:cxn modelId="{B58135B9-55DC-436B-B718-B42840AAF3DB}" type="presParOf" srcId="{B4AF6786-E33D-4BF0-A65F-154ED7084DA5}" destId="{76E4B29F-4BE7-4DAF-80EB-D1B38BDD7B99}" srcOrd="0" destOrd="0" presId="urn:microsoft.com/office/officeart/2005/8/layout/list1"/>
    <dgm:cxn modelId="{C6D32BC5-4480-4BA1-A166-22D9D4CE4DED}" type="presParOf" srcId="{76E4B29F-4BE7-4DAF-80EB-D1B38BDD7B99}" destId="{15BBC1C4-AD9C-4BE5-9723-B7D1AEDE0FDA}" srcOrd="0" destOrd="0" presId="urn:microsoft.com/office/officeart/2005/8/layout/list1"/>
    <dgm:cxn modelId="{26F6C0BB-318A-445B-B303-A7092C79301E}" type="presParOf" srcId="{76E4B29F-4BE7-4DAF-80EB-D1B38BDD7B99}" destId="{4DAE4B56-9870-48BA-8F8C-44924084F921}" srcOrd="1" destOrd="0" presId="urn:microsoft.com/office/officeart/2005/8/layout/list1"/>
    <dgm:cxn modelId="{C4C310C0-56B0-4586-8D7E-A7186CDDCA2A}" type="presParOf" srcId="{B4AF6786-E33D-4BF0-A65F-154ED7084DA5}" destId="{D22A9DBD-825D-4E49-8703-272FEAB23465}" srcOrd="1" destOrd="0" presId="urn:microsoft.com/office/officeart/2005/8/layout/list1"/>
    <dgm:cxn modelId="{7885A5D7-2DE8-4970-B1D5-37AAE70FE097}" type="presParOf" srcId="{B4AF6786-E33D-4BF0-A65F-154ED7084DA5}" destId="{B467F81D-80C0-4020-A73F-08B4994D349A}" srcOrd="2" destOrd="0" presId="urn:microsoft.com/office/officeart/2005/8/layout/list1"/>
    <dgm:cxn modelId="{016A60E3-83F2-4DB9-A8DC-D6D62829F1FC}" type="presParOf" srcId="{B4AF6786-E33D-4BF0-A65F-154ED7084DA5}" destId="{5C1E8144-B989-4FAF-92B1-E0B3F95C28C8}" srcOrd="3" destOrd="0" presId="urn:microsoft.com/office/officeart/2005/8/layout/list1"/>
    <dgm:cxn modelId="{92041C89-0C86-43A6-86BD-05121672572E}" type="presParOf" srcId="{B4AF6786-E33D-4BF0-A65F-154ED7084DA5}" destId="{B1441927-C8AE-4321-A224-FA248B91E061}" srcOrd="4" destOrd="0" presId="urn:microsoft.com/office/officeart/2005/8/layout/list1"/>
    <dgm:cxn modelId="{2A13030F-547F-48F1-99D3-86F4C7D6EB61}" type="presParOf" srcId="{B1441927-C8AE-4321-A224-FA248B91E061}" destId="{5BF2BFA1-7B13-444B-9412-B1DD1370E928}" srcOrd="0" destOrd="0" presId="urn:microsoft.com/office/officeart/2005/8/layout/list1"/>
    <dgm:cxn modelId="{6B4965A1-9FE5-4935-99E6-8C9C240BDA2F}" type="presParOf" srcId="{B1441927-C8AE-4321-A224-FA248B91E061}" destId="{9B5BF6AE-95D7-4413-A144-ACC3607C8840}" srcOrd="1" destOrd="0" presId="urn:microsoft.com/office/officeart/2005/8/layout/list1"/>
    <dgm:cxn modelId="{D903BB7C-B036-48EF-AF9B-2BEC8277555C}" type="presParOf" srcId="{B4AF6786-E33D-4BF0-A65F-154ED7084DA5}" destId="{A5A4D88C-587E-4A67-8AB0-23FBAE405935}" srcOrd="5" destOrd="0" presId="urn:microsoft.com/office/officeart/2005/8/layout/list1"/>
    <dgm:cxn modelId="{245B0A17-043F-474B-A702-4C6ACAD87C84}" type="presParOf" srcId="{B4AF6786-E33D-4BF0-A65F-154ED7084DA5}" destId="{24227075-829F-461A-A3AB-BAE980BD845A}" srcOrd="6" destOrd="0" presId="urn:microsoft.com/office/officeart/2005/8/layout/list1"/>
    <dgm:cxn modelId="{0577758B-64DD-4789-81AD-49991253A742}" type="presParOf" srcId="{B4AF6786-E33D-4BF0-A65F-154ED7084DA5}" destId="{A7756FF0-3496-4F08-8FC5-4CC4FC56E457}" srcOrd="7" destOrd="0" presId="urn:microsoft.com/office/officeart/2005/8/layout/list1"/>
    <dgm:cxn modelId="{09C67B7C-B14E-475B-B962-CF647D6D6CC8}" type="presParOf" srcId="{B4AF6786-E33D-4BF0-A65F-154ED7084DA5}" destId="{79A0E454-77BF-4B26-8609-50C7E3852CCE}" srcOrd="8" destOrd="0" presId="urn:microsoft.com/office/officeart/2005/8/layout/list1"/>
    <dgm:cxn modelId="{EF269B8C-1C42-4F77-A218-047B214683AA}" type="presParOf" srcId="{79A0E454-77BF-4B26-8609-50C7E3852CCE}" destId="{C727E437-FC5D-48EC-9466-F887ED89DC6D}" srcOrd="0" destOrd="0" presId="urn:microsoft.com/office/officeart/2005/8/layout/list1"/>
    <dgm:cxn modelId="{51C55813-757E-46A8-BFA3-E8F846D3FC91}" type="presParOf" srcId="{79A0E454-77BF-4B26-8609-50C7E3852CCE}" destId="{72025782-1FE6-4CA4-A362-5400037DDCE9}" srcOrd="1" destOrd="0" presId="urn:microsoft.com/office/officeart/2005/8/layout/list1"/>
    <dgm:cxn modelId="{23844008-CAC7-43EA-8244-32F4446D3AE1}" type="presParOf" srcId="{B4AF6786-E33D-4BF0-A65F-154ED7084DA5}" destId="{1102720C-B141-452C-AD29-6968AEE21C74}" srcOrd="9" destOrd="0" presId="urn:microsoft.com/office/officeart/2005/8/layout/list1"/>
    <dgm:cxn modelId="{487B3F0C-BBDF-47A1-9FB5-DE514F1F2545}" type="presParOf" srcId="{B4AF6786-E33D-4BF0-A65F-154ED7084DA5}" destId="{ED375B58-C693-4A3C-AB64-D5B3CA2FD5FC}"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B9D8F503-6974-4115-9F18-3426A60DF138}" type="doc">
      <dgm:prSet loTypeId="urn:microsoft.com/office/officeart/2005/8/layout/arrow2" loCatId="process" qsTypeId="urn:microsoft.com/office/officeart/2005/8/quickstyle/simple1" qsCatId="simple" csTypeId="urn:microsoft.com/office/officeart/2005/8/colors/accent2_4" csCatId="accent2" phldr="1"/>
      <dgm:spPr/>
      <dgm:t>
        <a:bodyPr/>
        <a:lstStyle/>
        <a:p>
          <a:endParaRPr lang="en-US"/>
        </a:p>
      </dgm:t>
    </dgm:pt>
    <dgm:pt modelId="{D5682CA0-59AC-4E44-A613-6EB0E0E25029}">
      <dgm:prSet phldrT="[Text]" phldr="0" custT="1"/>
      <dgm:spPr/>
      <dgm:t>
        <a:bodyPr/>
        <a:lstStyle/>
        <a:p>
          <a:pPr rtl="0"/>
          <a:r>
            <a:rPr lang="en-US" sz="1600">
              <a:latin typeface="Aptos Display" panose="02110004020202020204"/>
            </a:rPr>
            <a:t>10+ Utilities</a:t>
          </a:r>
          <a:endParaRPr lang="en-US" sz="1600"/>
        </a:p>
      </dgm:t>
    </dgm:pt>
    <dgm:pt modelId="{A4CDC62C-F684-41DE-84F4-CC17E7A99112}" type="parTrans" cxnId="{14495681-5151-4EB6-8CE8-F83CF330D15E}">
      <dgm:prSet/>
      <dgm:spPr/>
    </dgm:pt>
    <dgm:pt modelId="{5F2768BA-E263-4670-B3BF-4A8E3B5BEA9F}" type="sibTrans" cxnId="{14495681-5151-4EB6-8CE8-F83CF330D15E}">
      <dgm:prSet/>
      <dgm:spPr/>
    </dgm:pt>
    <dgm:pt modelId="{E5957F8B-CF50-4CB1-B6A0-45021C45ECB7}">
      <dgm:prSet phldrT="[Text]" phldr="0" custT="1"/>
      <dgm:spPr/>
      <dgm:t>
        <a:bodyPr/>
        <a:lstStyle/>
        <a:p>
          <a:pPr rtl="0"/>
          <a:r>
            <a:rPr lang="en-US" sz="1600">
              <a:latin typeface="Aptos Display" panose="02110004020202020204"/>
            </a:rPr>
            <a:t>6-8 Utilities</a:t>
          </a:r>
          <a:endParaRPr lang="en-US" sz="1600"/>
        </a:p>
      </dgm:t>
    </dgm:pt>
    <dgm:pt modelId="{A8F798FE-37AF-4C66-8247-91B2B8092313}" type="parTrans" cxnId="{8D8E54C5-F96F-4B25-A2FE-73B75C0F5CD6}">
      <dgm:prSet/>
      <dgm:spPr/>
    </dgm:pt>
    <dgm:pt modelId="{B3FBCAA7-7157-4B61-85C0-BAC40BE8FD9B}" type="sibTrans" cxnId="{8D8E54C5-F96F-4B25-A2FE-73B75C0F5CD6}">
      <dgm:prSet/>
      <dgm:spPr/>
    </dgm:pt>
    <dgm:pt modelId="{E5C1CB55-2690-4077-9E4D-B83A5ABDFBAB}">
      <dgm:prSet phldrT="[Text]" phldr="0" custT="1"/>
      <dgm:spPr/>
      <dgm:t>
        <a:bodyPr/>
        <a:lstStyle/>
        <a:p>
          <a:pPr rtl="0"/>
          <a:r>
            <a:rPr lang="en-US" sz="1600">
              <a:latin typeface="Aptos Display" panose="02110004020202020204"/>
            </a:rPr>
            <a:t>4-5 Utilities</a:t>
          </a:r>
          <a:endParaRPr lang="en-US" sz="1600"/>
        </a:p>
      </dgm:t>
    </dgm:pt>
    <dgm:pt modelId="{A0FC2118-303E-436E-ACD7-4FDBC475D3A1}" type="parTrans" cxnId="{CCE1B555-F664-4EC3-925B-9F75F67F43AE}">
      <dgm:prSet/>
      <dgm:spPr/>
    </dgm:pt>
    <dgm:pt modelId="{DCE99778-E0B3-4487-AFF1-DEC4F5FF1A98}" type="sibTrans" cxnId="{CCE1B555-F664-4EC3-925B-9F75F67F43AE}">
      <dgm:prSet/>
      <dgm:spPr/>
    </dgm:pt>
    <dgm:pt modelId="{9F339786-A981-4CF2-ADF7-C24880C5319E}">
      <dgm:prSet phldrT="[Text]" phldr="0" custT="1"/>
      <dgm:spPr/>
      <dgm:t>
        <a:bodyPr/>
        <a:lstStyle/>
        <a:p>
          <a:pPr rtl="0"/>
          <a:r>
            <a:rPr lang="en-US" sz="1600">
              <a:latin typeface="Aptos Display" panose="02110004020202020204"/>
            </a:rPr>
            <a:t>2 Utility wins in the next 3 years</a:t>
          </a:r>
        </a:p>
      </dgm:t>
    </dgm:pt>
    <dgm:pt modelId="{CE7CBA97-D369-4623-904B-E14CD0C73A4A}" type="parTrans" cxnId="{AD438C3D-9FAA-4BC4-99A9-D2C2552BF0A1}">
      <dgm:prSet/>
      <dgm:spPr/>
    </dgm:pt>
    <dgm:pt modelId="{C117F000-BD49-4E06-9F36-732350C7518D}" type="sibTrans" cxnId="{AD438C3D-9FAA-4BC4-99A9-D2C2552BF0A1}">
      <dgm:prSet/>
      <dgm:spPr/>
    </dgm:pt>
    <dgm:pt modelId="{1009D4E0-89AA-42BF-A03A-FBA8800D05B8}" type="pres">
      <dgm:prSet presAssocID="{B9D8F503-6974-4115-9F18-3426A60DF138}" presName="arrowDiagram" presStyleCnt="0">
        <dgm:presLayoutVars>
          <dgm:chMax val="5"/>
          <dgm:dir/>
          <dgm:resizeHandles val="exact"/>
        </dgm:presLayoutVars>
      </dgm:prSet>
      <dgm:spPr/>
    </dgm:pt>
    <dgm:pt modelId="{0703DAF2-FF60-4E3E-ADB6-F804A2D9B249}" type="pres">
      <dgm:prSet presAssocID="{B9D8F503-6974-4115-9F18-3426A60DF138}" presName="arrow" presStyleLbl="bgShp" presStyleIdx="0" presStyleCnt="1"/>
      <dgm:spPr/>
    </dgm:pt>
    <dgm:pt modelId="{BC0A3BF5-90B7-4F66-8ABD-9B5357212794}" type="pres">
      <dgm:prSet presAssocID="{B9D8F503-6974-4115-9F18-3426A60DF138}" presName="arrowDiagram4" presStyleCnt="0"/>
      <dgm:spPr/>
    </dgm:pt>
    <dgm:pt modelId="{21E23258-0A05-4BB2-B859-4CDB7024C889}" type="pres">
      <dgm:prSet presAssocID="{D5682CA0-59AC-4E44-A613-6EB0E0E25029}" presName="bullet4a" presStyleLbl="node1" presStyleIdx="0" presStyleCnt="4"/>
      <dgm:spPr/>
    </dgm:pt>
    <dgm:pt modelId="{F1B05707-0AE7-494A-A167-757B326A11C2}" type="pres">
      <dgm:prSet presAssocID="{D5682CA0-59AC-4E44-A613-6EB0E0E25029}" presName="textBox4a" presStyleLbl="revTx" presStyleIdx="0" presStyleCnt="4">
        <dgm:presLayoutVars>
          <dgm:bulletEnabled val="1"/>
        </dgm:presLayoutVars>
      </dgm:prSet>
      <dgm:spPr/>
    </dgm:pt>
    <dgm:pt modelId="{73C992D8-43B5-401C-A0FD-212F76F0BE5E}" type="pres">
      <dgm:prSet presAssocID="{E5957F8B-CF50-4CB1-B6A0-45021C45ECB7}" presName="bullet4b" presStyleLbl="node1" presStyleIdx="1" presStyleCnt="4"/>
      <dgm:spPr/>
    </dgm:pt>
    <dgm:pt modelId="{42A587FA-13B5-416E-9993-304CC3B87622}" type="pres">
      <dgm:prSet presAssocID="{E5957F8B-CF50-4CB1-B6A0-45021C45ECB7}" presName="textBox4b" presStyleLbl="revTx" presStyleIdx="1" presStyleCnt="4">
        <dgm:presLayoutVars>
          <dgm:bulletEnabled val="1"/>
        </dgm:presLayoutVars>
      </dgm:prSet>
      <dgm:spPr/>
    </dgm:pt>
    <dgm:pt modelId="{443FE27B-0199-434B-8962-455B12BA0345}" type="pres">
      <dgm:prSet presAssocID="{E5C1CB55-2690-4077-9E4D-B83A5ABDFBAB}" presName="bullet4c" presStyleLbl="node1" presStyleIdx="2" presStyleCnt="4"/>
      <dgm:spPr/>
    </dgm:pt>
    <dgm:pt modelId="{11B91D04-1560-4F35-A47B-E635003B791A}" type="pres">
      <dgm:prSet presAssocID="{E5C1CB55-2690-4077-9E4D-B83A5ABDFBAB}" presName="textBox4c" presStyleLbl="revTx" presStyleIdx="2" presStyleCnt="4">
        <dgm:presLayoutVars>
          <dgm:bulletEnabled val="1"/>
        </dgm:presLayoutVars>
      </dgm:prSet>
      <dgm:spPr/>
    </dgm:pt>
    <dgm:pt modelId="{7BE31338-26E9-444C-AE17-77239B7974C2}" type="pres">
      <dgm:prSet presAssocID="{9F339786-A981-4CF2-ADF7-C24880C5319E}" presName="bullet4d" presStyleLbl="node1" presStyleIdx="3" presStyleCnt="4"/>
      <dgm:spPr/>
    </dgm:pt>
    <dgm:pt modelId="{BA8B5903-876A-49CA-827D-45AC436DA15C}" type="pres">
      <dgm:prSet presAssocID="{9F339786-A981-4CF2-ADF7-C24880C5319E}" presName="textBox4d" presStyleLbl="revTx" presStyleIdx="3" presStyleCnt="4">
        <dgm:presLayoutVars>
          <dgm:bulletEnabled val="1"/>
        </dgm:presLayoutVars>
      </dgm:prSet>
      <dgm:spPr/>
    </dgm:pt>
  </dgm:ptLst>
  <dgm:cxnLst>
    <dgm:cxn modelId="{9638940A-F2C1-4E1A-ADD2-7CF9F22489C4}" type="presOf" srcId="{9F339786-A981-4CF2-ADF7-C24880C5319E}" destId="{BA8B5903-876A-49CA-827D-45AC436DA15C}" srcOrd="0" destOrd="0" presId="urn:microsoft.com/office/officeart/2005/8/layout/arrow2"/>
    <dgm:cxn modelId="{AD438C3D-9FAA-4BC4-99A9-D2C2552BF0A1}" srcId="{B9D8F503-6974-4115-9F18-3426A60DF138}" destId="{9F339786-A981-4CF2-ADF7-C24880C5319E}" srcOrd="3" destOrd="0" parTransId="{CE7CBA97-D369-4623-904B-E14CD0C73A4A}" sibTransId="{C117F000-BD49-4E06-9F36-732350C7518D}"/>
    <dgm:cxn modelId="{CCE1B555-F664-4EC3-925B-9F75F67F43AE}" srcId="{B9D8F503-6974-4115-9F18-3426A60DF138}" destId="{E5C1CB55-2690-4077-9E4D-B83A5ABDFBAB}" srcOrd="2" destOrd="0" parTransId="{A0FC2118-303E-436E-ACD7-4FDBC475D3A1}" sibTransId="{DCE99778-E0B3-4487-AFF1-DEC4F5FF1A98}"/>
    <dgm:cxn modelId="{9D92E95A-F193-4776-BD39-73313AE80EA1}" type="presOf" srcId="{E5C1CB55-2690-4077-9E4D-B83A5ABDFBAB}" destId="{11B91D04-1560-4F35-A47B-E635003B791A}" srcOrd="0" destOrd="0" presId="urn:microsoft.com/office/officeart/2005/8/layout/arrow2"/>
    <dgm:cxn modelId="{14495681-5151-4EB6-8CE8-F83CF330D15E}" srcId="{B9D8F503-6974-4115-9F18-3426A60DF138}" destId="{D5682CA0-59AC-4E44-A613-6EB0E0E25029}" srcOrd="0" destOrd="0" parTransId="{A4CDC62C-F684-41DE-84F4-CC17E7A99112}" sibTransId="{5F2768BA-E263-4670-B3BF-4A8E3B5BEA9F}"/>
    <dgm:cxn modelId="{8D8E54C5-F96F-4B25-A2FE-73B75C0F5CD6}" srcId="{B9D8F503-6974-4115-9F18-3426A60DF138}" destId="{E5957F8B-CF50-4CB1-B6A0-45021C45ECB7}" srcOrd="1" destOrd="0" parTransId="{A8F798FE-37AF-4C66-8247-91B2B8092313}" sibTransId="{B3FBCAA7-7157-4B61-85C0-BAC40BE8FD9B}"/>
    <dgm:cxn modelId="{1289ACE7-4576-4666-98CB-E4BE1AF98890}" type="presOf" srcId="{E5957F8B-CF50-4CB1-B6A0-45021C45ECB7}" destId="{42A587FA-13B5-416E-9993-304CC3B87622}" srcOrd="0" destOrd="0" presId="urn:microsoft.com/office/officeart/2005/8/layout/arrow2"/>
    <dgm:cxn modelId="{C2B16AF1-1954-452D-B157-942FADFF4915}" type="presOf" srcId="{D5682CA0-59AC-4E44-A613-6EB0E0E25029}" destId="{F1B05707-0AE7-494A-A167-757B326A11C2}" srcOrd="0" destOrd="0" presId="urn:microsoft.com/office/officeart/2005/8/layout/arrow2"/>
    <dgm:cxn modelId="{77E5EFF5-5360-42AE-8F8E-D9C5B7750073}" type="presOf" srcId="{B9D8F503-6974-4115-9F18-3426A60DF138}" destId="{1009D4E0-89AA-42BF-A03A-FBA8800D05B8}" srcOrd="0" destOrd="0" presId="urn:microsoft.com/office/officeart/2005/8/layout/arrow2"/>
    <dgm:cxn modelId="{1B062BD8-4A79-4C44-B2AE-50607D5CE505}" type="presParOf" srcId="{1009D4E0-89AA-42BF-A03A-FBA8800D05B8}" destId="{0703DAF2-FF60-4E3E-ADB6-F804A2D9B249}" srcOrd="0" destOrd="0" presId="urn:microsoft.com/office/officeart/2005/8/layout/arrow2"/>
    <dgm:cxn modelId="{E8BD25B3-226E-4033-A60E-BCD5B592EED6}" type="presParOf" srcId="{1009D4E0-89AA-42BF-A03A-FBA8800D05B8}" destId="{BC0A3BF5-90B7-4F66-8ABD-9B5357212794}" srcOrd="1" destOrd="0" presId="urn:microsoft.com/office/officeart/2005/8/layout/arrow2"/>
    <dgm:cxn modelId="{8FF85F75-9F83-4D8D-B213-B2A8BFCD8443}" type="presParOf" srcId="{BC0A3BF5-90B7-4F66-8ABD-9B5357212794}" destId="{21E23258-0A05-4BB2-B859-4CDB7024C889}" srcOrd="0" destOrd="0" presId="urn:microsoft.com/office/officeart/2005/8/layout/arrow2"/>
    <dgm:cxn modelId="{F060AF18-9A9C-4A0C-A325-76865C07FB0A}" type="presParOf" srcId="{BC0A3BF5-90B7-4F66-8ABD-9B5357212794}" destId="{F1B05707-0AE7-494A-A167-757B326A11C2}" srcOrd="1" destOrd="0" presId="urn:microsoft.com/office/officeart/2005/8/layout/arrow2"/>
    <dgm:cxn modelId="{F939673B-7F13-4DFE-A2B3-ED9C1F52A92A}" type="presParOf" srcId="{BC0A3BF5-90B7-4F66-8ABD-9B5357212794}" destId="{73C992D8-43B5-401C-A0FD-212F76F0BE5E}" srcOrd="2" destOrd="0" presId="urn:microsoft.com/office/officeart/2005/8/layout/arrow2"/>
    <dgm:cxn modelId="{B8022F10-8893-49A3-BDEC-F9B77B86ECC5}" type="presParOf" srcId="{BC0A3BF5-90B7-4F66-8ABD-9B5357212794}" destId="{42A587FA-13B5-416E-9993-304CC3B87622}" srcOrd="3" destOrd="0" presId="urn:microsoft.com/office/officeart/2005/8/layout/arrow2"/>
    <dgm:cxn modelId="{C1C4C08A-2488-445B-8159-5799EF10B4CB}" type="presParOf" srcId="{BC0A3BF5-90B7-4F66-8ABD-9B5357212794}" destId="{443FE27B-0199-434B-8962-455B12BA0345}" srcOrd="4" destOrd="0" presId="urn:microsoft.com/office/officeart/2005/8/layout/arrow2"/>
    <dgm:cxn modelId="{855B3FF3-1532-499E-9FE3-94BF7B182E42}" type="presParOf" srcId="{BC0A3BF5-90B7-4F66-8ABD-9B5357212794}" destId="{11B91D04-1560-4F35-A47B-E635003B791A}" srcOrd="5" destOrd="0" presId="urn:microsoft.com/office/officeart/2005/8/layout/arrow2"/>
    <dgm:cxn modelId="{278EDCE9-1798-432E-A3FF-33C69E25DBB1}" type="presParOf" srcId="{BC0A3BF5-90B7-4F66-8ABD-9B5357212794}" destId="{7BE31338-26E9-444C-AE17-77239B7974C2}" srcOrd="6" destOrd="0" presId="urn:microsoft.com/office/officeart/2005/8/layout/arrow2"/>
    <dgm:cxn modelId="{A0B90535-51B9-44EC-8044-D8D397820693}" type="presParOf" srcId="{BC0A3BF5-90B7-4F66-8ABD-9B5357212794}" destId="{BA8B5903-876A-49CA-827D-45AC436DA15C}" srcOrd="7" destOrd="0" presId="urn:microsoft.com/office/officeart/2005/8/layout/arrow2"/>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0F31FB71-9799-448E-9BF2-101CA04F4FAD}" type="doc">
      <dgm:prSet loTypeId="urn:microsoft.com/office/officeart/2005/8/layout/matrix1" loCatId="matrix" qsTypeId="urn:microsoft.com/office/officeart/2005/8/quickstyle/simple1" qsCatId="simple" csTypeId="urn:microsoft.com/office/officeart/2005/8/colors/accent1_2" csCatId="accent1" phldr="1"/>
      <dgm:spPr/>
      <dgm:t>
        <a:bodyPr/>
        <a:lstStyle/>
        <a:p>
          <a:endParaRPr lang="en-US"/>
        </a:p>
      </dgm:t>
    </dgm:pt>
    <dgm:pt modelId="{E9BE064B-2F49-4A8C-8A36-698DABD07017}">
      <dgm:prSet phldrT="[Text]" phldr="0"/>
      <dgm:spPr>
        <a:solidFill>
          <a:schemeClr val="accent1">
            <a:lumMod val="10000"/>
            <a:lumOff val="90000"/>
          </a:schemeClr>
        </a:solidFill>
      </dgm:spPr>
      <dgm:t>
        <a:bodyPr/>
        <a:lstStyle/>
        <a:p>
          <a:pPr>
            <a:lnSpc>
              <a:spcPct val="100000"/>
            </a:lnSpc>
          </a:pPr>
          <a:r>
            <a:rPr lang="en-US"/>
            <a:t>   </a:t>
          </a:r>
          <a:endParaRPr lang="en-US">
            <a:latin typeface="Arial" panose="020B0604020202020204" pitchFamily="34" charset="0"/>
            <a:cs typeface="Arial" panose="020B0604020202020204" pitchFamily="34" charset="0"/>
          </a:endParaRPr>
        </a:p>
      </dgm:t>
    </dgm:pt>
    <dgm:pt modelId="{0569903D-06B5-4A2C-84D7-B766159B2777}" type="parTrans" cxnId="{DB5DD88F-8659-4BFF-BEA2-13CC454E3165}">
      <dgm:prSet/>
      <dgm:spPr/>
      <dgm:t>
        <a:bodyPr/>
        <a:lstStyle/>
        <a:p>
          <a:endParaRPr lang="en-US"/>
        </a:p>
      </dgm:t>
    </dgm:pt>
    <dgm:pt modelId="{C1B7C44C-11F5-41C6-8057-C1CFC9E8E2E2}" type="sibTrans" cxnId="{DB5DD88F-8659-4BFF-BEA2-13CC454E3165}">
      <dgm:prSet/>
      <dgm:spPr/>
      <dgm:t>
        <a:bodyPr/>
        <a:lstStyle/>
        <a:p>
          <a:endParaRPr lang="en-US"/>
        </a:p>
      </dgm:t>
    </dgm:pt>
    <dgm:pt modelId="{5E1BBE66-22D8-480D-9DF9-D5528F07122D}">
      <dgm:prSet phldrT="[Text]" custT="1"/>
      <dgm:spPr/>
      <dgm:t>
        <a:bodyPr/>
        <a:lstStyle/>
        <a:p>
          <a:pPr algn="l">
            <a:lnSpc>
              <a:spcPct val="100000"/>
            </a:lnSpc>
          </a:pPr>
          <a:endParaRPr lang="en-US" sz="1800" b="1">
            <a:latin typeface="Arial" panose="020B0604020202020204" pitchFamily="34" charset="0"/>
            <a:cs typeface="Arial" panose="020B0604020202020204" pitchFamily="34" charset="0"/>
          </a:endParaRPr>
        </a:p>
        <a:p>
          <a:pPr algn="l">
            <a:lnSpc>
              <a:spcPct val="100000"/>
            </a:lnSpc>
          </a:pPr>
          <a:r>
            <a:rPr lang="en-US" sz="1800" b="1">
              <a:latin typeface="Arial" panose="020B0604020202020204" pitchFamily="34" charset="0"/>
              <a:cs typeface="Arial" panose="020B0604020202020204" pitchFamily="34" charset="0"/>
            </a:rPr>
            <a:t>Leverages Existing Capabilities</a:t>
          </a:r>
          <a:br>
            <a:rPr lang="en-US" sz="1800" b="1">
              <a:latin typeface="Arial" panose="020B0604020202020204" pitchFamily="34" charset="0"/>
              <a:cs typeface="Arial" panose="020B0604020202020204" pitchFamily="34" charset="0"/>
            </a:rPr>
          </a:br>
          <a:r>
            <a:rPr lang="en-US" sz="1800" b="1">
              <a:latin typeface="Arial" panose="020B0604020202020204" pitchFamily="34" charset="0"/>
              <a:cs typeface="Arial" panose="020B0604020202020204" pitchFamily="34" charset="0"/>
            </a:rPr>
            <a:t>- </a:t>
          </a:r>
          <a:r>
            <a:rPr lang="en-US" sz="1800" b="0" i="0">
              <a:latin typeface="Arial" panose="020B0604020202020204" pitchFamily="34" charset="0"/>
              <a:cs typeface="Arial" panose="020B0604020202020204" pitchFamily="34" charset="0"/>
            </a:rPr>
            <a:t>Existing utility expertise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Established contractor network</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Proven customer engagement</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Minimal new infrastructure</a:t>
          </a:r>
        </a:p>
      </dgm:t>
    </dgm:pt>
    <dgm:pt modelId="{F7C2E467-402F-4F3B-B114-09D2470CABE8}" type="parTrans" cxnId="{F05DEA8C-6290-4B54-9319-D86AFC6EAC01}">
      <dgm:prSet/>
      <dgm:spPr/>
      <dgm:t>
        <a:bodyPr/>
        <a:lstStyle/>
        <a:p>
          <a:endParaRPr lang="en-US"/>
        </a:p>
      </dgm:t>
    </dgm:pt>
    <dgm:pt modelId="{AEB937BC-7DEA-4A67-BB77-137424F62E68}" type="sibTrans" cxnId="{F05DEA8C-6290-4B54-9319-D86AFC6EAC01}">
      <dgm:prSet/>
      <dgm:spPr/>
      <dgm:t>
        <a:bodyPr/>
        <a:lstStyle/>
        <a:p>
          <a:endParaRPr lang="en-US"/>
        </a:p>
      </dgm:t>
    </dgm:pt>
    <dgm:pt modelId="{A57EBB6D-D543-44DF-BDF5-1C08C9EB31EB}">
      <dgm:prSet phldrT="[Text]" custT="1"/>
      <dgm:spPr/>
      <dgm:t>
        <a:bodyPr/>
        <a:lstStyle/>
        <a:p>
          <a:pPr algn="r">
            <a:lnSpc>
              <a:spcPct val="100000"/>
            </a:lnSpc>
          </a:pPr>
          <a:br>
            <a:rPr lang="en-US" sz="1800" b="1">
              <a:latin typeface="Arial" panose="020B0604020202020204" pitchFamily="34" charset="0"/>
              <a:cs typeface="Arial" panose="020B0604020202020204" pitchFamily="34" charset="0"/>
            </a:rPr>
          </a:br>
          <a:r>
            <a:rPr lang="en-US" sz="1800" b="1">
              <a:latin typeface="Arial" panose="020B0604020202020204" pitchFamily="34" charset="0"/>
              <a:cs typeface="Arial" panose="020B0604020202020204" pitchFamily="34" charset="0"/>
            </a:rPr>
            <a:t>Expands Into New Markets</a:t>
          </a:r>
          <a:br>
            <a:rPr lang="en-US" sz="1800" b="1">
              <a:latin typeface="Arial" panose="020B0604020202020204" pitchFamily="34" charset="0"/>
              <a:cs typeface="Arial" panose="020B0604020202020204" pitchFamily="34" charset="0"/>
            </a:rPr>
          </a:br>
          <a:r>
            <a:rPr lang="en-US" sz="1800" b="1">
              <a:latin typeface="Arial" panose="020B0604020202020204" pitchFamily="34" charset="0"/>
              <a:cs typeface="Arial" panose="020B0604020202020204" pitchFamily="34" charset="0"/>
            </a:rPr>
            <a:t>- </a:t>
          </a:r>
          <a:r>
            <a:rPr lang="en-US" sz="1800" b="0" i="0">
              <a:latin typeface="Arial" panose="020B0604020202020204" pitchFamily="34" charset="0"/>
              <a:cs typeface="Arial" panose="020B0604020202020204" pitchFamily="34" charset="0"/>
            </a:rPr>
            <a:t>Limited direct competition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Utility battery fleet offering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Differentiated market position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Growing DER opportunity</a:t>
          </a:r>
        </a:p>
      </dgm:t>
    </dgm:pt>
    <dgm:pt modelId="{0EEADD4E-A063-4265-BC03-1F5AE13BF8DE}" type="parTrans" cxnId="{528883C7-1006-4531-B7F0-7BCE497A0FA0}">
      <dgm:prSet/>
      <dgm:spPr/>
      <dgm:t>
        <a:bodyPr/>
        <a:lstStyle/>
        <a:p>
          <a:endParaRPr lang="en-US"/>
        </a:p>
      </dgm:t>
    </dgm:pt>
    <dgm:pt modelId="{0E76BE03-3C24-4030-B3BD-698C235F6E52}" type="sibTrans" cxnId="{528883C7-1006-4531-B7F0-7BCE497A0FA0}">
      <dgm:prSet/>
      <dgm:spPr/>
      <dgm:t>
        <a:bodyPr/>
        <a:lstStyle/>
        <a:p>
          <a:endParaRPr lang="en-US"/>
        </a:p>
      </dgm:t>
    </dgm:pt>
    <dgm:pt modelId="{97C2E1FC-B64D-459B-93DE-177F9745D912}">
      <dgm:prSet phldrT="[Text]" custT="1"/>
      <dgm:spPr/>
      <dgm:t>
        <a:bodyPr/>
        <a:lstStyle/>
        <a:p>
          <a:pPr algn="l">
            <a:lnSpc>
              <a:spcPct val="100000"/>
            </a:lnSpc>
          </a:pPr>
          <a:r>
            <a:rPr lang="en-US" sz="1800" b="1">
              <a:latin typeface="Arial" panose="020B0604020202020204" pitchFamily="34" charset="0"/>
              <a:cs typeface="Arial" panose="020B0604020202020204" pitchFamily="34" charset="0"/>
            </a:rPr>
            <a:t>Scales Through Existing Relationships </a:t>
          </a:r>
        </a:p>
        <a:p>
          <a:pPr algn="l">
            <a:lnSpc>
              <a:spcPct val="100000"/>
            </a:lnSpc>
          </a:pPr>
          <a:r>
            <a:rPr lang="en-US" sz="1800" b="0" i="0">
              <a:latin typeface="Arial" panose="020B0604020202020204" pitchFamily="34" charset="0"/>
              <a:cs typeface="Arial" panose="020B0604020202020204" pitchFamily="34" charset="0"/>
            </a:rPr>
            <a:t>- Strong utility partnerships</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Proven regional presence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Easier pilot deployment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Faster program expansion</a:t>
          </a:r>
          <a:endParaRPr lang="en-US" sz="1400">
            <a:latin typeface="Arial" panose="020B0604020202020204" pitchFamily="34" charset="0"/>
            <a:cs typeface="Arial" panose="020B0604020202020204" pitchFamily="34" charset="0"/>
          </a:endParaRPr>
        </a:p>
      </dgm:t>
    </dgm:pt>
    <dgm:pt modelId="{918470C9-B870-4C0C-81E6-29F4AC14412F}" type="parTrans" cxnId="{901077D0-9709-40E0-AC2E-AD37C8176AFE}">
      <dgm:prSet/>
      <dgm:spPr/>
      <dgm:t>
        <a:bodyPr/>
        <a:lstStyle/>
        <a:p>
          <a:endParaRPr lang="en-US"/>
        </a:p>
      </dgm:t>
    </dgm:pt>
    <dgm:pt modelId="{1ECC4728-FD9A-41F5-B76A-C69BD944B462}" type="sibTrans" cxnId="{901077D0-9709-40E0-AC2E-AD37C8176AFE}">
      <dgm:prSet/>
      <dgm:spPr/>
      <dgm:t>
        <a:bodyPr/>
        <a:lstStyle/>
        <a:p>
          <a:endParaRPr lang="en-US"/>
        </a:p>
      </dgm:t>
    </dgm:pt>
    <dgm:pt modelId="{F5C064FB-70B3-4943-9A27-4E16C7CC80DE}">
      <dgm:prSet phldrT="[Text]" custT="1"/>
      <dgm:spPr/>
      <dgm:t>
        <a:bodyPr/>
        <a:lstStyle/>
        <a:p>
          <a:pPr algn="r">
            <a:lnSpc>
              <a:spcPct val="100000"/>
            </a:lnSpc>
          </a:pPr>
          <a:r>
            <a:rPr lang="en-US" sz="1800" b="1">
              <a:latin typeface="Arial" panose="020B0604020202020204" pitchFamily="34" charset="0"/>
              <a:cs typeface="Arial" panose="020B0604020202020204" pitchFamily="34" charset="0"/>
            </a:rPr>
            <a:t>Creates Resilient Revenue Streams</a:t>
          </a:r>
        </a:p>
        <a:p>
          <a:pPr algn="r">
            <a:lnSpc>
              <a:spcPct val="100000"/>
            </a:lnSpc>
          </a:pPr>
          <a:r>
            <a:rPr lang="en-US" sz="1800" b="0" i="0">
              <a:latin typeface="Arial" panose="020B0604020202020204" pitchFamily="34" charset="0"/>
              <a:cs typeface="Arial" panose="020B0604020202020204" pitchFamily="34" charset="0"/>
            </a:rPr>
            <a:t>- Utility-funded model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Reduced grant reliance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More stable revenue </a:t>
          </a:r>
          <a:br>
            <a:rPr lang="en-US" sz="1800" b="0" i="0"/>
          </a:br>
          <a:r>
            <a:rPr lang="en-US" sz="1800" b="0" i="0"/>
            <a:t>- Supports grid resilience</a:t>
          </a:r>
          <a:endParaRPr lang="en-US" sz="1400"/>
        </a:p>
      </dgm:t>
    </dgm:pt>
    <dgm:pt modelId="{F630514A-1B30-402C-82BA-0A4CC5F85A6C}" type="parTrans" cxnId="{C886A7CC-A7B1-4631-92DA-033D59DEBE77}">
      <dgm:prSet/>
      <dgm:spPr/>
      <dgm:t>
        <a:bodyPr/>
        <a:lstStyle/>
        <a:p>
          <a:endParaRPr lang="en-US"/>
        </a:p>
      </dgm:t>
    </dgm:pt>
    <dgm:pt modelId="{FD01E4D0-98C9-4FB7-8BF6-9B75DB427794}" type="sibTrans" cxnId="{C886A7CC-A7B1-4631-92DA-033D59DEBE77}">
      <dgm:prSet/>
      <dgm:spPr/>
      <dgm:t>
        <a:bodyPr/>
        <a:lstStyle/>
        <a:p>
          <a:endParaRPr lang="en-US"/>
        </a:p>
      </dgm:t>
    </dgm:pt>
    <dgm:pt modelId="{FEC0AA9B-5D03-4F81-AD7F-572D00FA9EA9}" type="pres">
      <dgm:prSet presAssocID="{0F31FB71-9799-448E-9BF2-101CA04F4FAD}" presName="diagram" presStyleCnt="0">
        <dgm:presLayoutVars>
          <dgm:chMax val="1"/>
          <dgm:dir/>
          <dgm:animLvl val="ctr"/>
          <dgm:resizeHandles val="exact"/>
        </dgm:presLayoutVars>
      </dgm:prSet>
      <dgm:spPr/>
    </dgm:pt>
    <dgm:pt modelId="{B625AA73-A0A1-45A7-BDFC-EBB7FEDDF9BB}" type="pres">
      <dgm:prSet presAssocID="{0F31FB71-9799-448E-9BF2-101CA04F4FAD}" presName="matrix" presStyleCnt="0"/>
      <dgm:spPr/>
    </dgm:pt>
    <dgm:pt modelId="{A0F27E1B-455B-4D7E-AD7B-40CBDA5C618A}" type="pres">
      <dgm:prSet presAssocID="{0F31FB71-9799-448E-9BF2-101CA04F4FAD}" presName="tile1" presStyleLbl="node1" presStyleIdx="0" presStyleCnt="4"/>
      <dgm:spPr/>
    </dgm:pt>
    <dgm:pt modelId="{D8126E92-42E9-42FB-8F6D-202410B15B26}" type="pres">
      <dgm:prSet presAssocID="{0F31FB71-9799-448E-9BF2-101CA04F4FAD}" presName="tile1text" presStyleLbl="node1" presStyleIdx="0" presStyleCnt="4">
        <dgm:presLayoutVars>
          <dgm:chMax val="0"/>
          <dgm:chPref val="0"/>
          <dgm:bulletEnabled val="1"/>
        </dgm:presLayoutVars>
      </dgm:prSet>
      <dgm:spPr/>
    </dgm:pt>
    <dgm:pt modelId="{C1A07BBF-19DB-47F4-9F21-3C0561070890}" type="pres">
      <dgm:prSet presAssocID="{0F31FB71-9799-448E-9BF2-101CA04F4FAD}" presName="tile2" presStyleLbl="node1" presStyleIdx="1" presStyleCnt="4"/>
      <dgm:spPr/>
    </dgm:pt>
    <dgm:pt modelId="{5917CBDD-A583-4693-AB9B-106C5A766EEA}" type="pres">
      <dgm:prSet presAssocID="{0F31FB71-9799-448E-9BF2-101CA04F4FAD}" presName="tile2text" presStyleLbl="node1" presStyleIdx="1" presStyleCnt="4">
        <dgm:presLayoutVars>
          <dgm:chMax val="0"/>
          <dgm:chPref val="0"/>
          <dgm:bulletEnabled val="1"/>
        </dgm:presLayoutVars>
      </dgm:prSet>
      <dgm:spPr/>
    </dgm:pt>
    <dgm:pt modelId="{112ECAE4-7AC8-4FA3-8B8F-551C4FD20EFF}" type="pres">
      <dgm:prSet presAssocID="{0F31FB71-9799-448E-9BF2-101CA04F4FAD}" presName="tile3" presStyleLbl="node1" presStyleIdx="2" presStyleCnt="4"/>
      <dgm:spPr/>
    </dgm:pt>
    <dgm:pt modelId="{875BDCF6-7B33-4626-B395-126961013AFC}" type="pres">
      <dgm:prSet presAssocID="{0F31FB71-9799-448E-9BF2-101CA04F4FAD}" presName="tile3text" presStyleLbl="node1" presStyleIdx="2" presStyleCnt="4">
        <dgm:presLayoutVars>
          <dgm:chMax val="0"/>
          <dgm:chPref val="0"/>
          <dgm:bulletEnabled val="1"/>
        </dgm:presLayoutVars>
      </dgm:prSet>
      <dgm:spPr/>
    </dgm:pt>
    <dgm:pt modelId="{F0217417-7472-463C-831C-1C5DF6C2E09B}" type="pres">
      <dgm:prSet presAssocID="{0F31FB71-9799-448E-9BF2-101CA04F4FAD}" presName="tile4" presStyleLbl="node1" presStyleIdx="3" presStyleCnt="4"/>
      <dgm:spPr/>
    </dgm:pt>
    <dgm:pt modelId="{B5B8AC5F-E43F-4CC0-988F-21512A2D9A02}" type="pres">
      <dgm:prSet presAssocID="{0F31FB71-9799-448E-9BF2-101CA04F4FAD}" presName="tile4text" presStyleLbl="node1" presStyleIdx="3" presStyleCnt="4">
        <dgm:presLayoutVars>
          <dgm:chMax val="0"/>
          <dgm:chPref val="0"/>
          <dgm:bulletEnabled val="1"/>
        </dgm:presLayoutVars>
      </dgm:prSet>
      <dgm:spPr/>
    </dgm:pt>
    <dgm:pt modelId="{5C165AFF-2126-4842-86A3-BA0B41072E73}" type="pres">
      <dgm:prSet presAssocID="{0F31FB71-9799-448E-9BF2-101CA04F4FAD}" presName="centerTile" presStyleLbl="fgShp" presStyleIdx="0" presStyleCnt="1">
        <dgm:presLayoutVars>
          <dgm:chMax val="0"/>
          <dgm:chPref val="0"/>
        </dgm:presLayoutVars>
      </dgm:prSet>
      <dgm:spPr/>
    </dgm:pt>
  </dgm:ptLst>
  <dgm:cxnLst>
    <dgm:cxn modelId="{2F99B520-CAAB-4702-A491-3AA63F19D7E8}" type="presOf" srcId="{A57EBB6D-D543-44DF-BDF5-1C08C9EB31EB}" destId="{C1A07BBF-19DB-47F4-9F21-3C0561070890}" srcOrd="0" destOrd="0" presId="urn:microsoft.com/office/officeart/2005/8/layout/matrix1"/>
    <dgm:cxn modelId="{CBB15E21-6C2E-448B-816B-DE38920C59A5}" type="presOf" srcId="{A57EBB6D-D543-44DF-BDF5-1C08C9EB31EB}" destId="{5917CBDD-A583-4693-AB9B-106C5A766EEA}" srcOrd="1" destOrd="0" presId="urn:microsoft.com/office/officeart/2005/8/layout/matrix1"/>
    <dgm:cxn modelId="{7B751335-941B-4F14-98C3-0A87E6578193}" type="presOf" srcId="{0F31FB71-9799-448E-9BF2-101CA04F4FAD}" destId="{FEC0AA9B-5D03-4F81-AD7F-572D00FA9EA9}" srcOrd="0" destOrd="0" presId="urn:microsoft.com/office/officeart/2005/8/layout/matrix1"/>
    <dgm:cxn modelId="{8E9ECB4B-88B1-466F-9202-5BBDF991B7F5}" type="presOf" srcId="{97C2E1FC-B64D-459B-93DE-177F9745D912}" destId="{875BDCF6-7B33-4626-B395-126961013AFC}" srcOrd="1" destOrd="0" presId="urn:microsoft.com/office/officeart/2005/8/layout/matrix1"/>
    <dgm:cxn modelId="{F05DEA8C-6290-4B54-9319-D86AFC6EAC01}" srcId="{E9BE064B-2F49-4A8C-8A36-698DABD07017}" destId="{5E1BBE66-22D8-480D-9DF9-D5528F07122D}" srcOrd="0" destOrd="0" parTransId="{F7C2E467-402F-4F3B-B114-09D2470CABE8}" sibTransId="{AEB937BC-7DEA-4A67-BB77-137424F62E68}"/>
    <dgm:cxn modelId="{DB5DD88F-8659-4BFF-BEA2-13CC454E3165}" srcId="{0F31FB71-9799-448E-9BF2-101CA04F4FAD}" destId="{E9BE064B-2F49-4A8C-8A36-698DABD07017}" srcOrd="0" destOrd="0" parTransId="{0569903D-06B5-4A2C-84D7-B766159B2777}" sibTransId="{C1B7C44C-11F5-41C6-8057-C1CFC9E8E2E2}"/>
    <dgm:cxn modelId="{40C7B792-4E0B-4373-99E9-1B1FBB9E96EE}" type="presOf" srcId="{97C2E1FC-B64D-459B-93DE-177F9745D912}" destId="{112ECAE4-7AC8-4FA3-8B8F-551C4FD20EFF}" srcOrd="0" destOrd="0" presId="urn:microsoft.com/office/officeart/2005/8/layout/matrix1"/>
    <dgm:cxn modelId="{86F9B593-F0EE-4051-A25B-1AAB10942E99}" type="presOf" srcId="{5E1BBE66-22D8-480D-9DF9-D5528F07122D}" destId="{A0F27E1B-455B-4D7E-AD7B-40CBDA5C618A}" srcOrd="0" destOrd="0" presId="urn:microsoft.com/office/officeart/2005/8/layout/matrix1"/>
    <dgm:cxn modelId="{F4487E95-F52D-478F-99D3-09D03ECC48F6}" type="presOf" srcId="{F5C064FB-70B3-4943-9A27-4E16C7CC80DE}" destId="{B5B8AC5F-E43F-4CC0-988F-21512A2D9A02}" srcOrd="1" destOrd="0" presId="urn:microsoft.com/office/officeart/2005/8/layout/matrix1"/>
    <dgm:cxn modelId="{528883C7-1006-4531-B7F0-7BCE497A0FA0}" srcId="{E9BE064B-2F49-4A8C-8A36-698DABD07017}" destId="{A57EBB6D-D543-44DF-BDF5-1C08C9EB31EB}" srcOrd="1" destOrd="0" parTransId="{0EEADD4E-A063-4265-BC03-1F5AE13BF8DE}" sibTransId="{0E76BE03-3C24-4030-B3BD-698C235F6E52}"/>
    <dgm:cxn modelId="{C886A7CC-A7B1-4631-92DA-033D59DEBE77}" srcId="{E9BE064B-2F49-4A8C-8A36-698DABD07017}" destId="{F5C064FB-70B3-4943-9A27-4E16C7CC80DE}" srcOrd="3" destOrd="0" parTransId="{F630514A-1B30-402C-82BA-0A4CC5F85A6C}" sibTransId="{FD01E4D0-98C9-4FB7-8BF6-9B75DB427794}"/>
    <dgm:cxn modelId="{901077D0-9709-40E0-AC2E-AD37C8176AFE}" srcId="{E9BE064B-2F49-4A8C-8A36-698DABD07017}" destId="{97C2E1FC-B64D-459B-93DE-177F9745D912}" srcOrd="2" destOrd="0" parTransId="{918470C9-B870-4C0C-81E6-29F4AC14412F}" sibTransId="{1ECC4728-FD9A-41F5-B76A-C69BD944B462}"/>
    <dgm:cxn modelId="{A826BFDF-C9B5-4D79-93B5-4BF086DA51D3}" type="presOf" srcId="{5E1BBE66-22D8-480D-9DF9-D5528F07122D}" destId="{D8126E92-42E9-42FB-8F6D-202410B15B26}" srcOrd="1" destOrd="0" presId="urn:microsoft.com/office/officeart/2005/8/layout/matrix1"/>
    <dgm:cxn modelId="{BF20E0EA-06FC-44D6-817E-08772D76ECDE}" type="presOf" srcId="{E9BE064B-2F49-4A8C-8A36-698DABD07017}" destId="{5C165AFF-2126-4842-86A3-BA0B41072E73}" srcOrd="0" destOrd="0" presId="urn:microsoft.com/office/officeart/2005/8/layout/matrix1"/>
    <dgm:cxn modelId="{BFBC27ED-779F-4DD7-BF4F-B12F44089343}" type="presOf" srcId="{F5C064FB-70B3-4943-9A27-4E16C7CC80DE}" destId="{F0217417-7472-463C-831C-1C5DF6C2E09B}" srcOrd="0" destOrd="0" presId="urn:microsoft.com/office/officeart/2005/8/layout/matrix1"/>
    <dgm:cxn modelId="{391B8257-10A5-453B-80AE-368CD175BCF9}" type="presParOf" srcId="{FEC0AA9B-5D03-4F81-AD7F-572D00FA9EA9}" destId="{B625AA73-A0A1-45A7-BDFC-EBB7FEDDF9BB}" srcOrd="0" destOrd="0" presId="urn:microsoft.com/office/officeart/2005/8/layout/matrix1"/>
    <dgm:cxn modelId="{A079A56E-A766-4176-93CE-2EBC58122C0A}" type="presParOf" srcId="{B625AA73-A0A1-45A7-BDFC-EBB7FEDDF9BB}" destId="{A0F27E1B-455B-4D7E-AD7B-40CBDA5C618A}" srcOrd="0" destOrd="0" presId="urn:microsoft.com/office/officeart/2005/8/layout/matrix1"/>
    <dgm:cxn modelId="{A4A73D77-B359-4660-8842-12627D1E4B64}" type="presParOf" srcId="{B625AA73-A0A1-45A7-BDFC-EBB7FEDDF9BB}" destId="{D8126E92-42E9-42FB-8F6D-202410B15B26}" srcOrd="1" destOrd="0" presId="urn:microsoft.com/office/officeart/2005/8/layout/matrix1"/>
    <dgm:cxn modelId="{2AAD2E1A-6FD7-46B8-8CFC-8260E5011E41}" type="presParOf" srcId="{B625AA73-A0A1-45A7-BDFC-EBB7FEDDF9BB}" destId="{C1A07BBF-19DB-47F4-9F21-3C0561070890}" srcOrd="2" destOrd="0" presId="urn:microsoft.com/office/officeart/2005/8/layout/matrix1"/>
    <dgm:cxn modelId="{9F1DBD72-3139-4F8B-BCA7-9F144EE8AF97}" type="presParOf" srcId="{B625AA73-A0A1-45A7-BDFC-EBB7FEDDF9BB}" destId="{5917CBDD-A583-4693-AB9B-106C5A766EEA}" srcOrd="3" destOrd="0" presId="urn:microsoft.com/office/officeart/2005/8/layout/matrix1"/>
    <dgm:cxn modelId="{9B4B6399-61EF-42F1-A197-89FFE87D64B3}" type="presParOf" srcId="{B625AA73-A0A1-45A7-BDFC-EBB7FEDDF9BB}" destId="{112ECAE4-7AC8-4FA3-8B8F-551C4FD20EFF}" srcOrd="4" destOrd="0" presId="urn:microsoft.com/office/officeart/2005/8/layout/matrix1"/>
    <dgm:cxn modelId="{7974D096-F91B-4F51-80FE-2DF505A7C9E9}" type="presParOf" srcId="{B625AA73-A0A1-45A7-BDFC-EBB7FEDDF9BB}" destId="{875BDCF6-7B33-4626-B395-126961013AFC}" srcOrd="5" destOrd="0" presId="urn:microsoft.com/office/officeart/2005/8/layout/matrix1"/>
    <dgm:cxn modelId="{89786BCD-F820-4242-81EF-F5AD84DB3D35}" type="presParOf" srcId="{B625AA73-A0A1-45A7-BDFC-EBB7FEDDF9BB}" destId="{F0217417-7472-463C-831C-1C5DF6C2E09B}" srcOrd="6" destOrd="0" presId="urn:microsoft.com/office/officeart/2005/8/layout/matrix1"/>
    <dgm:cxn modelId="{5B0E7238-B459-4CA3-AB41-2E3E84EB79CF}" type="presParOf" srcId="{B625AA73-A0A1-45A7-BDFC-EBB7FEDDF9BB}" destId="{B5B8AC5F-E43F-4CC0-988F-21512A2D9A02}" srcOrd="7" destOrd="0" presId="urn:microsoft.com/office/officeart/2005/8/layout/matrix1"/>
    <dgm:cxn modelId="{40C59971-3CBD-4123-9FD1-28AA63F3368D}" type="presParOf" srcId="{FEC0AA9B-5D03-4F81-AD7F-572D00FA9EA9}" destId="{5C165AFF-2126-4842-86A3-BA0B41072E73}" srcOrd="1" destOrd="0" presId="urn:microsoft.com/office/officeart/2005/8/layout/matrix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6B2C77A-29C7-40C4-884C-503EE0970544}" type="doc">
      <dgm:prSet loTypeId="urn:microsoft.com/office/officeart/2024/layout/BulletTimeline" loCatId="process" qsTypeId="urn:microsoft.com/office/officeart/2005/8/quickstyle/simple1" qsCatId="simple" csTypeId="urn:microsoft.com/office/officeart/2005/8/colors/accent1_2" csCatId="accent1" phldr="1"/>
      <dgm:spPr/>
      <dgm:t>
        <a:bodyPr/>
        <a:lstStyle/>
        <a:p>
          <a:endParaRPr lang="en-US"/>
        </a:p>
      </dgm:t>
    </dgm:pt>
    <dgm:pt modelId="{F6B9783A-BA14-4C69-A679-3AC756BC7BD7}">
      <dgm:prSet phldrT="Add an event" phldr="0"/>
      <dgm:spPr/>
      <dgm:t>
        <a:bodyPr/>
        <a:lstStyle/>
        <a:p>
          <a:pPr>
            <a:defRPr b="1"/>
          </a:pPr>
          <a:r>
            <a:rPr lang="en-US">
              <a:latin typeface="Arial" panose="020B0604020202020204" pitchFamily="34" charset="0"/>
              <a:cs typeface="Arial" panose="020B0604020202020204" pitchFamily="34" charset="0"/>
            </a:rPr>
            <a:t>2026</a:t>
          </a:r>
        </a:p>
      </dgm:t>
    </dgm:pt>
    <dgm:pt modelId="{CAECE151-75AA-4C45-A092-B3880379201B}" type="parTrans" cxnId="{A3E99887-6D3C-4711-BCEC-06F47FF1BA14}">
      <dgm:prSet/>
      <dgm:spPr/>
      <dgm:t>
        <a:bodyPr/>
        <a:lstStyle/>
        <a:p>
          <a:endParaRPr lang="en-US"/>
        </a:p>
      </dgm:t>
    </dgm:pt>
    <dgm:pt modelId="{9EC1E887-3AF8-4584-9016-0FEFD2DDE653}" type="sibTrans" cxnId="{A3E99887-6D3C-4711-BCEC-06F47FF1BA14}">
      <dgm:prSet/>
      <dgm:spPr/>
      <dgm:t>
        <a:bodyPr/>
        <a:lstStyle/>
        <a:p>
          <a:endParaRPr lang="en-US"/>
        </a:p>
      </dgm:t>
    </dgm:pt>
    <dgm:pt modelId="{D069B0E3-F0BC-4686-9DF7-FA8DABD629E2}">
      <dgm:prSet phldrT="Write a description of the significance of this event" phldr="0"/>
      <dgm:spPr/>
      <dgm:t>
        <a:bodyPr/>
        <a:lstStyle/>
        <a:p>
          <a:r>
            <a:rPr lang="en-US" sz="2000" b="1">
              <a:latin typeface="Arial" panose="020B0604020202020204" pitchFamily="34" charset="0"/>
              <a:cs typeface="Arial" panose="020B0604020202020204" pitchFamily="34" charset="0"/>
            </a:rPr>
            <a:t>Internal Development</a:t>
          </a:r>
        </a:p>
      </dgm:t>
    </dgm:pt>
    <dgm:pt modelId="{20466C4E-93BA-470B-9E41-3D327439D134}" type="parTrans" cxnId="{64F15351-6B1A-4521-A8AC-01984599AC3A}">
      <dgm:prSet/>
      <dgm:spPr/>
      <dgm:t>
        <a:bodyPr/>
        <a:lstStyle/>
        <a:p>
          <a:endParaRPr lang="en-US"/>
        </a:p>
      </dgm:t>
    </dgm:pt>
    <dgm:pt modelId="{55EF1CB2-AB35-4CDA-B98A-DED7C1623E31}" type="sibTrans" cxnId="{64F15351-6B1A-4521-A8AC-01984599AC3A}">
      <dgm:prSet/>
      <dgm:spPr/>
      <dgm:t>
        <a:bodyPr/>
        <a:lstStyle/>
        <a:p>
          <a:endParaRPr lang="en-US"/>
        </a:p>
      </dgm:t>
    </dgm:pt>
    <dgm:pt modelId="{2E31C2AE-44FD-4A35-8F7C-D9CE28E1D274}">
      <dgm:prSet phldrT="Add an event" phldr="0"/>
      <dgm:spPr/>
      <dgm:t>
        <a:bodyPr/>
        <a:lstStyle/>
        <a:p>
          <a:pPr>
            <a:defRPr b="1"/>
          </a:pPr>
          <a:r>
            <a:rPr lang="en-US">
              <a:latin typeface="Arial" panose="020B0604020202020204" pitchFamily="34" charset="0"/>
              <a:cs typeface="Arial" panose="020B0604020202020204" pitchFamily="34" charset="0"/>
            </a:rPr>
            <a:t>2027</a:t>
          </a:r>
        </a:p>
      </dgm:t>
    </dgm:pt>
    <dgm:pt modelId="{D3E72924-9E6F-4545-9887-FD2B85CF0285}" type="parTrans" cxnId="{187C3745-69F6-45E7-A21B-DC2FC9D12D23}">
      <dgm:prSet/>
      <dgm:spPr/>
      <dgm:t>
        <a:bodyPr/>
        <a:lstStyle/>
        <a:p>
          <a:endParaRPr lang="en-US"/>
        </a:p>
      </dgm:t>
    </dgm:pt>
    <dgm:pt modelId="{798A046D-6195-4A20-A337-AE624AAE027F}" type="sibTrans" cxnId="{187C3745-69F6-45E7-A21B-DC2FC9D12D23}">
      <dgm:prSet/>
      <dgm:spPr/>
      <dgm:t>
        <a:bodyPr/>
        <a:lstStyle/>
        <a:p>
          <a:endParaRPr lang="en-US"/>
        </a:p>
      </dgm:t>
    </dgm:pt>
    <dgm:pt modelId="{24C5541B-DBA0-466F-BCBF-321F9791AE53}">
      <dgm:prSet phldrT="Write a description of the significance of this event" phldr="0"/>
      <dgm:spPr/>
      <dgm:t>
        <a:bodyPr/>
        <a:lstStyle/>
        <a:p>
          <a:r>
            <a:rPr lang="en-US" sz="2000" b="1">
              <a:latin typeface="Arial" panose="020B0604020202020204" pitchFamily="34" charset="0"/>
              <a:cs typeface="Arial" panose="020B0604020202020204" pitchFamily="34" charset="0"/>
            </a:rPr>
            <a:t>Ann Arbor Pilot Launch</a:t>
          </a:r>
        </a:p>
      </dgm:t>
    </dgm:pt>
    <dgm:pt modelId="{F820A1C1-C6D2-42AE-9CE7-9FF722CA0FFB}" type="parTrans" cxnId="{2B21F02A-0B69-4750-9A42-CA6A2A04C262}">
      <dgm:prSet/>
      <dgm:spPr/>
      <dgm:t>
        <a:bodyPr/>
        <a:lstStyle/>
        <a:p>
          <a:endParaRPr lang="en-US"/>
        </a:p>
      </dgm:t>
    </dgm:pt>
    <dgm:pt modelId="{16E952CF-0F2F-47F0-89F0-4852951640C9}" type="sibTrans" cxnId="{2B21F02A-0B69-4750-9A42-CA6A2A04C262}">
      <dgm:prSet/>
      <dgm:spPr/>
      <dgm:t>
        <a:bodyPr/>
        <a:lstStyle/>
        <a:p>
          <a:endParaRPr lang="en-US"/>
        </a:p>
      </dgm:t>
    </dgm:pt>
    <dgm:pt modelId="{5DCF7D6C-DDC5-4644-BA75-CCDD1FC94652}">
      <dgm:prSet phldrT="Add an event" phldr="0"/>
      <dgm:spPr/>
      <dgm:t>
        <a:bodyPr/>
        <a:lstStyle/>
        <a:p>
          <a:pPr>
            <a:defRPr b="1"/>
          </a:pPr>
          <a:r>
            <a:rPr lang="en-US">
              <a:latin typeface="Arial" panose="020B0604020202020204" pitchFamily="34" charset="0"/>
              <a:cs typeface="Arial" panose="020B0604020202020204" pitchFamily="34" charset="0"/>
            </a:rPr>
            <a:t>2027-2030</a:t>
          </a:r>
        </a:p>
      </dgm:t>
    </dgm:pt>
    <dgm:pt modelId="{D05BCE46-F7F4-4759-8FD8-527E794CC6E7}" type="parTrans" cxnId="{4237747E-4B2C-469F-8286-1F30FD8AB61E}">
      <dgm:prSet/>
      <dgm:spPr/>
      <dgm:t>
        <a:bodyPr/>
        <a:lstStyle/>
        <a:p>
          <a:endParaRPr lang="en-US"/>
        </a:p>
      </dgm:t>
    </dgm:pt>
    <dgm:pt modelId="{E1421312-4B2B-4375-9679-62411285B5E7}" type="sibTrans" cxnId="{4237747E-4B2C-469F-8286-1F30FD8AB61E}">
      <dgm:prSet/>
      <dgm:spPr/>
      <dgm:t>
        <a:bodyPr/>
        <a:lstStyle/>
        <a:p>
          <a:endParaRPr lang="en-US"/>
        </a:p>
      </dgm:t>
    </dgm:pt>
    <dgm:pt modelId="{B5740E82-4CF2-44E9-B1AC-4F5048E03460}">
      <dgm:prSet phldrT="Write a description of the significance of this event" phldr="0"/>
      <dgm:spPr/>
      <dgm:t>
        <a:bodyPr/>
        <a:lstStyle/>
        <a:p>
          <a:r>
            <a:rPr lang="en-US" sz="2000" b="1">
              <a:latin typeface="Arial" panose="020B0604020202020204" pitchFamily="34" charset="0"/>
              <a:cs typeface="Arial" panose="020B0604020202020204" pitchFamily="34" charset="0"/>
            </a:rPr>
            <a:t>Pilot Operation and Expansion Planning</a:t>
          </a:r>
        </a:p>
      </dgm:t>
    </dgm:pt>
    <dgm:pt modelId="{EED693B3-5368-4F9D-955A-99F07F34F859}" type="parTrans" cxnId="{5328B9BF-5BEC-40B3-8970-C978856BBB4A}">
      <dgm:prSet/>
      <dgm:spPr/>
      <dgm:t>
        <a:bodyPr/>
        <a:lstStyle/>
        <a:p>
          <a:endParaRPr lang="en-US"/>
        </a:p>
      </dgm:t>
    </dgm:pt>
    <dgm:pt modelId="{6093F1D0-89E2-4D42-BF25-77DA63474009}" type="sibTrans" cxnId="{5328B9BF-5BEC-40B3-8970-C978856BBB4A}">
      <dgm:prSet/>
      <dgm:spPr/>
      <dgm:t>
        <a:bodyPr/>
        <a:lstStyle/>
        <a:p>
          <a:endParaRPr lang="en-US"/>
        </a:p>
      </dgm:t>
    </dgm:pt>
    <dgm:pt modelId="{BCC71876-028F-4C81-9DC2-3B4AEF798DF6}">
      <dgm:prSet phldrT="Write a description of the significance of this event" phldr="0" custT="1"/>
      <dgm:spPr/>
      <dgm:t>
        <a:bodyPr/>
        <a:lstStyle/>
        <a:p>
          <a:r>
            <a:rPr lang="en-US" sz="2000" b="1">
              <a:latin typeface="Arial" panose="020B0604020202020204" pitchFamily="34" charset="0"/>
              <a:cs typeface="Arial" panose="020B0604020202020204" pitchFamily="34" charset="0"/>
            </a:rPr>
            <a:t>Regional Expansion</a:t>
          </a:r>
        </a:p>
      </dgm:t>
    </dgm:pt>
    <dgm:pt modelId="{4A7B5491-463D-480C-BE71-657838024CC7}" type="parTrans" cxnId="{3FF731E1-52F1-48D3-891E-FC64E9205DC3}">
      <dgm:prSet/>
      <dgm:spPr/>
      <dgm:t>
        <a:bodyPr/>
        <a:lstStyle/>
        <a:p>
          <a:endParaRPr lang="en-US"/>
        </a:p>
      </dgm:t>
    </dgm:pt>
    <dgm:pt modelId="{EC370DEB-78FF-4BCA-B4C7-B8F53E392D88}" type="sibTrans" cxnId="{3FF731E1-52F1-48D3-891E-FC64E9205DC3}">
      <dgm:prSet/>
      <dgm:spPr/>
      <dgm:t>
        <a:bodyPr/>
        <a:lstStyle/>
        <a:p>
          <a:endParaRPr lang="en-US"/>
        </a:p>
      </dgm:t>
    </dgm:pt>
    <dgm:pt modelId="{A22A3A51-8675-41AC-AE4D-10F92C9B49B7}">
      <dgm:prSet phldrT="Write a description of the significance of this event" phldr="0" custT="1"/>
      <dgm:spPr/>
      <dgm:t>
        <a:bodyPr/>
        <a:lstStyle/>
        <a:p>
          <a:r>
            <a:rPr lang="en-US" sz="1800">
              <a:latin typeface="Arial" panose="020B0604020202020204" pitchFamily="34" charset="0"/>
              <a:cs typeface="Arial" panose="020B0604020202020204" pitchFamily="34" charset="0"/>
            </a:rPr>
            <a:t>- </a:t>
          </a:r>
          <a:r>
            <a:rPr lang="en-US" sz="1800" b="0" i="0">
              <a:latin typeface="Arial" panose="020B0604020202020204" pitchFamily="34" charset="0"/>
              <a:cs typeface="Arial" panose="020B0604020202020204" pitchFamily="34" charset="0"/>
            </a:rPr>
            <a:t>Finalize business case and service offering</a:t>
          </a:r>
        </a:p>
        <a:p>
          <a:r>
            <a:rPr lang="en-US" sz="1800" b="0" i="0">
              <a:latin typeface="Arial" panose="020B0604020202020204" pitchFamily="34" charset="0"/>
              <a:cs typeface="Arial" panose="020B0604020202020204" pitchFamily="34" charset="0"/>
            </a:rPr>
            <a:t>-Secure APTIM leadership approval</a:t>
          </a:r>
          <a:endParaRPr lang="en-US" sz="1800">
            <a:latin typeface="Arial" panose="020B0604020202020204" pitchFamily="34" charset="0"/>
            <a:cs typeface="Arial" panose="020B0604020202020204" pitchFamily="34" charset="0"/>
          </a:endParaRPr>
        </a:p>
      </dgm:t>
    </dgm:pt>
    <dgm:pt modelId="{6378A4F6-A4BD-4A43-BF87-77B823C64930}" type="parTrans" cxnId="{AE84B171-069E-4CF5-AE50-7F333ADEB4C3}">
      <dgm:prSet/>
      <dgm:spPr/>
      <dgm:t>
        <a:bodyPr/>
        <a:lstStyle/>
        <a:p>
          <a:endParaRPr lang="en-US"/>
        </a:p>
      </dgm:t>
    </dgm:pt>
    <dgm:pt modelId="{2AAB0FB6-87A4-4005-9BBE-C13F4FCCB2C3}" type="sibTrans" cxnId="{AE84B171-069E-4CF5-AE50-7F333ADEB4C3}">
      <dgm:prSet/>
      <dgm:spPr/>
      <dgm:t>
        <a:bodyPr/>
        <a:lstStyle/>
        <a:p>
          <a:endParaRPr lang="en-US"/>
        </a:p>
      </dgm:t>
    </dgm:pt>
    <dgm:pt modelId="{955C6054-35EE-46FD-BCCF-33E1341BAE45}">
      <dgm:prSet phldrT="Write a description of the significance of this event" phldr="0" custT="1"/>
      <dgm:spPr/>
      <dgm:t>
        <a:bodyPr/>
        <a:lstStyle/>
        <a:p>
          <a:r>
            <a:rPr lang="en-US" sz="1800" b="0" i="0">
              <a:latin typeface="Arial" panose="020B0604020202020204" pitchFamily="34" charset="0"/>
              <a:cs typeface="Arial" panose="020B0604020202020204" pitchFamily="34" charset="0"/>
            </a:rPr>
            <a:t>- Partner with DTE and recruit 500 homes</a:t>
          </a:r>
          <a:endParaRPr lang="en-US" sz="1800">
            <a:latin typeface="Arial" panose="020B0604020202020204" pitchFamily="34" charset="0"/>
            <a:cs typeface="Arial" panose="020B0604020202020204" pitchFamily="34" charset="0"/>
          </a:endParaRPr>
        </a:p>
      </dgm:t>
    </dgm:pt>
    <dgm:pt modelId="{5A08A1AD-09D9-4BC5-AA6E-8A2EBEC3D149}" type="parTrans" cxnId="{5D9ADF58-8A2A-47BF-BB72-F4B35C242011}">
      <dgm:prSet/>
      <dgm:spPr/>
      <dgm:t>
        <a:bodyPr/>
        <a:lstStyle/>
        <a:p>
          <a:endParaRPr lang="en-US"/>
        </a:p>
      </dgm:t>
    </dgm:pt>
    <dgm:pt modelId="{722227F6-AC91-47A7-BAEA-80EFC9928637}" type="sibTrans" cxnId="{5D9ADF58-8A2A-47BF-BB72-F4B35C242011}">
      <dgm:prSet/>
      <dgm:spPr/>
      <dgm:t>
        <a:bodyPr/>
        <a:lstStyle/>
        <a:p>
          <a:endParaRPr lang="en-US"/>
        </a:p>
      </dgm:t>
    </dgm:pt>
    <dgm:pt modelId="{86A74A2F-6C5C-4C76-8EE4-B6DC6A49DEAF}">
      <dgm:prSet phldrT="Write a description of the significance of this event" phldr="0" custT="1"/>
      <dgm:spPr/>
      <dgm:t>
        <a:bodyPr/>
        <a:lstStyle/>
        <a:p>
          <a:r>
            <a:rPr lang="en-US" sz="1800">
              <a:latin typeface="Arial" panose="020B0604020202020204" pitchFamily="34" charset="0"/>
              <a:cs typeface="Arial" panose="020B0604020202020204" pitchFamily="34" charset="0"/>
            </a:rPr>
            <a:t>- </a:t>
          </a:r>
          <a:r>
            <a:rPr lang="en-US" sz="1800" b="0" i="0">
              <a:latin typeface="Arial" panose="020B0604020202020204" pitchFamily="34" charset="0"/>
              <a:cs typeface="Arial" panose="020B0604020202020204" pitchFamily="34" charset="0"/>
            </a:rPr>
            <a:t>Monitor performance and customer participation</a:t>
          </a:r>
          <a:endParaRPr lang="en-US" sz="1800">
            <a:latin typeface="Arial" panose="020B0604020202020204" pitchFamily="34" charset="0"/>
            <a:cs typeface="Arial" panose="020B0604020202020204" pitchFamily="34" charset="0"/>
          </a:endParaRPr>
        </a:p>
      </dgm:t>
    </dgm:pt>
    <dgm:pt modelId="{7A6F9272-4C2B-4162-BF71-29D1095A7D2B}" type="parTrans" cxnId="{8EB586C4-F9C7-4B25-9307-F4DEF9A66E7E}">
      <dgm:prSet/>
      <dgm:spPr/>
      <dgm:t>
        <a:bodyPr/>
        <a:lstStyle/>
        <a:p>
          <a:endParaRPr lang="en-US"/>
        </a:p>
      </dgm:t>
    </dgm:pt>
    <dgm:pt modelId="{D6FAAB26-9223-4F42-B8F9-B4808080427B}" type="sibTrans" cxnId="{8EB586C4-F9C7-4B25-9307-F4DEF9A66E7E}">
      <dgm:prSet/>
      <dgm:spPr/>
      <dgm:t>
        <a:bodyPr/>
        <a:lstStyle/>
        <a:p>
          <a:endParaRPr lang="en-US"/>
        </a:p>
      </dgm:t>
    </dgm:pt>
    <dgm:pt modelId="{49A50E28-864E-4326-A406-56DC74DDE2CC}">
      <dgm:prSet phldrT="Write a description of the significance of this event" phldr="0" custT="1"/>
      <dgm:spPr/>
      <dgm:t>
        <a:bodyPr/>
        <a:lstStyle/>
        <a:p>
          <a:r>
            <a:rPr lang="en-US" sz="1800" b="0">
              <a:latin typeface="Arial" panose="020B0604020202020204" pitchFamily="34" charset="0"/>
              <a:cs typeface="Arial" panose="020B0604020202020204" pitchFamily="34" charset="0"/>
            </a:rPr>
            <a:t>- </a:t>
          </a:r>
          <a:r>
            <a:rPr lang="en-US" sz="1800" b="0" i="0">
              <a:latin typeface="Arial" panose="020B0604020202020204" pitchFamily="34" charset="0"/>
              <a:cs typeface="Arial" panose="020B0604020202020204" pitchFamily="34" charset="0"/>
            </a:rPr>
            <a:t>Expand across additional DTE territories</a:t>
          </a:r>
          <a:endParaRPr lang="en-US" sz="1800" b="0">
            <a:latin typeface="Arial" panose="020B0604020202020204" pitchFamily="34" charset="0"/>
            <a:cs typeface="Arial" panose="020B0604020202020204" pitchFamily="34" charset="0"/>
          </a:endParaRPr>
        </a:p>
      </dgm:t>
    </dgm:pt>
    <dgm:pt modelId="{1CC9CFCE-AF1F-4C12-A981-8984E62EA34B}" type="parTrans" cxnId="{9E41B5F9-3D43-4671-8F70-CD53A2B02214}">
      <dgm:prSet/>
      <dgm:spPr/>
      <dgm:t>
        <a:bodyPr/>
        <a:lstStyle/>
        <a:p>
          <a:endParaRPr lang="en-US"/>
        </a:p>
      </dgm:t>
    </dgm:pt>
    <dgm:pt modelId="{AA45F62F-FFF8-425B-832D-C354EDE646C7}" type="sibTrans" cxnId="{9E41B5F9-3D43-4671-8F70-CD53A2B02214}">
      <dgm:prSet/>
      <dgm:spPr/>
      <dgm:t>
        <a:bodyPr/>
        <a:lstStyle/>
        <a:p>
          <a:endParaRPr lang="en-US"/>
        </a:p>
      </dgm:t>
    </dgm:pt>
    <dgm:pt modelId="{DAD787B6-E762-4AAC-A108-1081D99BB308}">
      <dgm:prSet phldrT="Write a description of the significance of this event" phldr="0" custT="1"/>
      <dgm:spPr/>
      <dgm:t>
        <a:bodyPr/>
        <a:lstStyle/>
        <a:p>
          <a:r>
            <a:rPr lang="en-US" sz="1800" b="0" i="0">
              <a:latin typeface="Arial" panose="020B0604020202020204" pitchFamily="34" charset="0"/>
              <a:cs typeface="Arial" panose="020B0604020202020204" pitchFamily="34" charset="0"/>
            </a:rPr>
            <a:t>- Begin installation and fleet deployment</a:t>
          </a:r>
          <a:endParaRPr lang="en-US" sz="1800">
            <a:latin typeface="Arial" panose="020B0604020202020204" pitchFamily="34" charset="0"/>
            <a:cs typeface="Arial" panose="020B0604020202020204" pitchFamily="34" charset="0"/>
          </a:endParaRPr>
        </a:p>
      </dgm:t>
    </dgm:pt>
    <dgm:pt modelId="{47FA90A7-AA05-4B95-8673-EAC0B28289F2}" type="parTrans" cxnId="{B8DA621B-E8AB-4669-99A6-D6DA62F020B9}">
      <dgm:prSet/>
      <dgm:spPr/>
      <dgm:t>
        <a:bodyPr/>
        <a:lstStyle/>
        <a:p>
          <a:endParaRPr lang="en-US"/>
        </a:p>
      </dgm:t>
    </dgm:pt>
    <dgm:pt modelId="{72446103-BAAA-4092-A7D0-02AA196C5537}" type="sibTrans" cxnId="{B8DA621B-E8AB-4669-99A6-D6DA62F020B9}">
      <dgm:prSet/>
      <dgm:spPr/>
      <dgm:t>
        <a:bodyPr/>
        <a:lstStyle/>
        <a:p>
          <a:endParaRPr lang="en-US"/>
        </a:p>
      </dgm:t>
    </dgm:pt>
    <dgm:pt modelId="{65E9D165-B019-4FB9-879F-6A0A59DBC1D1}">
      <dgm:prSet phldrT="Add an event" phldr="0"/>
      <dgm:spPr/>
      <dgm:t>
        <a:bodyPr/>
        <a:lstStyle/>
        <a:p>
          <a:pPr>
            <a:defRPr b="1"/>
          </a:pPr>
          <a:r>
            <a:rPr lang="en-US">
              <a:latin typeface="Arial" panose="020B0604020202020204" pitchFamily="34" charset="0"/>
              <a:cs typeface="Arial" panose="020B0604020202020204" pitchFamily="34" charset="0"/>
            </a:rPr>
            <a:t>2030+</a:t>
          </a:r>
        </a:p>
      </dgm:t>
    </dgm:pt>
    <dgm:pt modelId="{65FB4999-E7DC-4CF4-88DD-00F3BD0422E6}" type="parTrans" cxnId="{C835B4DF-4DEC-4068-BF1E-D55C05ED7D2B}">
      <dgm:prSet/>
      <dgm:spPr/>
      <dgm:t>
        <a:bodyPr/>
        <a:lstStyle/>
        <a:p>
          <a:endParaRPr lang="en-US"/>
        </a:p>
      </dgm:t>
    </dgm:pt>
    <dgm:pt modelId="{97112C8B-8088-4AE1-9A0D-6ED5A2D60E42}" type="sibTrans" cxnId="{C835B4DF-4DEC-4068-BF1E-D55C05ED7D2B}">
      <dgm:prSet/>
      <dgm:spPr/>
      <dgm:t>
        <a:bodyPr/>
        <a:lstStyle/>
        <a:p>
          <a:endParaRPr lang="en-US"/>
        </a:p>
      </dgm:t>
    </dgm:pt>
    <dgm:pt modelId="{2F9DE546-8DDB-40D8-8803-456B1515CAB5}">
      <dgm:prSet phldrT="Write a description of the significance of this event" phldr="0" custT="1"/>
      <dgm:spPr/>
      <dgm:t>
        <a:bodyPr/>
        <a:lstStyle/>
        <a:p>
          <a:r>
            <a:rPr lang="en-US" sz="1800" b="0" i="0">
              <a:latin typeface="Arial" panose="020B0604020202020204" pitchFamily="34" charset="0"/>
              <a:cs typeface="Arial" panose="020B0604020202020204" pitchFamily="34" charset="0"/>
            </a:rPr>
            <a:t>- Build expansion case using pilot results</a:t>
          </a:r>
          <a:endParaRPr lang="en-US" sz="1800">
            <a:latin typeface="Arial" panose="020B0604020202020204" pitchFamily="34" charset="0"/>
            <a:cs typeface="Arial" panose="020B0604020202020204" pitchFamily="34" charset="0"/>
          </a:endParaRPr>
        </a:p>
      </dgm:t>
    </dgm:pt>
    <dgm:pt modelId="{917C4368-45A3-4D3C-9AD3-42D8A335050D}" type="parTrans" cxnId="{0287AFCE-6119-4D73-BD2B-55239021104C}">
      <dgm:prSet/>
      <dgm:spPr/>
      <dgm:t>
        <a:bodyPr/>
        <a:lstStyle/>
        <a:p>
          <a:endParaRPr lang="en-US"/>
        </a:p>
      </dgm:t>
    </dgm:pt>
    <dgm:pt modelId="{ACCE4041-B1C1-4D15-86FA-A0E3FB6C5810}" type="sibTrans" cxnId="{0287AFCE-6119-4D73-BD2B-55239021104C}">
      <dgm:prSet/>
      <dgm:spPr/>
      <dgm:t>
        <a:bodyPr/>
        <a:lstStyle/>
        <a:p>
          <a:endParaRPr lang="en-US"/>
        </a:p>
      </dgm:t>
    </dgm:pt>
    <dgm:pt modelId="{38012BC9-2F22-4703-93D4-CFC03853DAD5}">
      <dgm:prSet phldrT="Write a description of the significance of this event" phldr="0" custT="1"/>
      <dgm:spPr/>
      <dgm:t>
        <a:bodyPr/>
        <a:lstStyle/>
        <a:p>
          <a:r>
            <a:rPr lang="en-US" sz="1800" b="0" i="0">
              <a:latin typeface="Arial" panose="020B0604020202020204" pitchFamily="34" charset="0"/>
              <a:cs typeface="Arial" panose="020B0604020202020204" pitchFamily="34" charset="0"/>
            </a:rPr>
            <a:t>- Replicate model in WI, LA, and NC</a:t>
          </a:r>
          <a:endParaRPr lang="en-US" sz="1800" b="0">
            <a:latin typeface="Arial" panose="020B0604020202020204" pitchFamily="34" charset="0"/>
            <a:cs typeface="Arial" panose="020B0604020202020204" pitchFamily="34" charset="0"/>
          </a:endParaRPr>
        </a:p>
      </dgm:t>
    </dgm:pt>
    <dgm:pt modelId="{A5F69158-C103-4546-839B-B86DBAC33878}" type="parTrans" cxnId="{DDBE9242-AC81-4F00-8195-7AE588804976}">
      <dgm:prSet/>
      <dgm:spPr/>
      <dgm:t>
        <a:bodyPr/>
        <a:lstStyle/>
        <a:p>
          <a:endParaRPr lang="en-US"/>
        </a:p>
      </dgm:t>
    </dgm:pt>
    <dgm:pt modelId="{79468512-A02C-413D-984D-C45270E070EC}" type="sibTrans" cxnId="{DDBE9242-AC81-4F00-8195-7AE588804976}">
      <dgm:prSet/>
      <dgm:spPr/>
      <dgm:t>
        <a:bodyPr/>
        <a:lstStyle/>
        <a:p>
          <a:endParaRPr lang="en-US"/>
        </a:p>
      </dgm:t>
    </dgm:pt>
    <dgm:pt modelId="{5012AF8A-B58A-40C7-8FD9-C6201D441836}" type="pres">
      <dgm:prSet presAssocID="{A6B2C77A-29C7-40C4-884C-503EE0970544}" presName="root" presStyleCnt="0">
        <dgm:presLayoutVars>
          <dgm:dir/>
          <dgm:animLvl val="lvl"/>
        </dgm:presLayoutVars>
      </dgm:prSet>
      <dgm:spPr/>
    </dgm:pt>
    <dgm:pt modelId="{3A96D0F9-52FD-4D49-847E-1BFD6C9BAE93}" type="pres">
      <dgm:prSet presAssocID="{A6B2C77A-29C7-40C4-884C-503EE0970544}" presName="divider" presStyleCnt="0"/>
      <dgm:spPr/>
    </dgm:pt>
    <dgm:pt modelId="{DEBE43F6-F223-4AF5-8CE2-9157967AD81C}" type="pres">
      <dgm:prSet presAssocID="{A6B2C77A-29C7-40C4-884C-503EE0970544}" presName="rectBar" presStyleLbl="dkBgShp" presStyleIdx="0" presStyleCnt="6"/>
      <dgm:spPr>
        <a:gradFill rotWithShape="0">
          <a:gsLst>
            <a:gs pos="0">
              <a:schemeClr val="accent1">
                <a:tint val="76000"/>
              </a:schemeClr>
            </a:gs>
            <a:gs pos="100000">
              <a:schemeClr val="accent1">
                <a:tint val="76000"/>
              </a:schemeClr>
            </a:gs>
          </a:gsLst>
          <a:lin ang="0" scaled="0"/>
        </a:gradFill>
        <a:ln>
          <a:noFill/>
        </a:ln>
        <a:effectLst/>
      </dgm:spPr>
    </dgm:pt>
    <dgm:pt modelId="{D92825F4-28E2-4E61-98B0-C657AEDE2D41}" type="pres">
      <dgm:prSet presAssocID="{A6B2C77A-29C7-40C4-884C-503EE0970544}" presName="chevronArrow" presStyleLbl="dkBgShp" presStyleIdx="1" presStyleCnt="6"/>
      <dgm:spPr>
        <a:gradFill rotWithShape="0">
          <a:gsLst>
            <a:gs pos="0">
              <a:schemeClr val="accent1">
                <a:tint val="76000"/>
              </a:schemeClr>
            </a:gs>
            <a:gs pos="100000">
              <a:schemeClr val="accent1">
                <a:tint val="76000"/>
              </a:schemeClr>
            </a:gs>
          </a:gsLst>
          <a:lin ang="0" scaled="0"/>
        </a:gradFill>
        <a:ln>
          <a:noFill/>
        </a:ln>
        <a:effectLst/>
      </dgm:spPr>
    </dgm:pt>
    <dgm:pt modelId="{8BCD4CEA-F8AE-402A-8370-DAF7A40978CB}" type="pres">
      <dgm:prSet presAssocID="{A6B2C77A-29C7-40C4-884C-503EE0970544}" presName="nodes" presStyleCnt="0">
        <dgm:presLayoutVars>
          <dgm:chMax/>
          <dgm:chPref/>
          <dgm:animLvl val="lvl"/>
        </dgm:presLayoutVars>
      </dgm:prSet>
      <dgm:spPr/>
    </dgm:pt>
    <dgm:pt modelId="{4D5A1FCF-CDDF-42C9-AF5A-B2FF09C853DA}" type="pres">
      <dgm:prSet presAssocID="{F6B9783A-BA14-4C69-A679-3AC756BC7BD7}" presName="composite" presStyleCnt="0"/>
      <dgm:spPr/>
    </dgm:pt>
    <dgm:pt modelId="{EC7B0869-2B88-4A35-93F6-3B8969B17047}" type="pres">
      <dgm:prSet presAssocID="{F6B9783A-BA14-4C69-A679-3AC756BC7BD7}" presName="DropPinPlaceHolder" presStyleCnt="0"/>
      <dgm:spPr/>
    </dgm:pt>
    <dgm:pt modelId="{56581099-6F74-4452-8EF5-BA0BD83F1110}" type="pres">
      <dgm:prSet presAssocID="{F6B9783A-BA14-4C69-A679-3AC756BC7BD7}" presName="DropPin" presStyleLbl="alignNode1" presStyleIdx="0" presStyleCnt="4"/>
      <dgm:spPr/>
    </dgm:pt>
    <dgm:pt modelId="{A7AE1C48-3C18-4639-BC14-2402AA78EC88}" type="pres">
      <dgm:prSet presAssocID="{F6B9783A-BA14-4C69-A679-3AC756BC7BD7}" presName="Ellipse" presStyleLbl="fgAcc1" presStyleIdx="0" presStyleCnt="4"/>
      <dgm:spPr/>
    </dgm:pt>
    <dgm:pt modelId="{9D5D2A40-12E0-4E69-BB9A-71C366C5F380}" type="pres">
      <dgm:prSet presAssocID="{F6B9783A-BA14-4C69-A679-3AC756BC7BD7}" presName="L2TextContainer" presStyleLbl="revTx" presStyleIdx="0" presStyleCnt="8">
        <dgm:presLayoutVars>
          <dgm:bulletEnabled val="1"/>
        </dgm:presLayoutVars>
      </dgm:prSet>
      <dgm:spPr/>
    </dgm:pt>
    <dgm:pt modelId="{7DDB962F-4865-43D6-AB4B-B0A6B340D54A}" type="pres">
      <dgm:prSet presAssocID="{F6B9783A-BA14-4C69-A679-3AC756BC7BD7}" presName="L1TextContainer" presStyleLbl="revTx" presStyleIdx="1" presStyleCnt="8" custLinFactNeighborX="-2008" custLinFactNeighborY="-72764">
        <dgm:presLayoutVars>
          <dgm:chMax val="1"/>
          <dgm:chPref val="1"/>
          <dgm:bulletEnabled val="1"/>
        </dgm:presLayoutVars>
      </dgm:prSet>
      <dgm:spPr/>
    </dgm:pt>
    <dgm:pt modelId="{E50A2BB6-7F55-4F75-B84E-77C96C0AC2FA}" type="pres">
      <dgm:prSet presAssocID="{F6B9783A-BA14-4C69-A679-3AC756BC7BD7}" presName="ConnectLine" presStyleLbl="dkBgShp" presStyleIdx="2" presStyleCnt="6"/>
      <dgm:spPr/>
    </dgm:pt>
    <dgm:pt modelId="{FB8FB069-12B1-4DB4-B570-37D08EE778B3}" type="pres">
      <dgm:prSet presAssocID="{F6B9783A-BA14-4C69-A679-3AC756BC7BD7}" presName="ConnectorPoint" presStyleCnt="0"/>
      <dgm:spPr/>
    </dgm:pt>
    <dgm:pt modelId="{C4C02278-E220-4FBD-855E-0DF2F10CCF66}" type="pres">
      <dgm:prSet presAssocID="{F6B9783A-BA14-4C69-A679-3AC756BC7BD7}" presName="Bullet" presStyleLbl="lnNode1" presStyleIdx="0" presStyleCnt="4"/>
      <dgm:spPr/>
    </dgm:pt>
    <dgm:pt modelId="{1788517C-25D7-47C6-B3BD-B927F816FCEE}" type="pres">
      <dgm:prSet presAssocID="{F6B9783A-BA14-4C69-A679-3AC756BC7BD7}" presName="EmptyPlaceHolder" presStyleCnt="0"/>
      <dgm:spPr/>
    </dgm:pt>
    <dgm:pt modelId="{438118D3-EC88-47B2-9E9A-CD113CBB5C45}" type="pres">
      <dgm:prSet presAssocID="{9EC1E887-3AF8-4584-9016-0FEFD2DDE653}" presName="spaceBetweenRectangles" presStyleCnt="0"/>
      <dgm:spPr/>
    </dgm:pt>
    <dgm:pt modelId="{1CF11BED-DCD4-49A7-B265-F96F988B3F4E}" type="pres">
      <dgm:prSet presAssocID="{2E31C2AE-44FD-4A35-8F7C-D9CE28E1D274}" presName="composite" presStyleCnt="0"/>
      <dgm:spPr/>
    </dgm:pt>
    <dgm:pt modelId="{809EAC89-9EC7-4B91-A366-7F9FA5033ECD}" type="pres">
      <dgm:prSet presAssocID="{2E31C2AE-44FD-4A35-8F7C-D9CE28E1D274}" presName="DropPinPlaceHolder" presStyleCnt="0"/>
      <dgm:spPr/>
    </dgm:pt>
    <dgm:pt modelId="{06F6D6D1-D764-4094-BD4F-332CA54639B6}" type="pres">
      <dgm:prSet presAssocID="{2E31C2AE-44FD-4A35-8F7C-D9CE28E1D274}" presName="DropPin" presStyleLbl="alignNode1" presStyleIdx="1" presStyleCnt="4"/>
      <dgm:spPr/>
    </dgm:pt>
    <dgm:pt modelId="{F386FB37-AD21-4F90-8954-C96B36002A74}" type="pres">
      <dgm:prSet presAssocID="{2E31C2AE-44FD-4A35-8F7C-D9CE28E1D274}" presName="Ellipse" presStyleLbl="fgAcc1" presStyleIdx="1" presStyleCnt="4"/>
      <dgm:spPr/>
    </dgm:pt>
    <dgm:pt modelId="{BECC8C6F-DF8A-46A2-BA04-AE7433B0C267}" type="pres">
      <dgm:prSet presAssocID="{2E31C2AE-44FD-4A35-8F7C-D9CE28E1D274}" presName="L2TextContainer" presStyleLbl="revTx" presStyleIdx="2" presStyleCnt="8">
        <dgm:presLayoutVars>
          <dgm:bulletEnabled val="1"/>
        </dgm:presLayoutVars>
      </dgm:prSet>
      <dgm:spPr/>
    </dgm:pt>
    <dgm:pt modelId="{E5B5CF21-0F70-4050-B091-FA55635B596F}" type="pres">
      <dgm:prSet presAssocID="{2E31C2AE-44FD-4A35-8F7C-D9CE28E1D274}" presName="L1TextContainer" presStyleLbl="revTx" presStyleIdx="3" presStyleCnt="8" custLinFactNeighborX="-753" custLinFactNeighborY="-42486">
        <dgm:presLayoutVars>
          <dgm:chMax val="1"/>
          <dgm:chPref val="1"/>
          <dgm:bulletEnabled val="1"/>
        </dgm:presLayoutVars>
      </dgm:prSet>
      <dgm:spPr/>
    </dgm:pt>
    <dgm:pt modelId="{4D3F6014-EB4A-48B9-8969-85BBA4C951DA}" type="pres">
      <dgm:prSet presAssocID="{2E31C2AE-44FD-4A35-8F7C-D9CE28E1D274}" presName="ConnectLine" presStyleLbl="dkBgShp" presStyleIdx="3" presStyleCnt="6"/>
      <dgm:spPr/>
    </dgm:pt>
    <dgm:pt modelId="{A0AAD04F-7F54-48D5-AFFA-8B8459C3EBC4}" type="pres">
      <dgm:prSet presAssocID="{2E31C2AE-44FD-4A35-8F7C-D9CE28E1D274}" presName="ConnectorPoint" presStyleCnt="0"/>
      <dgm:spPr/>
    </dgm:pt>
    <dgm:pt modelId="{F5429E44-2794-433B-A8C6-CD014DDC2CF4}" type="pres">
      <dgm:prSet presAssocID="{2E31C2AE-44FD-4A35-8F7C-D9CE28E1D274}" presName="Bullet" presStyleLbl="lnNode1" presStyleIdx="1" presStyleCnt="4"/>
      <dgm:spPr/>
    </dgm:pt>
    <dgm:pt modelId="{D2F42AD3-2282-42F8-BCD9-CD7DB432469F}" type="pres">
      <dgm:prSet presAssocID="{2E31C2AE-44FD-4A35-8F7C-D9CE28E1D274}" presName="EmptyPlaceHolder" presStyleCnt="0"/>
      <dgm:spPr/>
    </dgm:pt>
    <dgm:pt modelId="{7B893C76-A8A0-4EC8-8ACF-214BEA7BF0F4}" type="pres">
      <dgm:prSet presAssocID="{798A046D-6195-4A20-A337-AE624AAE027F}" presName="spaceBetweenRectangles" presStyleCnt="0"/>
      <dgm:spPr/>
    </dgm:pt>
    <dgm:pt modelId="{DE062809-D9DD-422D-B59D-3784FD4AADF4}" type="pres">
      <dgm:prSet presAssocID="{5DCF7D6C-DDC5-4644-BA75-CCDD1FC94652}" presName="composite" presStyleCnt="0"/>
      <dgm:spPr/>
    </dgm:pt>
    <dgm:pt modelId="{6328653D-0AC9-48F6-8D29-6A6505D4CE47}" type="pres">
      <dgm:prSet presAssocID="{5DCF7D6C-DDC5-4644-BA75-CCDD1FC94652}" presName="DropPinPlaceHolder" presStyleCnt="0"/>
      <dgm:spPr/>
    </dgm:pt>
    <dgm:pt modelId="{62798D8B-5C02-459D-A0FC-30FCCC10A24E}" type="pres">
      <dgm:prSet presAssocID="{5DCF7D6C-DDC5-4644-BA75-CCDD1FC94652}" presName="DropPin" presStyleLbl="alignNode1" presStyleIdx="2" presStyleCnt="4"/>
      <dgm:spPr/>
    </dgm:pt>
    <dgm:pt modelId="{AD362275-ED6F-4A07-869D-593CE93F62FA}" type="pres">
      <dgm:prSet presAssocID="{5DCF7D6C-DDC5-4644-BA75-CCDD1FC94652}" presName="Ellipse" presStyleLbl="fgAcc1" presStyleIdx="2" presStyleCnt="4"/>
      <dgm:spPr/>
    </dgm:pt>
    <dgm:pt modelId="{6EA06BA1-0B22-4940-8CF3-05BCE33F82AE}" type="pres">
      <dgm:prSet presAssocID="{5DCF7D6C-DDC5-4644-BA75-CCDD1FC94652}" presName="L2TextContainer" presStyleLbl="revTx" presStyleIdx="4" presStyleCnt="8">
        <dgm:presLayoutVars>
          <dgm:bulletEnabled val="1"/>
        </dgm:presLayoutVars>
      </dgm:prSet>
      <dgm:spPr/>
    </dgm:pt>
    <dgm:pt modelId="{257F5F98-985A-4ECA-989A-5CD9EC667F9C}" type="pres">
      <dgm:prSet presAssocID="{5DCF7D6C-DDC5-4644-BA75-CCDD1FC94652}" presName="L1TextContainer" presStyleLbl="revTx" presStyleIdx="5" presStyleCnt="8" custLinFactY="-21085" custLinFactNeighborX="3234" custLinFactNeighborY="-100000">
        <dgm:presLayoutVars>
          <dgm:chMax val="1"/>
          <dgm:chPref val="1"/>
          <dgm:bulletEnabled val="1"/>
        </dgm:presLayoutVars>
      </dgm:prSet>
      <dgm:spPr/>
    </dgm:pt>
    <dgm:pt modelId="{A8098DB4-F493-4752-93B9-E10FAAD88B01}" type="pres">
      <dgm:prSet presAssocID="{5DCF7D6C-DDC5-4644-BA75-CCDD1FC94652}" presName="ConnectLine" presStyleLbl="dkBgShp" presStyleIdx="4" presStyleCnt="6"/>
      <dgm:spPr/>
    </dgm:pt>
    <dgm:pt modelId="{6954ABEE-539B-4FA4-8A3B-1C4CD7CA94D5}" type="pres">
      <dgm:prSet presAssocID="{5DCF7D6C-DDC5-4644-BA75-CCDD1FC94652}" presName="ConnectorPoint" presStyleCnt="0"/>
      <dgm:spPr/>
    </dgm:pt>
    <dgm:pt modelId="{1D153DC4-9535-419A-AAD7-0E1ACD065A79}" type="pres">
      <dgm:prSet presAssocID="{5DCF7D6C-DDC5-4644-BA75-CCDD1FC94652}" presName="Bullet" presStyleLbl="lnNode1" presStyleIdx="2" presStyleCnt="4"/>
      <dgm:spPr/>
    </dgm:pt>
    <dgm:pt modelId="{CF3E954F-8EA6-4787-B654-4357CA47CC59}" type="pres">
      <dgm:prSet presAssocID="{5DCF7D6C-DDC5-4644-BA75-CCDD1FC94652}" presName="EmptyPlaceHolder" presStyleCnt="0"/>
      <dgm:spPr/>
    </dgm:pt>
    <dgm:pt modelId="{66E0A25E-1991-4D6F-9120-5402E9AC113C}" type="pres">
      <dgm:prSet presAssocID="{E1421312-4B2B-4375-9679-62411285B5E7}" presName="spaceBetweenRectangles" presStyleCnt="0"/>
      <dgm:spPr/>
    </dgm:pt>
    <dgm:pt modelId="{CDECE92C-906C-4647-9559-2EA50A758B49}" type="pres">
      <dgm:prSet presAssocID="{65E9D165-B019-4FB9-879F-6A0A59DBC1D1}" presName="composite" presStyleCnt="0"/>
      <dgm:spPr/>
    </dgm:pt>
    <dgm:pt modelId="{2F646FF4-574F-4D42-B176-747E86AA0141}" type="pres">
      <dgm:prSet presAssocID="{65E9D165-B019-4FB9-879F-6A0A59DBC1D1}" presName="DropPinPlaceHolder" presStyleCnt="0"/>
      <dgm:spPr/>
    </dgm:pt>
    <dgm:pt modelId="{096E4C52-B4D0-4166-8963-9E9E7541FEC3}" type="pres">
      <dgm:prSet presAssocID="{65E9D165-B019-4FB9-879F-6A0A59DBC1D1}" presName="DropPin" presStyleLbl="alignNode1" presStyleIdx="3" presStyleCnt="4"/>
      <dgm:spPr/>
    </dgm:pt>
    <dgm:pt modelId="{E1079C5C-E874-4D89-B547-649ED31FEB22}" type="pres">
      <dgm:prSet presAssocID="{65E9D165-B019-4FB9-879F-6A0A59DBC1D1}" presName="Ellipse" presStyleLbl="fgAcc1" presStyleIdx="3" presStyleCnt="4"/>
      <dgm:spPr/>
    </dgm:pt>
    <dgm:pt modelId="{DB9F70A5-0294-46CC-9AFC-DC1FB259292B}" type="pres">
      <dgm:prSet presAssocID="{65E9D165-B019-4FB9-879F-6A0A59DBC1D1}" presName="L2TextContainer" presStyleLbl="revTx" presStyleIdx="6" presStyleCnt="8">
        <dgm:presLayoutVars>
          <dgm:bulletEnabled val="1"/>
        </dgm:presLayoutVars>
      </dgm:prSet>
      <dgm:spPr/>
    </dgm:pt>
    <dgm:pt modelId="{5F533469-EA89-4CC4-B714-35E2E6AF8850}" type="pres">
      <dgm:prSet presAssocID="{65E9D165-B019-4FB9-879F-6A0A59DBC1D1}" presName="L1TextContainer" presStyleLbl="revTx" presStyleIdx="7" presStyleCnt="8" custLinFactNeighborX="134" custLinFactNeighborY="-47207">
        <dgm:presLayoutVars>
          <dgm:chMax val="1"/>
          <dgm:chPref val="1"/>
          <dgm:bulletEnabled val="1"/>
        </dgm:presLayoutVars>
      </dgm:prSet>
      <dgm:spPr/>
    </dgm:pt>
    <dgm:pt modelId="{D520C184-15C8-4C95-A0CA-D71941C1C11F}" type="pres">
      <dgm:prSet presAssocID="{65E9D165-B019-4FB9-879F-6A0A59DBC1D1}" presName="ConnectLine" presStyleLbl="dkBgShp" presStyleIdx="5" presStyleCnt="6"/>
      <dgm:spPr/>
    </dgm:pt>
    <dgm:pt modelId="{B9295F29-9D66-4C46-915B-74C6EED04153}" type="pres">
      <dgm:prSet presAssocID="{65E9D165-B019-4FB9-879F-6A0A59DBC1D1}" presName="ConnectorPoint" presStyleCnt="0"/>
      <dgm:spPr/>
    </dgm:pt>
    <dgm:pt modelId="{60DE78FF-DA58-4A20-9C28-E7F169E6E10A}" type="pres">
      <dgm:prSet presAssocID="{65E9D165-B019-4FB9-879F-6A0A59DBC1D1}" presName="Bullet" presStyleLbl="lnNode1" presStyleIdx="3" presStyleCnt="4"/>
      <dgm:spPr/>
    </dgm:pt>
    <dgm:pt modelId="{FA313219-C066-4FDA-B41D-D16724343197}" type="pres">
      <dgm:prSet presAssocID="{65E9D165-B019-4FB9-879F-6A0A59DBC1D1}" presName="EmptyPlaceHolder" presStyleCnt="0"/>
      <dgm:spPr/>
    </dgm:pt>
  </dgm:ptLst>
  <dgm:cxnLst>
    <dgm:cxn modelId="{8CFE0A09-FF42-459B-984B-7F6D19A6406B}" type="presOf" srcId="{86A74A2F-6C5C-4C76-8EE4-B6DC6A49DEAF}" destId="{6EA06BA1-0B22-4940-8CF3-05BCE33F82AE}" srcOrd="0" destOrd="1" presId="urn:microsoft.com/office/officeart/2024/layout/BulletTimeline"/>
    <dgm:cxn modelId="{D9613B16-74E7-44D2-9BDC-99DD41F324CE}" type="presOf" srcId="{38012BC9-2F22-4703-93D4-CFC03853DAD5}" destId="{DB9F70A5-0294-46CC-9AFC-DC1FB259292B}" srcOrd="0" destOrd="2" presId="urn:microsoft.com/office/officeart/2024/layout/BulletTimeline"/>
    <dgm:cxn modelId="{B8DA621B-E8AB-4669-99A6-D6DA62F020B9}" srcId="{2E31C2AE-44FD-4A35-8F7C-D9CE28E1D274}" destId="{DAD787B6-E762-4AAC-A108-1081D99BB308}" srcOrd="2" destOrd="0" parTransId="{47FA90A7-AA05-4B95-8673-EAC0B28289F2}" sibTransId="{72446103-BAAA-4092-A7D0-02AA196C5537}"/>
    <dgm:cxn modelId="{2F063E1E-33DD-4B1E-A6E5-96B3373C12FE}" type="presOf" srcId="{D069B0E3-F0BC-4686-9DF7-FA8DABD629E2}" destId="{9D5D2A40-12E0-4E69-BB9A-71C366C5F380}" srcOrd="0" destOrd="0" presId="urn:microsoft.com/office/officeart/2024/layout/BulletTimeline"/>
    <dgm:cxn modelId="{2B21F02A-0B69-4750-9A42-CA6A2A04C262}" srcId="{2E31C2AE-44FD-4A35-8F7C-D9CE28E1D274}" destId="{24C5541B-DBA0-466F-BCBF-321F9791AE53}" srcOrd="0" destOrd="0" parTransId="{F820A1C1-C6D2-42AE-9CE7-9FF722CA0FFB}" sibTransId="{16E952CF-0F2F-47F0-89F0-4852951640C9}"/>
    <dgm:cxn modelId="{AE260B35-8814-48BC-A70B-F16CE55EEED1}" type="presOf" srcId="{BCC71876-028F-4C81-9DC2-3B4AEF798DF6}" destId="{DB9F70A5-0294-46CC-9AFC-DC1FB259292B}" srcOrd="0" destOrd="0" presId="urn:microsoft.com/office/officeart/2024/layout/BulletTimeline"/>
    <dgm:cxn modelId="{8059193D-8666-42C8-B995-28F6882B332F}" type="presOf" srcId="{49A50E28-864E-4326-A406-56DC74DDE2CC}" destId="{DB9F70A5-0294-46CC-9AFC-DC1FB259292B}" srcOrd="0" destOrd="1" presId="urn:microsoft.com/office/officeart/2024/layout/BulletTimeline"/>
    <dgm:cxn modelId="{DDBE9242-AC81-4F00-8195-7AE588804976}" srcId="{65E9D165-B019-4FB9-879F-6A0A59DBC1D1}" destId="{38012BC9-2F22-4703-93D4-CFC03853DAD5}" srcOrd="2" destOrd="0" parTransId="{A5F69158-C103-4546-839B-B86DBAC33878}" sibTransId="{79468512-A02C-413D-984D-C45270E070EC}"/>
    <dgm:cxn modelId="{2C33E342-A514-41FE-BF9A-378E6F66A42B}" type="presOf" srcId="{DAD787B6-E762-4AAC-A108-1081D99BB308}" destId="{BECC8C6F-DF8A-46A2-BA04-AE7433B0C267}" srcOrd="0" destOrd="2" presId="urn:microsoft.com/office/officeart/2024/layout/BulletTimeline"/>
    <dgm:cxn modelId="{912C2463-5C14-44E4-9786-84473944E539}" type="presOf" srcId="{2E31C2AE-44FD-4A35-8F7C-D9CE28E1D274}" destId="{E5B5CF21-0F70-4050-B091-FA55635B596F}" srcOrd="0" destOrd="0" presId="urn:microsoft.com/office/officeart/2024/layout/BulletTimeline"/>
    <dgm:cxn modelId="{187C3745-69F6-45E7-A21B-DC2FC9D12D23}" srcId="{A6B2C77A-29C7-40C4-884C-503EE0970544}" destId="{2E31C2AE-44FD-4A35-8F7C-D9CE28E1D274}" srcOrd="1" destOrd="0" parTransId="{D3E72924-9E6F-4545-9887-FD2B85CF0285}" sibTransId="{798A046D-6195-4A20-A337-AE624AAE027F}"/>
    <dgm:cxn modelId="{64F15351-6B1A-4521-A8AC-01984599AC3A}" srcId="{F6B9783A-BA14-4C69-A679-3AC756BC7BD7}" destId="{D069B0E3-F0BC-4686-9DF7-FA8DABD629E2}" srcOrd="0" destOrd="0" parTransId="{20466C4E-93BA-470B-9E41-3D327439D134}" sibTransId="{55EF1CB2-AB35-4CDA-B98A-DED7C1623E31}"/>
    <dgm:cxn modelId="{AE84B171-069E-4CF5-AE50-7F333ADEB4C3}" srcId="{F6B9783A-BA14-4C69-A679-3AC756BC7BD7}" destId="{A22A3A51-8675-41AC-AE4D-10F92C9B49B7}" srcOrd="1" destOrd="0" parTransId="{6378A4F6-A4BD-4A43-BF87-77B823C64930}" sibTransId="{2AAB0FB6-87A4-4005-9BBE-C13F4FCCB2C3}"/>
    <dgm:cxn modelId="{CCBAAB57-50DF-4F3A-8E57-AF041629FC39}" type="presOf" srcId="{5DCF7D6C-DDC5-4644-BA75-CCDD1FC94652}" destId="{257F5F98-985A-4ECA-989A-5CD9EC667F9C}" srcOrd="0" destOrd="0" presId="urn:microsoft.com/office/officeart/2024/layout/BulletTimeline"/>
    <dgm:cxn modelId="{5D9ADF58-8A2A-47BF-BB72-F4B35C242011}" srcId="{2E31C2AE-44FD-4A35-8F7C-D9CE28E1D274}" destId="{955C6054-35EE-46FD-BCCF-33E1341BAE45}" srcOrd="1" destOrd="0" parTransId="{5A08A1AD-09D9-4BC5-AA6E-8A2EBEC3D149}" sibTransId="{722227F6-AC91-47A7-BAEA-80EFC9928637}"/>
    <dgm:cxn modelId="{3C9EE479-AC19-4A20-AC03-52EAF67C5A3D}" type="presOf" srcId="{65E9D165-B019-4FB9-879F-6A0A59DBC1D1}" destId="{5F533469-EA89-4CC4-B714-35E2E6AF8850}" srcOrd="0" destOrd="0" presId="urn:microsoft.com/office/officeart/2024/layout/BulletTimeline"/>
    <dgm:cxn modelId="{13DC385A-D381-42F8-B151-9697E1E73AA7}" type="presOf" srcId="{A6B2C77A-29C7-40C4-884C-503EE0970544}" destId="{5012AF8A-B58A-40C7-8FD9-C6201D441836}" srcOrd="0" destOrd="0" presId="urn:microsoft.com/office/officeart/2024/layout/BulletTimeline"/>
    <dgm:cxn modelId="{4237747E-4B2C-469F-8286-1F30FD8AB61E}" srcId="{A6B2C77A-29C7-40C4-884C-503EE0970544}" destId="{5DCF7D6C-DDC5-4644-BA75-CCDD1FC94652}" srcOrd="2" destOrd="0" parTransId="{D05BCE46-F7F4-4759-8FD8-527E794CC6E7}" sibTransId="{E1421312-4B2B-4375-9679-62411285B5E7}"/>
    <dgm:cxn modelId="{00E9A284-0CAB-44BF-A28D-807C6FB3B310}" type="presOf" srcId="{A22A3A51-8675-41AC-AE4D-10F92C9B49B7}" destId="{9D5D2A40-12E0-4E69-BB9A-71C366C5F380}" srcOrd="0" destOrd="1" presId="urn:microsoft.com/office/officeart/2024/layout/BulletTimeline"/>
    <dgm:cxn modelId="{A3E99887-6D3C-4711-BCEC-06F47FF1BA14}" srcId="{A6B2C77A-29C7-40C4-884C-503EE0970544}" destId="{F6B9783A-BA14-4C69-A679-3AC756BC7BD7}" srcOrd="0" destOrd="0" parTransId="{CAECE151-75AA-4C45-A092-B3880379201B}" sibTransId="{9EC1E887-3AF8-4584-9016-0FEFD2DDE653}"/>
    <dgm:cxn modelId="{F2DF858A-CA51-45F5-AADD-0F25DD4A30B6}" type="presOf" srcId="{955C6054-35EE-46FD-BCCF-33E1341BAE45}" destId="{BECC8C6F-DF8A-46A2-BA04-AE7433B0C267}" srcOrd="0" destOrd="1" presId="urn:microsoft.com/office/officeart/2024/layout/BulletTimeline"/>
    <dgm:cxn modelId="{CB5AB5AB-411C-444C-ADA8-F1B638D07C32}" type="presOf" srcId="{B5740E82-4CF2-44E9-B1AC-4F5048E03460}" destId="{6EA06BA1-0B22-4940-8CF3-05BCE33F82AE}" srcOrd="0" destOrd="0" presId="urn:microsoft.com/office/officeart/2024/layout/BulletTimeline"/>
    <dgm:cxn modelId="{06A741B7-1F82-4B18-96FD-F8C6983E0A7C}" type="presOf" srcId="{F6B9783A-BA14-4C69-A679-3AC756BC7BD7}" destId="{7DDB962F-4865-43D6-AB4B-B0A6B340D54A}" srcOrd="0" destOrd="0" presId="urn:microsoft.com/office/officeart/2024/layout/BulletTimeline"/>
    <dgm:cxn modelId="{F5FAD7BB-1EC4-4AD1-8978-028BA430C0A6}" type="presOf" srcId="{2F9DE546-8DDB-40D8-8803-456B1515CAB5}" destId="{6EA06BA1-0B22-4940-8CF3-05BCE33F82AE}" srcOrd="0" destOrd="2" presId="urn:microsoft.com/office/officeart/2024/layout/BulletTimeline"/>
    <dgm:cxn modelId="{5328B9BF-5BEC-40B3-8970-C978856BBB4A}" srcId="{5DCF7D6C-DDC5-4644-BA75-CCDD1FC94652}" destId="{B5740E82-4CF2-44E9-B1AC-4F5048E03460}" srcOrd="0" destOrd="0" parTransId="{EED693B3-5368-4F9D-955A-99F07F34F859}" sibTransId="{6093F1D0-89E2-4D42-BF25-77DA63474009}"/>
    <dgm:cxn modelId="{8EB586C4-F9C7-4B25-9307-F4DEF9A66E7E}" srcId="{5DCF7D6C-DDC5-4644-BA75-CCDD1FC94652}" destId="{86A74A2F-6C5C-4C76-8EE4-B6DC6A49DEAF}" srcOrd="1" destOrd="0" parTransId="{7A6F9272-4C2B-4162-BF71-29D1095A7D2B}" sibTransId="{D6FAAB26-9223-4F42-B8F9-B4808080427B}"/>
    <dgm:cxn modelId="{0287AFCE-6119-4D73-BD2B-55239021104C}" srcId="{5DCF7D6C-DDC5-4644-BA75-CCDD1FC94652}" destId="{2F9DE546-8DDB-40D8-8803-456B1515CAB5}" srcOrd="2" destOrd="0" parTransId="{917C4368-45A3-4D3C-9AD3-42D8A335050D}" sibTransId="{ACCE4041-B1C1-4D15-86FA-A0E3FB6C5810}"/>
    <dgm:cxn modelId="{CE2B8DD4-460B-4EB5-A8E2-1BF84A419C22}" type="presOf" srcId="{24C5541B-DBA0-466F-BCBF-321F9791AE53}" destId="{BECC8C6F-DF8A-46A2-BA04-AE7433B0C267}" srcOrd="0" destOrd="0" presId="urn:microsoft.com/office/officeart/2024/layout/BulletTimeline"/>
    <dgm:cxn modelId="{C835B4DF-4DEC-4068-BF1E-D55C05ED7D2B}" srcId="{A6B2C77A-29C7-40C4-884C-503EE0970544}" destId="{65E9D165-B019-4FB9-879F-6A0A59DBC1D1}" srcOrd="3" destOrd="0" parTransId="{65FB4999-E7DC-4CF4-88DD-00F3BD0422E6}" sibTransId="{97112C8B-8088-4AE1-9A0D-6ED5A2D60E42}"/>
    <dgm:cxn modelId="{3FF731E1-52F1-48D3-891E-FC64E9205DC3}" srcId="{65E9D165-B019-4FB9-879F-6A0A59DBC1D1}" destId="{BCC71876-028F-4C81-9DC2-3B4AEF798DF6}" srcOrd="0" destOrd="0" parTransId="{4A7B5491-463D-480C-BE71-657838024CC7}" sibTransId="{EC370DEB-78FF-4BCA-B4C7-B8F53E392D88}"/>
    <dgm:cxn modelId="{9E41B5F9-3D43-4671-8F70-CD53A2B02214}" srcId="{65E9D165-B019-4FB9-879F-6A0A59DBC1D1}" destId="{49A50E28-864E-4326-A406-56DC74DDE2CC}" srcOrd="1" destOrd="0" parTransId="{1CC9CFCE-AF1F-4C12-A981-8984E62EA34B}" sibTransId="{AA45F62F-FFF8-425B-832D-C354EDE646C7}"/>
    <dgm:cxn modelId="{B551B609-1AC8-42E4-9447-B60663AACB43}" type="presParOf" srcId="{5012AF8A-B58A-40C7-8FD9-C6201D441836}" destId="{3A96D0F9-52FD-4D49-847E-1BFD6C9BAE93}" srcOrd="0" destOrd="0" presId="urn:microsoft.com/office/officeart/2024/layout/BulletTimeline"/>
    <dgm:cxn modelId="{660585F7-FDAB-4025-AFFD-78125B42BD80}" type="presParOf" srcId="{3A96D0F9-52FD-4D49-847E-1BFD6C9BAE93}" destId="{DEBE43F6-F223-4AF5-8CE2-9157967AD81C}" srcOrd="0" destOrd="0" presId="urn:microsoft.com/office/officeart/2024/layout/BulletTimeline"/>
    <dgm:cxn modelId="{759EACCA-E91F-4360-AA2A-1B30787ECE55}" type="presParOf" srcId="{3A96D0F9-52FD-4D49-847E-1BFD6C9BAE93}" destId="{D92825F4-28E2-4E61-98B0-C657AEDE2D41}" srcOrd="1" destOrd="0" presId="urn:microsoft.com/office/officeart/2024/layout/BulletTimeline"/>
    <dgm:cxn modelId="{7F254586-213A-4B14-8838-4B8E77FFC86A}" type="presParOf" srcId="{5012AF8A-B58A-40C7-8FD9-C6201D441836}" destId="{8BCD4CEA-F8AE-402A-8370-DAF7A40978CB}" srcOrd="1" destOrd="0" presId="urn:microsoft.com/office/officeart/2024/layout/BulletTimeline"/>
    <dgm:cxn modelId="{E6CCA96A-550D-437D-9314-2D07272F0B34}" type="presParOf" srcId="{8BCD4CEA-F8AE-402A-8370-DAF7A40978CB}" destId="{4D5A1FCF-CDDF-42C9-AF5A-B2FF09C853DA}" srcOrd="0" destOrd="0" presId="urn:microsoft.com/office/officeart/2024/layout/BulletTimeline"/>
    <dgm:cxn modelId="{E8CD2111-7ECA-40F6-AAEA-FB990C6874D8}" type="presParOf" srcId="{4D5A1FCF-CDDF-42C9-AF5A-B2FF09C853DA}" destId="{EC7B0869-2B88-4A35-93F6-3B8969B17047}" srcOrd="0" destOrd="0" presId="urn:microsoft.com/office/officeart/2024/layout/BulletTimeline"/>
    <dgm:cxn modelId="{0920A8C2-9C09-4001-B423-43E77314E728}" type="presParOf" srcId="{EC7B0869-2B88-4A35-93F6-3B8969B17047}" destId="{56581099-6F74-4452-8EF5-BA0BD83F1110}" srcOrd="0" destOrd="0" presId="urn:microsoft.com/office/officeart/2024/layout/BulletTimeline"/>
    <dgm:cxn modelId="{0C1888A8-AF39-422B-A1C1-3E0E28FCF8F7}" type="presParOf" srcId="{EC7B0869-2B88-4A35-93F6-3B8969B17047}" destId="{A7AE1C48-3C18-4639-BC14-2402AA78EC88}" srcOrd="1" destOrd="0" presId="urn:microsoft.com/office/officeart/2024/layout/BulletTimeline"/>
    <dgm:cxn modelId="{E3FA5DAE-64EC-4ABF-8A5D-5BE20C092DA7}" type="presParOf" srcId="{4D5A1FCF-CDDF-42C9-AF5A-B2FF09C853DA}" destId="{9D5D2A40-12E0-4E69-BB9A-71C366C5F380}" srcOrd="1" destOrd="0" presId="urn:microsoft.com/office/officeart/2024/layout/BulletTimeline"/>
    <dgm:cxn modelId="{44235FC2-EF35-4FF4-AEFE-EFABCFD55426}" type="presParOf" srcId="{4D5A1FCF-CDDF-42C9-AF5A-B2FF09C853DA}" destId="{7DDB962F-4865-43D6-AB4B-B0A6B340D54A}" srcOrd="2" destOrd="0" presId="urn:microsoft.com/office/officeart/2024/layout/BulletTimeline"/>
    <dgm:cxn modelId="{0A269C9B-E346-4D03-BA42-8E9687D53C2C}" type="presParOf" srcId="{4D5A1FCF-CDDF-42C9-AF5A-B2FF09C853DA}" destId="{E50A2BB6-7F55-4F75-B84E-77C96C0AC2FA}" srcOrd="3" destOrd="0" presId="urn:microsoft.com/office/officeart/2024/layout/BulletTimeline"/>
    <dgm:cxn modelId="{A15B45F5-D5BE-4246-8651-4347C39B9D78}" type="presParOf" srcId="{4D5A1FCF-CDDF-42C9-AF5A-B2FF09C853DA}" destId="{FB8FB069-12B1-4DB4-B570-37D08EE778B3}" srcOrd="4" destOrd="0" presId="urn:microsoft.com/office/officeart/2024/layout/BulletTimeline"/>
    <dgm:cxn modelId="{BE8907EB-961D-40D8-8D6C-83F3B0B5DA00}" type="presParOf" srcId="{FB8FB069-12B1-4DB4-B570-37D08EE778B3}" destId="{C4C02278-E220-4FBD-855E-0DF2F10CCF66}" srcOrd="0" destOrd="0" presId="urn:microsoft.com/office/officeart/2024/layout/BulletTimeline"/>
    <dgm:cxn modelId="{6119D414-75CD-4377-8A5E-E21B8F2AB681}" type="presParOf" srcId="{4D5A1FCF-CDDF-42C9-AF5A-B2FF09C853DA}" destId="{1788517C-25D7-47C6-B3BD-B927F816FCEE}" srcOrd="5" destOrd="0" presId="urn:microsoft.com/office/officeart/2024/layout/BulletTimeline"/>
    <dgm:cxn modelId="{D20DAC69-B41B-4705-82C1-61907024970B}" type="presParOf" srcId="{8BCD4CEA-F8AE-402A-8370-DAF7A40978CB}" destId="{438118D3-EC88-47B2-9E9A-CD113CBB5C45}" srcOrd="1" destOrd="0" presId="urn:microsoft.com/office/officeart/2024/layout/BulletTimeline"/>
    <dgm:cxn modelId="{8D8392C8-7DEC-4761-B70E-75C209A087F2}" type="presParOf" srcId="{8BCD4CEA-F8AE-402A-8370-DAF7A40978CB}" destId="{1CF11BED-DCD4-49A7-B265-F96F988B3F4E}" srcOrd="2" destOrd="0" presId="urn:microsoft.com/office/officeart/2024/layout/BulletTimeline"/>
    <dgm:cxn modelId="{A776FB3C-D609-4F3D-BD5B-25BC4A7C5735}" type="presParOf" srcId="{1CF11BED-DCD4-49A7-B265-F96F988B3F4E}" destId="{809EAC89-9EC7-4B91-A366-7F9FA5033ECD}" srcOrd="0" destOrd="0" presId="urn:microsoft.com/office/officeart/2024/layout/BulletTimeline"/>
    <dgm:cxn modelId="{B1621209-F762-48BA-A839-7B99D251D6D8}" type="presParOf" srcId="{809EAC89-9EC7-4B91-A366-7F9FA5033ECD}" destId="{06F6D6D1-D764-4094-BD4F-332CA54639B6}" srcOrd="0" destOrd="0" presId="urn:microsoft.com/office/officeart/2024/layout/BulletTimeline"/>
    <dgm:cxn modelId="{D9B4E23C-18CF-4270-9E77-8346CF98C20D}" type="presParOf" srcId="{809EAC89-9EC7-4B91-A366-7F9FA5033ECD}" destId="{F386FB37-AD21-4F90-8954-C96B36002A74}" srcOrd="1" destOrd="0" presId="urn:microsoft.com/office/officeart/2024/layout/BulletTimeline"/>
    <dgm:cxn modelId="{3001CDFE-60F5-4EFE-A0EC-0781F9FE61C7}" type="presParOf" srcId="{1CF11BED-DCD4-49A7-B265-F96F988B3F4E}" destId="{BECC8C6F-DF8A-46A2-BA04-AE7433B0C267}" srcOrd="1" destOrd="0" presId="urn:microsoft.com/office/officeart/2024/layout/BulletTimeline"/>
    <dgm:cxn modelId="{89412444-6952-4B64-AAEF-1C6E3E74B822}" type="presParOf" srcId="{1CF11BED-DCD4-49A7-B265-F96F988B3F4E}" destId="{E5B5CF21-0F70-4050-B091-FA55635B596F}" srcOrd="2" destOrd="0" presId="urn:microsoft.com/office/officeart/2024/layout/BulletTimeline"/>
    <dgm:cxn modelId="{32EF0C72-1B79-4DA1-8FD0-E40878A0330F}" type="presParOf" srcId="{1CF11BED-DCD4-49A7-B265-F96F988B3F4E}" destId="{4D3F6014-EB4A-48B9-8969-85BBA4C951DA}" srcOrd="3" destOrd="0" presId="urn:microsoft.com/office/officeart/2024/layout/BulletTimeline"/>
    <dgm:cxn modelId="{FD6FBFF3-79E9-4890-8284-EF3606E8E92C}" type="presParOf" srcId="{1CF11BED-DCD4-49A7-B265-F96F988B3F4E}" destId="{A0AAD04F-7F54-48D5-AFFA-8B8459C3EBC4}" srcOrd="4" destOrd="0" presId="urn:microsoft.com/office/officeart/2024/layout/BulletTimeline"/>
    <dgm:cxn modelId="{50D5729C-C9F0-4B7F-B8F3-361F5249DA74}" type="presParOf" srcId="{A0AAD04F-7F54-48D5-AFFA-8B8459C3EBC4}" destId="{F5429E44-2794-433B-A8C6-CD014DDC2CF4}" srcOrd="0" destOrd="0" presId="urn:microsoft.com/office/officeart/2024/layout/BulletTimeline"/>
    <dgm:cxn modelId="{714E6490-DBEB-4307-978D-1FFE85F9CFA3}" type="presParOf" srcId="{1CF11BED-DCD4-49A7-B265-F96F988B3F4E}" destId="{D2F42AD3-2282-42F8-BCD9-CD7DB432469F}" srcOrd="5" destOrd="0" presId="urn:microsoft.com/office/officeart/2024/layout/BulletTimeline"/>
    <dgm:cxn modelId="{762C5B15-2A0C-4DDC-AC15-4DBEEADE38D9}" type="presParOf" srcId="{8BCD4CEA-F8AE-402A-8370-DAF7A40978CB}" destId="{7B893C76-A8A0-4EC8-8ACF-214BEA7BF0F4}" srcOrd="3" destOrd="0" presId="urn:microsoft.com/office/officeart/2024/layout/BulletTimeline"/>
    <dgm:cxn modelId="{A346B5A1-629C-436F-86CD-E274A8F1F29A}" type="presParOf" srcId="{8BCD4CEA-F8AE-402A-8370-DAF7A40978CB}" destId="{DE062809-D9DD-422D-B59D-3784FD4AADF4}" srcOrd="4" destOrd="0" presId="urn:microsoft.com/office/officeart/2024/layout/BulletTimeline"/>
    <dgm:cxn modelId="{C3E4DAB9-35C2-4142-88A8-E6C203109900}" type="presParOf" srcId="{DE062809-D9DD-422D-B59D-3784FD4AADF4}" destId="{6328653D-0AC9-48F6-8D29-6A6505D4CE47}" srcOrd="0" destOrd="0" presId="urn:microsoft.com/office/officeart/2024/layout/BulletTimeline"/>
    <dgm:cxn modelId="{43036B0C-D8FC-40F1-8EDD-81F172C21C7A}" type="presParOf" srcId="{6328653D-0AC9-48F6-8D29-6A6505D4CE47}" destId="{62798D8B-5C02-459D-A0FC-30FCCC10A24E}" srcOrd="0" destOrd="0" presId="urn:microsoft.com/office/officeart/2024/layout/BulletTimeline"/>
    <dgm:cxn modelId="{2F15EF59-1D3E-412D-8385-07F81C2780CA}" type="presParOf" srcId="{6328653D-0AC9-48F6-8D29-6A6505D4CE47}" destId="{AD362275-ED6F-4A07-869D-593CE93F62FA}" srcOrd="1" destOrd="0" presId="urn:microsoft.com/office/officeart/2024/layout/BulletTimeline"/>
    <dgm:cxn modelId="{98B36E35-661A-4933-B13B-3749D30C76EE}" type="presParOf" srcId="{DE062809-D9DD-422D-B59D-3784FD4AADF4}" destId="{6EA06BA1-0B22-4940-8CF3-05BCE33F82AE}" srcOrd="1" destOrd="0" presId="urn:microsoft.com/office/officeart/2024/layout/BulletTimeline"/>
    <dgm:cxn modelId="{FDFD5C60-DC40-451D-87B5-A1EDA04A5609}" type="presParOf" srcId="{DE062809-D9DD-422D-B59D-3784FD4AADF4}" destId="{257F5F98-985A-4ECA-989A-5CD9EC667F9C}" srcOrd="2" destOrd="0" presId="urn:microsoft.com/office/officeart/2024/layout/BulletTimeline"/>
    <dgm:cxn modelId="{0EABA552-753A-4B6F-8B6A-C295FE0C6592}" type="presParOf" srcId="{DE062809-D9DD-422D-B59D-3784FD4AADF4}" destId="{A8098DB4-F493-4752-93B9-E10FAAD88B01}" srcOrd="3" destOrd="0" presId="urn:microsoft.com/office/officeart/2024/layout/BulletTimeline"/>
    <dgm:cxn modelId="{BDBE1BE7-0977-4F70-8F4B-9D8BA0F2F476}" type="presParOf" srcId="{DE062809-D9DD-422D-B59D-3784FD4AADF4}" destId="{6954ABEE-539B-4FA4-8A3B-1C4CD7CA94D5}" srcOrd="4" destOrd="0" presId="urn:microsoft.com/office/officeart/2024/layout/BulletTimeline"/>
    <dgm:cxn modelId="{5DAE5817-B766-45FD-A5B7-AFA23C4F4C28}" type="presParOf" srcId="{6954ABEE-539B-4FA4-8A3B-1C4CD7CA94D5}" destId="{1D153DC4-9535-419A-AAD7-0E1ACD065A79}" srcOrd="0" destOrd="0" presId="urn:microsoft.com/office/officeart/2024/layout/BulletTimeline"/>
    <dgm:cxn modelId="{02790C0B-0D00-49F4-BF8F-C1CD74675F7B}" type="presParOf" srcId="{DE062809-D9DD-422D-B59D-3784FD4AADF4}" destId="{CF3E954F-8EA6-4787-B654-4357CA47CC59}" srcOrd="5" destOrd="0" presId="urn:microsoft.com/office/officeart/2024/layout/BulletTimeline"/>
    <dgm:cxn modelId="{5D66C406-741C-4FC3-9701-4989C6CE0F2F}" type="presParOf" srcId="{8BCD4CEA-F8AE-402A-8370-DAF7A40978CB}" destId="{66E0A25E-1991-4D6F-9120-5402E9AC113C}" srcOrd="5" destOrd="0" presId="urn:microsoft.com/office/officeart/2024/layout/BulletTimeline"/>
    <dgm:cxn modelId="{8D56E2E1-8B78-46DB-ADBF-EFE6728F2F8C}" type="presParOf" srcId="{8BCD4CEA-F8AE-402A-8370-DAF7A40978CB}" destId="{CDECE92C-906C-4647-9559-2EA50A758B49}" srcOrd="6" destOrd="0" presId="urn:microsoft.com/office/officeart/2024/layout/BulletTimeline"/>
    <dgm:cxn modelId="{780DD2E2-87C3-475C-8832-276B5CE1371A}" type="presParOf" srcId="{CDECE92C-906C-4647-9559-2EA50A758B49}" destId="{2F646FF4-574F-4D42-B176-747E86AA0141}" srcOrd="0" destOrd="0" presId="urn:microsoft.com/office/officeart/2024/layout/BulletTimeline"/>
    <dgm:cxn modelId="{B7C39A37-9996-4C8A-A4ED-F5B34C9C006C}" type="presParOf" srcId="{2F646FF4-574F-4D42-B176-747E86AA0141}" destId="{096E4C52-B4D0-4166-8963-9E9E7541FEC3}" srcOrd="0" destOrd="0" presId="urn:microsoft.com/office/officeart/2024/layout/BulletTimeline"/>
    <dgm:cxn modelId="{602AFAC5-5EF1-4D84-9001-4D1FB9684523}" type="presParOf" srcId="{2F646FF4-574F-4D42-B176-747E86AA0141}" destId="{E1079C5C-E874-4D89-B547-649ED31FEB22}" srcOrd="1" destOrd="0" presId="urn:microsoft.com/office/officeart/2024/layout/BulletTimeline"/>
    <dgm:cxn modelId="{9CF68C0F-F063-4490-A776-26B7BB80EA26}" type="presParOf" srcId="{CDECE92C-906C-4647-9559-2EA50A758B49}" destId="{DB9F70A5-0294-46CC-9AFC-DC1FB259292B}" srcOrd="1" destOrd="0" presId="urn:microsoft.com/office/officeart/2024/layout/BulletTimeline"/>
    <dgm:cxn modelId="{EFC4F584-30C2-45A6-A176-1E587EB0D237}" type="presParOf" srcId="{CDECE92C-906C-4647-9559-2EA50A758B49}" destId="{5F533469-EA89-4CC4-B714-35E2E6AF8850}" srcOrd="2" destOrd="0" presId="urn:microsoft.com/office/officeart/2024/layout/BulletTimeline"/>
    <dgm:cxn modelId="{D6F6E396-4AA2-4557-9A3E-155197E847FC}" type="presParOf" srcId="{CDECE92C-906C-4647-9559-2EA50A758B49}" destId="{D520C184-15C8-4C95-A0CA-D71941C1C11F}" srcOrd="3" destOrd="0" presId="urn:microsoft.com/office/officeart/2024/layout/BulletTimeline"/>
    <dgm:cxn modelId="{C4B84F1A-5165-41DB-B955-967AC525561E}" type="presParOf" srcId="{CDECE92C-906C-4647-9559-2EA50A758B49}" destId="{B9295F29-9D66-4C46-915B-74C6EED04153}" srcOrd="4" destOrd="0" presId="urn:microsoft.com/office/officeart/2024/layout/BulletTimeline"/>
    <dgm:cxn modelId="{B40D9E4E-5149-4FF9-8D2B-D7C7207C6C09}" type="presParOf" srcId="{B9295F29-9D66-4C46-915B-74C6EED04153}" destId="{60DE78FF-DA58-4A20-9C28-E7F169E6E10A}" srcOrd="0" destOrd="0" presId="urn:microsoft.com/office/officeart/2024/layout/BulletTimeline"/>
    <dgm:cxn modelId="{F7599C74-8992-480A-BA72-56448D7FDDAF}" type="presParOf" srcId="{CDECE92C-906C-4647-9559-2EA50A758B49}" destId="{FA313219-C066-4FDA-B41D-D16724343197}" srcOrd="5" destOrd="0" presId="urn:microsoft.com/office/officeart/2024/layout/BulletTimeline"/>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58A0C0BF-B40B-45F9-ADF4-8E0F35B0270B}" type="doc">
      <dgm:prSet loTypeId="urn:microsoft.com/office/officeart/2005/8/layout/balance1" loCatId="relationship" qsTypeId="urn:microsoft.com/office/officeart/2005/8/quickstyle/simple1" qsCatId="simple" csTypeId="urn:microsoft.com/office/officeart/2005/8/colors/accent1_2" csCatId="accent1" phldr="1"/>
      <dgm:spPr/>
      <dgm:t>
        <a:bodyPr/>
        <a:lstStyle/>
        <a:p>
          <a:endParaRPr lang="en-US"/>
        </a:p>
      </dgm:t>
    </dgm:pt>
    <dgm:pt modelId="{0EDBB141-A4B1-40B7-8159-ECE65141AC14}">
      <dgm:prSet phldrT="[Text]" phldr="0"/>
      <dgm:spPr/>
      <dgm:t>
        <a:bodyPr/>
        <a:lstStyle/>
        <a:p>
          <a:r>
            <a:rPr lang="en-US"/>
            <a:t>Growing</a:t>
          </a:r>
        </a:p>
        <a:p>
          <a:r>
            <a:rPr lang="en-US"/>
            <a:t>Expectations </a:t>
          </a:r>
        </a:p>
      </dgm:t>
    </dgm:pt>
    <dgm:pt modelId="{0EED7239-4CE4-4CA7-98D2-344EF01FFA6D}" type="parTrans" cxnId="{EF779364-7C6B-4495-A975-6585E9A39209}">
      <dgm:prSet/>
      <dgm:spPr/>
      <dgm:t>
        <a:bodyPr/>
        <a:lstStyle/>
        <a:p>
          <a:endParaRPr lang="en-US"/>
        </a:p>
      </dgm:t>
    </dgm:pt>
    <dgm:pt modelId="{7EF9626C-C4EE-4B23-88E1-0BCDE0ADD6BB}" type="sibTrans" cxnId="{EF779364-7C6B-4495-A975-6585E9A39209}">
      <dgm:prSet/>
      <dgm:spPr/>
      <dgm:t>
        <a:bodyPr/>
        <a:lstStyle/>
        <a:p>
          <a:endParaRPr lang="en-US"/>
        </a:p>
      </dgm:t>
    </dgm:pt>
    <dgm:pt modelId="{5CFA97B4-7505-48BC-9194-A5C9540395FD}">
      <dgm:prSet phldrT="[Text]" phldr="0"/>
      <dgm:spPr/>
      <dgm:t>
        <a:bodyPr/>
        <a:lstStyle/>
        <a:p>
          <a:r>
            <a:rPr lang="en-US"/>
            <a:t>Sustainability Goals</a:t>
          </a:r>
        </a:p>
      </dgm:t>
    </dgm:pt>
    <dgm:pt modelId="{93602B81-FCCD-4F7B-88BD-971D3F3CB1C9}" type="parTrans" cxnId="{4AA4D83F-4BEA-40A3-891F-6734C1DE9CB2}">
      <dgm:prSet/>
      <dgm:spPr/>
      <dgm:t>
        <a:bodyPr/>
        <a:lstStyle/>
        <a:p>
          <a:endParaRPr lang="en-US"/>
        </a:p>
      </dgm:t>
    </dgm:pt>
    <dgm:pt modelId="{C8279A46-C57C-4A98-9EBB-F493E837DAC3}" type="sibTrans" cxnId="{4AA4D83F-4BEA-40A3-891F-6734C1DE9CB2}">
      <dgm:prSet/>
      <dgm:spPr/>
      <dgm:t>
        <a:bodyPr/>
        <a:lstStyle/>
        <a:p>
          <a:endParaRPr lang="en-US"/>
        </a:p>
      </dgm:t>
    </dgm:pt>
    <dgm:pt modelId="{8555DB84-FBC8-47EC-A4CB-E42CEF76F65B}">
      <dgm:prSet phldrT="[Text]" phldr="0"/>
      <dgm:spPr/>
      <dgm:t>
        <a:bodyPr/>
        <a:lstStyle/>
        <a:p>
          <a:r>
            <a:rPr lang="en-US"/>
            <a:t>Grid Resilience </a:t>
          </a:r>
        </a:p>
      </dgm:t>
    </dgm:pt>
    <dgm:pt modelId="{D999B981-B78E-498F-A848-032CFA9E52AB}" type="parTrans" cxnId="{E40F5533-BEBF-4F79-8B5A-72FC77A74FB4}">
      <dgm:prSet/>
      <dgm:spPr/>
      <dgm:t>
        <a:bodyPr/>
        <a:lstStyle/>
        <a:p>
          <a:endParaRPr lang="en-US"/>
        </a:p>
      </dgm:t>
    </dgm:pt>
    <dgm:pt modelId="{F91CDA83-8597-45E4-B877-3AD7FFFE599F}" type="sibTrans" cxnId="{E40F5533-BEBF-4F79-8B5A-72FC77A74FB4}">
      <dgm:prSet/>
      <dgm:spPr/>
      <dgm:t>
        <a:bodyPr/>
        <a:lstStyle/>
        <a:p>
          <a:endParaRPr lang="en-US"/>
        </a:p>
      </dgm:t>
    </dgm:pt>
    <dgm:pt modelId="{F8FE47E8-4E77-45DE-90D8-EE720DEF5CE4}">
      <dgm:prSet phldrT="[Text]" phldr="0"/>
      <dgm:spPr/>
      <dgm:t>
        <a:bodyPr/>
        <a:lstStyle/>
        <a:p>
          <a:r>
            <a:rPr lang="en-US"/>
            <a:t>Growing</a:t>
          </a:r>
        </a:p>
        <a:p>
          <a:r>
            <a:rPr lang="en-US"/>
            <a:t>Constraints</a:t>
          </a:r>
        </a:p>
      </dgm:t>
    </dgm:pt>
    <dgm:pt modelId="{13A1D8E8-23FB-4E08-94D5-75069901CCA9}" type="parTrans" cxnId="{10795458-6477-45C1-B7FA-CFDA4F8D6956}">
      <dgm:prSet/>
      <dgm:spPr/>
      <dgm:t>
        <a:bodyPr/>
        <a:lstStyle/>
        <a:p>
          <a:endParaRPr lang="en-US"/>
        </a:p>
      </dgm:t>
    </dgm:pt>
    <dgm:pt modelId="{A58877F1-C840-413D-A661-7AEFF7466F38}" type="sibTrans" cxnId="{10795458-6477-45C1-B7FA-CFDA4F8D6956}">
      <dgm:prSet/>
      <dgm:spPr/>
      <dgm:t>
        <a:bodyPr/>
        <a:lstStyle/>
        <a:p>
          <a:endParaRPr lang="en-US"/>
        </a:p>
      </dgm:t>
    </dgm:pt>
    <dgm:pt modelId="{70CB69E7-6A7E-4D8E-8AA6-884F84DB7DCD}">
      <dgm:prSet phldrT="[Text]" phldr="0"/>
      <dgm:spPr/>
      <dgm:t>
        <a:bodyPr/>
        <a:lstStyle/>
        <a:p>
          <a:r>
            <a:rPr lang="en-US"/>
            <a:t>Federal Funding </a:t>
          </a:r>
          <a:r>
            <a:rPr lang="en-US" err="1"/>
            <a:t>Avability</a:t>
          </a:r>
          <a:r>
            <a:rPr lang="en-US"/>
            <a:t> </a:t>
          </a:r>
        </a:p>
      </dgm:t>
    </dgm:pt>
    <dgm:pt modelId="{696A3168-D8D0-4112-AA03-6E136A19041E}" type="parTrans" cxnId="{6BEEA845-D96E-4C48-97C9-A975B3B3059F}">
      <dgm:prSet/>
      <dgm:spPr/>
      <dgm:t>
        <a:bodyPr/>
        <a:lstStyle/>
        <a:p>
          <a:endParaRPr lang="en-US"/>
        </a:p>
      </dgm:t>
    </dgm:pt>
    <dgm:pt modelId="{5B51C94B-1CF4-4DFA-8472-3B760B2098A0}" type="sibTrans" cxnId="{6BEEA845-D96E-4C48-97C9-A975B3B3059F}">
      <dgm:prSet/>
      <dgm:spPr/>
      <dgm:t>
        <a:bodyPr/>
        <a:lstStyle/>
        <a:p>
          <a:endParaRPr lang="en-US"/>
        </a:p>
      </dgm:t>
    </dgm:pt>
    <dgm:pt modelId="{00EB1388-0571-456C-B654-7D5CC224590D}">
      <dgm:prSet phldrT="[Text]" phldr="0"/>
      <dgm:spPr/>
      <dgm:t>
        <a:bodyPr/>
        <a:lstStyle/>
        <a:p>
          <a:r>
            <a:rPr lang="en-US"/>
            <a:t>Aging Infrastructure</a:t>
          </a:r>
        </a:p>
      </dgm:t>
    </dgm:pt>
    <dgm:pt modelId="{BD4177A6-474A-4799-926E-CD9265F9D0A8}" type="parTrans" cxnId="{620FAEA3-A167-433D-9F3C-D058933DE2EA}">
      <dgm:prSet/>
      <dgm:spPr/>
      <dgm:t>
        <a:bodyPr/>
        <a:lstStyle/>
        <a:p>
          <a:endParaRPr lang="en-US"/>
        </a:p>
      </dgm:t>
    </dgm:pt>
    <dgm:pt modelId="{592E793D-D316-4BEE-8BEA-C8984B3FA364}" type="sibTrans" cxnId="{620FAEA3-A167-433D-9F3C-D058933DE2EA}">
      <dgm:prSet/>
      <dgm:spPr/>
      <dgm:t>
        <a:bodyPr/>
        <a:lstStyle/>
        <a:p>
          <a:endParaRPr lang="en-US"/>
        </a:p>
      </dgm:t>
    </dgm:pt>
    <dgm:pt modelId="{C9553389-3DDF-4020-93B5-53DCDD383042}">
      <dgm:prSet phldrT="[Text]" phldr="0"/>
      <dgm:spPr/>
      <dgm:t>
        <a:bodyPr/>
        <a:lstStyle/>
        <a:p>
          <a:r>
            <a:rPr lang="en-US"/>
            <a:t>Increased operational complexity</a:t>
          </a:r>
        </a:p>
      </dgm:t>
    </dgm:pt>
    <dgm:pt modelId="{F30ADAA7-0FFD-43CC-BC3A-857FDDD3E4D3}" type="parTrans" cxnId="{B8116DB8-078F-4591-BACD-F3D6630C139D}">
      <dgm:prSet/>
      <dgm:spPr/>
      <dgm:t>
        <a:bodyPr/>
        <a:lstStyle/>
        <a:p>
          <a:endParaRPr lang="en-US"/>
        </a:p>
      </dgm:t>
    </dgm:pt>
    <dgm:pt modelId="{631D86AE-4F8F-48AE-8057-36A678DAC873}" type="sibTrans" cxnId="{B8116DB8-078F-4591-BACD-F3D6630C139D}">
      <dgm:prSet/>
      <dgm:spPr/>
      <dgm:t>
        <a:bodyPr/>
        <a:lstStyle/>
        <a:p>
          <a:endParaRPr lang="en-US"/>
        </a:p>
      </dgm:t>
    </dgm:pt>
    <dgm:pt modelId="{1F986BB0-A67E-4209-A2C7-625638279F3A}">
      <dgm:prSet phldrT="[Text]" phldr="0"/>
      <dgm:spPr/>
      <dgm:t>
        <a:bodyPr/>
        <a:lstStyle/>
        <a:p>
          <a:r>
            <a:rPr lang="en-US"/>
            <a:t>Energy Efficiency </a:t>
          </a:r>
        </a:p>
      </dgm:t>
    </dgm:pt>
    <dgm:pt modelId="{A529A00F-3F39-432A-889E-F5CDB83934A2}" type="parTrans" cxnId="{B44DB256-52C9-46E3-9821-1EC5014323E8}">
      <dgm:prSet/>
      <dgm:spPr/>
      <dgm:t>
        <a:bodyPr/>
        <a:lstStyle/>
        <a:p>
          <a:endParaRPr lang="en-US"/>
        </a:p>
      </dgm:t>
    </dgm:pt>
    <dgm:pt modelId="{FD13D8F5-D752-49F9-A7BB-A182EAE197EB}" type="sibTrans" cxnId="{B44DB256-52C9-46E3-9821-1EC5014323E8}">
      <dgm:prSet/>
      <dgm:spPr/>
      <dgm:t>
        <a:bodyPr/>
        <a:lstStyle/>
        <a:p>
          <a:endParaRPr lang="en-US"/>
        </a:p>
      </dgm:t>
    </dgm:pt>
    <dgm:pt modelId="{291E0261-83AB-4F71-8D2F-06CC95765F25}">
      <dgm:prSet phldrT="[Text]" phldr="0"/>
      <dgm:spPr/>
      <dgm:t>
        <a:bodyPr/>
        <a:lstStyle/>
        <a:p>
          <a:r>
            <a:rPr lang="en-US"/>
            <a:t>Incentive structure changes</a:t>
          </a:r>
        </a:p>
      </dgm:t>
    </dgm:pt>
    <dgm:pt modelId="{CF5D7909-19E9-4521-A879-04220E800709}" type="parTrans" cxnId="{68019E6C-4D87-4A43-8D62-CFFBD520FCDE}">
      <dgm:prSet/>
      <dgm:spPr/>
      <dgm:t>
        <a:bodyPr/>
        <a:lstStyle/>
        <a:p>
          <a:endParaRPr lang="en-US"/>
        </a:p>
      </dgm:t>
    </dgm:pt>
    <dgm:pt modelId="{A38B980B-B137-4BB5-9F06-1152BCD74A29}" type="sibTrans" cxnId="{68019E6C-4D87-4A43-8D62-CFFBD520FCDE}">
      <dgm:prSet/>
      <dgm:spPr/>
      <dgm:t>
        <a:bodyPr/>
        <a:lstStyle/>
        <a:p>
          <a:endParaRPr lang="en-US"/>
        </a:p>
      </dgm:t>
    </dgm:pt>
    <dgm:pt modelId="{1748CBAA-EF1B-4A7E-83C7-C25E9E43F623}" type="pres">
      <dgm:prSet presAssocID="{58A0C0BF-B40B-45F9-ADF4-8E0F35B0270B}" presName="outerComposite" presStyleCnt="0">
        <dgm:presLayoutVars>
          <dgm:chMax val="2"/>
          <dgm:animLvl val="lvl"/>
          <dgm:resizeHandles val="exact"/>
        </dgm:presLayoutVars>
      </dgm:prSet>
      <dgm:spPr/>
    </dgm:pt>
    <dgm:pt modelId="{D0D9CA91-09FB-4D45-AAB8-D8CFFEC7FD43}" type="pres">
      <dgm:prSet presAssocID="{58A0C0BF-B40B-45F9-ADF4-8E0F35B0270B}" presName="dummyMaxCanvas" presStyleCnt="0"/>
      <dgm:spPr/>
    </dgm:pt>
    <dgm:pt modelId="{34C368C8-A8FF-4F73-A3BC-A554431C8F57}" type="pres">
      <dgm:prSet presAssocID="{58A0C0BF-B40B-45F9-ADF4-8E0F35B0270B}" presName="parentComposite" presStyleCnt="0"/>
      <dgm:spPr/>
    </dgm:pt>
    <dgm:pt modelId="{0C2C8C18-BB22-48A0-ADF5-548946CDC08F}" type="pres">
      <dgm:prSet presAssocID="{58A0C0BF-B40B-45F9-ADF4-8E0F35B0270B}" presName="parent1" presStyleLbl="alignAccFollowNode1" presStyleIdx="0" presStyleCnt="4" custLinFactNeighborX="7605" custLinFactNeighborY="61367">
        <dgm:presLayoutVars>
          <dgm:chMax val="4"/>
        </dgm:presLayoutVars>
      </dgm:prSet>
      <dgm:spPr/>
    </dgm:pt>
    <dgm:pt modelId="{3EFDE569-E59E-49B1-928E-B5FDAFF8D823}" type="pres">
      <dgm:prSet presAssocID="{58A0C0BF-B40B-45F9-ADF4-8E0F35B0270B}" presName="parent2" presStyleLbl="alignAccFollowNode1" presStyleIdx="1" presStyleCnt="4" custLinFactNeighborX="11364" custLinFactNeighborY="20456">
        <dgm:presLayoutVars>
          <dgm:chMax val="4"/>
        </dgm:presLayoutVars>
      </dgm:prSet>
      <dgm:spPr/>
    </dgm:pt>
    <dgm:pt modelId="{14522FFE-A6A2-4556-A060-B198680196E7}" type="pres">
      <dgm:prSet presAssocID="{58A0C0BF-B40B-45F9-ADF4-8E0F35B0270B}" presName="childrenComposite" presStyleCnt="0"/>
      <dgm:spPr/>
    </dgm:pt>
    <dgm:pt modelId="{45BCB825-8049-41D4-85D3-AB496D15C016}" type="pres">
      <dgm:prSet presAssocID="{58A0C0BF-B40B-45F9-ADF4-8E0F35B0270B}" presName="dummyMaxCanvas_ChildArea" presStyleCnt="0"/>
      <dgm:spPr/>
    </dgm:pt>
    <dgm:pt modelId="{1F2A4381-1A38-4FCC-B197-636ADD36617A}" type="pres">
      <dgm:prSet presAssocID="{58A0C0BF-B40B-45F9-ADF4-8E0F35B0270B}" presName="fulcrum" presStyleLbl="alignAccFollowNode1" presStyleIdx="2" presStyleCnt="4"/>
      <dgm:spPr/>
    </dgm:pt>
    <dgm:pt modelId="{ECE89A2D-1D2B-4548-BC78-71F9C54134DA}" type="pres">
      <dgm:prSet presAssocID="{58A0C0BF-B40B-45F9-ADF4-8E0F35B0270B}" presName="balance_34" presStyleLbl="alignAccFollowNode1" presStyleIdx="3" presStyleCnt="4">
        <dgm:presLayoutVars>
          <dgm:bulletEnabled val="1"/>
        </dgm:presLayoutVars>
      </dgm:prSet>
      <dgm:spPr/>
    </dgm:pt>
    <dgm:pt modelId="{83A25950-3C51-4F31-A3C1-86C38489660E}" type="pres">
      <dgm:prSet presAssocID="{58A0C0BF-B40B-45F9-ADF4-8E0F35B0270B}" presName="right_34_1" presStyleLbl="node1" presStyleIdx="0" presStyleCnt="7">
        <dgm:presLayoutVars>
          <dgm:bulletEnabled val="1"/>
        </dgm:presLayoutVars>
      </dgm:prSet>
      <dgm:spPr/>
    </dgm:pt>
    <dgm:pt modelId="{178D41AC-DF01-44B8-91F8-2D35A8A99493}" type="pres">
      <dgm:prSet presAssocID="{58A0C0BF-B40B-45F9-ADF4-8E0F35B0270B}" presName="right_34_2" presStyleLbl="node1" presStyleIdx="1" presStyleCnt="7">
        <dgm:presLayoutVars>
          <dgm:bulletEnabled val="1"/>
        </dgm:presLayoutVars>
      </dgm:prSet>
      <dgm:spPr/>
    </dgm:pt>
    <dgm:pt modelId="{9669FBE4-1A05-4A2A-ABA1-47D943FFC35F}" type="pres">
      <dgm:prSet presAssocID="{58A0C0BF-B40B-45F9-ADF4-8E0F35B0270B}" presName="right_34_3" presStyleLbl="node1" presStyleIdx="2" presStyleCnt="7">
        <dgm:presLayoutVars>
          <dgm:bulletEnabled val="1"/>
        </dgm:presLayoutVars>
      </dgm:prSet>
      <dgm:spPr/>
    </dgm:pt>
    <dgm:pt modelId="{D3419466-971C-48A4-840E-53E8156ADD97}" type="pres">
      <dgm:prSet presAssocID="{58A0C0BF-B40B-45F9-ADF4-8E0F35B0270B}" presName="right_34_4" presStyleLbl="node1" presStyleIdx="3" presStyleCnt="7">
        <dgm:presLayoutVars>
          <dgm:bulletEnabled val="1"/>
        </dgm:presLayoutVars>
      </dgm:prSet>
      <dgm:spPr/>
    </dgm:pt>
    <dgm:pt modelId="{8FFAE1D4-E0FD-436A-AFC2-F01A6BA71817}" type="pres">
      <dgm:prSet presAssocID="{58A0C0BF-B40B-45F9-ADF4-8E0F35B0270B}" presName="left_34_1" presStyleLbl="node1" presStyleIdx="4" presStyleCnt="7">
        <dgm:presLayoutVars>
          <dgm:bulletEnabled val="1"/>
        </dgm:presLayoutVars>
      </dgm:prSet>
      <dgm:spPr/>
    </dgm:pt>
    <dgm:pt modelId="{E0232CA3-3AC9-4DBC-8C9E-C4B514E62587}" type="pres">
      <dgm:prSet presAssocID="{58A0C0BF-B40B-45F9-ADF4-8E0F35B0270B}" presName="left_34_2" presStyleLbl="node1" presStyleIdx="5" presStyleCnt="7">
        <dgm:presLayoutVars>
          <dgm:bulletEnabled val="1"/>
        </dgm:presLayoutVars>
      </dgm:prSet>
      <dgm:spPr/>
    </dgm:pt>
    <dgm:pt modelId="{3D080DC1-C13B-473A-93F7-A89C5C67EC88}" type="pres">
      <dgm:prSet presAssocID="{58A0C0BF-B40B-45F9-ADF4-8E0F35B0270B}" presName="left_34_3" presStyleLbl="node1" presStyleIdx="6" presStyleCnt="7">
        <dgm:presLayoutVars>
          <dgm:bulletEnabled val="1"/>
        </dgm:presLayoutVars>
      </dgm:prSet>
      <dgm:spPr/>
    </dgm:pt>
  </dgm:ptLst>
  <dgm:cxnLst>
    <dgm:cxn modelId="{E40F5533-BEBF-4F79-8B5A-72FC77A74FB4}" srcId="{0EDBB141-A4B1-40B7-8159-ECE65141AC14}" destId="{8555DB84-FBC8-47EC-A4CB-E42CEF76F65B}" srcOrd="1" destOrd="0" parTransId="{D999B981-B78E-498F-A848-032CFA9E52AB}" sibTransId="{F91CDA83-8597-45E4-B877-3AD7FFFE599F}"/>
    <dgm:cxn modelId="{04628839-3116-42FA-9D80-E850FBA52460}" type="presOf" srcId="{F8FE47E8-4E77-45DE-90D8-EE720DEF5CE4}" destId="{3EFDE569-E59E-49B1-928E-B5FDAFF8D823}" srcOrd="0" destOrd="0" presId="urn:microsoft.com/office/officeart/2005/8/layout/balance1"/>
    <dgm:cxn modelId="{4264CA3A-F2AE-4531-86B5-7FCA03458A4E}" type="presOf" srcId="{5CFA97B4-7505-48BC-9194-A5C9540395FD}" destId="{8FFAE1D4-E0FD-436A-AFC2-F01A6BA71817}" srcOrd="0" destOrd="0" presId="urn:microsoft.com/office/officeart/2005/8/layout/balance1"/>
    <dgm:cxn modelId="{4AA4D83F-4BEA-40A3-891F-6734C1DE9CB2}" srcId="{0EDBB141-A4B1-40B7-8159-ECE65141AC14}" destId="{5CFA97B4-7505-48BC-9194-A5C9540395FD}" srcOrd="0" destOrd="0" parTransId="{93602B81-FCCD-4F7B-88BD-971D3F3CB1C9}" sibTransId="{C8279A46-C57C-4A98-9EBB-F493E837DAC3}"/>
    <dgm:cxn modelId="{AC69185D-6C18-4FEF-8BA3-854ABAE452E5}" type="presOf" srcId="{70CB69E7-6A7E-4D8E-8AA6-884F84DB7DCD}" destId="{83A25950-3C51-4F31-A3C1-86C38489660E}" srcOrd="0" destOrd="0" presId="urn:microsoft.com/office/officeart/2005/8/layout/balance1"/>
    <dgm:cxn modelId="{EF779364-7C6B-4495-A975-6585E9A39209}" srcId="{58A0C0BF-B40B-45F9-ADF4-8E0F35B0270B}" destId="{0EDBB141-A4B1-40B7-8159-ECE65141AC14}" srcOrd="0" destOrd="0" parTransId="{0EED7239-4CE4-4CA7-98D2-344EF01FFA6D}" sibTransId="{7EF9626C-C4EE-4B23-88E1-0BCDE0ADD6BB}"/>
    <dgm:cxn modelId="{6BEEA845-D96E-4C48-97C9-A975B3B3059F}" srcId="{F8FE47E8-4E77-45DE-90D8-EE720DEF5CE4}" destId="{70CB69E7-6A7E-4D8E-8AA6-884F84DB7DCD}" srcOrd="0" destOrd="0" parTransId="{696A3168-D8D0-4112-AA03-6E136A19041E}" sibTransId="{5B51C94B-1CF4-4DFA-8472-3B760B2098A0}"/>
    <dgm:cxn modelId="{68019E6C-4D87-4A43-8D62-CFFBD520FCDE}" srcId="{F8FE47E8-4E77-45DE-90D8-EE720DEF5CE4}" destId="{291E0261-83AB-4F71-8D2F-06CC95765F25}" srcOrd="3" destOrd="0" parTransId="{CF5D7909-19E9-4521-A879-04220E800709}" sibTransId="{A38B980B-B137-4BB5-9F06-1152BCD74A29}"/>
    <dgm:cxn modelId="{9BE57455-59DB-4DE4-B78C-8CA8E24CC19A}" type="presOf" srcId="{8555DB84-FBC8-47EC-A4CB-E42CEF76F65B}" destId="{E0232CA3-3AC9-4DBC-8C9E-C4B514E62587}" srcOrd="0" destOrd="0" presId="urn:microsoft.com/office/officeart/2005/8/layout/balance1"/>
    <dgm:cxn modelId="{B44DB256-52C9-46E3-9821-1EC5014323E8}" srcId="{0EDBB141-A4B1-40B7-8159-ECE65141AC14}" destId="{1F986BB0-A67E-4209-A2C7-625638279F3A}" srcOrd="2" destOrd="0" parTransId="{A529A00F-3F39-432A-889E-F5CDB83934A2}" sibTransId="{FD13D8F5-D752-49F9-A7BB-A182EAE197EB}"/>
    <dgm:cxn modelId="{10795458-6477-45C1-B7FA-CFDA4F8D6956}" srcId="{58A0C0BF-B40B-45F9-ADF4-8E0F35B0270B}" destId="{F8FE47E8-4E77-45DE-90D8-EE720DEF5CE4}" srcOrd="1" destOrd="0" parTransId="{13A1D8E8-23FB-4E08-94D5-75069901CCA9}" sibTransId="{A58877F1-C840-413D-A661-7AEFF7466F38}"/>
    <dgm:cxn modelId="{4FC0B87F-351C-401C-A53B-C0415148598A}" type="presOf" srcId="{0EDBB141-A4B1-40B7-8159-ECE65141AC14}" destId="{0C2C8C18-BB22-48A0-ADF5-548946CDC08F}" srcOrd="0" destOrd="0" presId="urn:microsoft.com/office/officeart/2005/8/layout/balance1"/>
    <dgm:cxn modelId="{56770492-1535-4C19-9B9D-9A8E6B8937AB}" type="presOf" srcId="{291E0261-83AB-4F71-8D2F-06CC95765F25}" destId="{D3419466-971C-48A4-840E-53E8156ADD97}" srcOrd="0" destOrd="0" presId="urn:microsoft.com/office/officeart/2005/8/layout/balance1"/>
    <dgm:cxn modelId="{620FAEA3-A167-433D-9F3C-D058933DE2EA}" srcId="{F8FE47E8-4E77-45DE-90D8-EE720DEF5CE4}" destId="{00EB1388-0571-456C-B654-7D5CC224590D}" srcOrd="1" destOrd="0" parTransId="{BD4177A6-474A-4799-926E-CD9265F9D0A8}" sibTransId="{592E793D-D316-4BEE-8BEA-C8984B3FA364}"/>
    <dgm:cxn modelId="{2C9103B1-A6C0-44D6-9D43-02496F4EE59A}" type="presOf" srcId="{1F986BB0-A67E-4209-A2C7-625638279F3A}" destId="{3D080DC1-C13B-473A-93F7-A89C5C67EC88}" srcOrd="0" destOrd="0" presId="urn:microsoft.com/office/officeart/2005/8/layout/balance1"/>
    <dgm:cxn modelId="{B8116DB8-078F-4591-BACD-F3D6630C139D}" srcId="{F8FE47E8-4E77-45DE-90D8-EE720DEF5CE4}" destId="{C9553389-3DDF-4020-93B5-53DCDD383042}" srcOrd="2" destOrd="0" parTransId="{F30ADAA7-0FFD-43CC-BC3A-857FDDD3E4D3}" sibTransId="{631D86AE-4F8F-48AE-8057-36A678DAC873}"/>
    <dgm:cxn modelId="{2C918FBC-7F58-4B5B-85F7-B54CE22A6509}" type="presOf" srcId="{00EB1388-0571-456C-B654-7D5CC224590D}" destId="{178D41AC-DF01-44B8-91F8-2D35A8A99493}" srcOrd="0" destOrd="0" presId="urn:microsoft.com/office/officeart/2005/8/layout/balance1"/>
    <dgm:cxn modelId="{23FD65BF-555C-420A-BDE0-49BB6CACA4A2}" type="presOf" srcId="{C9553389-3DDF-4020-93B5-53DCDD383042}" destId="{9669FBE4-1A05-4A2A-ABA1-47D943FFC35F}" srcOrd="0" destOrd="0" presId="urn:microsoft.com/office/officeart/2005/8/layout/balance1"/>
    <dgm:cxn modelId="{05C7C2EE-832C-47F3-AD0A-6B97D81B04AD}" type="presOf" srcId="{58A0C0BF-B40B-45F9-ADF4-8E0F35B0270B}" destId="{1748CBAA-EF1B-4A7E-83C7-C25E9E43F623}" srcOrd="0" destOrd="0" presId="urn:microsoft.com/office/officeart/2005/8/layout/balance1"/>
    <dgm:cxn modelId="{0598B79E-FA6C-4002-BBBA-5A7E6876B68D}" type="presParOf" srcId="{1748CBAA-EF1B-4A7E-83C7-C25E9E43F623}" destId="{D0D9CA91-09FB-4D45-AAB8-D8CFFEC7FD43}" srcOrd="0" destOrd="0" presId="urn:microsoft.com/office/officeart/2005/8/layout/balance1"/>
    <dgm:cxn modelId="{D59BA340-B2B6-4A2F-8293-09EA8F184754}" type="presParOf" srcId="{1748CBAA-EF1B-4A7E-83C7-C25E9E43F623}" destId="{34C368C8-A8FF-4F73-A3BC-A554431C8F57}" srcOrd="1" destOrd="0" presId="urn:microsoft.com/office/officeart/2005/8/layout/balance1"/>
    <dgm:cxn modelId="{0F85873C-F23D-4771-A7EA-F9765D47D30B}" type="presParOf" srcId="{34C368C8-A8FF-4F73-A3BC-A554431C8F57}" destId="{0C2C8C18-BB22-48A0-ADF5-548946CDC08F}" srcOrd="0" destOrd="0" presId="urn:microsoft.com/office/officeart/2005/8/layout/balance1"/>
    <dgm:cxn modelId="{52E659EA-20E1-41B3-9B22-060E61DD2BDF}" type="presParOf" srcId="{34C368C8-A8FF-4F73-A3BC-A554431C8F57}" destId="{3EFDE569-E59E-49B1-928E-B5FDAFF8D823}" srcOrd="1" destOrd="0" presId="urn:microsoft.com/office/officeart/2005/8/layout/balance1"/>
    <dgm:cxn modelId="{C0CB6D9A-DF16-4DC0-AEB8-5CEE336C057F}" type="presParOf" srcId="{1748CBAA-EF1B-4A7E-83C7-C25E9E43F623}" destId="{14522FFE-A6A2-4556-A060-B198680196E7}" srcOrd="2" destOrd="0" presId="urn:microsoft.com/office/officeart/2005/8/layout/balance1"/>
    <dgm:cxn modelId="{4DC78CE8-1EA0-43B8-818D-6BC52313C5E9}" type="presParOf" srcId="{14522FFE-A6A2-4556-A060-B198680196E7}" destId="{45BCB825-8049-41D4-85D3-AB496D15C016}" srcOrd="0" destOrd="0" presId="urn:microsoft.com/office/officeart/2005/8/layout/balance1"/>
    <dgm:cxn modelId="{E6E8404F-F282-4980-875F-D92CEBA95165}" type="presParOf" srcId="{14522FFE-A6A2-4556-A060-B198680196E7}" destId="{1F2A4381-1A38-4FCC-B197-636ADD36617A}" srcOrd="1" destOrd="0" presId="urn:microsoft.com/office/officeart/2005/8/layout/balance1"/>
    <dgm:cxn modelId="{D06B7853-3D9B-419C-B873-7F00EE812329}" type="presParOf" srcId="{14522FFE-A6A2-4556-A060-B198680196E7}" destId="{ECE89A2D-1D2B-4548-BC78-71F9C54134DA}" srcOrd="2" destOrd="0" presId="urn:microsoft.com/office/officeart/2005/8/layout/balance1"/>
    <dgm:cxn modelId="{4AFABA27-3DA9-4B78-9439-AE513EE26D61}" type="presParOf" srcId="{14522FFE-A6A2-4556-A060-B198680196E7}" destId="{83A25950-3C51-4F31-A3C1-86C38489660E}" srcOrd="3" destOrd="0" presId="urn:microsoft.com/office/officeart/2005/8/layout/balance1"/>
    <dgm:cxn modelId="{D80E5461-DFB5-4724-BC13-75494805F5B4}" type="presParOf" srcId="{14522FFE-A6A2-4556-A060-B198680196E7}" destId="{178D41AC-DF01-44B8-91F8-2D35A8A99493}" srcOrd="4" destOrd="0" presId="urn:microsoft.com/office/officeart/2005/8/layout/balance1"/>
    <dgm:cxn modelId="{6036D29A-B962-4C05-B614-03E95D5D72CF}" type="presParOf" srcId="{14522FFE-A6A2-4556-A060-B198680196E7}" destId="{9669FBE4-1A05-4A2A-ABA1-47D943FFC35F}" srcOrd="5" destOrd="0" presId="urn:microsoft.com/office/officeart/2005/8/layout/balance1"/>
    <dgm:cxn modelId="{32FC0369-B014-426B-BA4D-B99F01EC69EF}" type="presParOf" srcId="{14522FFE-A6A2-4556-A060-B198680196E7}" destId="{D3419466-971C-48A4-840E-53E8156ADD97}" srcOrd="6" destOrd="0" presId="urn:microsoft.com/office/officeart/2005/8/layout/balance1"/>
    <dgm:cxn modelId="{8E654375-AE9B-436A-9B97-77F111CCFF2D}" type="presParOf" srcId="{14522FFE-A6A2-4556-A060-B198680196E7}" destId="{8FFAE1D4-E0FD-436A-AFC2-F01A6BA71817}" srcOrd="7" destOrd="0" presId="urn:microsoft.com/office/officeart/2005/8/layout/balance1"/>
    <dgm:cxn modelId="{E284E9A2-8A35-4F45-8923-F53A2170F09D}" type="presParOf" srcId="{14522FFE-A6A2-4556-A060-B198680196E7}" destId="{E0232CA3-3AC9-4DBC-8C9E-C4B514E62587}" srcOrd="8" destOrd="0" presId="urn:microsoft.com/office/officeart/2005/8/layout/balance1"/>
    <dgm:cxn modelId="{5158068E-EBDD-4C55-9984-057B2D89EE64}" type="presParOf" srcId="{14522FFE-A6A2-4556-A060-B198680196E7}" destId="{3D080DC1-C13B-473A-93F7-A89C5C67EC88}" srcOrd="9" destOrd="0" presId="urn:microsoft.com/office/officeart/2005/8/layout/balance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F310642-AF78-4539-AA2E-F9BD8922CD48}" type="doc">
      <dgm:prSet loTypeId="urn:microsoft.com/office/officeart/2005/8/layout/pyramid1" loCatId="pyramid" qsTypeId="urn:microsoft.com/office/officeart/2005/8/quickstyle/simple1" qsCatId="simple" csTypeId="urn:microsoft.com/office/officeart/2005/8/colors/accent1_2" csCatId="accent1" phldr="1"/>
      <dgm:spPr/>
      <dgm:t>
        <a:bodyPr/>
        <a:lstStyle/>
        <a:p>
          <a:endParaRPr lang="en-US"/>
        </a:p>
      </dgm:t>
    </dgm:pt>
    <dgm:pt modelId="{AC31465C-60DF-4225-A3B6-97DEB743B9A9}">
      <dgm:prSet phldrT="[Text]" phldr="0"/>
      <dgm:spPr/>
      <dgm:t>
        <a:bodyPr/>
        <a:lstStyle/>
        <a:p>
          <a:r>
            <a:rPr lang="en-US"/>
            <a:t>Allow for scaling, achievable within 1-3 years</a:t>
          </a:r>
        </a:p>
      </dgm:t>
    </dgm:pt>
    <dgm:pt modelId="{1CD16862-BAD6-4D16-AD92-79AE640A2A92}" type="parTrans" cxnId="{CC4A928E-00A3-4BC4-A902-977FFC7621F2}">
      <dgm:prSet/>
      <dgm:spPr/>
      <dgm:t>
        <a:bodyPr/>
        <a:lstStyle/>
        <a:p>
          <a:endParaRPr lang="en-US"/>
        </a:p>
      </dgm:t>
    </dgm:pt>
    <dgm:pt modelId="{9A9D4B8F-5F9D-4211-B2B0-FD37ED63DBE2}" type="sibTrans" cxnId="{CC4A928E-00A3-4BC4-A902-977FFC7621F2}">
      <dgm:prSet/>
      <dgm:spPr/>
      <dgm:t>
        <a:bodyPr/>
        <a:lstStyle/>
        <a:p>
          <a:endParaRPr lang="en-US"/>
        </a:p>
      </dgm:t>
    </dgm:pt>
    <dgm:pt modelId="{ADC7FF75-330F-4DDF-977B-4DF6BF07FCD7}">
      <dgm:prSet phldrT="[Text]" phldr="0"/>
      <dgm:spPr/>
      <dgm:t>
        <a:bodyPr/>
        <a:lstStyle/>
        <a:p>
          <a:r>
            <a:rPr lang="en-US"/>
            <a:t>Assume no new invention of technologies </a:t>
          </a:r>
        </a:p>
      </dgm:t>
    </dgm:pt>
    <dgm:pt modelId="{F30863BA-AACA-4D22-A56D-24F2A7A5F10B}" type="parTrans" cxnId="{DABAFBFE-44EA-4B92-9B53-C6A18AAF8C1D}">
      <dgm:prSet/>
      <dgm:spPr/>
      <dgm:t>
        <a:bodyPr/>
        <a:lstStyle/>
        <a:p>
          <a:endParaRPr lang="en-US"/>
        </a:p>
      </dgm:t>
    </dgm:pt>
    <dgm:pt modelId="{B3A97A75-A176-4914-8D32-41DF1D43D180}" type="sibTrans" cxnId="{DABAFBFE-44EA-4B92-9B53-C6A18AAF8C1D}">
      <dgm:prSet/>
      <dgm:spPr/>
      <dgm:t>
        <a:bodyPr/>
        <a:lstStyle/>
        <a:p>
          <a:endParaRPr lang="en-US"/>
        </a:p>
      </dgm:t>
    </dgm:pt>
    <dgm:pt modelId="{55E8252F-4EB3-48FA-80CA-2E0518417996}">
      <dgm:prSet phldrT="[Text]" phldr="0"/>
      <dgm:spPr/>
      <dgm:t>
        <a:bodyPr/>
        <a:lstStyle/>
        <a:p>
          <a:r>
            <a:rPr lang="en-US"/>
            <a:t>Focus on a single group</a:t>
          </a:r>
        </a:p>
      </dgm:t>
    </dgm:pt>
    <dgm:pt modelId="{65DBD816-D8B9-4D29-95EF-540380648B0C}" type="parTrans" cxnId="{78E5A14D-68E0-4899-9E46-53ECF178337A}">
      <dgm:prSet/>
      <dgm:spPr/>
      <dgm:t>
        <a:bodyPr/>
        <a:lstStyle/>
        <a:p>
          <a:endParaRPr lang="en-US"/>
        </a:p>
      </dgm:t>
    </dgm:pt>
    <dgm:pt modelId="{5F48C443-BD53-4B98-967B-C800D69BD5F3}" type="sibTrans" cxnId="{78E5A14D-68E0-4899-9E46-53ECF178337A}">
      <dgm:prSet/>
      <dgm:spPr/>
      <dgm:t>
        <a:bodyPr/>
        <a:lstStyle/>
        <a:p>
          <a:endParaRPr lang="en-US"/>
        </a:p>
      </dgm:t>
    </dgm:pt>
    <dgm:pt modelId="{FFED72C0-4BC1-4D9F-A944-81BA6FD001D2}">
      <dgm:prSet phldrT="[Text]" phldr="0"/>
      <dgm:spPr/>
      <dgm:t>
        <a:bodyPr/>
        <a:lstStyle/>
        <a:p>
          <a:r>
            <a:rPr lang="en-US"/>
            <a:t>Leverage existing APTIM Capabilites </a:t>
          </a:r>
        </a:p>
      </dgm:t>
    </dgm:pt>
    <dgm:pt modelId="{D47936C4-3A5F-4D5C-80C8-C34348A939B5}" type="parTrans" cxnId="{77D8A488-CF35-43E5-A6B4-AB9C5CECFDC8}">
      <dgm:prSet/>
      <dgm:spPr/>
      <dgm:t>
        <a:bodyPr/>
        <a:lstStyle/>
        <a:p>
          <a:endParaRPr lang="en-US"/>
        </a:p>
      </dgm:t>
    </dgm:pt>
    <dgm:pt modelId="{4E039D45-96DE-4F8D-88E1-B9A329C6208E}" type="sibTrans" cxnId="{77D8A488-CF35-43E5-A6B4-AB9C5CECFDC8}">
      <dgm:prSet/>
      <dgm:spPr/>
      <dgm:t>
        <a:bodyPr/>
        <a:lstStyle/>
        <a:p>
          <a:endParaRPr lang="en-US"/>
        </a:p>
      </dgm:t>
    </dgm:pt>
    <dgm:pt modelId="{946C0171-EA12-4B0D-965E-C5E8D53DAB94}" type="pres">
      <dgm:prSet presAssocID="{DF310642-AF78-4539-AA2E-F9BD8922CD48}" presName="Name0" presStyleCnt="0">
        <dgm:presLayoutVars>
          <dgm:dir/>
          <dgm:animLvl val="lvl"/>
          <dgm:resizeHandles val="exact"/>
        </dgm:presLayoutVars>
      </dgm:prSet>
      <dgm:spPr/>
    </dgm:pt>
    <dgm:pt modelId="{26C686FF-057C-4F28-8AAB-5E89E6BD7104}" type="pres">
      <dgm:prSet presAssocID="{55E8252F-4EB3-48FA-80CA-2E0518417996}" presName="Name8" presStyleCnt="0"/>
      <dgm:spPr/>
    </dgm:pt>
    <dgm:pt modelId="{A9920BA5-B028-4B13-9CCE-7DDE9FD75016}" type="pres">
      <dgm:prSet presAssocID="{55E8252F-4EB3-48FA-80CA-2E0518417996}" presName="level" presStyleLbl="node1" presStyleIdx="0" presStyleCnt="4">
        <dgm:presLayoutVars>
          <dgm:chMax val="1"/>
          <dgm:bulletEnabled val="1"/>
        </dgm:presLayoutVars>
      </dgm:prSet>
      <dgm:spPr/>
    </dgm:pt>
    <dgm:pt modelId="{D8789522-6804-4EFA-8E32-1B80526CA78D}" type="pres">
      <dgm:prSet presAssocID="{55E8252F-4EB3-48FA-80CA-2E0518417996}" presName="levelTx" presStyleLbl="revTx" presStyleIdx="0" presStyleCnt="0">
        <dgm:presLayoutVars>
          <dgm:chMax val="1"/>
          <dgm:bulletEnabled val="1"/>
        </dgm:presLayoutVars>
      </dgm:prSet>
      <dgm:spPr/>
    </dgm:pt>
    <dgm:pt modelId="{F06BB68B-39AE-4F57-B711-3189EAB2307D}" type="pres">
      <dgm:prSet presAssocID="{ADC7FF75-330F-4DDF-977B-4DF6BF07FCD7}" presName="Name8" presStyleCnt="0"/>
      <dgm:spPr/>
    </dgm:pt>
    <dgm:pt modelId="{E3A0DA67-1C43-4242-B3CB-FDDDA9E7374A}" type="pres">
      <dgm:prSet presAssocID="{ADC7FF75-330F-4DDF-977B-4DF6BF07FCD7}" presName="level" presStyleLbl="node1" presStyleIdx="1" presStyleCnt="4">
        <dgm:presLayoutVars>
          <dgm:chMax val="1"/>
          <dgm:bulletEnabled val="1"/>
        </dgm:presLayoutVars>
      </dgm:prSet>
      <dgm:spPr/>
    </dgm:pt>
    <dgm:pt modelId="{9B11EDC3-F7BB-4828-B13C-1AC543C049E8}" type="pres">
      <dgm:prSet presAssocID="{ADC7FF75-330F-4DDF-977B-4DF6BF07FCD7}" presName="levelTx" presStyleLbl="revTx" presStyleIdx="0" presStyleCnt="0">
        <dgm:presLayoutVars>
          <dgm:chMax val="1"/>
          <dgm:bulletEnabled val="1"/>
        </dgm:presLayoutVars>
      </dgm:prSet>
      <dgm:spPr/>
    </dgm:pt>
    <dgm:pt modelId="{953C0FDD-338E-4B4E-ADEA-16FC973CEB50}" type="pres">
      <dgm:prSet presAssocID="{FFED72C0-4BC1-4D9F-A944-81BA6FD001D2}" presName="Name8" presStyleCnt="0"/>
      <dgm:spPr/>
    </dgm:pt>
    <dgm:pt modelId="{8FDEED87-5058-491D-8CB6-C74AEDBE1F8F}" type="pres">
      <dgm:prSet presAssocID="{FFED72C0-4BC1-4D9F-A944-81BA6FD001D2}" presName="level" presStyleLbl="node1" presStyleIdx="2" presStyleCnt="4">
        <dgm:presLayoutVars>
          <dgm:chMax val="1"/>
          <dgm:bulletEnabled val="1"/>
        </dgm:presLayoutVars>
      </dgm:prSet>
      <dgm:spPr/>
    </dgm:pt>
    <dgm:pt modelId="{8E55CC66-D2C8-41DF-B39A-6BD753949659}" type="pres">
      <dgm:prSet presAssocID="{FFED72C0-4BC1-4D9F-A944-81BA6FD001D2}" presName="levelTx" presStyleLbl="revTx" presStyleIdx="0" presStyleCnt="0">
        <dgm:presLayoutVars>
          <dgm:chMax val="1"/>
          <dgm:bulletEnabled val="1"/>
        </dgm:presLayoutVars>
      </dgm:prSet>
      <dgm:spPr/>
    </dgm:pt>
    <dgm:pt modelId="{E9C1F72B-AFCA-4638-B6D2-AFAB194F1E11}" type="pres">
      <dgm:prSet presAssocID="{AC31465C-60DF-4225-A3B6-97DEB743B9A9}" presName="Name8" presStyleCnt="0"/>
      <dgm:spPr/>
    </dgm:pt>
    <dgm:pt modelId="{591B9AF5-E465-4123-B631-9924CE4CCCB1}" type="pres">
      <dgm:prSet presAssocID="{AC31465C-60DF-4225-A3B6-97DEB743B9A9}" presName="level" presStyleLbl="node1" presStyleIdx="3" presStyleCnt="4">
        <dgm:presLayoutVars>
          <dgm:chMax val="1"/>
          <dgm:bulletEnabled val="1"/>
        </dgm:presLayoutVars>
      </dgm:prSet>
      <dgm:spPr/>
    </dgm:pt>
    <dgm:pt modelId="{5B8979E7-67F1-48F0-9B8A-7B6CF256AB8C}" type="pres">
      <dgm:prSet presAssocID="{AC31465C-60DF-4225-A3B6-97DEB743B9A9}" presName="levelTx" presStyleLbl="revTx" presStyleIdx="0" presStyleCnt="0">
        <dgm:presLayoutVars>
          <dgm:chMax val="1"/>
          <dgm:bulletEnabled val="1"/>
        </dgm:presLayoutVars>
      </dgm:prSet>
      <dgm:spPr/>
    </dgm:pt>
  </dgm:ptLst>
  <dgm:cxnLst>
    <dgm:cxn modelId="{AED21F35-EDD5-4B79-B4B3-277CDCEC3E57}" type="presOf" srcId="{ADC7FF75-330F-4DDF-977B-4DF6BF07FCD7}" destId="{E3A0DA67-1C43-4242-B3CB-FDDDA9E7374A}" srcOrd="0" destOrd="0" presId="urn:microsoft.com/office/officeart/2005/8/layout/pyramid1"/>
    <dgm:cxn modelId="{78E5A14D-68E0-4899-9E46-53ECF178337A}" srcId="{DF310642-AF78-4539-AA2E-F9BD8922CD48}" destId="{55E8252F-4EB3-48FA-80CA-2E0518417996}" srcOrd="0" destOrd="0" parTransId="{65DBD816-D8B9-4D29-95EF-540380648B0C}" sibTransId="{5F48C443-BD53-4B98-967B-C800D69BD5F3}"/>
    <dgm:cxn modelId="{C2CCFD7B-53B2-4432-92BC-9DF427D73BD0}" type="presOf" srcId="{ADC7FF75-330F-4DDF-977B-4DF6BF07FCD7}" destId="{9B11EDC3-F7BB-4828-B13C-1AC543C049E8}" srcOrd="1" destOrd="0" presId="urn:microsoft.com/office/officeart/2005/8/layout/pyramid1"/>
    <dgm:cxn modelId="{18ECA582-4333-47B2-9061-6F98CDA53436}" type="presOf" srcId="{DF310642-AF78-4539-AA2E-F9BD8922CD48}" destId="{946C0171-EA12-4B0D-965E-C5E8D53DAB94}" srcOrd="0" destOrd="0" presId="urn:microsoft.com/office/officeart/2005/8/layout/pyramid1"/>
    <dgm:cxn modelId="{77D8A488-CF35-43E5-A6B4-AB9C5CECFDC8}" srcId="{DF310642-AF78-4539-AA2E-F9BD8922CD48}" destId="{FFED72C0-4BC1-4D9F-A944-81BA6FD001D2}" srcOrd="2" destOrd="0" parTransId="{D47936C4-3A5F-4D5C-80C8-C34348A939B5}" sibTransId="{4E039D45-96DE-4F8D-88E1-B9A329C6208E}"/>
    <dgm:cxn modelId="{CC4A928E-00A3-4BC4-A902-977FFC7621F2}" srcId="{DF310642-AF78-4539-AA2E-F9BD8922CD48}" destId="{AC31465C-60DF-4225-A3B6-97DEB743B9A9}" srcOrd="3" destOrd="0" parTransId="{1CD16862-BAD6-4D16-AD92-79AE640A2A92}" sibTransId="{9A9D4B8F-5F9D-4211-B2B0-FD37ED63DBE2}"/>
    <dgm:cxn modelId="{F1AF138F-07AB-4452-A775-3ECA188A373F}" type="presOf" srcId="{FFED72C0-4BC1-4D9F-A944-81BA6FD001D2}" destId="{8E55CC66-D2C8-41DF-B39A-6BD753949659}" srcOrd="1" destOrd="0" presId="urn:microsoft.com/office/officeart/2005/8/layout/pyramid1"/>
    <dgm:cxn modelId="{D46349D0-4C7B-43F5-A911-3FCB2F99651D}" type="presOf" srcId="{55E8252F-4EB3-48FA-80CA-2E0518417996}" destId="{A9920BA5-B028-4B13-9CCE-7DDE9FD75016}" srcOrd="0" destOrd="0" presId="urn:microsoft.com/office/officeart/2005/8/layout/pyramid1"/>
    <dgm:cxn modelId="{D793BCD1-7DC0-4F6F-AB39-08D2F31AFA8D}" type="presOf" srcId="{55E8252F-4EB3-48FA-80CA-2E0518417996}" destId="{D8789522-6804-4EFA-8E32-1B80526CA78D}" srcOrd="1" destOrd="0" presId="urn:microsoft.com/office/officeart/2005/8/layout/pyramid1"/>
    <dgm:cxn modelId="{20EC68EE-A80C-497A-A3C8-62CADF3FB1E8}" type="presOf" srcId="{FFED72C0-4BC1-4D9F-A944-81BA6FD001D2}" destId="{8FDEED87-5058-491D-8CB6-C74AEDBE1F8F}" srcOrd="0" destOrd="0" presId="urn:microsoft.com/office/officeart/2005/8/layout/pyramid1"/>
    <dgm:cxn modelId="{978470F2-75CF-4634-B8E2-626A475293D4}" type="presOf" srcId="{AC31465C-60DF-4225-A3B6-97DEB743B9A9}" destId="{5B8979E7-67F1-48F0-9B8A-7B6CF256AB8C}" srcOrd="1" destOrd="0" presId="urn:microsoft.com/office/officeart/2005/8/layout/pyramid1"/>
    <dgm:cxn modelId="{1D89C2FC-BFFE-4A54-A3B3-C136308A5E4A}" type="presOf" srcId="{AC31465C-60DF-4225-A3B6-97DEB743B9A9}" destId="{591B9AF5-E465-4123-B631-9924CE4CCCB1}" srcOrd="0" destOrd="0" presId="urn:microsoft.com/office/officeart/2005/8/layout/pyramid1"/>
    <dgm:cxn modelId="{DABAFBFE-44EA-4B92-9B53-C6A18AAF8C1D}" srcId="{DF310642-AF78-4539-AA2E-F9BD8922CD48}" destId="{ADC7FF75-330F-4DDF-977B-4DF6BF07FCD7}" srcOrd="1" destOrd="0" parTransId="{F30863BA-AACA-4D22-A56D-24F2A7A5F10B}" sibTransId="{B3A97A75-A176-4914-8D32-41DF1D43D180}"/>
    <dgm:cxn modelId="{359383A1-6AE7-427E-BC81-6E03724405F4}" type="presParOf" srcId="{946C0171-EA12-4B0D-965E-C5E8D53DAB94}" destId="{26C686FF-057C-4F28-8AAB-5E89E6BD7104}" srcOrd="0" destOrd="0" presId="urn:microsoft.com/office/officeart/2005/8/layout/pyramid1"/>
    <dgm:cxn modelId="{AEFFB2D3-B363-475D-84A6-35A8D1CD552B}" type="presParOf" srcId="{26C686FF-057C-4F28-8AAB-5E89E6BD7104}" destId="{A9920BA5-B028-4B13-9CCE-7DDE9FD75016}" srcOrd="0" destOrd="0" presId="urn:microsoft.com/office/officeart/2005/8/layout/pyramid1"/>
    <dgm:cxn modelId="{BFCE2943-3BC9-4A91-9105-76CCD6620FE6}" type="presParOf" srcId="{26C686FF-057C-4F28-8AAB-5E89E6BD7104}" destId="{D8789522-6804-4EFA-8E32-1B80526CA78D}" srcOrd="1" destOrd="0" presId="urn:microsoft.com/office/officeart/2005/8/layout/pyramid1"/>
    <dgm:cxn modelId="{D742FAB0-1BED-431C-9B77-1D05B0AC920C}" type="presParOf" srcId="{946C0171-EA12-4B0D-965E-C5E8D53DAB94}" destId="{F06BB68B-39AE-4F57-B711-3189EAB2307D}" srcOrd="1" destOrd="0" presId="urn:microsoft.com/office/officeart/2005/8/layout/pyramid1"/>
    <dgm:cxn modelId="{BC0EA149-4A28-46D1-BD7A-27F7959DF476}" type="presParOf" srcId="{F06BB68B-39AE-4F57-B711-3189EAB2307D}" destId="{E3A0DA67-1C43-4242-B3CB-FDDDA9E7374A}" srcOrd="0" destOrd="0" presId="urn:microsoft.com/office/officeart/2005/8/layout/pyramid1"/>
    <dgm:cxn modelId="{D505BA94-E101-424A-96C5-EE0A26D9292A}" type="presParOf" srcId="{F06BB68B-39AE-4F57-B711-3189EAB2307D}" destId="{9B11EDC3-F7BB-4828-B13C-1AC543C049E8}" srcOrd="1" destOrd="0" presId="urn:microsoft.com/office/officeart/2005/8/layout/pyramid1"/>
    <dgm:cxn modelId="{D5A384C7-C9D2-43CD-9706-CC8032E64392}" type="presParOf" srcId="{946C0171-EA12-4B0D-965E-C5E8D53DAB94}" destId="{953C0FDD-338E-4B4E-ADEA-16FC973CEB50}" srcOrd="2" destOrd="0" presId="urn:microsoft.com/office/officeart/2005/8/layout/pyramid1"/>
    <dgm:cxn modelId="{C2054438-7F94-4187-AF51-46F072218A68}" type="presParOf" srcId="{953C0FDD-338E-4B4E-ADEA-16FC973CEB50}" destId="{8FDEED87-5058-491D-8CB6-C74AEDBE1F8F}" srcOrd="0" destOrd="0" presId="urn:microsoft.com/office/officeart/2005/8/layout/pyramid1"/>
    <dgm:cxn modelId="{B6403061-DE94-4D7D-BE4C-1965418DD137}" type="presParOf" srcId="{953C0FDD-338E-4B4E-ADEA-16FC973CEB50}" destId="{8E55CC66-D2C8-41DF-B39A-6BD753949659}" srcOrd="1" destOrd="0" presId="urn:microsoft.com/office/officeart/2005/8/layout/pyramid1"/>
    <dgm:cxn modelId="{372D6EC2-8DFC-45A9-9D35-6AFF9CDC4D0B}" type="presParOf" srcId="{946C0171-EA12-4B0D-965E-C5E8D53DAB94}" destId="{E9C1F72B-AFCA-4638-B6D2-AFAB194F1E11}" srcOrd="3" destOrd="0" presId="urn:microsoft.com/office/officeart/2005/8/layout/pyramid1"/>
    <dgm:cxn modelId="{E2B1DDED-D3FE-4540-8B3D-1DBFBC7E8F9A}" type="presParOf" srcId="{E9C1F72B-AFCA-4638-B6D2-AFAB194F1E11}" destId="{591B9AF5-E465-4123-B631-9924CE4CCCB1}" srcOrd="0" destOrd="0" presId="urn:microsoft.com/office/officeart/2005/8/layout/pyramid1"/>
    <dgm:cxn modelId="{F83E09E7-BAB5-47F2-965D-EFDD3718F212}" type="presParOf" srcId="{E9C1F72B-AFCA-4638-B6D2-AFAB194F1E11}" destId="{5B8979E7-67F1-48F0-9B8A-7B6CF256AB8C}" srcOrd="1" destOrd="0" presId="urn:microsoft.com/office/officeart/2005/8/layout/pyramid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5AF69384-9BCD-4507-AD21-92C050EF8D63}"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F300FE60-F17C-45C0-B48E-45EB60D853B7}">
      <dgm:prSet phldrT="[Text]" phldr="0" custT="1"/>
      <dgm:spPr/>
      <dgm:t>
        <a:bodyPr/>
        <a:lstStyle/>
        <a:p>
          <a:pPr algn="ctr"/>
          <a:endParaRPr lang="en-US" sz="2400"/>
        </a:p>
      </dgm:t>
    </dgm:pt>
    <dgm:pt modelId="{73C368F7-4EE6-41A7-9244-45AD56F3EAF3}" type="parTrans" cxnId="{E41C84D2-1359-4EFF-A509-889E48314BE7}">
      <dgm:prSet/>
      <dgm:spPr/>
      <dgm:t>
        <a:bodyPr/>
        <a:lstStyle/>
        <a:p>
          <a:pPr algn="ctr"/>
          <a:endParaRPr lang="en-US"/>
        </a:p>
      </dgm:t>
    </dgm:pt>
    <dgm:pt modelId="{695DA213-0ED2-4784-85D6-1E8EFE697BBE}" type="sibTrans" cxnId="{E41C84D2-1359-4EFF-A509-889E48314BE7}">
      <dgm:prSet/>
      <dgm:spPr/>
      <dgm:t>
        <a:bodyPr/>
        <a:lstStyle/>
        <a:p>
          <a:pPr algn="ctr"/>
          <a:endParaRPr lang="en-US"/>
        </a:p>
      </dgm:t>
    </dgm:pt>
    <dgm:pt modelId="{D6D147BA-82F2-4B85-B379-498CC1A3B854}">
      <dgm:prSet phldrT="[Text]" phldr="0" custT="1"/>
      <dgm:spPr/>
      <dgm:t>
        <a:bodyPr/>
        <a:lstStyle/>
        <a:p>
          <a:pPr algn="ctr"/>
          <a:r>
            <a:rPr lang="en-US" sz="2000" b="1"/>
            <a:t>Leverages Existing Capabilities</a:t>
          </a:r>
        </a:p>
      </dgm:t>
    </dgm:pt>
    <dgm:pt modelId="{506406EC-F81F-42F8-98E3-C7F323C5915E}" type="parTrans" cxnId="{D92E2D94-EC55-48C5-8298-BA760CD67CDA}">
      <dgm:prSet/>
      <dgm:spPr/>
      <dgm:t>
        <a:bodyPr/>
        <a:lstStyle/>
        <a:p>
          <a:pPr algn="ctr"/>
          <a:endParaRPr lang="en-US"/>
        </a:p>
      </dgm:t>
    </dgm:pt>
    <dgm:pt modelId="{68EFD7F4-35E3-45FC-B14C-BCEC136DF958}" type="sibTrans" cxnId="{D92E2D94-EC55-48C5-8298-BA760CD67CDA}">
      <dgm:prSet/>
      <dgm:spPr/>
      <dgm:t>
        <a:bodyPr/>
        <a:lstStyle/>
        <a:p>
          <a:pPr algn="ctr"/>
          <a:endParaRPr lang="en-US"/>
        </a:p>
      </dgm:t>
    </dgm:pt>
    <dgm:pt modelId="{3E4CC3C3-3092-4B4E-B61F-6F9F89A65FCA}">
      <dgm:prSet phldrT="[Text]" phldr="0" custT="1"/>
      <dgm:spPr/>
      <dgm:t>
        <a:bodyPr/>
        <a:lstStyle/>
        <a:p>
          <a:pPr algn="ctr"/>
          <a:endParaRPr lang="en-US" sz="2000"/>
        </a:p>
      </dgm:t>
    </dgm:pt>
    <dgm:pt modelId="{D71D0B0F-B894-4927-A779-2487E7755B13}" type="parTrans" cxnId="{321968A0-5D59-4F57-9071-608F8ACB2A64}">
      <dgm:prSet/>
      <dgm:spPr/>
      <dgm:t>
        <a:bodyPr/>
        <a:lstStyle/>
        <a:p>
          <a:pPr algn="ctr"/>
          <a:endParaRPr lang="en-US"/>
        </a:p>
      </dgm:t>
    </dgm:pt>
    <dgm:pt modelId="{29C1D8B3-9A22-42CA-9647-EC77320E8D6C}" type="sibTrans" cxnId="{321968A0-5D59-4F57-9071-608F8ACB2A64}">
      <dgm:prSet/>
      <dgm:spPr/>
      <dgm:t>
        <a:bodyPr/>
        <a:lstStyle/>
        <a:p>
          <a:pPr algn="ctr"/>
          <a:endParaRPr lang="en-US"/>
        </a:p>
      </dgm:t>
    </dgm:pt>
    <dgm:pt modelId="{069ED7ED-6660-4738-950D-5C58815B444F}">
      <dgm:prSet phldrT="[Text]" phldr="0" custT="1"/>
      <dgm:spPr/>
      <dgm:t>
        <a:bodyPr/>
        <a:lstStyle/>
        <a:p>
          <a:pPr algn="ctr"/>
          <a:r>
            <a:rPr lang="en-US" sz="2000"/>
            <a:t>Scales Growth In Existing Relationships</a:t>
          </a:r>
        </a:p>
      </dgm:t>
    </dgm:pt>
    <dgm:pt modelId="{227A1879-BAEA-450C-B65B-978C009E6A14}" type="parTrans" cxnId="{222E413F-A75F-455D-92F2-C204FFAC51EB}">
      <dgm:prSet/>
      <dgm:spPr/>
      <dgm:t>
        <a:bodyPr/>
        <a:lstStyle/>
        <a:p>
          <a:pPr algn="ctr"/>
          <a:endParaRPr lang="en-US"/>
        </a:p>
      </dgm:t>
    </dgm:pt>
    <dgm:pt modelId="{47FBE326-04FB-4ED6-8D6F-4BE48496E785}" type="sibTrans" cxnId="{222E413F-A75F-455D-92F2-C204FFAC51EB}">
      <dgm:prSet/>
      <dgm:spPr/>
      <dgm:t>
        <a:bodyPr/>
        <a:lstStyle/>
        <a:p>
          <a:pPr algn="ctr"/>
          <a:endParaRPr lang="en-US"/>
        </a:p>
      </dgm:t>
    </dgm:pt>
    <dgm:pt modelId="{8EE29E9D-AE93-4854-AAD1-B5D9E06F3242}">
      <dgm:prSet phldrT="[Text]" phldr="0" custT="1"/>
      <dgm:spPr/>
      <dgm:t>
        <a:bodyPr/>
        <a:lstStyle/>
        <a:p>
          <a:pPr algn="ctr"/>
          <a:endParaRPr lang="en-US" sz="2000"/>
        </a:p>
      </dgm:t>
    </dgm:pt>
    <dgm:pt modelId="{ECCA27D0-57FB-47E4-BAFF-7155320219AB}" type="parTrans" cxnId="{A57EE05D-722F-4736-851B-71F776D549BA}">
      <dgm:prSet/>
      <dgm:spPr/>
      <dgm:t>
        <a:bodyPr/>
        <a:lstStyle/>
        <a:p>
          <a:pPr algn="ctr"/>
          <a:endParaRPr lang="en-US"/>
        </a:p>
      </dgm:t>
    </dgm:pt>
    <dgm:pt modelId="{DDB359C6-B359-4118-A592-311D2E3CCAF4}" type="sibTrans" cxnId="{A57EE05D-722F-4736-851B-71F776D549BA}">
      <dgm:prSet/>
      <dgm:spPr/>
      <dgm:t>
        <a:bodyPr/>
        <a:lstStyle/>
        <a:p>
          <a:pPr algn="ctr"/>
          <a:endParaRPr lang="en-US"/>
        </a:p>
      </dgm:t>
    </dgm:pt>
    <dgm:pt modelId="{1D782F2D-5BF3-4574-A95A-6370DB6528ED}">
      <dgm:prSet phldrT="[Text]" phldr="0" custT="1"/>
      <dgm:spPr/>
      <dgm:t>
        <a:bodyPr/>
        <a:lstStyle/>
        <a:p>
          <a:pPr algn="ctr"/>
          <a:r>
            <a:rPr lang="en-US" sz="2000"/>
            <a:t>Creates Resilient Revenue </a:t>
          </a:r>
        </a:p>
      </dgm:t>
    </dgm:pt>
    <dgm:pt modelId="{4E57ED84-D57B-4150-AC5E-F91E5E06B5C0}" type="parTrans" cxnId="{C3239D15-0E4A-4FB4-8BB9-1948B5633583}">
      <dgm:prSet/>
      <dgm:spPr/>
      <dgm:t>
        <a:bodyPr/>
        <a:lstStyle/>
        <a:p>
          <a:pPr algn="ctr"/>
          <a:endParaRPr lang="en-US"/>
        </a:p>
      </dgm:t>
    </dgm:pt>
    <dgm:pt modelId="{4F7DD17F-0C73-4816-B515-18968B35BE5D}" type="sibTrans" cxnId="{C3239D15-0E4A-4FB4-8BB9-1948B5633583}">
      <dgm:prSet/>
      <dgm:spPr/>
      <dgm:t>
        <a:bodyPr/>
        <a:lstStyle/>
        <a:p>
          <a:pPr algn="ctr"/>
          <a:endParaRPr lang="en-US"/>
        </a:p>
      </dgm:t>
    </dgm:pt>
    <dgm:pt modelId="{97A995A3-AF6E-47D6-8A46-2D239EAF83DE}">
      <dgm:prSet phldrT="[Text]" phldr="0" custT="1"/>
      <dgm:spPr/>
      <dgm:t>
        <a:bodyPr/>
        <a:lstStyle/>
        <a:p>
          <a:pPr algn="ctr"/>
          <a:r>
            <a:rPr lang="en-US" sz="2000"/>
            <a:t>Expands Into New Markets</a:t>
          </a:r>
          <a:endParaRPr lang="en-US" sz="2000" b="1"/>
        </a:p>
      </dgm:t>
    </dgm:pt>
    <dgm:pt modelId="{A2E7FD06-1397-4C4C-B717-7F9F5DF5B728}" type="parTrans" cxnId="{BB2CC5C4-EF1B-424A-92E1-F1879AC69CFE}">
      <dgm:prSet/>
      <dgm:spPr/>
      <dgm:t>
        <a:bodyPr/>
        <a:lstStyle/>
        <a:p>
          <a:endParaRPr lang="en-US"/>
        </a:p>
      </dgm:t>
    </dgm:pt>
    <dgm:pt modelId="{BE43BCF2-9774-49C6-90CC-6301D5C00374}" type="sibTrans" cxnId="{BB2CC5C4-EF1B-424A-92E1-F1879AC69CFE}">
      <dgm:prSet/>
      <dgm:spPr/>
      <dgm:t>
        <a:bodyPr/>
        <a:lstStyle/>
        <a:p>
          <a:endParaRPr lang="en-US"/>
        </a:p>
      </dgm:t>
    </dgm:pt>
    <dgm:pt modelId="{B6F3960D-2511-407D-A953-E4A5FDE07129}">
      <dgm:prSet phldrT="[Text]" phldr="0" custT="1"/>
      <dgm:spPr/>
      <dgm:t>
        <a:bodyPr/>
        <a:lstStyle/>
        <a:p>
          <a:pPr algn="ctr"/>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dgm:t>
    </dgm:pt>
    <dgm:pt modelId="{CD280A00-213C-4439-ADE9-DB55686768AF}" type="parTrans" cxnId="{745682CF-D07D-4288-B381-899A41B699F9}">
      <dgm:prSet/>
      <dgm:spPr/>
      <dgm:t>
        <a:bodyPr/>
        <a:lstStyle/>
        <a:p>
          <a:endParaRPr lang="en-US"/>
        </a:p>
      </dgm:t>
    </dgm:pt>
    <dgm:pt modelId="{746C1762-824B-4579-B8A9-84B0DF0BDDFC}" type="sibTrans" cxnId="{745682CF-D07D-4288-B381-899A41B699F9}">
      <dgm:prSet/>
      <dgm:spPr/>
      <dgm:t>
        <a:bodyPr/>
        <a:lstStyle/>
        <a:p>
          <a:endParaRPr lang="en-US"/>
        </a:p>
      </dgm:t>
    </dgm:pt>
    <dgm:pt modelId="{B0BC944B-7C1B-4448-BAED-DB8C83B05085}" type="pres">
      <dgm:prSet presAssocID="{5AF69384-9BCD-4507-AD21-92C050EF8D63}" presName="diagram" presStyleCnt="0">
        <dgm:presLayoutVars>
          <dgm:dir/>
          <dgm:resizeHandles val="exact"/>
        </dgm:presLayoutVars>
      </dgm:prSet>
      <dgm:spPr/>
    </dgm:pt>
    <dgm:pt modelId="{141EA34A-8783-4E54-99E6-F0CED26F76DC}" type="pres">
      <dgm:prSet presAssocID="{D6D147BA-82F2-4B85-B379-498CC1A3B854}" presName="node" presStyleLbl="node1" presStyleIdx="0" presStyleCnt="4">
        <dgm:presLayoutVars>
          <dgm:bulletEnabled val="1"/>
        </dgm:presLayoutVars>
      </dgm:prSet>
      <dgm:spPr/>
    </dgm:pt>
    <dgm:pt modelId="{F0F2419E-77A4-4997-97B4-AFA77DDC761A}" type="pres">
      <dgm:prSet presAssocID="{68EFD7F4-35E3-45FC-B14C-BCEC136DF958}" presName="sibTrans" presStyleCnt="0"/>
      <dgm:spPr/>
    </dgm:pt>
    <dgm:pt modelId="{D27E1064-114D-49EC-BEBD-6FCB94E725A0}" type="pres">
      <dgm:prSet presAssocID="{97A995A3-AF6E-47D6-8A46-2D239EAF83DE}" presName="node" presStyleLbl="node1" presStyleIdx="1" presStyleCnt="4">
        <dgm:presLayoutVars>
          <dgm:bulletEnabled val="1"/>
        </dgm:presLayoutVars>
      </dgm:prSet>
      <dgm:spPr/>
    </dgm:pt>
    <dgm:pt modelId="{56F64B45-5152-4A8A-BD93-8AB2749FDA42}" type="pres">
      <dgm:prSet presAssocID="{BE43BCF2-9774-49C6-90CC-6301D5C00374}" presName="sibTrans" presStyleCnt="0"/>
      <dgm:spPr/>
    </dgm:pt>
    <dgm:pt modelId="{D0DF015F-7FF4-4ABA-A386-73E48B97A52D}" type="pres">
      <dgm:prSet presAssocID="{069ED7ED-6660-4738-950D-5C58815B444F}" presName="node" presStyleLbl="node1" presStyleIdx="2" presStyleCnt="4">
        <dgm:presLayoutVars>
          <dgm:bulletEnabled val="1"/>
        </dgm:presLayoutVars>
      </dgm:prSet>
      <dgm:spPr/>
    </dgm:pt>
    <dgm:pt modelId="{082ACF3E-6E7F-4656-B579-2181BDB4E379}" type="pres">
      <dgm:prSet presAssocID="{47FBE326-04FB-4ED6-8D6F-4BE48496E785}" presName="sibTrans" presStyleCnt="0"/>
      <dgm:spPr/>
    </dgm:pt>
    <dgm:pt modelId="{75DA17C1-641B-4EFD-9B48-316CF74F3B0D}" type="pres">
      <dgm:prSet presAssocID="{1D782F2D-5BF3-4574-A95A-6370DB6528ED}" presName="node" presStyleLbl="node1" presStyleIdx="3" presStyleCnt="4">
        <dgm:presLayoutVars>
          <dgm:bulletEnabled val="1"/>
        </dgm:presLayoutVars>
      </dgm:prSet>
      <dgm:spPr/>
    </dgm:pt>
  </dgm:ptLst>
  <dgm:cxnLst>
    <dgm:cxn modelId="{C3239D15-0E4A-4FB4-8BB9-1948B5633583}" srcId="{5AF69384-9BCD-4507-AD21-92C050EF8D63}" destId="{1D782F2D-5BF3-4574-A95A-6370DB6528ED}" srcOrd="3" destOrd="0" parTransId="{4E57ED84-D57B-4150-AC5E-F91E5E06B5C0}" sibTransId="{4F7DD17F-0C73-4816-B515-18968B35BE5D}"/>
    <dgm:cxn modelId="{093A853C-B9AF-46D3-9DFE-7DB750339410}" type="presOf" srcId="{3E4CC3C3-3092-4B4E-B61F-6F9F89A65FCA}" destId="{D27E1064-114D-49EC-BEBD-6FCB94E725A0}" srcOrd="0" destOrd="1" presId="urn:microsoft.com/office/officeart/2005/8/layout/default"/>
    <dgm:cxn modelId="{222E413F-A75F-455D-92F2-C204FFAC51EB}" srcId="{5AF69384-9BCD-4507-AD21-92C050EF8D63}" destId="{069ED7ED-6660-4738-950D-5C58815B444F}" srcOrd="2" destOrd="0" parTransId="{227A1879-BAEA-450C-B65B-978C009E6A14}" sibTransId="{47FBE326-04FB-4ED6-8D6F-4BE48496E785}"/>
    <dgm:cxn modelId="{A57EE05D-722F-4736-851B-71F776D549BA}" srcId="{069ED7ED-6660-4738-950D-5C58815B444F}" destId="{8EE29E9D-AE93-4854-AAD1-B5D9E06F3242}" srcOrd="0" destOrd="0" parTransId="{ECCA27D0-57FB-47E4-BAFF-7155320219AB}" sibTransId="{DDB359C6-B359-4118-A592-311D2E3CCAF4}"/>
    <dgm:cxn modelId="{90BBF847-552D-4E27-9430-C6AA69BCFA22}" type="presOf" srcId="{5AF69384-9BCD-4507-AD21-92C050EF8D63}" destId="{B0BC944B-7C1B-4448-BAED-DB8C83B05085}" srcOrd="0" destOrd="0" presId="urn:microsoft.com/office/officeart/2005/8/layout/default"/>
    <dgm:cxn modelId="{CB81665A-8C7E-4DFD-9685-D19B61354ECD}" type="presOf" srcId="{D6D147BA-82F2-4B85-B379-498CC1A3B854}" destId="{141EA34A-8783-4E54-99E6-F0CED26F76DC}" srcOrd="0" destOrd="0" presId="urn:microsoft.com/office/officeart/2005/8/layout/default"/>
    <dgm:cxn modelId="{12A1877B-CAB6-4B65-B8E1-4A994238CA1A}" type="presOf" srcId="{97A995A3-AF6E-47D6-8A46-2D239EAF83DE}" destId="{D27E1064-114D-49EC-BEBD-6FCB94E725A0}" srcOrd="0" destOrd="0" presId="urn:microsoft.com/office/officeart/2005/8/layout/default"/>
    <dgm:cxn modelId="{A7A5357C-CC85-4C36-9B59-60458A6A82AA}" type="presOf" srcId="{1D782F2D-5BF3-4574-A95A-6370DB6528ED}" destId="{75DA17C1-641B-4EFD-9B48-316CF74F3B0D}" srcOrd="0" destOrd="0" presId="urn:microsoft.com/office/officeart/2005/8/layout/default"/>
    <dgm:cxn modelId="{D92E2D94-EC55-48C5-8298-BA760CD67CDA}" srcId="{5AF69384-9BCD-4507-AD21-92C050EF8D63}" destId="{D6D147BA-82F2-4B85-B379-498CC1A3B854}" srcOrd="0" destOrd="0" parTransId="{506406EC-F81F-42F8-98E3-C7F323C5915E}" sibTransId="{68EFD7F4-35E3-45FC-B14C-BCEC136DF958}"/>
    <dgm:cxn modelId="{321968A0-5D59-4F57-9071-608F8ACB2A64}" srcId="{97A995A3-AF6E-47D6-8A46-2D239EAF83DE}" destId="{3E4CC3C3-3092-4B4E-B61F-6F9F89A65FCA}" srcOrd="0" destOrd="0" parTransId="{D71D0B0F-B894-4927-A779-2487E7755B13}" sibTransId="{29C1D8B3-9A22-42CA-9647-EC77320E8D6C}"/>
    <dgm:cxn modelId="{3F33B9A6-04C5-4C48-A27F-BE65ADB577AB}" type="presOf" srcId="{B6F3960D-2511-407D-A953-E4A5FDE07129}" destId="{141EA34A-8783-4E54-99E6-F0CED26F76DC}" srcOrd="0" destOrd="1" presId="urn:microsoft.com/office/officeart/2005/8/layout/default"/>
    <dgm:cxn modelId="{18F3D1B1-4418-40B1-A78A-6A0EF11A525D}" type="presOf" srcId="{F300FE60-F17C-45C0-B48E-45EB60D853B7}" destId="{75DA17C1-641B-4EFD-9B48-316CF74F3B0D}" srcOrd="0" destOrd="1" presId="urn:microsoft.com/office/officeart/2005/8/layout/default"/>
    <dgm:cxn modelId="{BB2CC5C4-EF1B-424A-92E1-F1879AC69CFE}" srcId="{5AF69384-9BCD-4507-AD21-92C050EF8D63}" destId="{97A995A3-AF6E-47D6-8A46-2D239EAF83DE}" srcOrd="1" destOrd="0" parTransId="{A2E7FD06-1397-4C4C-B717-7F9F5DF5B728}" sibTransId="{BE43BCF2-9774-49C6-90CC-6301D5C00374}"/>
    <dgm:cxn modelId="{745682CF-D07D-4288-B381-899A41B699F9}" srcId="{D6D147BA-82F2-4B85-B379-498CC1A3B854}" destId="{B6F3960D-2511-407D-A953-E4A5FDE07129}" srcOrd="0" destOrd="0" parTransId="{CD280A00-213C-4439-ADE9-DB55686768AF}" sibTransId="{746C1762-824B-4579-B8A9-84B0DF0BDDFC}"/>
    <dgm:cxn modelId="{E41C84D2-1359-4EFF-A509-889E48314BE7}" srcId="{1D782F2D-5BF3-4574-A95A-6370DB6528ED}" destId="{F300FE60-F17C-45C0-B48E-45EB60D853B7}" srcOrd="0" destOrd="0" parTransId="{73C368F7-4EE6-41A7-9244-45AD56F3EAF3}" sibTransId="{695DA213-0ED2-4784-85D6-1E8EFE697BBE}"/>
    <dgm:cxn modelId="{16AA5FD9-4CBA-413B-AEFA-FCBFAC85CD4E}" type="presOf" srcId="{8EE29E9D-AE93-4854-AAD1-B5D9E06F3242}" destId="{D0DF015F-7FF4-4ABA-A386-73E48B97A52D}" srcOrd="0" destOrd="1" presId="urn:microsoft.com/office/officeart/2005/8/layout/default"/>
    <dgm:cxn modelId="{A666FFF1-AB60-4123-842E-CB0A9B226C2B}" type="presOf" srcId="{069ED7ED-6660-4738-950D-5C58815B444F}" destId="{D0DF015F-7FF4-4ABA-A386-73E48B97A52D}" srcOrd="0" destOrd="0" presId="urn:microsoft.com/office/officeart/2005/8/layout/default"/>
    <dgm:cxn modelId="{D33B40A6-07FB-46B7-A2A2-B1DA5136EF77}" type="presParOf" srcId="{B0BC944B-7C1B-4448-BAED-DB8C83B05085}" destId="{141EA34A-8783-4E54-99E6-F0CED26F76DC}" srcOrd="0" destOrd="0" presId="urn:microsoft.com/office/officeart/2005/8/layout/default"/>
    <dgm:cxn modelId="{6C6CE9FF-3E79-49F0-998E-593743403673}" type="presParOf" srcId="{B0BC944B-7C1B-4448-BAED-DB8C83B05085}" destId="{F0F2419E-77A4-4997-97B4-AFA77DDC761A}" srcOrd="1" destOrd="0" presId="urn:microsoft.com/office/officeart/2005/8/layout/default"/>
    <dgm:cxn modelId="{A35FB289-A3C8-4075-849D-82709DB93206}" type="presParOf" srcId="{B0BC944B-7C1B-4448-BAED-DB8C83B05085}" destId="{D27E1064-114D-49EC-BEBD-6FCB94E725A0}" srcOrd="2" destOrd="0" presId="urn:microsoft.com/office/officeart/2005/8/layout/default"/>
    <dgm:cxn modelId="{B3B4F4BE-760E-476C-8EC3-D070D3A3F33B}" type="presParOf" srcId="{B0BC944B-7C1B-4448-BAED-DB8C83B05085}" destId="{56F64B45-5152-4A8A-BD93-8AB2749FDA42}" srcOrd="3" destOrd="0" presId="urn:microsoft.com/office/officeart/2005/8/layout/default"/>
    <dgm:cxn modelId="{1C550DC9-5A50-4A46-B4E5-B0B6BA61DD02}" type="presParOf" srcId="{B0BC944B-7C1B-4448-BAED-DB8C83B05085}" destId="{D0DF015F-7FF4-4ABA-A386-73E48B97A52D}" srcOrd="4" destOrd="0" presId="urn:microsoft.com/office/officeart/2005/8/layout/default"/>
    <dgm:cxn modelId="{5D63CD07-19D4-4810-9DB5-A2229325008D}" type="presParOf" srcId="{B0BC944B-7C1B-4448-BAED-DB8C83B05085}" destId="{082ACF3E-6E7F-4656-B579-2181BDB4E379}" srcOrd="5" destOrd="0" presId="urn:microsoft.com/office/officeart/2005/8/layout/default"/>
    <dgm:cxn modelId="{E92867F1-9B8E-4A46-9115-D645293AD2DA}" type="presParOf" srcId="{B0BC944B-7C1B-4448-BAED-DB8C83B05085}" destId="{75DA17C1-641B-4EFD-9B48-316CF74F3B0D}" srcOrd="6"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F310642-AF78-4539-AA2E-F9BD8922CD48}"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8D861999-5986-4933-A595-043F7320953F}">
      <dgm:prSet phldrT="[Text]" phldr="0"/>
      <dgm:spPr/>
      <dgm:t>
        <a:bodyPr/>
        <a:lstStyle/>
        <a:p>
          <a:r>
            <a:rPr lang="en-US"/>
            <a:t>Focus</a:t>
          </a:r>
        </a:p>
      </dgm:t>
    </dgm:pt>
    <dgm:pt modelId="{896D4372-91AD-48D7-8F12-2F44D08A2BBF}" type="parTrans" cxnId="{BC70A1B1-6C69-4AC6-88EC-D00F5EE92165}">
      <dgm:prSet/>
      <dgm:spPr/>
      <dgm:t>
        <a:bodyPr/>
        <a:lstStyle/>
        <a:p>
          <a:endParaRPr lang="en-US"/>
        </a:p>
      </dgm:t>
    </dgm:pt>
    <dgm:pt modelId="{3C2D724A-4C90-4807-87E2-B953BCC46EFD}" type="sibTrans" cxnId="{BC70A1B1-6C69-4AC6-88EC-D00F5EE92165}">
      <dgm:prSet/>
      <dgm:spPr/>
      <dgm:t>
        <a:bodyPr/>
        <a:lstStyle/>
        <a:p>
          <a:endParaRPr lang="en-US"/>
        </a:p>
      </dgm:t>
    </dgm:pt>
    <dgm:pt modelId="{5CE24B44-D6E9-4EF8-AE7B-89573C2B72FF}">
      <dgm:prSet phldrT="[Text]" phldr="0"/>
      <dgm:spPr/>
      <dgm:t>
        <a:bodyPr/>
        <a:lstStyle/>
        <a:p>
          <a:r>
            <a:rPr lang="en-US"/>
            <a:t>Achievable in 1-3 years</a:t>
          </a:r>
        </a:p>
      </dgm:t>
    </dgm:pt>
    <dgm:pt modelId="{85ABFA9C-5D45-4705-8D55-1B01EBB6C323}" type="parTrans" cxnId="{EFD9D6C9-CDC3-42EE-BFA9-76525A0D897B}">
      <dgm:prSet/>
      <dgm:spPr/>
      <dgm:t>
        <a:bodyPr/>
        <a:lstStyle/>
        <a:p>
          <a:endParaRPr lang="en-US"/>
        </a:p>
      </dgm:t>
    </dgm:pt>
    <dgm:pt modelId="{67C56C2C-140E-40F4-AD8E-F0728871100A}" type="sibTrans" cxnId="{EFD9D6C9-CDC3-42EE-BFA9-76525A0D897B}">
      <dgm:prSet/>
      <dgm:spPr/>
      <dgm:t>
        <a:bodyPr/>
        <a:lstStyle/>
        <a:p>
          <a:endParaRPr lang="en-US"/>
        </a:p>
      </dgm:t>
    </dgm:pt>
    <dgm:pt modelId="{00549072-656E-4D2B-B91D-031E53FF144C}">
      <dgm:prSet phldrT="[Text]" phldr="0"/>
      <dgm:spPr/>
      <dgm:t>
        <a:bodyPr/>
        <a:lstStyle/>
        <a:p>
          <a:r>
            <a:rPr lang="en-US"/>
            <a:t>Accounts for market shifts</a:t>
          </a:r>
        </a:p>
      </dgm:t>
    </dgm:pt>
    <dgm:pt modelId="{88E8A79C-7C8C-4C98-9676-5692E6CCF224}" type="parTrans" cxnId="{226830DD-98BB-4B3C-9F2F-174E64C679DB}">
      <dgm:prSet/>
      <dgm:spPr/>
      <dgm:t>
        <a:bodyPr/>
        <a:lstStyle/>
        <a:p>
          <a:endParaRPr lang="en-US"/>
        </a:p>
      </dgm:t>
    </dgm:pt>
    <dgm:pt modelId="{E5F2FA66-2F44-4434-B341-C05F34728E48}" type="sibTrans" cxnId="{226830DD-98BB-4B3C-9F2F-174E64C679DB}">
      <dgm:prSet/>
      <dgm:spPr/>
      <dgm:t>
        <a:bodyPr/>
        <a:lstStyle/>
        <a:p>
          <a:endParaRPr lang="en-US"/>
        </a:p>
      </dgm:t>
    </dgm:pt>
    <dgm:pt modelId="{1D3AFFF0-87E0-41AF-9587-577D47607F30}">
      <dgm:prSet phldrT="[Text]" phldr="0"/>
      <dgm:spPr/>
      <dgm:t>
        <a:bodyPr/>
        <a:lstStyle/>
        <a:p>
          <a:r>
            <a:rPr lang="en-US"/>
            <a:t>Project Scope</a:t>
          </a:r>
        </a:p>
      </dgm:t>
    </dgm:pt>
    <dgm:pt modelId="{5F3779AD-428B-41A0-A1BA-425F5E87A59F}" type="parTrans" cxnId="{998EB419-884D-4C4E-9C54-3C48E31D86AC}">
      <dgm:prSet/>
      <dgm:spPr/>
      <dgm:t>
        <a:bodyPr/>
        <a:lstStyle/>
        <a:p>
          <a:endParaRPr lang="en-US"/>
        </a:p>
      </dgm:t>
    </dgm:pt>
    <dgm:pt modelId="{62183662-C49C-4CA7-8E0F-3533DB26CD13}" type="sibTrans" cxnId="{998EB419-884D-4C4E-9C54-3C48E31D86AC}">
      <dgm:prSet/>
      <dgm:spPr/>
      <dgm:t>
        <a:bodyPr/>
        <a:lstStyle/>
        <a:p>
          <a:endParaRPr lang="en-US"/>
        </a:p>
      </dgm:t>
    </dgm:pt>
    <dgm:pt modelId="{B3EC136C-EEC9-4398-ABE4-A339F5EB8755}">
      <dgm:prSet phldrT="[Text]" phldr="0"/>
      <dgm:spPr/>
      <dgm:t>
        <a:bodyPr/>
        <a:lstStyle/>
        <a:p>
          <a:r>
            <a:rPr lang="en-US"/>
            <a:t>Assume no new invention of technology </a:t>
          </a:r>
        </a:p>
      </dgm:t>
    </dgm:pt>
    <dgm:pt modelId="{02AD1D01-EE38-471C-9298-F1940292CAD7}" type="parTrans" cxnId="{0F32394A-DC64-4202-BC90-3A84139D69B2}">
      <dgm:prSet/>
      <dgm:spPr/>
      <dgm:t>
        <a:bodyPr/>
        <a:lstStyle/>
        <a:p>
          <a:endParaRPr lang="en-US"/>
        </a:p>
      </dgm:t>
    </dgm:pt>
    <dgm:pt modelId="{B26FE18D-3451-4A3E-87D2-6B0E461976AA}" type="sibTrans" cxnId="{0F32394A-DC64-4202-BC90-3A84139D69B2}">
      <dgm:prSet/>
      <dgm:spPr/>
      <dgm:t>
        <a:bodyPr/>
        <a:lstStyle/>
        <a:p>
          <a:endParaRPr lang="en-US"/>
        </a:p>
      </dgm:t>
    </dgm:pt>
    <dgm:pt modelId="{1684C333-7923-43F6-9B77-0D62526313B5}">
      <dgm:prSet phldrT="[Text]" phldr="0"/>
      <dgm:spPr/>
      <dgm:t>
        <a:bodyPr/>
        <a:lstStyle/>
        <a:p>
          <a:r>
            <a:rPr lang="en-US"/>
            <a:t>Leverage existing APTIM capabilities </a:t>
          </a:r>
        </a:p>
      </dgm:t>
    </dgm:pt>
    <dgm:pt modelId="{6F213C10-67E7-4E8D-B27E-553D1BC05737}" type="parTrans" cxnId="{561F128E-9537-487F-A048-ECE44F0BDA1A}">
      <dgm:prSet/>
      <dgm:spPr/>
      <dgm:t>
        <a:bodyPr/>
        <a:lstStyle/>
        <a:p>
          <a:endParaRPr lang="en-US"/>
        </a:p>
      </dgm:t>
    </dgm:pt>
    <dgm:pt modelId="{82D34320-E142-4A0D-B10E-BD52A42A52E1}" type="sibTrans" cxnId="{561F128E-9537-487F-A048-ECE44F0BDA1A}">
      <dgm:prSet/>
      <dgm:spPr/>
      <dgm:t>
        <a:bodyPr/>
        <a:lstStyle/>
        <a:p>
          <a:endParaRPr lang="en-US"/>
        </a:p>
      </dgm:t>
    </dgm:pt>
    <dgm:pt modelId="{5331D2D5-186E-4A7D-B7BF-96688948B44C}">
      <dgm:prSet phldrT="[Text]" phldr="0"/>
      <dgm:spPr/>
      <dgm:t>
        <a:bodyPr/>
        <a:lstStyle/>
        <a:p>
          <a:r>
            <a:rPr lang="en-US"/>
            <a:t>Scaling</a:t>
          </a:r>
        </a:p>
      </dgm:t>
    </dgm:pt>
    <dgm:pt modelId="{8A58056D-B14E-41EE-A4D0-60628552731F}" type="parTrans" cxnId="{C38CCFFB-62E1-4E03-BCE4-9497B035AE94}">
      <dgm:prSet/>
      <dgm:spPr/>
      <dgm:t>
        <a:bodyPr/>
        <a:lstStyle/>
        <a:p>
          <a:endParaRPr lang="en-US"/>
        </a:p>
      </dgm:t>
    </dgm:pt>
    <dgm:pt modelId="{AD2D90A5-7A29-489C-B2A6-EF11CC6DEFD9}" type="sibTrans" cxnId="{C38CCFFB-62E1-4E03-BCE4-9497B035AE94}">
      <dgm:prSet/>
      <dgm:spPr/>
      <dgm:t>
        <a:bodyPr/>
        <a:lstStyle/>
        <a:p>
          <a:endParaRPr lang="en-US"/>
        </a:p>
      </dgm:t>
    </dgm:pt>
    <dgm:pt modelId="{54A6EE52-84FF-4D92-B969-8E79CBE8F0C5}">
      <dgm:prSet phldrT="[Text]" phldr="0"/>
      <dgm:spPr/>
      <dgm:t>
        <a:bodyPr/>
        <a:lstStyle/>
        <a:p>
          <a:r>
            <a:rPr lang="en-US"/>
            <a:t>Utility</a:t>
          </a:r>
        </a:p>
      </dgm:t>
    </dgm:pt>
    <dgm:pt modelId="{00E07FFB-82FA-4683-9C75-8EBA8C0C092F}" type="parTrans" cxnId="{F49D6D56-934D-48F8-BB12-0B28FD46FA4C}">
      <dgm:prSet/>
      <dgm:spPr/>
      <dgm:t>
        <a:bodyPr/>
        <a:lstStyle/>
        <a:p>
          <a:endParaRPr lang="en-US"/>
        </a:p>
      </dgm:t>
    </dgm:pt>
    <dgm:pt modelId="{F16EC0B4-CC2C-43C3-901C-B806FCA21B0F}" type="sibTrans" cxnId="{F49D6D56-934D-48F8-BB12-0B28FD46FA4C}">
      <dgm:prSet/>
      <dgm:spPr/>
      <dgm:t>
        <a:bodyPr/>
        <a:lstStyle/>
        <a:p>
          <a:endParaRPr lang="en-US"/>
        </a:p>
      </dgm:t>
    </dgm:pt>
    <dgm:pt modelId="{26633E29-AB92-4650-8055-88D54ED55BE2}">
      <dgm:prSet phldrT="[Text]" phldr="0"/>
      <dgm:spPr/>
      <dgm:t>
        <a:bodyPr/>
        <a:lstStyle/>
        <a:p>
          <a:r>
            <a:rPr lang="en-US"/>
            <a:t>Customer</a:t>
          </a:r>
        </a:p>
      </dgm:t>
    </dgm:pt>
    <dgm:pt modelId="{EEACB6C5-6B43-466E-B148-19853C4B9324}" type="parTrans" cxnId="{5906C962-A3A2-466C-A43B-16BC910D14FA}">
      <dgm:prSet/>
      <dgm:spPr/>
      <dgm:t>
        <a:bodyPr/>
        <a:lstStyle/>
        <a:p>
          <a:endParaRPr lang="en-US"/>
        </a:p>
      </dgm:t>
    </dgm:pt>
    <dgm:pt modelId="{59AFF3AB-5361-4D43-82BE-703092E0B64D}" type="sibTrans" cxnId="{5906C962-A3A2-466C-A43B-16BC910D14FA}">
      <dgm:prSet/>
      <dgm:spPr/>
      <dgm:t>
        <a:bodyPr/>
        <a:lstStyle/>
        <a:p>
          <a:endParaRPr lang="en-US"/>
        </a:p>
      </dgm:t>
    </dgm:pt>
    <dgm:pt modelId="{AAF4F1E5-05EF-40A4-B043-A0C4F066363B}">
      <dgm:prSet phldrT="[Text]" phldr="0"/>
      <dgm:spPr/>
      <dgm:t>
        <a:bodyPr/>
        <a:lstStyle/>
        <a:p>
          <a:r>
            <a:rPr lang="en-US"/>
            <a:t>County/City/State</a:t>
          </a:r>
        </a:p>
      </dgm:t>
    </dgm:pt>
    <dgm:pt modelId="{0B9D80D4-13B4-49C5-B4B8-FA4847FF408D}" type="parTrans" cxnId="{8454EBFF-AF7C-4D20-8218-B0239263E492}">
      <dgm:prSet/>
      <dgm:spPr/>
      <dgm:t>
        <a:bodyPr/>
        <a:lstStyle/>
        <a:p>
          <a:endParaRPr lang="en-US"/>
        </a:p>
      </dgm:t>
    </dgm:pt>
    <dgm:pt modelId="{21FBD31F-7E4E-4624-8610-431B18982D6D}" type="sibTrans" cxnId="{8454EBFF-AF7C-4D20-8218-B0239263E492}">
      <dgm:prSet/>
      <dgm:spPr/>
      <dgm:t>
        <a:bodyPr/>
        <a:lstStyle/>
        <a:p>
          <a:endParaRPr lang="en-US"/>
        </a:p>
      </dgm:t>
    </dgm:pt>
    <dgm:pt modelId="{D53F8F63-4093-4829-BB74-C71750D0CB46}">
      <dgm:prSet phldrT="[Text]" phldr="0"/>
      <dgm:spPr/>
      <dgm:t>
        <a:bodyPr/>
        <a:lstStyle/>
        <a:p>
          <a:r>
            <a:rPr lang="en-US"/>
            <a:t>Complexity</a:t>
          </a:r>
        </a:p>
      </dgm:t>
    </dgm:pt>
    <dgm:pt modelId="{944703BA-DE8B-44BF-898A-9D577DF3CE6A}" type="parTrans" cxnId="{BF8092A8-5AC4-49C3-B78D-BF2E619ADE49}">
      <dgm:prSet/>
      <dgm:spPr/>
      <dgm:t>
        <a:bodyPr/>
        <a:lstStyle/>
        <a:p>
          <a:endParaRPr lang="en-US"/>
        </a:p>
      </dgm:t>
    </dgm:pt>
    <dgm:pt modelId="{F6B65A73-3963-465F-AB7C-EAC1AE6EEE29}" type="sibTrans" cxnId="{BF8092A8-5AC4-49C3-B78D-BF2E619ADE49}">
      <dgm:prSet/>
      <dgm:spPr/>
      <dgm:t>
        <a:bodyPr/>
        <a:lstStyle/>
        <a:p>
          <a:endParaRPr lang="en-US"/>
        </a:p>
      </dgm:t>
    </dgm:pt>
    <dgm:pt modelId="{4B1EB1E7-E7DE-4316-B143-6298166239AD}" type="pres">
      <dgm:prSet presAssocID="{DF310642-AF78-4539-AA2E-F9BD8922CD48}" presName="hierChild1" presStyleCnt="0">
        <dgm:presLayoutVars>
          <dgm:chPref val="1"/>
          <dgm:dir/>
          <dgm:animOne val="branch"/>
          <dgm:animLvl val="lvl"/>
          <dgm:resizeHandles/>
        </dgm:presLayoutVars>
      </dgm:prSet>
      <dgm:spPr/>
    </dgm:pt>
    <dgm:pt modelId="{BA68516A-82F1-4C6A-AB55-5E3816321EDE}" type="pres">
      <dgm:prSet presAssocID="{1D3AFFF0-87E0-41AF-9587-577D47607F30}" presName="hierRoot1" presStyleCnt="0"/>
      <dgm:spPr/>
    </dgm:pt>
    <dgm:pt modelId="{0E43E6CD-C2B4-4F0A-8647-8DF2FB6D2BCC}" type="pres">
      <dgm:prSet presAssocID="{1D3AFFF0-87E0-41AF-9587-577D47607F30}" presName="composite" presStyleCnt="0"/>
      <dgm:spPr/>
    </dgm:pt>
    <dgm:pt modelId="{941F23F8-BC01-4CFE-8097-DB5D4D90AAAB}" type="pres">
      <dgm:prSet presAssocID="{1D3AFFF0-87E0-41AF-9587-577D47607F30}" presName="background" presStyleLbl="node0" presStyleIdx="0" presStyleCnt="1"/>
      <dgm:spPr/>
    </dgm:pt>
    <dgm:pt modelId="{27DCDAFB-9D99-4665-ADBB-63466E903D4A}" type="pres">
      <dgm:prSet presAssocID="{1D3AFFF0-87E0-41AF-9587-577D47607F30}" presName="text" presStyleLbl="fgAcc0" presStyleIdx="0" presStyleCnt="1">
        <dgm:presLayoutVars>
          <dgm:chPref val="3"/>
        </dgm:presLayoutVars>
      </dgm:prSet>
      <dgm:spPr/>
    </dgm:pt>
    <dgm:pt modelId="{AE92BAFB-B677-4D5D-A58D-FFA2383E1FD1}" type="pres">
      <dgm:prSet presAssocID="{1D3AFFF0-87E0-41AF-9587-577D47607F30}" presName="hierChild2" presStyleCnt="0"/>
      <dgm:spPr/>
    </dgm:pt>
    <dgm:pt modelId="{00275DF9-4862-4349-857A-D238C0F08817}" type="pres">
      <dgm:prSet presAssocID="{944703BA-DE8B-44BF-898A-9D577DF3CE6A}" presName="Name10" presStyleLbl="parChTrans1D2" presStyleIdx="0" presStyleCnt="3"/>
      <dgm:spPr/>
    </dgm:pt>
    <dgm:pt modelId="{D1EBD71C-083D-4798-9CDF-C60B72AB5EEA}" type="pres">
      <dgm:prSet presAssocID="{D53F8F63-4093-4829-BB74-C71750D0CB46}" presName="hierRoot2" presStyleCnt="0"/>
      <dgm:spPr/>
    </dgm:pt>
    <dgm:pt modelId="{FCAFC025-72CD-4964-A33E-08A4330C6473}" type="pres">
      <dgm:prSet presAssocID="{D53F8F63-4093-4829-BB74-C71750D0CB46}" presName="composite2" presStyleCnt="0"/>
      <dgm:spPr/>
    </dgm:pt>
    <dgm:pt modelId="{5FCE555D-A897-49E0-9130-57C9A9EE8917}" type="pres">
      <dgm:prSet presAssocID="{D53F8F63-4093-4829-BB74-C71750D0CB46}" presName="background2" presStyleLbl="node2" presStyleIdx="0" presStyleCnt="3"/>
      <dgm:spPr/>
    </dgm:pt>
    <dgm:pt modelId="{7AE95F25-5232-4E91-9E0E-86CE995ED199}" type="pres">
      <dgm:prSet presAssocID="{D53F8F63-4093-4829-BB74-C71750D0CB46}" presName="text2" presStyleLbl="fgAcc2" presStyleIdx="0" presStyleCnt="3">
        <dgm:presLayoutVars>
          <dgm:chPref val="3"/>
        </dgm:presLayoutVars>
      </dgm:prSet>
      <dgm:spPr/>
    </dgm:pt>
    <dgm:pt modelId="{77B85D09-364E-4CD9-97BE-7C9081BCE603}" type="pres">
      <dgm:prSet presAssocID="{D53F8F63-4093-4829-BB74-C71750D0CB46}" presName="hierChild3" presStyleCnt="0"/>
      <dgm:spPr/>
    </dgm:pt>
    <dgm:pt modelId="{9873CF8F-2372-49F3-9DE9-91DBE3412F46}" type="pres">
      <dgm:prSet presAssocID="{02AD1D01-EE38-471C-9298-F1940292CAD7}" presName="Name17" presStyleLbl="parChTrans1D3" presStyleIdx="0" presStyleCnt="7"/>
      <dgm:spPr/>
    </dgm:pt>
    <dgm:pt modelId="{2EA8235A-8957-4F68-BDFE-49515FFD7259}" type="pres">
      <dgm:prSet presAssocID="{B3EC136C-EEC9-4398-ABE4-A339F5EB8755}" presName="hierRoot3" presStyleCnt="0"/>
      <dgm:spPr/>
    </dgm:pt>
    <dgm:pt modelId="{87D16DD8-5E6D-410B-95A1-81CCE3225287}" type="pres">
      <dgm:prSet presAssocID="{B3EC136C-EEC9-4398-ABE4-A339F5EB8755}" presName="composite3" presStyleCnt="0"/>
      <dgm:spPr/>
    </dgm:pt>
    <dgm:pt modelId="{DF7F889C-1D0C-44F1-92B7-C3EA5F1AC971}" type="pres">
      <dgm:prSet presAssocID="{B3EC136C-EEC9-4398-ABE4-A339F5EB8755}" presName="background3" presStyleLbl="node3" presStyleIdx="0" presStyleCnt="7"/>
      <dgm:spPr/>
    </dgm:pt>
    <dgm:pt modelId="{205C32C6-40C4-42F5-8ED8-9D9B6FC27188}" type="pres">
      <dgm:prSet presAssocID="{B3EC136C-EEC9-4398-ABE4-A339F5EB8755}" presName="text3" presStyleLbl="fgAcc3" presStyleIdx="0" presStyleCnt="7">
        <dgm:presLayoutVars>
          <dgm:chPref val="3"/>
        </dgm:presLayoutVars>
      </dgm:prSet>
      <dgm:spPr/>
    </dgm:pt>
    <dgm:pt modelId="{E8A2E57C-B947-4A55-9432-CC0C62A91752}" type="pres">
      <dgm:prSet presAssocID="{B3EC136C-EEC9-4398-ABE4-A339F5EB8755}" presName="hierChild4" presStyleCnt="0"/>
      <dgm:spPr/>
    </dgm:pt>
    <dgm:pt modelId="{3EECFDB3-E735-4D21-BF6C-A3BC234599A1}" type="pres">
      <dgm:prSet presAssocID="{6F213C10-67E7-4E8D-B27E-553D1BC05737}" presName="Name17" presStyleLbl="parChTrans1D3" presStyleIdx="1" presStyleCnt="7"/>
      <dgm:spPr/>
    </dgm:pt>
    <dgm:pt modelId="{531D460D-E99F-4BBA-AF2F-7D3A698FC369}" type="pres">
      <dgm:prSet presAssocID="{1684C333-7923-43F6-9B77-0D62526313B5}" presName="hierRoot3" presStyleCnt="0"/>
      <dgm:spPr/>
    </dgm:pt>
    <dgm:pt modelId="{F17D9811-3F72-4930-9A32-943B45A4EAF0}" type="pres">
      <dgm:prSet presAssocID="{1684C333-7923-43F6-9B77-0D62526313B5}" presName="composite3" presStyleCnt="0"/>
      <dgm:spPr/>
    </dgm:pt>
    <dgm:pt modelId="{C1EED29D-7FA2-47A7-8FC3-95047349D2F8}" type="pres">
      <dgm:prSet presAssocID="{1684C333-7923-43F6-9B77-0D62526313B5}" presName="background3" presStyleLbl="node3" presStyleIdx="1" presStyleCnt="7"/>
      <dgm:spPr/>
    </dgm:pt>
    <dgm:pt modelId="{0F26E56F-52F5-4277-BF18-8C496767EA5A}" type="pres">
      <dgm:prSet presAssocID="{1684C333-7923-43F6-9B77-0D62526313B5}" presName="text3" presStyleLbl="fgAcc3" presStyleIdx="1" presStyleCnt="7">
        <dgm:presLayoutVars>
          <dgm:chPref val="3"/>
        </dgm:presLayoutVars>
      </dgm:prSet>
      <dgm:spPr/>
    </dgm:pt>
    <dgm:pt modelId="{12A1D643-C677-4495-BB33-78AE161C6536}" type="pres">
      <dgm:prSet presAssocID="{1684C333-7923-43F6-9B77-0D62526313B5}" presName="hierChild4" presStyleCnt="0"/>
      <dgm:spPr/>
    </dgm:pt>
    <dgm:pt modelId="{0D0DB610-D48E-44F8-92E8-9E8333A7DFA4}" type="pres">
      <dgm:prSet presAssocID="{896D4372-91AD-48D7-8F12-2F44D08A2BBF}" presName="Name10" presStyleLbl="parChTrans1D2" presStyleIdx="1" presStyleCnt="3"/>
      <dgm:spPr/>
    </dgm:pt>
    <dgm:pt modelId="{456071F7-A145-43D5-90DD-288B18C9B326}" type="pres">
      <dgm:prSet presAssocID="{8D861999-5986-4933-A595-043F7320953F}" presName="hierRoot2" presStyleCnt="0"/>
      <dgm:spPr/>
    </dgm:pt>
    <dgm:pt modelId="{DB1E8158-68A2-4D5C-AAD3-9A7E577CC2DD}" type="pres">
      <dgm:prSet presAssocID="{8D861999-5986-4933-A595-043F7320953F}" presName="composite2" presStyleCnt="0"/>
      <dgm:spPr/>
    </dgm:pt>
    <dgm:pt modelId="{74C58B10-E5C6-43D3-AEAD-BAB9F36929F7}" type="pres">
      <dgm:prSet presAssocID="{8D861999-5986-4933-A595-043F7320953F}" presName="background2" presStyleLbl="node2" presStyleIdx="1" presStyleCnt="3"/>
      <dgm:spPr/>
    </dgm:pt>
    <dgm:pt modelId="{C0E54C41-9B69-4F78-A7A0-25D602210C4E}" type="pres">
      <dgm:prSet presAssocID="{8D861999-5986-4933-A595-043F7320953F}" presName="text2" presStyleLbl="fgAcc2" presStyleIdx="1" presStyleCnt="3">
        <dgm:presLayoutVars>
          <dgm:chPref val="3"/>
        </dgm:presLayoutVars>
      </dgm:prSet>
      <dgm:spPr/>
    </dgm:pt>
    <dgm:pt modelId="{86E16C0C-67DE-4C5E-87DD-58A6D4A84EBC}" type="pres">
      <dgm:prSet presAssocID="{8D861999-5986-4933-A595-043F7320953F}" presName="hierChild3" presStyleCnt="0"/>
      <dgm:spPr/>
    </dgm:pt>
    <dgm:pt modelId="{69C8F1FE-FB64-4228-BF5C-582E5A979261}" type="pres">
      <dgm:prSet presAssocID="{00E07FFB-82FA-4683-9C75-8EBA8C0C092F}" presName="Name17" presStyleLbl="parChTrans1D3" presStyleIdx="2" presStyleCnt="7"/>
      <dgm:spPr/>
    </dgm:pt>
    <dgm:pt modelId="{48ED7861-5874-4357-A797-7AA6DA39B649}" type="pres">
      <dgm:prSet presAssocID="{54A6EE52-84FF-4D92-B969-8E79CBE8F0C5}" presName="hierRoot3" presStyleCnt="0"/>
      <dgm:spPr/>
    </dgm:pt>
    <dgm:pt modelId="{BA208008-DEF9-4D2F-87BF-8731E3B5C3FE}" type="pres">
      <dgm:prSet presAssocID="{54A6EE52-84FF-4D92-B969-8E79CBE8F0C5}" presName="composite3" presStyleCnt="0"/>
      <dgm:spPr/>
    </dgm:pt>
    <dgm:pt modelId="{C38DE57C-065B-40B2-BEBD-556290799360}" type="pres">
      <dgm:prSet presAssocID="{54A6EE52-84FF-4D92-B969-8E79CBE8F0C5}" presName="background3" presStyleLbl="node3" presStyleIdx="2" presStyleCnt="7"/>
      <dgm:spPr/>
    </dgm:pt>
    <dgm:pt modelId="{71BB4F7B-E13B-4DFE-B15D-7DED4959F594}" type="pres">
      <dgm:prSet presAssocID="{54A6EE52-84FF-4D92-B969-8E79CBE8F0C5}" presName="text3" presStyleLbl="fgAcc3" presStyleIdx="2" presStyleCnt="7">
        <dgm:presLayoutVars>
          <dgm:chPref val="3"/>
        </dgm:presLayoutVars>
      </dgm:prSet>
      <dgm:spPr/>
    </dgm:pt>
    <dgm:pt modelId="{0C42050C-5A75-4B00-88EE-3823E6F8571D}" type="pres">
      <dgm:prSet presAssocID="{54A6EE52-84FF-4D92-B969-8E79CBE8F0C5}" presName="hierChild4" presStyleCnt="0"/>
      <dgm:spPr/>
    </dgm:pt>
    <dgm:pt modelId="{A0DB35CD-D4D4-47CA-967D-3A952C83EEAE}" type="pres">
      <dgm:prSet presAssocID="{EEACB6C5-6B43-466E-B148-19853C4B9324}" presName="Name17" presStyleLbl="parChTrans1D3" presStyleIdx="3" presStyleCnt="7"/>
      <dgm:spPr/>
    </dgm:pt>
    <dgm:pt modelId="{B3624FEA-4D5A-4576-8A86-7FA00E19C4BF}" type="pres">
      <dgm:prSet presAssocID="{26633E29-AB92-4650-8055-88D54ED55BE2}" presName="hierRoot3" presStyleCnt="0"/>
      <dgm:spPr/>
    </dgm:pt>
    <dgm:pt modelId="{207723D4-6B9A-4930-804D-394D4943FDCD}" type="pres">
      <dgm:prSet presAssocID="{26633E29-AB92-4650-8055-88D54ED55BE2}" presName="composite3" presStyleCnt="0"/>
      <dgm:spPr/>
    </dgm:pt>
    <dgm:pt modelId="{7B2F6CF9-9255-49A1-8E44-6AD561BC6432}" type="pres">
      <dgm:prSet presAssocID="{26633E29-AB92-4650-8055-88D54ED55BE2}" presName="background3" presStyleLbl="node3" presStyleIdx="3" presStyleCnt="7"/>
      <dgm:spPr/>
    </dgm:pt>
    <dgm:pt modelId="{99927BCA-4CF8-44DE-9F8A-BB4AB6050C8E}" type="pres">
      <dgm:prSet presAssocID="{26633E29-AB92-4650-8055-88D54ED55BE2}" presName="text3" presStyleLbl="fgAcc3" presStyleIdx="3" presStyleCnt="7">
        <dgm:presLayoutVars>
          <dgm:chPref val="3"/>
        </dgm:presLayoutVars>
      </dgm:prSet>
      <dgm:spPr/>
    </dgm:pt>
    <dgm:pt modelId="{F0D2CCC7-C570-458E-B5D1-844C841D7828}" type="pres">
      <dgm:prSet presAssocID="{26633E29-AB92-4650-8055-88D54ED55BE2}" presName="hierChild4" presStyleCnt="0"/>
      <dgm:spPr/>
    </dgm:pt>
    <dgm:pt modelId="{EF847DB8-DFD3-47E7-B8A5-8C666BF5466B}" type="pres">
      <dgm:prSet presAssocID="{0B9D80D4-13B4-49C5-B4B8-FA4847FF408D}" presName="Name17" presStyleLbl="parChTrans1D3" presStyleIdx="4" presStyleCnt="7"/>
      <dgm:spPr/>
    </dgm:pt>
    <dgm:pt modelId="{B2414E3A-4C5E-49AF-B3D0-DDF537730C8F}" type="pres">
      <dgm:prSet presAssocID="{AAF4F1E5-05EF-40A4-B043-A0C4F066363B}" presName="hierRoot3" presStyleCnt="0"/>
      <dgm:spPr/>
    </dgm:pt>
    <dgm:pt modelId="{962F4D84-679D-47D9-BD99-DF1EED9B766D}" type="pres">
      <dgm:prSet presAssocID="{AAF4F1E5-05EF-40A4-B043-A0C4F066363B}" presName="composite3" presStyleCnt="0"/>
      <dgm:spPr/>
    </dgm:pt>
    <dgm:pt modelId="{3351E779-F6C9-46C2-99D4-4EED2259D109}" type="pres">
      <dgm:prSet presAssocID="{AAF4F1E5-05EF-40A4-B043-A0C4F066363B}" presName="background3" presStyleLbl="node3" presStyleIdx="4" presStyleCnt="7"/>
      <dgm:spPr/>
    </dgm:pt>
    <dgm:pt modelId="{6C8D6570-F4A1-424C-B484-E260E47E5F6E}" type="pres">
      <dgm:prSet presAssocID="{AAF4F1E5-05EF-40A4-B043-A0C4F066363B}" presName="text3" presStyleLbl="fgAcc3" presStyleIdx="4" presStyleCnt="7">
        <dgm:presLayoutVars>
          <dgm:chPref val="3"/>
        </dgm:presLayoutVars>
      </dgm:prSet>
      <dgm:spPr/>
    </dgm:pt>
    <dgm:pt modelId="{065098DD-7A5C-4D93-BABA-7B6D7EEB3393}" type="pres">
      <dgm:prSet presAssocID="{AAF4F1E5-05EF-40A4-B043-A0C4F066363B}" presName="hierChild4" presStyleCnt="0"/>
      <dgm:spPr/>
    </dgm:pt>
    <dgm:pt modelId="{6113BFF0-3856-485B-A4A8-E2645871275F}" type="pres">
      <dgm:prSet presAssocID="{8A58056D-B14E-41EE-A4D0-60628552731F}" presName="Name10" presStyleLbl="parChTrans1D2" presStyleIdx="2" presStyleCnt="3"/>
      <dgm:spPr/>
    </dgm:pt>
    <dgm:pt modelId="{8691C558-9DCF-4FE9-9C1B-5A8596C5C248}" type="pres">
      <dgm:prSet presAssocID="{5331D2D5-186E-4A7D-B7BF-96688948B44C}" presName="hierRoot2" presStyleCnt="0"/>
      <dgm:spPr/>
    </dgm:pt>
    <dgm:pt modelId="{E532134F-F76F-433F-A9CB-3D693023C4A7}" type="pres">
      <dgm:prSet presAssocID="{5331D2D5-186E-4A7D-B7BF-96688948B44C}" presName="composite2" presStyleCnt="0"/>
      <dgm:spPr/>
    </dgm:pt>
    <dgm:pt modelId="{90DE277B-6820-45E8-ABC1-436200024406}" type="pres">
      <dgm:prSet presAssocID="{5331D2D5-186E-4A7D-B7BF-96688948B44C}" presName="background2" presStyleLbl="node2" presStyleIdx="2" presStyleCnt="3"/>
      <dgm:spPr/>
    </dgm:pt>
    <dgm:pt modelId="{EA96700A-3EAB-49D1-B0E5-DFF233E1E67E}" type="pres">
      <dgm:prSet presAssocID="{5331D2D5-186E-4A7D-B7BF-96688948B44C}" presName="text2" presStyleLbl="fgAcc2" presStyleIdx="2" presStyleCnt="3">
        <dgm:presLayoutVars>
          <dgm:chPref val="3"/>
        </dgm:presLayoutVars>
      </dgm:prSet>
      <dgm:spPr/>
    </dgm:pt>
    <dgm:pt modelId="{83E21ECF-43F5-4CFD-917F-623363BEF3E5}" type="pres">
      <dgm:prSet presAssocID="{5331D2D5-186E-4A7D-B7BF-96688948B44C}" presName="hierChild3" presStyleCnt="0"/>
      <dgm:spPr/>
    </dgm:pt>
    <dgm:pt modelId="{1E9DA51D-772A-44B0-AD7D-D71601FDE07D}" type="pres">
      <dgm:prSet presAssocID="{85ABFA9C-5D45-4705-8D55-1B01EBB6C323}" presName="Name17" presStyleLbl="parChTrans1D3" presStyleIdx="5" presStyleCnt="7"/>
      <dgm:spPr/>
    </dgm:pt>
    <dgm:pt modelId="{6E49A688-711C-4B64-A0B2-24DAAE1D1FDD}" type="pres">
      <dgm:prSet presAssocID="{5CE24B44-D6E9-4EF8-AE7B-89573C2B72FF}" presName="hierRoot3" presStyleCnt="0"/>
      <dgm:spPr/>
    </dgm:pt>
    <dgm:pt modelId="{649AC84B-9822-44FE-88D9-B051029206D4}" type="pres">
      <dgm:prSet presAssocID="{5CE24B44-D6E9-4EF8-AE7B-89573C2B72FF}" presName="composite3" presStyleCnt="0"/>
      <dgm:spPr/>
    </dgm:pt>
    <dgm:pt modelId="{35EE64AD-1C4D-4923-9C3A-F5855164B8E3}" type="pres">
      <dgm:prSet presAssocID="{5CE24B44-D6E9-4EF8-AE7B-89573C2B72FF}" presName="background3" presStyleLbl="node3" presStyleIdx="5" presStyleCnt="7"/>
      <dgm:spPr/>
    </dgm:pt>
    <dgm:pt modelId="{CD463962-C8DA-4EEB-962F-4FFE8591FAF3}" type="pres">
      <dgm:prSet presAssocID="{5CE24B44-D6E9-4EF8-AE7B-89573C2B72FF}" presName="text3" presStyleLbl="fgAcc3" presStyleIdx="5" presStyleCnt="7">
        <dgm:presLayoutVars>
          <dgm:chPref val="3"/>
        </dgm:presLayoutVars>
      </dgm:prSet>
      <dgm:spPr/>
    </dgm:pt>
    <dgm:pt modelId="{E1F2C884-CE1C-44D2-9271-EC73FE0E0ED7}" type="pres">
      <dgm:prSet presAssocID="{5CE24B44-D6E9-4EF8-AE7B-89573C2B72FF}" presName="hierChild4" presStyleCnt="0"/>
      <dgm:spPr/>
    </dgm:pt>
    <dgm:pt modelId="{0FFC99AD-2BA8-48C6-9819-DC36FF7DCAD0}" type="pres">
      <dgm:prSet presAssocID="{88E8A79C-7C8C-4C98-9676-5692E6CCF224}" presName="Name17" presStyleLbl="parChTrans1D3" presStyleIdx="6" presStyleCnt="7"/>
      <dgm:spPr/>
    </dgm:pt>
    <dgm:pt modelId="{92748940-C26B-4778-B036-EAD5E3D8597D}" type="pres">
      <dgm:prSet presAssocID="{00549072-656E-4D2B-B91D-031E53FF144C}" presName="hierRoot3" presStyleCnt="0"/>
      <dgm:spPr/>
    </dgm:pt>
    <dgm:pt modelId="{DE89D34C-2C21-4D82-920D-1EDEF063DD20}" type="pres">
      <dgm:prSet presAssocID="{00549072-656E-4D2B-B91D-031E53FF144C}" presName="composite3" presStyleCnt="0"/>
      <dgm:spPr/>
    </dgm:pt>
    <dgm:pt modelId="{DBA76714-5C33-4AA1-8515-FA044AD90317}" type="pres">
      <dgm:prSet presAssocID="{00549072-656E-4D2B-B91D-031E53FF144C}" presName="background3" presStyleLbl="node3" presStyleIdx="6" presStyleCnt="7"/>
      <dgm:spPr/>
    </dgm:pt>
    <dgm:pt modelId="{C4791A95-20EC-42C2-99C0-941E9EDBE678}" type="pres">
      <dgm:prSet presAssocID="{00549072-656E-4D2B-B91D-031E53FF144C}" presName="text3" presStyleLbl="fgAcc3" presStyleIdx="6" presStyleCnt="7">
        <dgm:presLayoutVars>
          <dgm:chPref val="3"/>
        </dgm:presLayoutVars>
      </dgm:prSet>
      <dgm:spPr/>
    </dgm:pt>
    <dgm:pt modelId="{B9D272E9-A60A-48CE-8FA1-59A9DFF20D87}" type="pres">
      <dgm:prSet presAssocID="{00549072-656E-4D2B-B91D-031E53FF144C}" presName="hierChild4" presStyleCnt="0"/>
      <dgm:spPr/>
    </dgm:pt>
  </dgm:ptLst>
  <dgm:cxnLst>
    <dgm:cxn modelId="{6DC4AD04-0F65-4774-A1B4-3C678FB28B35}" type="presOf" srcId="{5331D2D5-186E-4A7D-B7BF-96688948B44C}" destId="{EA96700A-3EAB-49D1-B0E5-DFF233E1E67E}" srcOrd="0" destOrd="0" presId="urn:microsoft.com/office/officeart/2005/8/layout/hierarchy1"/>
    <dgm:cxn modelId="{D85FF914-79E1-489D-BEB0-2DDEA10E256C}" type="presOf" srcId="{5CE24B44-D6E9-4EF8-AE7B-89573C2B72FF}" destId="{CD463962-C8DA-4EEB-962F-4FFE8591FAF3}" srcOrd="0" destOrd="0" presId="urn:microsoft.com/office/officeart/2005/8/layout/hierarchy1"/>
    <dgm:cxn modelId="{998EB419-884D-4C4E-9C54-3C48E31D86AC}" srcId="{DF310642-AF78-4539-AA2E-F9BD8922CD48}" destId="{1D3AFFF0-87E0-41AF-9587-577D47607F30}" srcOrd="0" destOrd="0" parTransId="{5F3779AD-428B-41A0-A1BA-425F5E87A59F}" sibTransId="{62183662-C49C-4CA7-8E0F-3533DB26CD13}"/>
    <dgm:cxn modelId="{250B2621-245A-4CDB-A99C-14E18D3F5821}" type="presOf" srcId="{B3EC136C-EEC9-4398-ABE4-A339F5EB8755}" destId="{205C32C6-40C4-42F5-8ED8-9D9B6FC27188}" srcOrd="0" destOrd="0" presId="urn:microsoft.com/office/officeart/2005/8/layout/hierarchy1"/>
    <dgm:cxn modelId="{88D25522-C8D3-43D6-858A-9559180A3615}" type="presOf" srcId="{AAF4F1E5-05EF-40A4-B043-A0C4F066363B}" destId="{6C8D6570-F4A1-424C-B484-E260E47E5F6E}" srcOrd="0" destOrd="0" presId="urn:microsoft.com/office/officeart/2005/8/layout/hierarchy1"/>
    <dgm:cxn modelId="{F7E38423-63D3-4A03-B1BE-175C777BFAF1}" type="presOf" srcId="{02AD1D01-EE38-471C-9298-F1940292CAD7}" destId="{9873CF8F-2372-49F3-9DE9-91DBE3412F46}" srcOrd="0" destOrd="0" presId="urn:microsoft.com/office/officeart/2005/8/layout/hierarchy1"/>
    <dgm:cxn modelId="{A371C125-2259-4D79-86B3-F845DF5FF11B}" type="presOf" srcId="{85ABFA9C-5D45-4705-8D55-1B01EBB6C323}" destId="{1E9DA51D-772A-44B0-AD7D-D71601FDE07D}" srcOrd="0" destOrd="0" presId="urn:microsoft.com/office/officeart/2005/8/layout/hierarchy1"/>
    <dgm:cxn modelId="{123CC83F-52FE-4CF4-805B-1A493633CD9B}" type="presOf" srcId="{8D861999-5986-4933-A595-043F7320953F}" destId="{C0E54C41-9B69-4F78-A7A0-25D602210C4E}" srcOrd="0" destOrd="0" presId="urn:microsoft.com/office/officeart/2005/8/layout/hierarchy1"/>
    <dgm:cxn modelId="{5906C962-A3A2-466C-A43B-16BC910D14FA}" srcId="{8D861999-5986-4933-A595-043F7320953F}" destId="{26633E29-AB92-4650-8055-88D54ED55BE2}" srcOrd="1" destOrd="0" parTransId="{EEACB6C5-6B43-466E-B148-19853C4B9324}" sibTransId="{59AFF3AB-5361-4D43-82BE-703092E0B64D}"/>
    <dgm:cxn modelId="{0F32394A-DC64-4202-BC90-3A84139D69B2}" srcId="{D53F8F63-4093-4829-BB74-C71750D0CB46}" destId="{B3EC136C-EEC9-4398-ABE4-A339F5EB8755}" srcOrd="0" destOrd="0" parTransId="{02AD1D01-EE38-471C-9298-F1940292CAD7}" sibTransId="{B26FE18D-3451-4A3E-87D2-6B0E461976AA}"/>
    <dgm:cxn modelId="{D432DF6D-7E43-44BD-95FB-7F2A4BEBD9BF}" type="presOf" srcId="{896D4372-91AD-48D7-8F12-2F44D08A2BBF}" destId="{0D0DB610-D48E-44F8-92E8-9E8333A7DFA4}" srcOrd="0" destOrd="0" presId="urn:microsoft.com/office/officeart/2005/8/layout/hierarchy1"/>
    <dgm:cxn modelId="{F49D6D56-934D-48F8-BB12-0B28FD46FA4C}" srcId="{8D861999-5986-4933-A595-043F7320953F}" destId="{54A6EE52-84FF-4D92-B969-8E79CBE8F0C5}" srcOrd="0" destOrd="0" parTransId="{00E07FFB-82FA-4683-9C75-8EBA8C0C092F}" sibTransId="{F16EC0B4-CC2C-43C3-901C-B806FCA21B0F}"/>
    <dgm:cxn modelId="{4685FA84-F24A-4A90-99A3-167D9816DA07}" type="presOf" srcId="{0B9D80D4-13B4-49C5-B4B8-FA4847FF408D}" destId="{EF847DB8-DFD3-47E7-B8A5-8C666BF5466B}" srcOrd="0" destOrd="0" presId="urn:microsoft.com/office/officeart/2005/8/layout/hierarchy1"/>
    <dgm:cxn modelId="{FE6E6288-22ED-46D5-950E-59627C2F882B}" type="presOf" srcId="{00549072-656E-4D2B-B91D-031E53FF144C}" destId="{C4791A95-20EC-42C2-99C0-941E9EDBE678}" srcOrd="0" destOrd="0" presId="urn:microsoft.com/office/officeart/2005/8/layout/hierarchy1"/>
    <dgm:cxn modelId="{9C3F9A8A-19A8-4A70-9C88-327433CA0875}" type="presOf" srcId="{26633E29-AB92-4650-8055-88D54ED55BE2}" destId="{99927BCA-4CF8-44DE-9F8A-BB4AB6050C8E}" srcOrd="0" destOrd="0" presId="urn:microsoft.com/office/officeart/2005/8/layout/hierarchy1"/>
    <dgm:cxn modelId="{561F128E-9537-487F-A048-ECE44F0BDA1A}" srcId="{D53F8F63-4093-4829-BB74-C71750D0CB46}" destId="{1684C333-7923-43F6-9B77-0D62526313B5}" srcOrd="1" destOrd="0" parTransId="{6F213C10-67E7-4E8D-B27E-553D1BC05737}" sibTransId="{82D34320-E142-4A0D-B10E-BD52A42A52E1}"/>
    <dgm:cxn modelId="{C21524A1-40DD-4E2B-BD71-0E948BE12962}" type="presOf" srcId="{DF310642-AF78-4539-AA2E-F9BD8922CD48}" destId="{4B1EB1E7-E7DE-4316-B143-6298166239AD}" srcOrd="0" destOrd="0" presId="urn:microsoft.com/office/officeart/2005/8/layout/hierarchy1"/>
    <dgm:cxn modelId="{E979A3A3-580E-423D-A0CF-0E3793499AFE}" type="presOf" srcId="{8A58056D-B14E-41EE-A4D0-60628552731F}" destId="{6113BFF0-3856-485B-A4A8-E2645871275F}" srcOrd="0" destOrd="0" presId="urn:microsoft.com/office/officeart/2005/8/layout/hierarchy1"/>
    <dgm:cxn modelId="{8EE928A7-BF47-4EA4-8A5E-95A9AF1C417B}" type="presOf" srcId="{6F213C10-67E7-4E8D-B27E-553D1BC05737}" destId="{3EECFDB3-E735-4D21-BF6C-A3BC234599A1}" srcOrd="0" destOrd="0" presId="urn:microsoft.com/office/officeart/2005/8/layout/hierarchy1"/>
    <dgm:cxn modelId="{BF8092A8-5AC4-49C3-B78D-BF2E619ADE49}" srcId="{1D3AFFF0-87E0-41AF-9587-577D47607F30}" destId="{D53F8F63-4093-4829-BB74-C71750D0CB46}" srcOrd="0" destOrd="0" parTransId="{944703BA-DE8B-44BF-898A-9D577DF3CE6A}" sibTransId="{F6B65A73-3963-465F-AB7C-EAC1AE6EEE29}"/>
    <dgm:cxn modelId="{BC70A1B1-6C69-4AC6-88EC-D00F5EE92165}" srcId="{1D3AFFF0-87E0-41AF-9587-577D47607F30}" destId="{8D861999-5986-4933-A595-043F7320953F}" srcOrd="1" destOrd="0" parTransId="{896D4372-91AD-48D7-8F12-2F44D08A2BBF}" sibTransId="{3C2D724A-4C90-4807-87E2-B953BCC46EFD}"/>
    <dgm:cxn modelId="{26A5A2B8-C7E8-456A-929E-80649A6DFF56}" type="presOf" srcId="{1D3AFFF0-87E0-41AF-9587-577D47607F30}" destId="{27DCDAFB-9D99-4665-ADBB-63466E903D4A}" srcOrd="0" destOrd="0" presId="urn:microsoft.com/office/officeart/2005/8/layout/hierarchy1"/>
    <dgm:cxn modelId="{4C59DABB-4FF8-4ADB-87B3-013B8F835AA7}" type="presOf" srcId="{54A6EE52-84FF-4D92-B969-8E79CBE8F0C5}" destId="{71BB4F7B-E13B-4DFE-B15D-7DED4959F594}" srcOrd="0" destOrd="0" presId="urn:microsoft.com/office/officeart/2005/8/layout/hierarchy1"/>
    <dgm:cxn modelId="{0C21F0C1-956C-47DE-B419-7DC38E22D9DA}" type="presOf" srcId="{88E8A79C-7C8C-4C98-9676-5692E6CCF224}" destId="{0FFC99AD-2BA8-48C6-9819-DC36FF7DCAD0}" srcOrd="0" destOrd="0" presId="urn:microsoft.com/office/officeart/2005/8/layout/hierarchy1"/>
    <dgm:cxn modelId="{EFD9D6C9-CDC3-42EE-BFA9-76525A0D897B}" srcId="{5331D2D5-186E-4A7D-B7BF-96688948B44C}" destId="{5CE24B44-D6E9-4EF8-AE7B-89573C2B72FF}" srcOrd="0" destOrd="0" parTransId="{85ABFA9C-5D45-4705-8D55-1B01EBB6C323}" sibTransId="{67C56C2C-140E-40F4-AD8E-F0728871100A}"/>
    <dgm:cxn modelId="{2DD6DCCB-5E38-4203-AB39-5486E3744E92}" type="presOf" srcId="{1684C333-7923-43F6-9B77-0D62526313B5}" destId="{0F26E56F-52F5-4277-BF18-8C496767EA5A}" srcOrd="0" destOrd="0" presId="urn:microsoft.com/office/officeart/2005/8/layout/hierarchy1"/>
    <dgm:cxn modelId="{53D57FCD-35EC-47B6-989E-431843DCAE04}" type="presOf" srcId="{944703BA-DE8B-44BF-898A-9D577DF3CE6A}" destId="{00275DF9-4862-4349-857A-D238C0F08817}" srcOrd="0" destOrd="0" presId="urn:microsoft.com/office/officeart/2005/8/layout/hierarchy1"/>
    <dgm:cxn modelId="{DB4DD1CF-70FC-4372-AFDE-AE22D2333CF7}" type="presOf" srcId="{D53F8F63-4093-4829-BB74-C71750D0CB46}" destId="{7AE95F25-5232-4E91-9E0E-86CE995ED199}" srcOrd="0" destOrd="0" presId="urn:microsoft.com/office/officeart/2005/8/layout/hierarchy1"/>
    <dgm:cxn modelId="{226830DD-98BB-4B3C-9F2F-174E64C679DB}" srcId="{5331D2D5-186E-4A7D-B7BF-96688948B44C}" destId="{00549072-656E-4D2B-B91D-031E53FF144C}" srcOrd="1" destOrd="0" parTransId="{88E8A79C-7C8C-4C98-9676-5692E6CCF224}" sibTransId="{E5F2FA66-2F44-4434-B341-C05F34728E48}"/>
    <dgm:cxn modelId="{342C96E9-07F8-4708-AEE9-508D9DF315B9}" type="presOf" srcId="{00E07FFB-82FA-4683-9C75-8EBA8C0C092F}" destId="{69C8F1FE-FB64-4228-BF5C-582E5A979261}" srcOrd="0" destOrd="0" presId="urn:microsoft.com/office/officeart/2005/8/layout/hierarchy1"/>
    <dgm:cxn modelId="{3A3F35EE-6D72-4014-985E-40C492F86354}" type="presOf" srcId="{EEACB6C5-6B43-466E-B148-19853C4B9324}" destId="{A0DB35CD-D4D4-47CA-967D-3A952C83EEAE}" srcOrd="0" destOrd="0" presId="urn:microsoft.com/office/officeart/2005/8/layout/hierarchy1"/>
    <dgm:cxn modelId="{C38CCFFB-62E1-4E03-BCE4-9497B035AE94}" srcId="{1D3AFFF0-87E0-41AF-9587-577D47607F30}" destId="{5331D2D5-186E-4A7D-B7BF-96688948B44C}" srcOrd="2" destOrd="0" parTransId="{8A58056D-B14E-41EE-A4D0-60628552731F}" sibTransId="{AD2D90A5-7A29-489C-B2A6-EF11CC6DEFD9}"/>
    <dgm:cxn modelId="{8454EBFF-AF7C-4D20-8218-B0239263E492}" srcId="{8D861999-5986-4933-A595-043F7320953F}" destId="{AAF4F1E5-05EF-40A4-B043-A0C4F066363B}" srcOrd="2" destOrd="0" parTransId="{0B9D80D4-13B4-49C5-B4B8-FA4847FF408D}" sibTransId="{21FBD31F-7E4E-4624-8610-431B18982D6D}"/>
    <dgm:cxn modelId="{B75F633D-EF1F-492C-A185-EC53ECA9D128}" type="presParOf" srcId="{4B1EB1E7-E7DE-4316-B143-6298166239AD}" destId="{BA68516A-82F1-4C6A-AB55-5E3816321EDE}" srcOrd="0" destOrd="0" presId="urn:microsoft.com/office/officeart/2005/8/layout/hierarchy1"/>
    <dgm:cxn modelId="{DE60CAE8-CEAB-438F-9DDF-0795A20BA216}" type="presParOf" srcId="{BA68516A-82F1-4C6A-AB55-5E3816321EDE}" destId="{0E43E6CD-C2B4-4F0A-8647-8DF2FB6D2BCC}" srcOrd="0" destOrd="0" presId="urn:microsoft.com/office/officeart/2005/8/layout/hierarchy1"/>
    <dgm:cxn modelId="{DDB552E5-CA24-4596-A78C-04387733F438}" type="presParOf" srcId="{0E43E6CD-C2B4-4F0A-8647-8DF2FB6D2BCC}" destId="{941F23F8-BC01-4CFE-8097-DB5D4D90AAAB}" srcOrd="0" destOrd="0" presId="urn:microsoft.com/office/officeart/2005/8/layout/hierarchy1"/>
    <dgm:cxn modelId="{269473B6-53F9-47D6-9C37-F809C6AC2A33}" type="presParOf" srcId="{0E43E6CD-C2B4-4F0A-8647-8DF2FB6D2BCC}" destId="{27DCDAFB-9D99-4665-ADBB-63466E903D4A}" srcOrd="1" destOrd="0" presId="urn:microsoft.com/office/officeart/2005/8/layout/hierarchy1"/>
    <dgm:cxn modelId="{F1B5AA20-57A8-4FAA-B288-EEB1CA90B071}" type="presParOf" srcId="{BA68516A-82F1-4C6A-AB55-5E3816321EDE}" destId="{AE92BAFB-B677-4D5D-A58D-FFA2383E1FD1}" srcOrd="1" destOrd="0" presId="urn:microsoft.com/office/officeart/2005/8/layout/hierarchy1"/>
    <dgm:cxn modelId="{8E121C13-2C9A-4D57-AD0E-84BCDE231071}" type="presParOf" srcId="{AE92BAFB-B677-4D5D-A58D-FFA2383E1FD1}" destId="{00275DF9-4862-4349-857A-D238C0F08817}" srcOrd="0" destOrd="0" presId="urn:microsoft.com/office/officeart/2005/8/layout/hierarchy1"/>
    <dgm:cxn modelId="{F72F0FF1-5094-471B-8FCF-E2A2B2B156B5}" type="presParOf" srcId="{AE92BAFB-B677-4D5D-A58D-FFA2383E1FD1}" destId="{D1EBD71C-083D-4798-9CDF-C60B72AB5EEA}" srcOrd="1" destOrd="0" presId="urn:microsoft.com/office/officeart/2005/8/layout/hierarchy1"/>
    <dgm:cxn modelId="{B93BC081-A64D-4482-B2A6-E9D2CB8DB4A6}" type="presParOf" srcId="{D1EBD71C-083D-4798-9CDF-C60B72AB5EEA}" destId="{FCAFC025-72CD-4964-A33E-08A4330C6473}" srcOrd="0" destOrd="0" presId="urn:microsoft.com/office/officeart/2005/8/layout/hierarchy1"/>
    <dgm:cxn modelId="{A78D6FD6-7630-4E86-9EF1-AB0C7F2DDFF8}" type="presParOf" srcId="{FCAFC025-72CD-4964-A33E-08A4330C6473}" destId="{5FCE555D-A897-49E0-9130-57C9A9EE8917}" srcOrd="0" destOrd="0" presId="urn:microsoft.com/office/officeart/2005/8/layout/hierarchy1"/>
    <dgm:cxn modelId="{5B64EFA9-360F-4C19-BEEC-AFAAB57F39DB}" type="presParOf" srcId="{FCAFC025-72CD-4964-A33E-08A4330C6473}" destId="{7AE95F25-5232-4E91-9E0E-86CE995ED199}" srcOrd="1" destOrd="0" presId="urn:microsoft.com/office/officeart/2005/8/layout/hierarchy1"/>
    <dgm:cxn modelId="{FAB0DC26-2C91-4678-82DF-48F562796200}" type="presParOf" srcId="{D1EBD71C-083D-4798-9CDF-C60B72AB5EEA}" destId="{77B85D09-364E-4CD9-97BE-7C9081BCE603}" srcOrd="1" destOrd="0" presId="urn:microsoft.com/office/officeart/2005/8/layout/hierarchy1"/>
    <dgm:cxn modelId="{268EF6A8-87EB-4B80-B9F1-E6F02C262286}" type="presParOf" srcId="{77B85D09-364E-4CD9-97BE-7C9081BCE603}" destId="{9873CF8F-2372-49F3-9DE9-91DBE3412F46}" srcOrd="0" destOrd="0" presId="urn:microsoft.com/office/officeart/2005/8/layout/hierarchy1"/>
    <dgm:cxn modelId="{97AE39F6-0F01-4243-8975-633A20C18E3A}" type="presParOf" srcId="{77B85D09-364E-4CD9-97BE-7C9081BCE603}" destId="{2EA8235A-8957-4F68-BDFE-49515FFD7259}" srcOrd="1" destOrd="0" presId="urn:microsoft.com/office/officeart/2005/8/layout/hierarchy1"/>
    <dgm:cxn modelId="{EA20F221-EA75-484A-ABFD-089D3DD8BD42}" type="presParOf" srcId="{2EA8235A-8957-4F68-BDFE-49515FFD7259}" destId="{87D16DD8-5E6D-410B-95A1-81CCE3225287}" srcOrd="0" destOrd="0" presId="urn:microsoft.com/office/officeart/2005/8/layout/hierarchy1"/>
    <dgm:cxn modelId="{87676612-C06A-4339-A9C9-449DC58427C3}" type="presParOf" srcId="{87D16DD8-5E6D-410B-95A1-81CCE3225287}" destId="{DF7F889C-1D0C-44F1-92B7-C3EA5F1AC971}" srcOrd="0" destOrd="0" presId="urn:microsoft.com/office/officeart/2005/8/layout/hierarchy1"/>
    <dgm:cxn modelId="{E3A1A3E0-4583-4B68-BE66-3984B1BEDE29}" type="presParOf" srcId="{87D16DD8-5E6D-410B-95A1-81CCE3225287}" destId="{205C32C6-40C4-42F5-8ED8-9D9B6FC27188}" srcOrd="1" destOrd="0" presId="urn:microsoft.com/office/officeart/2005/8/layout/hierarchy1"/>
    <dgm:cxn modelId="{6F1606C1-7566-4A5F-B0A0-FC074AC43D12}" type="presParOf" srcId="{2EA8235A-8957-4F68-BDFE-49515FFD7259}" destId="{E8A2E57C-B947-4A55-9432-CC0C62A91752}" srcOrd="1" destOrd="0" presId="urn:microsoft.com/office/officeart/2005/8/layout/hierarchy1"/>
    <dgm:cxn modelId="{80466217-8193-47E7-A6E1-1FB58A533704}" type="presParOf" srcId="{77B85D09-364E-4CD9-97BE-7C9081BCE603}" destId="{3EECFDB3-E735-4D21-BF6C-A3BC234599A1}" srcOrd="2" destOrd="0" presId="urn:microsoft.com/office/officeart/2005/8/layout/hierarchy1"/>
    <dgm:cxn modelId="{0B6B7B6B-F200-487A-AA1D-668670316F17}" type="presParOf" srcId="{77B85D09-364E-4CD9-97BE-7C9081BCE603}" destId="{531D460D-E99F-4BBA-AF2F-7D3A698FC369}" srcOrd="3" destOrd="0" presId="urn:microsoft.com/office/officeart/2005/8/layout/hierarchy1"/>
    <dgm:cxn modelId="{B5FC7D7E-6099-4413-B746-B88C21D4D603}" type="presParOf" srcId="{531D460D-E99F-4BBA-AF2F-7D3A698FC369}" destId="{F17D9811-3F72-4930-9A32-943B45A4EAF0}" srcOrd="0" destOrd="0" presId="urn:microsoft.com/office/officeart/2005/8/layout/hierarchy1"/>
    <dgm:cxn modelId="{E21E271E-6E0E-4C6A-BC1E-034B6B16CB29}" type="presParOf" srcId="{F17D9811-3F72-4930-9A32-943B45A4EAF0}" destId="{C1EED29D-7FA2-47A7-8FC3-95047349D2F8}" srcOrd="0" destOrd="0" presId="urn:microsoft.com/office/officeart/2005/8/layout/hierarchy1"/>
    <dgm:cxn modelId="{20651612-AE93-4532-B8CE-1E1CF0C53937}" type="presParOf" srcId="{F17D9811-3F72-4930-9A32-943B45A4EAF0}" destId="{0F26E56F-52F5-4277-BF18-8C496767EA5A}" srcOrd="1" destOrd="0" presId="urn:microsoft.com/office/officeart/2005/8/layout/hierarchy1"/>
    <dgm:cxn modelId="{0B92E9F5-6900-4395-B813-458896E7C159}" type="presParOf" srcId="{531D460D-E99F-4BBA-AF2F-7D3A698FC369}" destId="{12A1D643-C677-4495-BB33-78AE161C6536}" srcOrd="1" destOrd="0" presId="urn:microsoft.com/office/officeart/2005/8/layout/hierarchy1"/>
    <dgm:cxn modelId="{A1D99AAA-8E94-4ED6-9DCE-D7096DEADB9F}" type="presParOf" srcId="{AE92BAFB-B677-4D5D-A58D-FFA2383E1FD1}" destId="{0D0DB610-D48E-44F8-92E8-9E8333A7DFA4}" srcOrd="2" destOrd="0" presId="urn:microsoft.com/office/officeart/2005/8/layout/hierarchy1"/>
    <dgm:cxn modelId="{AAD6E81B-2EF6-4D6E-AD7E-2A89431D11FF}" type="presParOf" srcId="{AE92BAFB-B677-4D5D-A58D-FFA2383E1FD1}" destId="{456071F7-A145-43D5-90DD-288B18C9B326}" srcOrd="3" destOrd="0" presId="urn:microsoft.com/office/officeart/2005/8/layout/hierarchy1"/>
    <dgm:cxn modelId="{E75C0A2C-0D58-4CC9-A091-6AB7406656DF}" type="presParOf" srcId="{456071F7-A145-43D5-90DD-288B18C9B326}" destId="{DB1E8158-68A2-4D5C-AAD3-9A7E577CC2DD}" srcOrd="0" destOrd="0" presId="urn:microsoft.com/office/officeart/2005/8/layout/hierarchy1"/>
    <dgm:cxn modelId="{559CF09F-A7F5-4751-8D99-4EC39D2F2FAA}" type="presParOf" srcId="{DB1E8158-68A2-4D5C-AAD3-9A7E577CC2DD}" destId="{74C58B10-E5C6-43D3-AEAD-BAB9F36929F7}" srcOrd="0" destOrd="0" presId="urn:microsoft.com/office/officeart/2005/8/layout/hierarchy1"/>
    <dgm:cxn modelId="{78849E14-C11B-43CF-8EDC-735AE9473C8B}" type="presParOf" srcId="{DB1E8158-68A2-4D5C-AAD3-9A7E577CC2DD}" destId="{C0E54C41-9B69-4F78-A7A0-25D602210C4E}" srcOrd="1" destOrd="0" presId="urn:microsoft.com/office/officeart/2005/8/layout/hierarchy1"/>
    <dgm:cxn modelId="{D096F46A-3D86-4697-AA77-6EC9D6008CF7}" type="presParOf" srcId="{456071F7-A145-43D5-90DD-288B18C9B326}" destId="{86E16C0C-67DE-4C5E-87DD-58A6D4A84EBC}" srcOrd="1" destOrd="0" presId="urn:microsoft.com/office/officeart/2005/8/layout/hierarchy1"/>
    <dgm:cxn modelId="{6333E92B-A601-4F61-BCD1-A0E88A9EEB41}" type="presParOf" srcId="{86E16C0C-67DE-4C5E-87DD-58A6D4A84EBC}" destId="{69C8F1FE-FB64-4228-BF5C-582E5A979261}" srcOrd="0" destOrd="0" presId="urn:microsoft.com/office/officeart/2005/8/layout/hierarchy1"/>
    <dgm:cxn modelId="{F35D8EA1-1C98-4243-AFE6-67530B40AD4F}" type="presParOf" srcId="{86E16C0C-67DE-4C5E-87DD-58A6D4A84EBC}" destId="{48ED7861-5874-4357-A797-7AA6DA39B649}" srcOrd="1" destOrd="0" presId="urn:microsoft.com/office/officeart/2005/8/layout/hierarchy1"/>
    <dgm:cxn modelId="{85E4D939-E404-4BBC-AA0D-79CDC66A4089}" type="presParOf" srcId="{48ED7861-5874-4357-A797-7AA6DA39B649}" destId="{BA208008-DEF9-4D2F-87BF-8731E3B5C3FE}" srcOrd="0" destOrd="0" presId="urn:microsoft.com/office/officeart/2005/8/layout/hierarchy1"/>
    <dgm:cxn modelId="{261625CB-85D1-49C5-8A89-14F99A5AF5FC}" type="presParOf" srcId="{BA208008-DEF9-4D2F-87BF-8731E3B5C3FE}" destId="{C38DE57C-065B-40B2-BEBD-556290799360}" srcOrd="0" destOrd="0" presId="urn:microsoft.com/office/officeart/2005/8/layout/hierarchy1"/>
    <dgm:cxn modelId="{D739A372-6B99-4FC4-8890-F08EC1ED2C1E}" type="presParOf" srcId="{BA208008-DEF9-4D2F-87BF-8731E3B5C3FE}" destId="{71BB4F7B-E13B-4DFE-B15D-7DED4959F594}" srcOrd="1" destOrd="0" presId="urn:microsoft.com/office/officeart/2005/8/layout/hierarchy1"/>
    <dgm:cxn modelId="{4FDB52CC-F16F-48FF-B0B1-4FFD7C773397}" type="presParOf" srcId="{48ED7861-5874-4357-A797-7AA6DA39B649}" destId="{0C42050C-5A75-4B00-88EE-3823E6F8571D}" srcOrd="1" destOrd="0" presId="urn:microsoft.com/office/officeart/2005/8/layout/hierarchy1"/>
    <dgm:cxn modelId="{7CD72178-1489-411D-8EAF-B4A2701D919D}" type="presParOf" srcId="{86E16C0C-67DE-4C5E-87DD-58A6D4A84EBC}" destId="{A0DB35CD-D4D4-47CA-967D-3A952C83EEAE}" srcOrd="2" destOrd="0" presId="urn:microsoft.com/office/officeart/2005/8/layout/hierarchy1"/>
    <dgm:cxn modelId="{FE576B36-6579-4005-B8D1-817D3DAF50CD}" type="presParOf" srcId="{86E16C0C-67DE-4C5E-87DD-58A6D4A84EBC}" destId="{B3624FEA-4D5A-4576-8A86-7FA00E19C4BF}" srcOrd="3" destOrd="0" presId="urn:microsoft.com/office/officeart/2005/8/layout/hierarchy1"/>
    <dgm:cxn modelId="{8B97BFF0-CCFD-4AB3-A33F-41796ACE1467}" type="presParOf" srcId="{B3624FEA-4D5A-4576-8A86-7FA00E19C4BF}" destId="{207723D4-6B9A-4930-804D-394D4943FDCD}" srcOrd="0" destOrd="0" presId="urn:microsoft.com/office/officeart/2005/8/layout/hierarchy1"/>
    <dgm:cxn modelId="{8BE6FE51-F95D-45E9-A5BC-3E4DC2680E0C}" type="presParOf" srcId="{207723D4-6B9A-4930-804D-394D4943FDCD}" destId="{7B2F6CF9-9255-49A1-8E44-6AD561BC6432}" srcOrd="0" destOrd="0" presId="urn:microsoft.com/office/officeart/2005/8/layout/hierarchy1"/>
    <dgm:cxn modelId="{F8A9B3CA-E8A3-4508-BA72-7B8F7FAB7769}" type="presParOf" srcId="{207723D4-6B9A-4930-804D-394D4943FDCD}" destId="{99927BCA-4CF8-44DE-9F8A-BB4AB6050C8E}" srcOrd="1" destOrd="0" presId="urn:microsoft.com/office/officeart/2005/8/layout/hierarchy1"/>
    <dgm:cxn modelId="{1DCE7AAE-B75D-4D23-A4B9-9FC5F14D4DF2}" type="presParOf" srcId="{B3624FEA-4D5A-4576-8A86-7FA00E19C4BF}" destId="{F0D2CCC7-C570-458E-B5D1-844C841D7828}" srcOrd="1" destOrd="0" presId="urn:microsoft.com/office/officeart/2005/8/layout/hierarchy1"/>
    <dgm:cxn modelId="{CBA8D4D8-D20F-4258-AB78-F8768A6EED18}" type="presParOf" srcId="{86E16C0C-67DE-4C5E-87DD-58A6D4A84EBC}" destId="{EF847DB8-DFD3-47E7-B8A5-8C666BF5466B}" srcOrd="4" destOrd="0" presId="urn:microsoft.com/office/officeart/2005/8/layout/hierarchy1"/>
    <dgm:cxn modelId="{B7CB75BC-835E-4D4F-A06D-1956682E8775}" type="presParOf" srcId="{86E16C0C-67DE-4C5E-87DD-58A6D4A84EBC}" destId="{B2414E3A-4C5E-49AF-B3D0-DDF537730C8F}" srcOrd="5" destOrd="0" presId="urn:microsoft.com/office/officeart/2005/8/layout/hierarchy1"/>
    <dgm:cxn modelId="{857D8530-747C-48B8-9E2A-5FE4BC8EE55E}" type="presParOf" srcId="{B2414E3A-4C5E-49AF-B3D0-DDF537730C8F}" destId="{962F4D84-679D-47D9-BD99-DF1EED9B766D}" srcOrd="0" destOrd="0" presId="urn:microsoft.com/office/officeart/2005/8/layout/hierarchy1"/>
    <dgm:cxn modelId="{FF2B7DAC-75D9-4C2C-A4BB-D84435E2DB79}" type="presParOf" srcId="{962F4D84-679D-47D9-BD99-DF1EED9B766D}" destId="{3351E779-F6C9-46C2-99D4-4EED2259D109}" srcOrd="0" destOrd="0" presId="urn:microsoft.com/office/officeart/2005/8/layout/hierarchy1"/>
    <dgm:cxn modelId="{D7570A99-97F8-4A1A-B0BF-CCD33A130461}" type="presParOf" srcId="{962F4D84-679D-47D9-BD99-DF1EED9B766D}" destId="{6C8D6570-F4A1-424C-B484-E260E47E5F6E}" srcOrd="1" destOrd="0" presId="urn:microsoft.com/office/officeart/2005/8/layout/hierarchy1"/>
    <dgm:cxn modelId="{E652111C-4FB6-4365-BDD3-6E8093ED606D}" type="presParOf" srcId="{B2414E3A-4C5E-49AF-B3D0-DDF537730C8F}" destId="{065098DD-7A5C-4D93-BABA-7B6D7EEB3393}" srcOrd="1" destOrd="0" presId="urn:microsoft.com/office/officeart/2005/8/layout/hierarchy1"/>
    <dgm:cxn modelId="{D5525E60-133A-44C2-BD49-E91EAF7944AC}" type="presParOf" srcId="{AE92BAFB-B677-4D5D-A58D-FFA2383E1FD1}" destId="{6113BFF0-3856-485B-A4A8-E2645871275F}" srcOrd="4" destOrd="0" presId="urn:microsoft.com/office/officeart/2005/8/layout/hierarchy1"/>
    <dgm:cxn modelId="{099B3639-B0B7-40BA-B910-793B444928C5}" type="presParOf" srcId="{AE92BAFB-B677-4D5D-A58D-FFA2383E1FD1}" destId="{8691C558-9DCF-4FE9-9C1B-5A8596C5C248}" srcOrd="5" destOrd="0" presId="urn:microsoft.com/office/officeart/2005/8/layout/hierarchy1"/>
    <dgm:cxn modelId="{DCCE6AF1-D85A-4F0B-B827-A1C0AFD712B3}" type="presParOf" srcId="{8691C558-9DCF-4FE9-9C1B-5A8596C5C248}" destId="{E532134F-F76F-433F-A9CB-3D693023C4A7}" srcOrd="0" destOrd="0" presId="urn:microsoft.com/office/officeart/2005/8/layout/hierarchy1"/>
    <dgm:cxn modelId="{5ED751B6-F440-4E70-B1FC-C421738A4FE6}" type="presParOf" srcId="{E532134F-F76F-433F-A9CB-3D693023C4A7}" destId="{90DE277B-6820-45E8-ABC1-436200024406}" srcOrd="0" destOrd="0" presId="urn:microsoft.com/office/officeart/2005/8/layout/hierarchy1"/>
    <dgm:cxn modelId="{F30376BE-AC34-46A3-8677-1247D4917BA3}" type="presParOf" srcId="{E532134F-F76F-433F-A9CB-3D693023C4A7}" destId="{EA96700A-3EAB-49D1-B0E5-DFF233E1E67E}" srcOrd="1" destOrd="0" presId="urn:microsoft.com/office/officeart/2005/8/layout/hierarchy1"/>
    <dgm:cxn modelId="{7BC8ACDC-AF9A-472D-BFC7-B253BFE6C47F}" type="presParOf" srcId="{8691C558-9DCF-4FE9-9C1B-5A8596C5C248}" destId="{83E21ECF-43F5-4CFD-917F-623363BEF3E5}" srcOrd="1" destOrd="0" presId="urn:microsoft.com/office/officeart/2005/8/layout/hierarchy1"/>
    <dgm:cxn modelId="{5B8145F4-FE47-437B-BE17-8FEAA1189772}" type="presParOf" srcId="{83E21ECF-43F5-4CFD-917F-623363BEF3E5}" destId="{1E9DA51D-772A-44B0-AD7D-D71601FDE07D}" srcOrd="0" destOrd="0" presId="urn:microsoft.com/office/officeart/2005/8/layout/hierarchy1"/>
    <dgm:cxn modelId="{6FB62EB1-B6CD-4FA5-BD5F-16060A379832}" type="presParOf" srcId="{83E21ECF-43F5-4CFD-917F-623363BEF3E5}" destId="{6E49A688-711C-4B64-A0B2-24DAAE1D1FDD}" srcOrd="1" destOrd="0" presId="urn:microsoft.com/office/officeart/2005/8/layout/hierarchy1"/>
    <dgm:cxn modelId="{9804BC30-ABA0-490A-BC63-89D3763738A7}" type="presParOf" srcId="{6E49A688-711C-4B64-A0B2-24DAAE1D1FDD}" destId="{649AC84B-9822-44FE-88D9-B051029206D4}" srcOrd="0" destOrd="0" presId="urn:microsoft.com/office/officeart/2005/8/layout/hierarchy1"/>
    <dgm:cxn modelId="{0AE977A6-A68D-4CE3-B71F-A22E6E792448}" type="presParOf" srcId="{649AC84B-9822-44FE-88D9-B051029206D4}" destId="{35EE64AD-1C4D-4923-9C3A-F5855164B8E3}" srcOrd="0" destOrd="0" presId="urn:microsoft.com/office/officeart/2005/8/layout/hierarchy1"/>
    <dgm:cxn modelId="{04041493-B4FE-4F49-8F62-AC3C44CE21DE}" type="presParOf" srcId="{649AC84B-9822-44FE-88D9-B051029206D4}" destId="{CD463962-C8DA-4EEB-962F-4FFE8591FAF3}" srcOrd="1" destOrd="0" presId="urn:microsoft.com/office/officeart/2005/8/layout/hierarchy1"/>
    <dgm:cxn modelId="{BC9B33C0-EEBA-4695-8AFE-6F2A48C2192B}" type="presParOf" srcId="{6E49A688-711C-4B64-A0B2-24DAAE1D1FDD}" destId="{E1F2C884-CE1C-44D2-9271-EC73FE0E0ED7}" srcOrd="1" destOrd="0" presId="urn:microsoft.com/office/officeart/2005/8/layout/hierarchy1"/>
    <dgm:cxn modelId="{936651BC-8624-4B6D-ADAC-F17768DF0BED}" type="presParOf" srcId="{83E21ECF-43F5-4CFD-917F-623363BEF3E5}" destId="{0FFC99AD-2BA8-48C6-9819-DC36FF7DCAD0}" srcOrd="2" destOrd="0" presId="urn:microsoft.com/office/officeart/2005/8/layout/hierarchy1"/>
    <dgm:cxn modelId="{350DA538-4460-49CD-8ABA-E6BD94B77727}" type="presParOf" srcId="{83E21ECF-43F5-4CFD-917F-623363BEF3E5}" destId="{92748940-C26B-4778-B036-EAD5E3D8597D}" srcOrd="3" destOrd="0" presId="urn:microsoft.com/office/officeart/2005/8/layout/hierarchy1"/>
    <dgm:cxn modelId="{D655470E-ACFE-4576-9A69-533932A2C478}" type="presParOf" srcId="{92748940-C26B-4778-B036-EAD5E3D8597D}" destId="{DE89D34C-2C21-4D82-920D-1EDEF063DD20}" srcOrd="0" destOrd="0" presId="urn:microsoft.com/office/officeart/2005/8/layout/hierarchy1"/>
    <dgm:cxn modelId="{27C5C91F-9514-434F-A507-472BA3988554}" type="presParOf" srcId="{DE89D34C-2C21-4D82-920D-1EDEF063DD20}" destId="{DBA76714-5C33-4AA1-8515-FA044AD90317}" srcOrd="0" destOrd="0" presId="urn:microsoft.com/office/officeart/2005/8/layout/hierarchy1"/>
    <dgm:cxn modelId="{0733F26D-C426-48AD-BB42-873BEA9CE478}" type="presParOf" srcId="{DE89D34C-2C21-4D82-920D-1EDEF063DD20}" destId="{C4791A95-20EC-42C2-99C0-941E9EDBE678}" srcOrd="1" destOrd="0" presId="urn:microsoft.com/office/officeart/2005/8/layout/hierarchy1"/>
    <dgm:cxn modelId="{E92414C6-6B01-42BE-8B4F-7ED4A791B33F}" type="presParOf" srcId="{92748940-C26B-4778-B036-EAD5E3D8597D}" destId="{B9D272E9-A60A-48CE-8FA1-59A9DFF20D87}"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0F31FB71-9799-448E-9BF2-101CA04F4FAD}" type="doc">
      <dgm:prSet loTypeId="urn:microsoft.com/office/officeart/2005/8/layout/matrix1" loCatId="matrix" qsTypeId="urn:microsoft.com/office/officeart/2005/8/quickstyle/simple1" qsCatId="simple" csTypeId="urn:microsoft.com/office/officeart/2005/8/colors/accent1_2" csCatId="accent1" phldr="1"/>
      <dgm:spPr/>
      <dgm:t>
        <a:bodyPr/>
        <a:lstStyle/>
        <a:p>
          <a:endParaRPr lang="en-US"/>
        </a:p>
      </dgm:t>
    </dgm:pt>
    <dgm:pt modelId="{E9BE064B-2F49-4A8C-8A36-698DABD07017}">
      <dgm:prSet phldrT="[Text]" phldr="0"/>
      <dgm:spPr>
        <a:solidFill>
          <a:schemeClr val="accent1">
            <a:lumMod val="10000"/>
            <a:lumOff val="90000"/>
          </a:schemeClr>
        </a:solidFill>
      </dgm:spPr>
      <dgm:t>
        <a:bodyPr/>
        <a:lstStyle/>
        <a:p>
          <a:r>
            <a:rPr lang="en-US"/>
            <a:t>   </a:t>
          </a:r>
        </a:p>
      </dgm:t>
    </dgm:pt>
    <dgm:pt modelId="{0569903D-06B5-4A2C-84D7-B766159B2777}" type="parTrans" cxnId="{DB5DD88F-8659-4BFF-BEA2-13CC454E3165}">
      <dgm:prSet/>
      <dgm:spPr/>
      <dgm:t>
        <a:bodyPr/>
        <a:lstStyle/>
        <a:p>
          <a:endParaRPr lang="en-US"/>
        </a:p>
      </dgm:t>
    </dgm:pt>
    <dgm:pt modelId="{C1B7C44C-11F5-41C6-8057-C1CFC9E8E2E2}" type="sibTrans" cxnId="{DB5DD88F-8659-4BFF-BEA2-13CC454E3165}">
      <dgm:prSet/>
      <dgm:spPr/>
      <dgm:t>
        <a:bodyPr/>
        <a:lstStyle/>
        <a:p>
          <a:endParaRPr lang="en-US"/>
        </a:p>
      </dgm:t>
    </dgm:pt>
    <dgm:pt modelId="{5E1BBE66-22D8-480D-9DF9-D5528F07122D}">
      <dgm:prSet phldrT="[Text]" custT="1"/>
      <dgm:spPr/>
      <dgm:t>
        <a:bodyPr/>
        <a:lstStyle/>
        <a:p>
          <a:pPr algn="l"/>
          <a:endParaRPr lang="en-US" sz="1800" b="1"/>
        </a:p>
        <a:p>
          <a:pPr algn="l"/>
          <a:r>
            <a:rPr lang="en-US" sz="1800" b="1"/>
            <a:t>Leverages Existing Capabilities</a:t>
          </a:r>
        </a:p>
        <a:p>
          <a:pPr algn="l">
            <a:buFont typeface="Arial" panose="020B0604020202020204" pitchFamily="34" charset="0"/>
            <a:buChar char="•"/>
          </a:pPr>
          <a:r>
            <a:rPr lang="en-US" sz="1800" b="0" i="0"/>
            <a:t>- Existing utility expertise </a:t>
          </a:r>
        </a:p>
        <a:p>
          <a:pPr algn="l"/>
          <a:r>
            <a:rPr lang="en-US" sz="1800" b="0" i="0"/>
            <a:t>- Established contractor network </a:t>
          </a:r>
        </a:p>
        <a:p>
          <a:pPr algn="l"/>
          <a:r>
            <a:rPr lang="en-US" sz="1800" b="0" i="0"/>
            <a:t>- Proven customer engagement </a:t>
          </a:r>
        </a:p>
        <a:p>
          <a:pPr algn="l"/>
          <a:r>
            <a:rPr lang="en-US" sz="1800" b="0" i="0"/>
            <a:t>- Minimal new infrastructure</a:t>
          </a:r>
        </a:p>
      </dgm:t>
    </dgm:pt>
    <dgm:pt modelId="{F7C2E467-402F-4F3B-B114-09D2470CABE8}" type="parTrans" cxnId="{F05DEA8C-6290-4B54-9319-D86AFC6EAC01}">
      <dgm:prSet/>
      <dgm:spPr/>
      <dgm:t>
        <a:bodyPr/>
        <a:lstStyle/>
        <a:p>
          <a:endParaRPr lang="en-US"/>
        </a:p>
      </dgm:t>
    </dgm:pt>
    <dgm:pt modelId="{AEB937BC-7DEA-4A67-BB77-137424F62E68}" type="sibTrans" cxnId="{F05DEA8C-6290-4B54-9319-D86AFC6EAC01}">
      <dgm:prSet/>
      <dgm:spPr/>
      <dgm:t>
        <a:bodyPr/>
        <a:lstStyle/>
        <a:p>
          <a:endParaRPr lang="en-US"/>
        </a:p>
      </dgm:t>
    </dgm:pt>
    <dgm:pt modelId="{A57EBB6D-D543-44DF-BDF5-1C08C9EB31EB}">
      <dgm:prSet phldrT="[Text]" custT="1"/>
      <dgm:spPr/>
      <dgm:t>
        <a:bodyPr/>
        <a:lstStyle/>
        <a:p>
          <a:pPr algn="r"/>
          <a:endParaRPr lang="en-US" sz="1500" b="1"/>
        </a:p>
        <a:p>
          <a:pPr algn="r"/>
          <a:r>
            <a:rPr lang="en-US" sz="1800" b="1"/>
            <a:t>Expands Into New Markets</a:t>
          </a:r>
        </a:p>
        <a:p>
          <a:pPr algn="r"/>
          <a:r>
            <a:rPr lang="en-US" sz="1400"/>
            <a:t>There is little direct competition providing end-to-end administration of utility-owned residential battery fleets. This positions APTIM to establish a differentiated offering within the growing demand response and distributed energy resources market.</a:t>
          </a:r>
        </a:p>
      </dgm:t>
    </dgm:pt>
    <dgm:pt modelId="{0EEADD4E-A063-4265-BC03-1F5AE13BF8DE}" type="parTrans" cxnId="{528883C7-1006-4531-B7F0-7BCE497A0FA0}">
      <dgm:prSet/>
      <dgm:spPr/>
      <dgm:t>
        <a:bodyPr/>
        <a:lstStyle/>
        <a:p>
          <a:endParaRPr lang="en-US"/>
        </a:p>
      </dgm:t>
    </dgm:pt>
    <dgm:pt modelId="{0E76BE03-3C24-4030-B3BD-698C235F6E52}" type="sibTrans" cxnId="{528883C7-1006-4531-B7F0-7BCE497A0FA0}">
      <dgm:prSet/>
      <dgm:spPr/>
      <dgm:t>
        <a:bodyPr/>
        <a:lstStyle/>
        <a:p>
          <a:endParaRPr lang="en-US"/>
        </a:p>
      </dgm:t>
    </dgm:pt>
    <dgm:pt modelId="{97C2E1FC-B64D-459B-93DE-177F9745D912}">
      <dgm:prSet phldrT="[Text]" custT="1"/>
      <dgm:spPr/>
      <dgm:t>
        <a:bodyPr/>
        <a:lstStyle/>
        <a:p>
          <a:pPr algn="l"/>
          <a:r>
            <a:rPr lang="en-US" sz="1800" b="1"/>
            <a:t>Scales Through Existing Relationships </a:t>
          </a:r>
        </a:p>
        <a:p>
          <a:pPr algn="l"/>
          <a:r>
            <a:rPr lang="en-US" sz="14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gm:t>
    </dgm:pt>
    <dgm:pt modelId="{918470C9-B870-4C0C-81E6-29F4AC14412F}" type="parTrans" cxnId="{901077D0-9709-40E0-AC2E-AD37C8176AFE}">
      <dgm:prSet/>
      <dgm:spPr/>
      <dgm:t>
        <a:bodyPr/>
        <a:lstStyle/>
        <a:p>
          <a:endParaRPr lang="en-US"/>
        </a:p>
      </dgm:t>
    </dgm:pt>
    <dgm:pt modelId="{1ECC4728-FD9A-41F5-B76A-C69BD944B462}" type="sibTrans" cxnId="{901077D0-9709-40E0-AC2E-AD37C8176AFE}">
      <dgm:prSet/>
      <dgm:spPr/>
      <dgm:t>
        <a:bodyPr/>
        <a:lstStyle/>
        <a:p>
          <a:endParaRPr lang="en-US"/>
        </a:p>
      </dgm:t>
    </dgm:pt>
    <dgm:pt modelId="{00076127-CDAD-4238-9685-A707C77462D1}">
      <dgm:prSet custT="1"/>
      <dgm:spPr/>
      <dgm:t>
        <a:bodyPr/>
        <a:lstStyle/>
        <a:p>
          <a:pPr algn="r"/>
          <a:r>
            <a:rPr lang="en-US" sz="1800" b="1"/>
            <a:t>Creates Resilient Revenue Streams</a:t>
          </a:r>
        </a:p>
        <a:p>
          <a:pPr algn="r"/>
          <a:r>
            <a:rPr lang="en-US" sz="1400"/>
            <a:t>This program shifts funding away from grants and incentives toward utility infrastructure investments. Reducing reliance on uncertain federal funding creates a more stable revenue source while supporting grid resilience goals.</a:t>
          </a:r>
        </a:p>
        <a:p>
          <a:pPr algn="r"/>
          <a:endParaRPr lang="en-US" sz="1400"/>
        </a:p>
      </dgm:t>
    </dgm:pt>
    <dgm:pt modelId="{A14B9147-F315-4E42-81EE-B95F9B5404D3}" type="parTrans" cxnId="{33353EC6-9D7C-4FB2-BED0-32060656DC07}">
      <dgm:prSet/>
      <dgm:spPr/>
      <dgm:t>
        <a:bodyPr/>
        <a:lstStyle/>
        <a:p>
          <a:endParaRPr lang="en-US"/>
        </a:p>
      </dgm:t>
    </dgm:pt>
    <dgm:pt modelId="{E443308B-D048-4A4A-84C2-4C0E9C349663}" type="sibTrans" cxnId="{33353EC6-9D7C-4FB2-BED0-32060656DC07}">
      <dgm:prSet/>
      <dgm:spPr/>
      <dgm:t>
        <a:bodyPr/>
        <a:lstStyle/>
        <a:p>
          <a:endParaRPr lang="en-US"/>
        </a:p>
      </dgm:t>
    </dgm:pt>
    <dgm:pt modelId="{FEC0AA9B-5D03-4F81-AD7F-572D00FA9EA9}" type="pres">
      <dgm:prSet presAssocID="{0F31FB71-9799-448E-9BF2-101CA04F4FAD}" presName="diagram" presStyleCnt="0">
        <dgm:presLayoutVars>
          <dgm:chMax val="1"/>
          <dgm:dir/>
          <dgm:animLvl val="ctr"/>
          <dgm:resizeHandles val="exact"/>
        </dgm:presLayoutVars>
      </dgm:prSet>
      <dgm:spPr/>
    </dgm:pt>
    <dgm:pt modelId="{B625AA73-A0A1-45A7-BDFC-EBB7FEDDF9BB}" type="pres">
      <dgm:prSet presAssocID="{0F31FB71-9799-448E-9BF2-101CA04F4FAD}" presName="matrix" presStyleCnt="0"/>
      <dgm:spPr/>
    </dgm:pt>
    <dgm:pt modelId="{A0F27E1B-455B-4D7E-AD7B-40CBDA5C618A}" type="pres">
      <dgm:prSet presAssocID="{0F31FB71-9799-448E-9BF2-101CA04F4FAD}" presName="tile1" presStyleLbl="node1" presStyleIdx="0" presStyleCnt="4"/>
      <dgm:spPr/>
    </dgm:pt>
    <dgm:pt modelId="{D8126E92-42E9-42FB-8F6D-202410B15B26}" type="pres">
      <dgm:prSet presAssocID="{0F31FB71-9799-448E-9BF2-101CA04F4FAD}" presName="tile1text" presStyleLbl="node1" presStyleIdx="0" presStyleCnt="4">
        <dgm:presLayoutVars>
          <dgm:chMax val="0"/>
          <dgm:chPref val="0"/>
          <dgm:bulletEnabled val="1"/>
        </dgm:presLayoutVars>
      </dgm:prSet>
      <dgm:spPr/>
    </dgm:pt>
    <dgm:pt modelId="{C1A07BBF-19DB-47F4-9F21-3C0561070890}" type="pres">
      <dgm:prSet presAssocID="{0F31FB71-9799-448E-9BF2-101CA04F4FAD}" presName="tile2" presStyleLbl="node1" presStyleIdx="1" presStyleCnt="4"/>
      <dgm:spPr/>
    </dgm:pt>
    <dgm:pt modelId="{5917CBDD-A583-4693-AB9B-106C5A766EEA}" type="pres">
      <dgm:prSet presAssocID="{0F31FB71-9799-448E-9BF2-101CA04F4FAD}" presName="tile2text" presStyleLbl="node1" presStyleIdx="1" presStyleCnt="4">
        <dgm:presLayoutVars>
          <dgm:chMax val="0"/>
          <dgm:chPref val="0"/>
          <dgm:bulletEnabled val="1"/>
        </dgm:presLayoutVars>
      </dgm:prSet>
      <dgm:spPr/>
    </dgm:pt>
    <dgm:pt modelId="{112ECAE4-7AC8-4FA3-8B8F-551C4FD20EFF}" type="pres">
      <dgm:prSet presAssocID="{0F31FB71-9799-448E-9BF2-101CA04F4FAD}" presName="tile3" presStyleLbl="node1" presStyleIdx="2" presStyleCnt="4"/>
      <dgm:spPr/>
    </dgm:pt>
    <dgm:pt modelId="{875BDCF6-7B33-4626-B395-126961013AFC}" type="pres">
      <dgm:prSet presAssocID="{0F31FB71-9799-448E-9BF2-101CA04F4FAD}" presName="tile3text" presStyleLbl="node1" presStyleIdx="2" presStyleCnt="4">
        <dgm:presLayoutVars>
          <dgm:chMax val="0"/>
          <dgm:chPref val="0"/>
          <dgm:bulletEnabled val="1"/>
        </dgm:presLayoutVars>
      </dgm:prSet>
      <dgm:spPr/>
    </dgm:pt>
    <dgm:pt modelId="{F0217417-7472-463C-831C-1C5DF6C2E09B}" type="pres">
      <dgm:prSet presAssocID="{0F31FB71-9799-448E-9BF2-101CA04F4FAD}" presName="tile4" presStyleLbl="node1" presStyleIdx="3" presStyleCnt="4"/>
      <dgm:spPr/>
    </dgm:pt>
    <dgm:pt modelId="{B5B8AC5F-E43F-4CC0-988F-21512A2D9A02}" type="pres">
      <dgm:prSet presAssocID="{0F31FB71-9799-448E-9BF2-101CA04F4FAD}" presName="tile4text" presStyleLbl="node1" presStyleIdx="3" presStyleCnt="4">
        <dgm:presLayoutVars>
          <dgm:chMax val="0"/>
          <dgm:chPref val="0"/>
          <dgm:bulletEnabled val="1"/>
        </dgm:presLayoutVars>
      </dgm:prSet>
      <dgm:spPr/>
    </dgm:pt>
    <dgm:pt modelId="{5C165AFF-2126-4842-86A3-BA0B41072E73}" type="pres">
      <dgm:prSet presAssocID="{0F31FB71-9799-448E-9BF2-101CA04F4FAD}" presName="centerTile" presStyleLbl="fgShp" presStyleIdx="0" presStyleCnt="1">
        <dgm:presLayoutVars>
          <dgm:chMax val="0"/>
          <dgm:chPref val="0"/>
        </dgm:presLayoutVars>
      </dgm:prSet>
      <dgm:spPr/>
    </dgm:pt>
  </dgm:ptLst>
  <dgm:cxnLst>
    <dgm:cxn modelId="{7B751335-941B-4F14-98C3-0A87E6578193}" type="presOf" srcId="{0F31FB71-9799-448E-9BF2-101CA04F4FAD}" destId="{FEC0AA9B-5D03-4F81-AD7F-572D00FA9EA9}" srcOrd="0" destOrd="0" presId="urn:microsoft.com/office/officeart/2005/8/layout/matrix1"/>
    <dgm:cxn modelId="{68328137-11ED-4CA0-85A8-38A2DEB15404}" type="presOf" srcId="{97C2E1FC-B64D-459B-93DE-177F9745D912}" destId="{875BDCF6-7B33-4626-B395-126961013AFC}" srcOrd="1" destOrd="0" presId="urn:microsoft.com/office/officeart/2005/8/layout/matrix1"/>
    <dgm:cxn modelId="{9ACED167-EC2C-4EC4-96A5-445852C8234D}" type="presOf" srcId="{A57EBB6D-D543-44DF-BDF5-1C08C9EB31EB}" destId="{C1A07BBF-19DB-47F4-9F21-3C0561070890}" srcOrd="0" destOrd="0" presId="urn:microsoft.com/office/officeart/2005/8/layout/matrix1"/>
    <dgm:cxn modelId="{B8332C76-C3E9-4A5A-A8C6-5C9D6EE8FD63}" type="presOf" srcId="{00076127-CDAD-4238-9685-A707C77462D1}" destId="{F0217417-7472-463C-831C-1C5DF6C2E09B}" srcOrd="0" destOrd="0" presId="urn:microsoft.com/office/officeart/2005/8/layout/matrix1"/>
    <dgm:cxn modelId="{F9039357-A120-458B-829D-0D57EC1DEDF7}" type="presOf" srcId="{A57EBB6D-D543-44DF-BDF5-1C08C9EB31EB}" destId="{5917CBDD-A583-4693-AB9B-106C5A766EEA}" srcOrd="1" destOrd="0" presId="urn:microsoft.com/office/officeart/2005/8/layout/matrix1"/>
    <dgm:cxn modelId="{F05DEA8C-6290-4B54-9319-D86AFC6EAC01}" srcId="{E9BE064B-2F49-4A8C-8A36-698DABD07017}" destId="{5E1BBE66-22D8-480D-9DF9-D5528F07122D}" srcOrd="0" destOrd="0" parTransId="{F7C2E467-402F-4F3B-B114-09D2470CABE8}" sibTransId="{AEB937BC-7DEA-4A67-BB77-137424F62E68}"/>
    <dgm:cxn modelId="{DB5DD88F-8659-4BFF-BEA2-13CC454E3165}" srcId="{0F31FB71-9799-448E-9BF2-101CA04F4FAD}" destId="{E9BE064B-2F49-4A8C-8A36-698DABD07017}" srcOrd="0" destOrd="0" parTransId="{0569903D-06B5-4A2C-84D7-B766159B2777}" sibTransId="{C1B7C44C-11F5-41C6-8057-C1CFC9E8E2E2}"/>
    <dgm:cxn modelId="{5567189F-B45A-47EF-AD25-588BD3D6F154}" type="presOf" srcId="{97C2E1FC-B64D-459B-93DE-177F9745D912}" destId="{112ECAE4-7AC8-4FA3-8B8F-551C4FD20EFF}" srcOrd="0" destOrd="0" presId="urn:microsoft.com/office/officeart/2005/8/layout/matrix1"/>
    <dgm:cxn modelId="{9F57A0A4-F171-4A68-AAD9-13750A560685}" type="presOf" srcId="{00076127-CDAD-4238-9685-A707C77462D1}" destId="{B5B8AC5F-E43F-4CC0-988F-21512A2D9A02}" srcOrd="1" destOrd="0" presId="urn:microsoft.com/office/officeart/2005/8/layout/matrix1"/>
    <dgm:cxn modelId="{8459E7AE-FB3E-40A6-B5CF-8ED99CCD2018}" type="presOf" srcId="{5E1BBE66-22D8-480D-9DF9-D5528F07122D}" destId="{A0F27E1B-455B-4D7E-AD7B-40CBDA5C618A}" srcOrd="0" destOrd="0" presId="urn:microsoft.com/office/officeart/2005/8/layout/matrix1"/>
    <dgm:cxn modelId="{CF31FCB1-72FB-4E21-8ECB-5AE18B3EEABC}" type="presOf" srcId="{E9BE064B-2F49-4A8C-8A36-698DABD07017}" destId="{5C165AFF-2126-4842-86A3-BA0B41072E73}" srcOrd="0" destOrd="0" presId="urn:microsoft.com/office/officeart/2005/8/layout/matrix1"/>
    <dgm:cxn modelId="{0F330BB3-4EBA-4592-B0CF-71F3732458F4}" type="presOf" srcId="{5E1BBE66-22D8-480D-9DF9-D5528F07122D}" destId="{D8126E92-42E9-42FB-8F6D-202410B15B26}" srcOrd="1" destOrd="0" presId="urn:microsoft.com/office/officeart/2005/8/layout/matrix1"/>
    <dgm:cxn modelId="{33353EC6-9D7C-4FB2-BED0-32060656DC07}" srcId="{E9BE064B-2F49-4A8C-8A36-698DABD07017}" destId="{00076127-CDAD-4238-9685-A707C77462D1}" srcOrd="3" destOrd="0" parTransId="{A14B9147-F315-4E42-81EE-B95F9B5404D3}" sibTransId="{E443308B-D048-4A4A-84C2-4C0E9C349663}"/>
    <dgm:cxn modelId="{528883C7-1006-4531-B7F0-7BCE497A0FA0}" srcId="{E9BE064B-2F49-4A8C-8A36-698DABD07017}" destId="{A57EBB6D-D543-44DF-BDF5-1C08C9EB31EB}" srcOrd="1" destOrd="0" parTransId="{0EEADD4E-A063-4265-BC03-1F5AE13BF8DE}" sibTransId="{0E76BE03-3C24-4030-B3BD-698C235F6E52}"/>
    <dgm:cxn modelId="{901077D0-9709-40E0-AC2E-AD37C8176AFE}" srcId="{E9BE064B-2F49-4A8C-8A36-698DABD07017}" destId="{97C2E1FC-B64D-459B-93DE-177F9745D912}" srcOrd="2" destOrd="0" parTransId="{918470C9-B870-4C0C-81E6-29F4AC14412F}" sibTransId="{1ECC4728-FD9A-41F5-B76A-C69BD944B462}"/>
    <dgm:cxn modelId="{8CA25DDF-AC7A-49DC-96D6-F93E0035E15E}" type="presParOf" srcId="{FEC0AA9B-5D03-4F81-AD7F-572D00FA9EA9}" destId="{B625AA73-A0A1-45A7-BDFC-EBB7FEDDF9BB}" srcOrd="0" destOrd="0" presId="urn:microsoft.com/office/officeart/2005/8/layout/matrix1"/>
    <dgm:cxn modelId="{712A6E86-27C1-4323-93B6-FD756B961EE3}" type="presParOf" srcId="{B625AA73-A0A1-45A7-BDFC-EBB7FEDDF9BB}" destId="{A0F27E1B-455B-4D7E-AD7B-40CBDA5C618A}" srcOrd="0" destOrd="0" presId="urn:microsoft.com/office/officeart/2005/8/layout/matrix1"/>
    <dgm:cxn modelId="{9E212B7F-D86A-48AB-9E32-F70A59AB80E4}" type="presParOf" srcId="{B625AA73-A0A1-45A7-BDFC-EBB7FEDDF9BB}" destId="{D8126E92-42E9-42FB-8F6D-202410B15B26}" srcOrd="1" destOrd="0" presId="urn:microsoft.com/office/officeart/2005/8/layout/matrix1"/>
    <dgm:cxn modelId="{14164CF2-1489-4D96-89CA-D57E0550BB1B}" type="presParOf" srcId="{B625AA73-A0A1-45A7-BDFC-EBB7FEDDF9BB}" destId="{C1A07BBF-19DB-47F4-9F21-3C0561070890}" srcOrd="2" destOrd="0" presId="urn:microsoft.com/office/officeart/2005/8/layout/matrix1"/>
    <dgm:cxn modelId="{586300A3-9BCA-445F-8845-D3587448367C}" type="presParOf" srcId="{B625AA73-A0A1-45A7-BDFC-EBB7FEDDF9BB}" destId="{5917CBDD-A583-4693-AB9B-106C5A766EEA}" srcOrd="3" destOrd="0" presId="urn:microsoft.com/office/officeart/2005/8/layout/matrix1"/>
    <dgm:cxn modelId="{E2BDC62B-5513-4A27-A114-84255E235432}" type="presParOf" srcId="{B625AA73-A0A1-45A7-BDFC-EBB7FEDDF9BB}" destId="{112ECAE4-7AC8-4FA3-8B8F-551C4FD20EFF}" srcOrd="4" destOrd="0" presId="urn:microsoft.com/office/officeart/2005/8/layout/matrix1"/>
    <dgm:cxn modelId="{5CFFEB03-40BC-4715-9F4D-2737AFBECA8C}" type="presParOf" srcId="{B625AA73-A0A1-45A7-BDFC-EBB7FEDDF9BB}" destId="{875BDCF6-7B33-4626-B395-126961013AFC}" srcOrd="5" destOrd="0" presId="urn:microsoft.com/office/officeart/2005/8/layout/matrix1"/>
    <dgm:cxn modelId="{A8530272-69A1-43A1-A8C6-6FE287EF4C65}" type="presParOf" srcId="{B625AA73-A0A1-45A7-BDFC-EBB7FEDDF9BB}" destId="{F0217417-7472-463C-831C-1C5DF6C2E09B}" srcOrd="6" destOrd="0" presId="urn:microsoft.com/office/officeart/2005/8/layout/matrix1"/>
    <dgm:cxn modelId="{5EB3829A-E6C1-4A32-84E0-7F0B63F0D047}" type="presParOf" srcId="{B625AA73-A0A1-45A7-BDFC-EBB7FEDDF9BB}" destId="{B5B8AC5F-E43F-4CC0-988F-21512A2D9A02}" srcOrd="7" destOrd="0" presId="urn:microsoft.com/office/officeart/2005/8/layout/matrix1"/>
    <dgm:cxn modelId="{4B92C567-6B19-4E5D-B431-0BB2903417D1}" type="presParOf" srcId="{FEC0AA9B-5D03-4F81-AD7F-572D00FA9EA9}" destId="{5C165AFF-2126-4842-86A3-BA0B41072E73}" srcOrd="1" destOrd="0" presId="urn:microsoft.com/office/officeart/2005/8/layout/matrix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BD867FD-E662-438A-9FB0-2FE1DC683C3E}">
      <dsp:nvSpPr>
        <dsp:cNvPr id="0" name=""/>
        <dsp:cNvSpPr/>
      </dsp:nvSpPr>
      <dsp:spPr>
        <a:xfrm rot="16200000">
          <a:off x="-600521" y="601860"/>
          <a:ext cx="4686300" cy="3482578"/>
        </a:xfrm>
        <a:prstGeom prst="flowChartManualOperation">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t" anchorCtr="0">
          <a:noAutofit/>
        </a:bodyPr>
        <a:lstStyle/>
        <a:p>
          <a:pPr marL="0" lvl="0" indent="0" algn="l" defTabSz="1600200" rtl="0">
            <a:lnSpc>
              <a:spcPct val="90000"/>
            </a:lnSpc>
            <a:spcBef>
              <a:spcPct val="0"/>
            </a:spcBef>
            <a:spcAft>
              <a:spcPct val="35000"/>
            </a:spcAft>
            <a:buNone/>
          </a:pPr>
          <a:r>
            <a:rPr lang="en-US" sz="3600" kern="1200">
              <a:solidFill>
                <a:schemeClr val="bg1"/>
              </a:solidFill>
              <a:latin typeface="Aptos Display" panose="02110004020202020204"/>
            </a:rPr>
            <a:t>Overview:</a:t>
          </a:r>
          <a:endParaRPr lang="en-US" sz="3600" kern="1200">
            <a:solidFill>
              <a:schemeClr val="bg1"/>
            </a:solidFill>
          </a:endParaRPr>
        </a:p>
        <a:p>
          <a:pPr marL="228600" lvl="1" indent="-228600" algn="l" defTabSz="889000" rtl="0">
            <a:lnSpc>
              <a:spcPct val="90000"/>
            </a:lnSpc>
            <a:spcBef>
              <a:spcPct val="0"/>
            </a:spcBef>
            <a:spcAft>
              <a:spcPct val="15000"/>
            </a:spcAft>
            <a:buChar char="•"/>
          </a:pPr>
          <a:r>
            <a:rPr lang="en-US" sz="2000" kern="1200">
              <a:solidFill>
                <a:schemeClr val="bg1"/>
              </a:solidFill>
              <a:latin typeface="Aptos Display" panose="02110004020202020204"/>
            </a:rPr>
            <a:t>Identify high-potential utility markets where APTIM can serve as Program Administrator </a:t>
          </a:r>
          <a:endParaRPr lang="en-US" sz="2000" kern="1200">
            <a:solidFill>
              <a:schemeClr val="bg1"/>
            </a:solidFill>
          </a:endParaRPr>
        </a:p>
      </dsp:txBody>
      <dsp:txXfrm rot="5400000">
        <a:off x="1340" y="937259"/>
        <a:ext cx="3482578" cy="2811780"/>
      </dsp:txXfrm>
    </dsp:sp>
    <dsp:sp modelId="{052EA765-2E25-4FD1-B7ED-4AE22A54983F}">
      <dsp:nvSpPr>
        <dsp:cNvPr id="0" name=""/>
        <dsp:cNvSpPr/>
      </dsp:nvSpPr>
      <dsp:spPr>
        <a:xfrm rot="16200000">
          <a:off x="3143250" y="601860"/>
          <a:ext cx="4686300" cy="3482578"/>
        </a:xfrm>
        <a:prstGeom prst="flowChartManualOperation">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0" tIns="0" rIns="203200" bIns="0" numCol="1" spcCol="1270" anchor="t" anchorCtr="0">
          <a:noAutofit/>
        </a:bodyPr>
        <a:lstStyle/>
        <a:p>
          <a:pPr marL="0" lvl="0" indent="0" algn="l" defTabSz="1422400" rtl="0">
            <a:lnSpc>
              <a:spcPct val="90000"/>
            </a:lnSpc>
            <a:spcBef>
              <a:spcPct val="0"/>
            </a:spcBef>
            <a:spcAft>
              <a:spcPct val="35000"/>
            </a:spcAft>
            <a:buNone/>
          </a:pPr>
          <a:r>
            <a:rPr lang="en-US" sz="3200" kern="1200">
              <a:solidFill>
                <a:schemeClr val="bg1"/>
              </a:solidFill>
              <a:latin typeface="Aptos Display" panose="02110004020202020204"/>
            </a:rPr>
            <a:t>Benchmark: California</a:t>
          </a:r>
          <a:endParaRPr lang="en-US" sz="3200" kern="1200">
            <a:solidFill>
              <a:schemeClr val="bg1"/>
            </a:solidFill>
          </a:endParaRPr>
        </a:p>
        <a:p>
          <a:pPr marL="228600" lvl="1" indent="-228600" algn="l" defTabSz="889000" rtl="0">
            <a:lnSpc>
              <a:spcPct val="90000"/>
            </a:lnSpc>
            <a:spcBef>
              <a:spcPct val="0"/>
            </a:spcBef>
            <a:spcAft>
              <a:spcPct val="15000"/>
            </a:spcAft>
            <a:buChar char="•"/>
          </a:pPr>
          <a:r>
            <a:rPr lang="en-US" sz="2000" kern="1200">
              <a:solidFill>
                <a:schemeClr val="bg1"/>
              </a:solidFill>
              <a:latin typeface="Aptos Display" panose="02110004020202020204"/>
            </a:rPr>
            <a:t>Mature solar + storage market and established utility </a:t>
          </a:r>
          <a:r>
            <a:rPr lang="en-US" sz="2000" kern="1200">
              <a:solidFill>
                <a:schemeClr val="bg1"/>
              </a:solidFill>
              <a:latin typeface="Aptos Display"/>
              <a:ea typeface="Calibri"/>
              <a:cs typeface="Calibri"/>
            </a:rPr>
            <a:t>programs </a:t>
          </a:r>
        </a:p>
      </dsp:txBody>
      <dsp:txXfrm rot="5400000">
        <a:off x="3745111" y="937259"/>
        <a:ext cx="3482578" cy="2811780"/>
      </dsp:txXfrm>
    </dsp:sp>
    <dsp:sp modelId="{9069B7CA-D9F5-465E-A07F-BA247150F6E9}">
      <dsp:nvSpPr>
        <dsp:cNvPr id="0" name=""/>
        <dsp:cNvSpPr/>
      </dsp:nvSpPr>
      <dsp:spPr>
        <a:xfrm rot="16200000">
          <a:off x="6887021" y="601860"/>
          <a:ext cx="4686300" cy="3482578"/>
        </a:xfrm>
        <a:prstGeom prst="flowChartManualOperation">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t" anchorCtr="0">
          <a:noAutofit/>
        </a:bodyPr>
        <a:lstStyle/>
        <a:p>
          <a:pPr marL="0" lvl="0" indent="0" algn="l" defTabSz="1600200" rtl="0">
            <a:lnSpc>
              <a:spcPct val="90000"/>
            </a:lnSpc>
            <a:spcBef>
              <a:spcPct val="0"/>
            </a:spcBef>
            <a:spcAft>
              <a:spcPct val="35000"/>
            </a:spcAft>
            <a:buNone/>
          </a:pPr>
          <a:r>
            <a:rPr lang="en-US" sz="3600" kern="1200">
              <a:latin typeface="Aptos Display" panose="02110004020202020204"/>
            </a:rPr>
            <a:t>States Selected for Analysis </a:t>
          </a:r>
          <a:endParaRPr lang="en-US" sz="3600" kern="1200"/>
        </a:p>
        <a:p>
          <a:pPr marL="228600" lvl="1" indent="-228600" algn="l" defTabSz="889000" rtl="0">
            <a:lnSpc>
              <a:spcPct val="90000"/>
            </a:lnSpc>
            <a:spcBef>
              <a:spcPct val="0"/>
            </a:spcBef>
            <a:spcAft>
              <a:spcPct val="15000"/>
            </a:spcAft>
            <a:buChar char="•"/>
          </a:pPr>
          <a:r>
            <a:rPr lang="en-US" sz="2000" kern="1200">
              <a:latin typeface="Aptos Display" panose="02110004020202020204"/>
            </a:rPr>
            <a:t>North Carolina</a:t>
          </a:r>
          <a:endParaRPr lang="en-US" sz="2000" kern="1200"/>
        </a:p>
        <a:p>
          <a:pPr marL="228600" lvl="1" indent="-228600" algn="l" defTabSz="889000">
            <a:lnSpc>
              <a:spcPct val="90000"/>
            </a:lnSpc>
            <a:spcBef>
              <a:spcPct val="0"/>
            </a:spcBef>
            <a:spcAft>
              <a:spcPct val="15000"/>
            </a:spcAft>
            <a:buChar char="•"/>
          </a:pPr>
          <a:r>
            <a:rPr lang="en-US" sz="2000" kern="1200">
              <a:latin typeface="Aptos Display" panose="02110004020202020204"/>
            </a:rPr>
            <a:t>Michigan</a:t>
          </a:r>
          <a:endParaRPr lang="en-US" sz="2000" kern="1200"/>
        </a:p>
        <a:p>
          <a:pPr marL="228600" lvl="1" indent="-228600" algn="l" defTabSz="889000">
            <a:lnSpc>
              <a:spcPct val="90000"/>
            </a:lnSpc>
            <a:spcBef>
              <a:spcPct val="0"/>
            </a:spcBef>
            <a:spcAft>
              <a:spcPct val="15000"/>
            </a:spcAft>
            <a:buChar char="•"/>
          </a:pPr>
          <a:r>
            <a:rPr lang="en-US" sz="2000" kern="1200">
              <a:latin typeface="Aptos Display" panose="02110004020202020204"/>
            </a:rPr>
            <a:t>Wisconsin</a:t>
          </a:r>
        </a:p>
      </dsp:txBody>
      <dsp:txXfrm rot="5400000">
        <a:off x="7488882" y="937259"/>
        <a:ext cx="3482578" cy="281178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467F81D-80C0-4020-A73F-08B4994D349A}">
      <dsp:nvSpPr>
        <dsp:cNvPr id="0" name=""/>
        <dsp:cNvSpPr/>
      </dsp:nvSpPr>
      <dsp:spPr>
        <a:xfrm>
          <a:off x="0" y="434147"/>
          <a:ext cx="5544457" cy="12096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30311" tIns="333248" rIns="430311" bIns="113792" numCol="1" spcCol="1270" anchor="t" anchorCtr="0">
          <a:noAutofit/>
        </a:bodyPr>
        <a:lstStyle/>
        <a:p>
          <a:pPr marL="171450" lvl="1" indent="-171450" algn="l" defTabSz="711200" rtl="0">
            <a:lnSpc>
              <a:spcPct val="90000"/>
            </a:lnSpc>
            <a:spcBef>
              <a:spcPct val="0"/>
            </a:spcBef>
            <a:spcAft>
              <a:spcPct val="15000"/>
            </a:spcAft>
            <a:buChar char="•"/>
          </a:pPr>
          <a:r>
            <a:rPr lang="en-US" sz="1600" b="1" kern="1200">
              <a:solidFill>
                <a:srgbClr val="444444"/>
              </a:solidFill>
              <a:latin typeface="Calibri"/>
              <a:ea typeface="Calibri"/>
              <a:cs typeface="Calibri"/>
            </a:rPr>
            <a:t>TAM</a:t>
          </a:r>
          <a:r>
            <a:rPr lang="en-US" sz="1600" kern="1200">
              <a:solidFill>
                <a:srgbClr val="444444"/>
              </a:solidFill>
              <a:latin typeface="Calibri"/>
              <a:ea typeface="Calibri"/>
              <a:cs typeface="Calibri"/>
            </a:rPr>
            <a:t> – Duke, NC Electric Co-ops, Municipals</a:t>
          </a:r>
        </a:p>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SAM</a:t>
          </a:r>
          <a:r>
            <a:rPr lang="en-US" sz="1600" kern="1200">
              <a:solidFill>
                <a:srgbClr val="444444"/>
              </a:solidFill>
              <a:latin typeface="Calibri"/>
              <a:ea typeface="Calibri"/>
              <a:cs typeface="Calibri"/>
            </a:rPr>
            <a:t> – Duke Energy Carolinas, Duke Energy Progress</a:t>
          </a:r>
        </a:p>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SOM</a:t>
          </a:r>
          <a:r>
            <a:rPr lang="en-US" sz="1600" kern="1200">
              <a:solidFill>
                <a:srgbClr val="444444"/>
              </a:solidFill>
              <a:latin typeface="Calibri"/>
              <a:ea typeface="Calibri"/>
              <a:cs typeface="Calibri"/>
            </a:rPr>
            <a:t> – Duke Energy</a:t>
          </a:r>
          <a:endParaRPr lang="en-US" sz="1600" kern="1200"/>
        </a:p>
      </dsp:txBody>
      <dsp:txXfrm>
        <a:off x="0" y="434147"/>
        <a:ext cx="5544457" cy="1209600"/>
      </dsp:txXfrm>
    </dsp:sp>
    <dsp:sp modelId="{4DAE4B56-9870-48BA-8F8C-44924084F921}">
      <dsp:nvSpPr>
        <dsp:cNvPr id="0" name=""/>
        <dsp:cNvSpPr/>
      </dsp:nvSpPr>
      <dsp:spPr>
        <a:xfrm>
          <a:off x="277222" y="197987"/>
          <a:ext cx="3881119"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697" tIns="0" rIns="146697" bIns="0" numCol="1" spcCol="1270" anchor="ctr" anchorCtr="0">
          <a:noAutofit/>
        </a:bodyPr>
        <a:lstStyle/>
        <a:p>
          <a:pPr marL="0" lvl="0" indent="0" algn="l" defTabSz="711200" rtl="0">
            <a:lnSpc>
              <a:spcPct val="90000"/>
            </a:lnSpc>
            <a:spcBef>
              <a:spcPct val="0"/>
            </a:spcBef>
            <a:spcAft>
              <a:spcPct val="35000"/>
            </a:spcAft>
            <a:buNone/>
          </a:pPr>
          <a:r>
            <a:rPr lang="en-US" sz="1600" kern="1200">
              <a:latin typeface="Calibri"/>
              <a:ea typeface="Calibri"/>
              <a:cs typeface="Calibri"/>
            </a:rPr>
            <a:t>North Carolina</a:t>
          </a:r>
          <a:endParaRPr lang="en-US" sz="1600" kern="1200"/>
        </a:p>
      </dsp:txBody>
      <dsp:txXfrm>
        <a:off x="300279" y="221044"/>
        <a:ext cx="3835005" cy="426206"/>
      </dsp:txXfrm>
    </dsp:sp>
    <dsp:sp modelId="{24227075-829F-461A-A3AB-BAE980BD845A}">
      <dsp:nvSpPr>
        <dsp:cNvPr id="0" name=""/>
        <dsp:cNvSpPr/>
      </dsp:nvSpPr>
      <dsp:spPr>
        <a:xfrm>
          <a:off x="0" y="1966307"/>
          <a:ext cx="5544457" cy="12096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30311" tIns="333248" rIns="430311" bIns="113792" numCol="1" spcCol="1270" anchor="t" anchorCtr="0">
          <a:noAutofit/>
        </a:bodyPr>
        <a:lstStyle/>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TAM </a:t>
          </a:r>
          <a:r>
            <a:rPr lang="en-US" sz="1600" kern="1200">
              <a:solidFill>
                <a:srgbClr val="444444"/>
              </a:solidFill>
              <a:latin typeface="Calibri"/>
              <a:ea typeface="Calibri"/>
              <a:cs typeface="Calibri"/>
            </a:rPr>
            <a:t>– DTE, Consumers, Co-ops, Municipals</a:t>
          </a:r>
        </a:p>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SAM</a:t>
          </a:r>
          <a:r>
            <a:rPr lang="en-US" sz="1600" kern="1200">
              <a:solidFill>
                <a:srgbClr val="444444"/>
              </a:solidFill>
              <a:latin typeface="Calibri"/>
              <a:ea typeface="Calibri"/>
              <a:cs typeface="Calibri"/>
            </a:rPr>
            <a:t> – DTE Energy, Consumers Energy</a:t>
          </a:r>
        </a:p>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SOM</a:t>
          </a:r>
          <a:r>
            <a:rPr lang="en-US" sz="1600" kern="1200">
              <a:solidFill>
                <a:srgbClr val="444444"/>
              </a:solidFill>
              <a:latin typeface="Calibri"/>
              <a:ea typeface="Calibri"/>
              <a:cs typeface="Calibri"/>
            </a:rPr>
            <a:t> – DTE Energy, Consumers Energy</a:t>
          </a:r>
          <a:endParaRPr lang="en-US" sz="1600" kern="1200"/>
        </a:p>
      </dsp:txBody>
      <dsp:txXfrm>
        <a:off x="0" y="1966307"/>
        <a:ext cx="5544457" cy="1209600"/>
      </dsp:txXfrm>
    </dsp:sp>
    <dsp:sp modelId="{9B5BF6AE-95D7-4413-A144-ACC3607C8840}">
      <dsp:nvSpPr>
        <dsp:cNvPr id="0" name=""/>
        <dsp:cNvSpPr/>
      </dsp:nvSpPr>
      <dsp:spPr>
        <a:xfrm>
          <a:off x="277222" y="1730147"/>
          <a:ext cx="3881119"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697" tIns="0" rIns="146697" bIns="0" numCol="1" spcCol="1270" anchor="ctr" anchorCtr="0">
          <a:noAutofit/>
        </a:bodyPr>
        <a:lstStyle/>
        <a:p>
          <a:pPr marL="0" lvl="0" indent="0" algn="l" defTabSz="711200" rtl="0">
            <a:lnSpc>
              <a:spcPct val="90000"/>
            </a:lnSpc>
            <a:spcBef>
              <a:spcPct val="0"/>
            </a:spcBef>
            <a:spcAft>
              <a:spcPct val="35000"/>
            </a:spcAft>
            <a:buNone/>
          </a:pPr>
          <a:r>
            <a:rPr lang="en-US" sz="1600" kern="1200">
              <a:solidFill>
                <a:schemeClr val="bg1"/>
              </a:solidFill>
              <a:latin typeface="Calibri"/>
              <a:ea typeface="Calibri"/>
              <a:cs typeface="Calibri"/>
            </a:rPr>
            <a:t>Michigan</a:t>
          </a:r>
        </a:p>
      </dsp:txBody>
      <dsp:txXfrm>
        <a:off x="300279" y="1753204"/>
        <a:ext cx="3835005" cy="426206"/>
      </dsp:txXfrm>
    </dsp:sp>
    <dsp:sp modelId="{ED375B58-C693-4A3C-AB64-D5B3CA2FD5FC}">
      <dsp:nvSpPr>
        <dsp:cNvPr id="0" name=""/>
        <dsp:cNvSpPr/>
      </dsp:nvSpPr>
      <dsp:spPr>
        <a:xfrm>
          <a:off x="0" y="3498467"/>
          <a:ext cx="5544457" cy="12096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30311" tIns="333248" rIns="430311" bIns="113792" numCol="1" spcCol="1270" anchor="t" anchorCtr="0">
          <a:noAutofit/>
        </a:bodyPr>
        <a:lstStyle/>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TAM</a:t>
          </a:r>
          <a:r>
            <a:rPr lang="en-US" sz="1600" kern="1200">
              <a:solidFill>
                <a:srgbClr val="444444"/>
              </a:solidFill>
              <a:latin typeface="Calibri"/>
              <a:ea typeface="Calibri"/>
              <a:cs typeface="Calibri"/>
            </a:rPr>
            <a:t> – WE Energies, Alliant, MGE, Co-ops</a:t>
          </a:r>
        </a:p>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SAM</a:t>
          </a:r>
          <a:r>
            <a:rPr lang="en-US" sz="1600" kern="1200">
              <a:solidFill>
                <a:srgbClr val="444444"/>
              </a:solidFill>
              <a:latin typeface="Calibri"/>
              <a:ea typeface="Calibri"/>
              <a:cs typeface="Calibri"/>
            </a:rPr>
            <a:t> – WE Energies, Alliant Energy, MGE</a:t>
          </a:r>
        </a:p>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SOM </a:t>
          </a:r>
          <a:r>
            <a:rPr lang="en-US" sz="1600" kern="1200">
              <a:solidFill>
                <a:srgbClr val="444444"/>
              </a:solidFill>
              <a:latin typeface="Calibri"/>
              <a:ea typeface="Calibri"/>
              <a:cs typeface="Calibri"/>
            </a:rPr>
            <a:t>– WE Energies</a:t>
          </a:r>
          <a:endParaRPr lang="en-US" sz="1600" kern="1200"/>
        </a:p>
      </dsp:txBody>
      <dsp:txXfrm>
        <a:off x="0" y="3498467"/>
        <a:ext cx="5544457" cy="1209600"/>
      </dsp:txXfrm>
    </dsp:sp>
    <dsp:sp modelId="{72025782-1FE6-4CA4-A362-5400037DDCE9}">
      <dsp:nvSpPr>
        <dsp:cNvPr id="0" name=""/>
        <dsp:cNvSpPr/>
      </dsp:nvSpPr>
      <dsp:spPr>
        <a:xfrm>
          <a:off x="277222" y="3262307"/>
          <a:ext cx="3881119"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697" tIns="0" rIns="146697" bIns="0" numCol="1" spcCol="1270" anchor="ctr" anchorCtr="0">
          <a:noAutofit/>
        </a:bodyPr>
        <a:lstStyle/>
        <a:p>
          <a:pPr marL="0" lvl="0" indent="0" algn="l" defTabSz="711200" rtl="0">
            <a:lnSpc>
              <a:spcPct val="90000"/>
            </a:lnSpc>
            <a:spcBef>
              <a:spcPct val="0"/>
            </a:spcBef>
            <a:spcAft>
              <a:spcPct val="35000"/>
            </a:spcAft>
            <a:buNone/>
          </a:pPr>
          <a:r>
            <a:rPr lang="en-US" sz="1600" kern="1200">
              <a:solidFill>
                <a:schemeClr val="bg1"/>
              </a:solidFill>
              <a:latin typeface="Calibri"/>
              <a:ea typeface="Calibri"/>
              <a:cs typeface="Calibri"/>
            </a:rPr>
            <a:t>Wisconsin</a:t>
          </a:r>
        </a:p>
      </dsp:txBody>
      <dsp:txXfrm>
        <a:off x="300279" y="3285364"/>
        <a:ext cx="3835005" cy="42620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703DAF2-FF60-4E3E-ADB6-F804A2D9B249}">
      <dsp:nvSpPr>
        <dsp:cNvPr id="0" name=""/>
        <dsp:cNvSpPr/>
      </dsp:nvSpPr>
      <dsp:spPr>
        <a:xfrm>
          <a:off x="0" y="690448"/>
          <a:ext cx="5384800" cy="3365500"/>
        </a:xfrm>
        <a:prstGeom prst="swooshArrow">
          <a:avLst>
            <a:gd name="adj1" fmla="val 25000"/>
            <a:gd name="adj2" fmla="val 25000"/>
          </a:avLst>
        </a:prstGeom>
        <a:solidFill>
          <a:schemeClr val="accent2">
            <a:tint val="5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1E23258-0A05-4BB2-B859-4CDB7024C889}">
      <dsp:nvSpPr>
        <dsp:cNvPr id="0" name=""/>
        <dsp:cNvSpPr/>
      </dsp:nvSpPr>
      <dsp:spPr>
        <a:xfrm>
          <a:off x="530402" y="3193034"/>
          <a:ext cx="123850" cy="123850"/>
        </a:xfrm>
        <a:prstGeom prst="ellipse">
          <a:avLst/>
        </a:prstGeom>
        <a:solidFill>
          <a:schemeClr val="accent2">
            <a:shade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1B05707-0AE7-494A-A167-757B326A11C2}">
      <dsp:nvSpPr>
        <dsp:cNvPr id="0" name=""/>
        <dsp:cNvSpPr/>
      </dsp:nvSpPr>
      <dsp:spPr>
        <a:xfrm>
          <a:off x="592328" y="3254960"/>
          <a:ext cx="920800" cy="8009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5626" tIns="0" rIns="0" bIns="0" numCol="1" spcCol="1270" anchor="t" anchorCtr="0">
          <a:noAutofit/>
        </a:bodyPr>
        <a:lstStyle/>
        <a:p>
          <a:pPr marL="0" lvl="0" indent="0" algn="l" defTabSz="711200" rtl="0">
            <a:lnSpc>
              <a:spcPct val="90000"/>
            </a:lnSpc>
            <a:spcBef>
              <a:spcPct val="0"/>
            </a:spcBef>
            <a:spcAft>
              <a:spcPct val="35000"/>
            </a:spcAft>
            <a:buNone/>
          </a:pPr>
          <a:r>
            <a:rPr lang="en-US" sz="1600" kern="1200">
              <a:latin typeface="Aptos Display" panose="02110004020202020204"/>
            </a:rPr>
            <a:t>10+ Utilities</a:t>
          </a:r>
          <a:endParaRPr lang="en-US" sz="1600" kern="1200"/>
        </a:p>
      </dsp:txBody>
      <dsp:txXfrm>
        <a:off x="592328" y="3254960"/>
        <a:ext cx="920800" cy="800989"/>
      </dsp:txXfrm>
    </dsp:sp>
    <dsp:sp modelId="{73C992D8-43B5-401C-A0FD-212F76F0BE5E}">
      <dsp:nvSpPr>
        <dsp:cNvPr id="0" name=""/>
        <dsp:cNvSpPr/>
      </dsp:nvSpPr>
      <dsp:spPr>
        <a:xfrm>
          <a:off x="1405432" y="2410219"/>
          <a:ext cx="215392" cy="215392"/>
        </a:xfrm>
        <a:prstGeom prst="ellipse">
          <a:avLst/>
        </a:prstGeom>
        <a:solidFill>
          <a:schemeClr val="accent2">
            <a:shade val="50000"/>
            <a:hueOff val="-440441"/>
            <a:satOff val="0"/>
            <a:lumOff val="2580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2A587FA-13B5-416E-9993-304CC3B87622}">
      <dsp:nvSpPr>
        <dsp:cNvPr id="0" name=""/>
        <dsp:cNvSpPr/>
      </dsp:nvSpPr>
      <dsp:spPr>
        <a:xfrm>
          <a:off x="1513128" y="2517915"/>
          <a:ext cx="1130808" cy="15380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132" tIns="0" rIns="0" bIns="0" numCol="1" spcCol="1270" anchor="t" anchorCtr="0">
          <a:noAutofit/>
        </a:bodyPr>
        <a:lstStyle/>
        <a:p>
          <a:pPr marL="0" lvl="0" indent="0" algn="l" defTabSz="711200" rtl="0">
            <a:lnSpc>
              <a:spcPct val="90000"/>
            </a:lnSpc>
            <a:spcBef>
              <a:spcPct val="0"/>
            </a:spcBef>
            <a:spcAft>
              <a:spcPct val="35000"/>
            </a:spcAft>
            <a:buNone/>
          </a:pPr>
          <a:r>
            <a:rPr lang="en-US" sz="1600" kern="1200">
              <a:latin typeface="Aptos Display" panose="02110004020202020204"/>
            </a:rPr>
            <a:t>6-8 Utilities</a:t>
          </a:r>
          <a:endParaRPr lang="en-US" sz="1600" kern="1200"/>
        </a:p>
      </dsp:txBody>
      <dsp:txXfrm>
        <a:off x="1513128" y="2517915"/>
        <a:ext cx="1130808" cy="1538033"/>
      </dsp:txXfrm>
    </dsp:sp>
    <dsp:sp modelId="{443FE27B-0199-434B-8962-455B12BA0345}">
      <dsp:nvSpPr>
        <dsp:cNvPr id="0" name=""/>
        <dsp:cNvSpPr/>
      </dsp:nvSpPr>
      <dsp:spPr>
        <a:xfrm>
          <a:off x="2522778" y="1833372"/>
          <a:ext cx="285394" cy="285394"/>
        </a:xfrm>
        <a:prstGeom prst="ellipse">
          <a:avLst/>
        </a:prstGeom>
        <a:solidFill>
          <a:schemeClr val="accent2">
            <a:shade val="50000"/>
            <a:hueOff val="-880881"/>
            <a:satOff val="0"/>
            <a:lumOff val="51601"/>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1B91D04-1560-4F35-A47B-E635003B791A}">
      <dsp:nvSpPr>
        <dsp:cNvPr id="0" name=""/>
        <dsp:cNvSpPr/>
      </dsp:nvSpPr>
      <dsp:spPr>
        <a:xfrm>
          <a:off x="2665476" y="1976069"/>
          <a:ext cx="1130808" cy="20798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1225" tIns="0" rIns="0" bIns="0" numCol="1" spcCol="1270" anchor="t" anchorCtr="0">
          <a:noAutofit/>
        </a:bodyPr>
        <a:lstStyle/>
        <a:p>
          <a:pPr marL="0" lvl="0" indent="0" algn="l" defTabSz="711200" rtl="0">
            <a:lnSpc>
              <a:spcPct val="90000"/>
            </a:lnSpc>
            <a:spcBef>
              <a:spcPct val="0"/>
            </a:spcBef>
            <a:spcAft>
              <a:spcPct val="35000"/>
            </a:spcAft>
            <a:buNone/>
          </a:pPr>
          <a:r>
            <a:rPr lang="en-US" sz="1600" kern="1200">
              <a:latin typeface="Aptos Display" panose="02110004020202020204"/>
            </a:rPr>
            <a:t>4-5 Utilities</a:t>
          </a:r>
          <a:endParaRPr lang="en-US" sz="1600" kern="1200"/>
        </a:p>
      </dsp:txBody>
      <dsp:txXfrm>
        <a:off x="2665476" y="1976069"/>
        <a:ext cx="1130808" cy="2079879"/>
      </dsp:txXfrm>
    </dsp:sp>
    <dsp:sp modelId="{7BE31338-26E9-444C-AE17-77239B7974C2}">
      <dsp:nvSpPr>
        <dsp:cNvPr id="0" name=""/>
        <dsp:cNvSpPr/>
      </dsp:nvSpPr>
      <dsp:spPr>
        <a:xfrm>
          <a:off x="3739743" y="1451725"/>
          <a:ext cx="382320" cy="382320"/>
        </a:xfrm>
        <a:prstGeom prst="ellipse">
          <a:avLst/>
        </a:prstGeom>
        <a:solidFill>
          <a:schemeClr val="accent2">
            <a:shade val="50000"/>
            <a:hueOff val="-440441"/>
            <a:satOff val="0"/>
            <a:lumOff val="2580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A8B5903-876A-49CA-827D-45AC436DA15C}">
      <dsp:nvSpPr>
        <dsp:cNvPr id="0" name=""/>
        <dsp:cNvSpPr/>
      </dsp:nvSpPr>
      <dsp:spPr>
        <a:xfrm>
          <a:off x="3930904" y="1642885"/>
          <a:ext cx="1130808" cy="2413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584" tIns="0" rIns="0" bIns="0" numCol="1" spcCol="1270" anchor="t" anchorCtr="0">
          <a:noAutofit/>
        </a:bodyPr>
        <a:lstStyle/>
        <a:p>
          <a:pPr marL="0" lvl="0" indent="0" algn="l" defTabSz="711200" rtl="0">
            <a:lnSpc>
              <a:spcPct val="90000"/>
            </a:lnSpc>
            <a:spcBef>
              <a:spcPct val="0"/>
            </a:spcBef>
            <a:spcAft>
              <a:spcPct val="35000"/>
            </a:spcAft>
            <a:buNone/>
          </a:pPr>
          <a:r>
            <a:rPr lang="en-US" sz="1600" kern="1200">
              <a:latin typeface="Aptos Display" panose="02110004020202020204"/>
            </a:rPr>
            <a:t>2 Utility wins in the next 3 years</a:t>
          </a:r>
        </a:p>
      </dsp:txBody>
      <dsp:txXfrm>
        <a:off x="3930904" y="1642885"/>
        <a:ext cx="1130808" cy="241306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F27E1B-455B-4D7E-AD7B-40CBDA5C618A}">
      <dsp:nvSpPr>
        <dsp:cNvPr id="0" name=""/>
        <dsp:cNvSpPr/>
      </dsp:nvSpPr>
      <dsp:spPr>
        <a:xfrm rot="16200000">
          <a:off x="921020" y="-921020"/>
          <a:ext cx="2634835" cy="4476877"/>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100000"/>
            </a:lnSpc>
            <a:spcBef>
              <a:spcPct val="0"/>
            </a:spcBef>
            <a:spcAft>
              <a:spcPct val="35000"/>
            </a:spcAft>
            <a:buNone/>
          </a:pPr>
          <a:endParaRPr lang="en-US" sz="1800" b="1" kern="1200">
            <a:latin typeface="Arial" panose="020B0604020202020204" pitchFamily="34" charset="0"/>
            <a:cs typeface="Arial" panose="020B0604020202020204" pitchFamily="34" charset="0"/>
          </a:endParaRPr>
        </a:p>
        <a:p>
          <a:pPr marL="0" lvl="0" indent="0" algn="l" defTabSz="800100">
            <a:lnSpc>
              <a:spcPct val="100000"/>
            </a:lnSpc>
            <a:spcBef>
              <a:spcPct val="0"/>
            </a:spcBef>
            <a:spcAft>
              <a:spcPct val="35000"/>
            </a:spcAft>
            <a:buNone/>
          </a:pPr>
          <a:r>
            <a:rPr lang="en-US" sz="1800" b="1" kern="1200">
              <a:latin typeface="Arial" panose="020B0604020202020204" pitchFamily="34" charset="0"/>
              <a:cs typeface="Arial" panose="020B0604020202020204" pitchFamily="34" charset="0"/>
            </a:rPr>
            <a:t>Leverages Existing Capabilities</a:t>
          </a:r>
          <a:br>
            <a:rPr lang="en-US" sz="1800" b="1" kern="1200">
              <a:latin typeface="Arial" panose="020B0604020202020204" pitchFamily="34" charset="0"/>
              <a:cs typeface="Arial" panose="020B0604020202020204" pitchFamily="34" charset="0"/>
            </a:rPr>
          </a:br>
          <a:r>
            <a:rPr lang="en-US" sz="1800" b="1" kern="1200">
              <a:latin typeface="Arial" panose="020B0604020202020204" pitchFamily="34" charset="0"/>
              <a:cs typeface="Arial" panose="020B0604020202020204" pitchFamily="34" charset="0"/>
            </a:rPr>
            <a:t>- </a:t>
          </a:r>
          <a:r>
            <a:rPr lang="en-US" sz="1800" b="0" i="0" kern="1200">
              <a:latin typeface="Arial" panose="020B0604020202020204" pitchFamily="34" charset="0"/>
              <a:cs typeface="Arial" panose="020B0604020202020204" pitchFamily="34" charset="0"/>
            </a:rPr>
            <a:t>Existing utility expertise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Established contractor network</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Proven customer engagement</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Minimal new infrastructure</a:t>
          </a:r>
        </a:p>
      </dsp:txBody>
      <dsp:txXfrm rot="5400000">
        <a:off x="0" y="0"/>
        <a:ext cx="4476877" cy="1976126"/>
      </dsp:txXfrm>
    </dsp:sp>
    <dsp:sp modelId="{C1A07BBF-19DB-47F4-9F21-3C0561070890}">
      <dsp:nvSpPr>
        <dsp:cNvPr id="0" name=""/>
        <dsp:cNvSpPr/>
      </dsp:nvSpPr>
      <dsp:spPr>
        <a:xfrm>
          <a:off x="4476877" y="0"/>
          <a:ext cx="4476877" cy="2634835"/>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r" defTabSz="800100">
            <a:lnSpc>
              <a:spcPct val="100000"/>
            </a:lnSpc>
            <a:spcBef>
              <a:spcPct val="0"/>
            </a:spcBef>
            <a:spcAft>
              <a:spcPct val="35000"/>
            </a:spcAft>
            <a:buNone/>
          </a:pPr>
          <a:br>
            <a:rPr lang="en-US" sz="1800" b="1" kern="1200">
              <a:latin typeface="Arial" panose="020B0604020202020204" pitchFamily="34" charset="0"/>
              <a:cs typeface="Arial" panose="020B0604020202020204" pitchFamily="34" charset="0"/>
            </a:rPr>
          </a:br>
          <a:r>
            <a:rPr lang="en-US" sz="1800" b="1" kern="1200">
              <a:latin typeface="Arial" panose="020B0604020202020204" pitchFamily="34" charset="0"/>
              <a:cs typeface="Arial" panose="020B0604020202020204" pitchFamily="34" charset="0"/>
            </a:rPr>
            <a:t>Expands Into New Markets</a:t>
          </a:r>
          <a:br>
            <a:rPr lang="en-US" sz="1800" b="1" kern="1200">
              <a:latin typeface="Arial" panose="020B0604020202020204" pitchFamily="34" charset="0"/>
              <a:cs typeface="Arial" panose="020B0604020202020204" pitchFamily="34" charset="0"/>
            </a:rPr>
          </a:br>
          <a:r>
            <a:rPr lang="en-US" sz="1800" b="1" kern="1200">
              <a:latin typeface="Arial" panose="020B0604020202020204" pitchFamily="34" charset="0"/>
              <a:cs typeface="Arial" panose="020B0604020202020204" pitchFamily="34" charset="0"/>
            </a:rPr>
            <a:t>- </a:t>
          </a:r>
          <a:r>
            <a:rPr lang="en-US" sz="1800" b="0" i="0" kern="1200">
              <a:latin typeface="Arial" panose="020B0604020202020204" pitchFamily="34" charset="0"/>
              <a:cs typeface="Arial" panose="020B0604020202020204" pitchFamily="34" charset="0"/>
            </a:rPr>
            <a:t>Limited direct competition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Utility battery fleet offering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Differentiated market position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Growing DER opportunity</a:t>
          </a:r>
        </a:p>
      </dsp:txBody>
      <dsp:txXfrm>
        <a:off x="4476877" y="0"/>
        <a:ext cx="4476877" cy="1976126"/>
      </dsp:txXfrm>
    </dsp:sp>
    <dsp:sp modelId="{112ECAE4-7AC8-4FA3-8B8F-551C4FD20EFF}">
      <dsp:nvSpPr>
        <dsp:cNvPr id="0" name=""/>
        <dsp:cNvSpPr/>
      </dsp:nvSpPr>
      <dsp:spPr>
        <a:xfrm rot="10800000">
          <a:off x="0" y="2634835"/>
          <a:ext cx="4476877" cy="2634835"/>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100000"/>
            </a:lnSpc>
            <a:spcBef>
              <a:spcPct val="0"/>
            </a:spcBef>
            <a:spcAft>
              <a:spcPct val="35000"/>
            </a:spcAft>
            <a:buNone/>
          </a:pPr>
          <a:r>
            <a:rPr lang="en-US" sz="1800" b="1" kern="1200">
              <a:latin typeface="Arial" panose="020B0604020202020204" pitchFamily="34" charset="0"/>
              <a:cs typeface="Arial" panose="020B0604020202020204" pitchFamily="34" charset="0"/>
            </a:rPr>
            <a:t>Scales Through Existing Relationships </a:t>
          </a:r>
        </a:p>
        <a:p>
          <a:pPr marL="0" lvl="0" indent="0" algn="l" defTabSz="800100">
            <a:lnSpc>
              <a:spcPct val="100000"/>
            </a:lnSpc>
            <a:spcBef>
              <a:spcPct val="0"/>
            </a:spcBef>
            <a:spcAft>
              <a:spcPct val="35000"/>
            </a:spcAft>
            <a:buNone/>
          </a:pPr>
          <a:r>
            <a:rPr lang="en-US" sz="1800" b="0" i="0" kern="1200">
              <a:latin typeface="Arial" panose="020B0604020202020204" pitchFamily="34" charset="0"/>
              <a:cs typeface="Arial" panose="020B0604020202020204" pitchFamily="34" charset="0"/>
            </a:rPr>
            <a:t>- Strong utility partnerships</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Proven regional presence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Easier pilot deployment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Faster program expansion</a:t>
          </a:r>
          <a:endParaRPr lang="en-US" sz="1400" kern="1200">
            <a:latin typeface="Arial" panose="020B0604020202020204" pitchFamily="34" charset="0"/>
            <a:cs typeface="Arial" panose="020B0604020202020204" pitchFamily="34" charset="0"/>
          </a:endParaRPr>
        </a:p>
      </dsp:txBody>
      <dsp:txXfrm rot="10800000">
        <a:off x="0" y="3293544"/>
        <a:ext cx="4476877" cy="1976126"/>
      </dsp:txXfrm>
    </dsp:sp>
    <dsp:sp modelId="{F0217417-7472-463C-831C-1C5DF6C2E09B}">
      <dsp:nvSpPr>
        <dsp:cNvPr id="0" name=""/>
        <dsp:cNvSpPr/>
      </dsp:nvSpPr>
      <dsp:spPr>
        <a:xfrm rot="5400000">
          <a:off x="5397897" y="1713814"/>
          <a:ext cx="2634835" cy="4476877"/>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r" defTabSz="800100">
            <a:lnSpc>
              <a:spcPct val="100000"/>
            </a:lnSpc>
            <a:spcBef>
              <a:spcPct val="0"/>
            </a:spcBef>
            <a:spcAft>
              <a:spcPct val="35000"/>
            </a:spcAft>
            <a:buNone/>
          </a:pPr>
          <a:r>
            <a:rPr lang="en-US" sz="1800" b="1" kern="1200">
              <a:latin typeface="Arial" panose="020B0604020202020204" pitchFamily="34" charset="0"/>
              <a:cs typeface="Arial" panose="020B0604020202020204" pitchFamily="34" charset="0"/>
            </a:rPr>
            <a:t>Creates Resilient Revenue Streams</a:t>
          </a:r>
        </a:p>
        <a:p>
          <a:pPr marL="0" lvl="0" indent="0" algn="r" defTabSz="800100">
            <a:lnSpc>
              <a:spcPct val="100000"/>
            </a:lnSpc>
            <a:spcBef>
              <a:spcPct val="0"/>
            </a:spcBef>
            <a:spcAft>
              <a:spcPct val="35000"/>
            </a:spcAft>
            <a:buNone/>
          </a:pPr>
          <a:r>
            <a:rPr lang="en-US" sz="1800" b="0" i="0" kern="1200">
              <a:latin typeface="Arial" panose="020B0604020202020204" pitchFamily="34" charset="0"/>
              <a:cs typeface="Arial" panose="020B0604020202020204" pitchFamily="34" charset="0"/>
            </a:rPr>
            <a:t>- Utility-funded model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Reduced grant reliance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More stable revenue </a:t>
          </a:r>
          <a:br>
            <a:rPr lang="en-US" sz="1800" b="0" i="0" kern="1200"/>
          </a:br>
          <a:r>
            <a:rPr lang="en-US" sz="1800" b="0" i="0" kern="1200"/>
            <a:t>- Supports grid resilience</a:t>
          </a:r>
          <a:endParaRPr lang="en-US" sz="1400" kern="1200"/>
        </a:p>
      </dsp:txBody>
      <dsp:txXfrm rot="-5400000">
        <a:off x="4476877" y="3293544"/>
        <a:ext cx="4476877" cy="1976126"/>
      </dsp:txXfrm>
    </dsp:sp>
    <dsp:sp modelId="{5C165AFF-2126-4842-86A3-BA0B41072E73}">
      <dsp:nvSpPr>
        <dsp:cNvPr id="0" name=""/>
        <dsp:cNvSpPr/>
      </dsp:nvSpPr>
      <dsp:spPr>
        <a:xfrm>
          <a:off x="3133813" y="1976126"/>
          <a:ext cx="2686126" cy="1317417"/>
        </a:xfrm>
        <a:prstGeom prst="roundRect">
          <a:avLst/>
        </a:prstGeom>
        <a:solidFill>
          <a:schemeClr val="accent1">
            <a:lumMod val="10000"/>
            <a:lumOff val="9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4310" tIns="194310" rIns="194310" bIns="194310" numCol="1" spcCol="1270" anchor="ctr" anchorCtr="0">
          <a:noAutofit/>
        </a:bodyPr>
        <a:lstStyle/>
        <a:p>
          <a:pPr marL="0" lvl="0" indent="0" algn="ctr" defTabSz="2266950">
            <a:lnSpc>
              <a:spcPct val="100000"/>
            </a:lnSpc>
            <a:spcBef>
              <a:spcPct val="0"/>
            </a:spcBef>
            <a:spcAft>
              <a:spcPct val="35000"/>
            </a:spcAft>
            <a:buNone/>
          </a:pPr>
          <a:r>
            <a:rPr lang="en-US" sz="5100" kern="1200"/>
            <a:t>   </a:t>
          </a:r>
          <a:endParaRPr lang="en-US" sz="5100" kern="1200">
            <a:latin typeface="Arial" panose="020B0604020202020204" pitchFamily="34" charset="0"/>
            <a:cs typeface="Arial" panose="020B0604020202020204" pitchFamily="34" charset="0"/>
          </a:endParaRPr>
        </a:p>
      </dsp:txBody>
      <dsp:txXfrm>
        <a:off x="3198124" y="2040437"/>
        <a:ext cx="2557504" cy="118879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EBE43F6-F223-4AF5-8CE2-9157967AD81C}">
      <dsp:nvSpPr>
        <dsp:cNvPr id="0" name=""/>
        <dsp:cNvSpPr/>
      </dsp:nvSpPr>
      <dsp:spPr>
        <a:xfrm>
          <a:off x="0" y="2319718"/>
          <a:ext cx="10928908" cy="46863"/>
        </a:xfrm>
        <a:prstGeom prst="rect">
          <a:avLst/>
        </a:prstGeom>
        <a:gradFill rotWithShape="0">
          <a:gsLst>
            <a:gs pos="0">
              <a:schemeClr val="accent1">
                <a:tint val="76000"/>
              </a:schemeClr>
            </a:gs>
            <a:gs pos="100000">
              <a:schemeClr val="accent1">
                <a:tint val="76000"/>
              </a:schemeClr>
            </a:gs>
          </a:gsLst>
          <a:lin ang="0" scaled="0"/>
        </a:gradFill>
        <a:ln>
          <a:noFill/>
        </a:ln>
        <a:effectLst/>
      </dsp:spPr>
      <dsp:style>
        <a:lnRef idx="0">
          <a:scrgbClr r="0" g="0" b="0"/>
        </a:lnRef>
        <a:fillRef idx="1">
          <a:scrgbClr r="0" g="0" b="0"/>
        </a:fillRef>
        <a:effectRef idx="0">
          <a:scrgbClr r="0" g="0" b="0"/>
        </a:effectRef>
        <a:fontRef idx="minor"/>
      </dsp:style>
    </dsp:sp>
    <dsp:sp modelId="{D92825F4-28E2-4E61-98B0-C657AEDE2D41}">
      <dsp:nvSpPr>
        <dsp:cNvPr id="0" name=""/>
        <dsp:cNvSpPr/>
      </dsp:nvSpPr>
      <dsp:spPr>
        <a:xfrm>
          <a:off x="10691622" y="2155698"/>
          <a:ext cx="281178" cy="374904"/>
        </a:xfrm>
        <a:prstGeom prst="chevron">
          <a:avLst>
            <a:gd name="adj" fmla="val 75000"/>
          </a:avLst>
        </a:prstGeom>
        <a:gradFill rotWithShape="0">
          <a:gsLst>
            <a:gs pos="0">
              <a:schemeClr val="accent1">
                <a:tint val="76000"/>
              </a:schemeClr>
            </a:gs>
            <a:gs pos="100000">
              <a:schemeClr val="accent1">
                <a:tint val="76000"/>
              </a:schemeClr>
            </a:gs>
          </a:gsLst>
          <a:lin ang="0" scaled="0"/>
        </a:gradFill>
        <a:ln>
          <a:noFill/>
        </a:ln>
        <a:effectLst/>
      </dsp:spPr>
      <dsp:style>
        <a:lnRef idx="0">
          <a:scrgbClr r="0" g="0" b="0"/>
        </a:lnRef>
        <a:fillRef idx="1">
          <a:scrgbClr r="0" g="0" b="0"/>
        </a:fillRef>
        <a:effectRef idx="0">
          <a:scrgbClr r="0" g="0" b="0"/>
        </a:effectRef>
        <a:fontRef idx="minor"/>
      </dsp:style>
    </dsp:sp>
    <dsp:sp modelId="{9D5D2A40-12E0-4E69-BB9A-71C366C5F380}">
      <dsp:nvSpPr>
        <dsp:cNvPr id="0" name=""/>
        <dsp:cNvSpPr/>
      </dsp:nvSpPr>
      <dsp:spPr>
        <a:xfrm>
          <a:off x="528052" y="659283"/>
          <a:ext cx="3642080" cy="10872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889000">
            <a:lnSpc>
              <a:spcPct val="90000"/>
            </a:lnSpc>
            <a:spcBef>
              <a:spcPct val="0"/>
            </a:spcBef>
            <a:spcAft>
              <a:spcPct val="35000"/>
            </a:spcAft>
            <a:buNone/>
          </a:pPr>
          <a:r>
            <a:rPr lang="en-US" sz="2000" b="1" kern="1200">
              <a:latin typeface="Arial" panose="020B0604020202020204" pitchFamily="34" charset="0"/>
              <a:cs typeface="Arial" panose="020B0604020202020204" pitchFamily="34" charset="0"/>
            </a:rPr>
            <a:t>Internal Development</a:t>
          </a:r>
        </a:p>
        <a:p>
          <a:pPr marL="0" lvl="0" indent="0" algn="l" defTabSz="800100">
            <a:lnSpc>
              <a:spcPct val="90000"/>
            </a:lnSpc>
            <a:spcBef>
              <a:spcPct val="0"/>
            </a:spcBef>
            <a:spcAft>
              <a:spcPct val="35000"/>
            </a:spcAft>
            <a:buNone/>
          </a:pPr>
          <a:r>
            <a:rPr lang="en-US" sz="1800" kern="1200">
              <a:latin typeface="Arial" panose="020B0604020202020204" pitchFamily="34" charset="0"/>
              <a:cs typeface="Arial" panose="020B0604020202020204" pitchFamily="34" charset="0"/>
            </a:rPr>
            <a:t>- </a:t>
          </a:r>
          <a:r>
            <a:rPr lang="en-US" sz="1800" b="0" i="0" kern="1200">
              <a:latin typeface="Arial" panose="020B0604020202020204" pitchFamily="34" charset="0"/>
              <a:cs typeface="Arial" panose="020B0604020202020204" pitchFamily="34" charset="0"/>
            </a:rPr>
            <a:t>Finalize business case and service offering</a:t>
          </a:r>
        </a:p>
        <a:p>
          <a:pPr marL="0" lvl="0" indent="0" algn="l" defTabSz="800100">
            <a:lnSpc>
              <a:spcPct val="90000"/>
            </a:lnSpc>
            <a:spcBef>
              <a:spcPct val="0"/>
            </a:spcBef>
            <a:spcAft>
              <a:spcPct val="35000"/>
            </a:spcAft>
            <a:buNone/>
          </a:pPr>
          <a:r>
            <a:rPr lang="en-US" sz="1800" b="0" i="0" kern="1200">
              <a:latin typeface="Arial" panose="020B0604020202020204" pitchFamily="34" charset="0"/>
              <a:cs typeface="Arial" panose="020B0604020202020204" pitchFamily="34" charset="0"/>
            </a:rPr>
            <a:t>-Secure APTIM leadership approval</a:t>
          </a:r>
          <a:endParaRPr lang="en-US" sz="1800" kern="1200">
            <a:latin typeface="Arial" panose="020B0604020202020204" pitchFamily="34" charset="0"/>
            <a:cs typeface="Arial" panose="020B0604020202020204" pitchFamily="34" charset="0"/>
          </a:endParaRPr>
        </a:p>
      </dsp:txBody>
      <dsp:txXfrm>
        <a:off x="528052" y="659283"/>
        <a:ext cx="3642080" cy="1087221"/>
      </dsp:txXfrm>
    </dsp:sp>
    <dsp:sp modelId="{7DDB962F-4865-43D6-AB4B-B0A6B340D54A}">
      <dsp:nvSpPr>
        <dsp:cNvPr id="0" name=""/>
        <dsp:cNvSpPr/>
      </dsp:nvSpPr>
      <dsp:spPr>
        <a:xfrm>
          <a:off x="528052" y="96927"/>
          <a:ext cx="3642080" cy="56235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89000">
            <a:lnSpc>
              <a:spcPct val="90000"/>
            </a:lnSpc>
            <a:spcBef>
              <a:spcPct val="0"/>
            </a:spcBef>
            <a:spcAft>
              <a:spcPct val="35000"/>
            </a:spcAft>
            <a:buNone/>
            <a:defRPr b="1"/>
          </a:pPr>
          <a:r>
            <a:rPr lang="en-US" sz="2000" kern="1200">
              <a:latin typeface="Arial" panose="020B0604020202020204" pitchFamily="34" charset="0"/>
              <a:cs typeface="Arial" panose="020B0604020202020204" pitchFamily="34" charset="0"/>
            </a:rPr>
            <a:t>2026</a:t>
          </a:r>
        </a:p>
      </dsp:txBody>
      <dsp:txXfrm>
        <a:off x="528052" y="96927"/>
        <a:ext cx="3642080" cy="562356"/>
      </dsp:txXfrm>
    </dsp:sp>
    <dsp:sp modelId="{E50A2BB6-7F55-4F75-B84E-77C96C0AC2FA}">
      <dsp:nvSpPr>
        <dsp:cNvPr id="0" name=""/>
        <dsp:cNvSpPr/>
      </dsp:nvSpPr>
      <dsp:spPr>
        <a:xfrm>
          <a:off x="282517" y="468629"/>
          <a:ext cx="37490" cy="1874520"/>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ECC8C6F-DF8A-46A2-BA04-AE7433B0C267}">
      <dsp:nvSpPr>
        <dsp:cNvPr id="0" name=""/>
        <dsp:cNvSpPr/>
      </dsp:nvSpPr>
      <dsp:spPr>
        <a:xfrm>
          <a:off x="2767785" y="3052268"/>
          <a:ext cx="3642080" cy="8810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889000">
            <a:lnSpc>
              <a:spcPct val="90000"/>
            </a:lnSpc>
            <a:spcBef>
              <a:spcPct val="0"/>
            </a:spcBef>
            <a:spcAft>
              <a:spcPct val="35000"/>
            </a:spcAft>
            <a:buNone/>
          </a:pPr>
          <a:r>
            <a:rPr lang="en-US" sz="2000" b="1" kern="1200">
              <a:latin typeface="Arial" panose="020B0604020202020204" pitchFamily="34" charset="0"/>
              <a:cs typeface="Arial" panose="020B0604020202020204" pitchFamily="34" charset="0"/>
            </a:rPr>
            <a:t>Ann Arbor Pilot Launch</a:t>
          </a:r>
        </a:p>
        <a:p>
          <a:pPr marL="0" lvl="0" indent="0" algn="l" defTabSz="800100">
            <a:lnSpc>
              <a:spcPct val="90000"/>
            </a:lnSpc>
            <a:spcBef>
              <a:spcPct val="0"/>
            </a:spcBef>
            <a:spcAft>
              <a:spcPct val="35000"/>
            </a:spcAft>
            <a:buNone/>
          </a:pPr>
          <a:r>
            <a:rPr lang="en-US" sz="1800" b="0" i="0" kern="1200">
              <a:latin typeface="Arial" panose="020B0604020202020204" pitchFamily="34" charset="0"/>
              <a:cs typeface="Arial" panose="020B0604020202020204" pitchFamily="34" charset="0"/>
            </a:rPr>
            <a:t>- Partner with DTE and recruit 500 homes</a:t>
          </a:r>
          <a:endParaRPr lang="en-US" sz="1800" kern="1200">
            <a:latin typeface="Arial" panose="020B0604020202020204" pitchFamily="34" charset="0"/>
            <a:cs typeface="Arial" panose="020B0604020202020204" pitchFamily="34" charset="0"/>
          </a:endParaRPr>
        </a:p>
        <a:p>
          <a:pPr marL="0" lvl="0" indent="0" algn="l" defTabSz="800100">
            <a:lnSpc>
              <a:spcPct val="90000"/>
            </a:lnSpc>
            <a:spcBef>
              <a:spcPct val="0"/>
            </a:spcBef>
            <a:spcAft>
              <a:spcPct val="35000"/>
            </a:spcAft>
            <a:buNone/>
          </a:pPr>
          <a:r>
            <a:rPr lang="en-US" sz="1800" b="0" i="0" kern="1200">
              <a:latin typeface="Arial" panose="020B0604020202020204" pitchFamily="34" charset="0"/>
              <a:cs typeface="Arial" panose="020B0604020202020204" pitchFamily="34" charset="0"/>
            </a:rPr>
            <a:t>- Begin installation and fleet deployment</a:t>
          </a:r>
          <a:endParaRPr lang="en-US" sz="1800" kern="1200">
            <a:latin typeface="Arial" panose="020B0604020202020204" pitchFamily="34" charset="0"/>
            <a:cs typeface="Arial" panose="020B0604020202020204" pitchFamily="34" charset="0"/>
          </a:endParaRPr>
        </a:p>
      </dsp:txBody>
      <dsp:txXfrm>
        <a:off x="2767785" y="3052268"/>
        <a:ext cx="3642080" cy="881024"/>
      </dsp:txXfrm>
    </dsp:sp>
    <dsp:sp modelId="{E5B5CF21-0F70-4050-B091-FA55635B596F}">
      <dsp:nvSpPr>
        <dsp:cNvPr id="0" name=""/>
        <dsp:cNvSpPr/>
      </dsp:nvSpPr>
      <dsp:spPr>
        <a:xfrm>
          <a:off x="2767785" y="2471167"/>
          <a:ext cx="3642080" cy="58110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89000">
            <a:lnSpc>
              <a:spcPct val="90000"/>
            </a:lnSpc>
            <a:spcBef>
              <a:spcPct val="0"/>
            </a:spcBef>
            <a:spcAft>
              <a:spcPct val="35000"/>
            </a:spcAft>
            <a:buNone/>
            <a:defRPr b="1"/>
          </a:pPr>
          <a:r>
            <a:rPr lang="en-US" sz="2000" kern="1200">
              <a:latin typeface="Arial" panose="020B0604020202020204" pitchFamily="34" charset="0"/>
              <a:cs typeface="Arial" panose="020B0604020202020204" pitchFamily="34" charset="0"/>
            </a:rPr>
            <a:t>2027</a:t>
          </a:r>
        </a:p>
      </dsp:txBody>
      <dsp:txXfrm>
        <a:off x="2767785" y="2471167"/>
        <a:ext cx="3642080" cy="581101"/>
      </dsp:txXfrm>
    </dsp:sp>
    <dsp:sp modelId="{4D3F6014-EB4A-48B9-8969-85BBA4C951DA}">
      <dsp:nvSpPr>
        <dsp:cNvPr id="0" name=""/>
        <dsp:cNvSpPr/>
      </dsp:nvSpPr>
      <dsp:spPr>
        <a:xfrm>
          <a:off x="2476541" y="2343150"/>
          <a:ext cx="37490" cy="1874520"/>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4C02278-E220-4FBD-855E-0DF2F10CCF66}">
      <dsp:nvSpPr>
        <dsp:cNvPr id="0" name=""/>
        <dsp:cNvSpPr/>
      </dsp:nvSpPr>
      <dsp:spPr>
        <a:xfrm>
          <a:off x="203787" y="2245674"/>
          <a:ext cx="194950" cy="194950"/>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5429E44-2794-433B-A8C6-CD014DDC2CF4}">
      <dsp:nvSpPr>
        <dsp:cNvPr id="0" name=""/>
        <dsp:cNvSpPr/>
      </dsp:nvSpPr>
      <dsp:spPr>
        <a:xfrm>
          <a:off x="2397811" y="2245674"/>
          <a:ext cx="194950" cy="194950"/>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EA06BA1-0B22-4940-8CF3-05BCE33F82AE}">
      <dsp:nvSpPr>
        <dsp:cNvPr id="0" name=""/>
        <dsp:cNvSpPr/>
      </dsp:nvSpPr>
      <dsp:spPr>
        <a:xfrm>
          <a:off x="5107019" y="562356"/>
          <a:ext cx="3642080" cy="10872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889000">
            <a:lnSpc>
              <a:spcPct val="90000"/>
            </a:lnSpc>
            <a:spcBef>
              <a:spcPct val="0"/>
            </a:spcBef>
            <a:spcAft>
              <a:spcPct val="35000"/>
            </a:spcAft>
            <a:buNone/>
          </a:pPr>
          <a:r>
            <a:rPr lang="en-US" sz="2000" b="1" kern="1200">
              <a:latin typeface="Arial" panose="020B0604020202020204" pitchFamily="34" charset="0"/>
              <a:cs typeface="Arial" panose="020B0604020202020204" pitchFamily="34" charset="0"/>
            </a:rPr>
            <a:t>Pilot Operation and Expansion Planning</a:t>
          </a:r>
        </a:p>
        <a:p>
          <a:pPr marL="0" lvl="0" indent="0" algn="l" defTabSz="800100">
            <a:lnSpc>
              <a:spcPct val="90000"/>
            </a:lnSpc>
            <a:spcBef>
              <a:spcPct val="0"/>
            </a:spcBef>
            <a:spcAft>
              <a:spcPct val="35000"/>
            </a:spcAft>
            <a:buNone/>
          </a:pPr>
          <a:r>
            <a:rPr lang="en-US" sz="1800" kern="1200">
              <a:latin typeface="Arial" panose="020B0604020202020204" pitchFamily="34" charset="0"/>
              <a:cs typeface="Arial" panose="020B0604020202020204" pitchFamily="34" charset="0"/>
            </a:rPr>
            <a:t>- </a:t>
          </a:r>
          <a:r>
            <a:rPr lang="en-US" sz="1800" b="0" i="0" kern="1200">
              <a:latin typeface="Arial" panose="020B0604020202020204" pitchFamily="34" charset="0"/>
              <a:cs typeface="Arial" panose="020B0604020202020204" pitchFamily="34" charset="0"/>
            </a:rPr>
            <a:t>Monitor performance and customer participation</a:t>
          </a:r>
          <a:endParaRPr lang="en-US" sz="1800" kern="1200">
            <a:latin typeface="Arial" panose="020B0604020202020204" pitchFamily="34" charset="0"/>
            <a:cs typeface="Arial" panose="020B0604020202020204" pitchFamily="34" charset="0"/>
          </a:endParaRPr>
        </a:p>
        <a:p>
          <a:pPr marL="0" lvl="0" indent="0" algn="l" defTabSz="800100">
            <a:lnSpc>
              <a:spcPct val="90000"/>
            </a:lnSpc>
            <a:spcBef>
              <a:spcPct val="0"/>
            </a:spcBef>
            <a:spcAft>
              <a:spcPct val="35000"/>
            </a:spcAft>
            <a:buNone/>
          </a:pPr>
          <a:r>
            <a:rPr lang="en-US" sz="1800" b="0" i="0" kern="1200">
              <a:latin typeface="Arial" panose="020B0604020202020204" pitchFamily="34" charset="0"/>
              <a:cs typeface="Arial" panose="020B0604020202020204" pitchFamily="34" charset="0"/>
            </a:rPr>
            <a:t>- Build expansion case using pilot results</a:t>
          </a:r>
          <a:endParaRPr lang="en-US" sz="1800" kern="1200">
            <a:latin typeface="Arial" panose="020B0604020202020204" pitchFamily="34" charset="0"/>
            <a:cs typeface="Arial" panose="020B0604020202020204" pitchFamily="34" charset="0"/>
          </a:endParaRPr>
        </a:p>
      </dsp:txBody>
      <dsp:txXfrm>
        <a:off x="5107019" y="562356"/>
        <a:ext cx="3642080" cy="1087221"/>
      </dsp:txXfrm>
    </dsp:sp>
    <dsp:sp modelId="{257F5F98-985A-4ECA-989A-5CD9EC667F9C}">
      <dsp:nvSpPr>
        <dsp:cNvPr id="0" name=""/>
        <dsp:cNvSpPr/>
      </dsp:nvSpPr>
      <dsp:spPr>
        <a:xfrm>
          <a:off x="5107019" y="0"/>
          <a:ext cx="3642080" cy="56235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89000">
            <a:lnSpc>
              <a:spcPct val="90000"/>
            </a:lnSpc>
            <a:spcBef>
              <a:spcPct val="0"/>
            </a:spcBef>
            <a:spcAft>
              <a:spcPct val="35000"/>
            </a:spcAft>
            <a:buNone/>
            <a:defRPr b="1"/>
          </a:pPr>
          <a:r>
            <a:rPr lang="en-US" sz="2000" kern="1200">
              <a:latin typeface="Arial" panose="020B0604020202020204" pitchFamily="34" charset="0"/>
              <a:cs typeface="Arial" panose="020B0604020202020204" pitchFamily="34" charset="0"/>
            </a:rPr>
            <a:t>2027-2030</a:t>
          </a:r>
        </a:p>
      </dsp:txBody>
      <dsp:txXfrm>
        <a:off x="5107019" y="0"/>
        <a:ext cx="3642080" cy="562356"/>
      </dsp:txXfrm>
    </dsp:sp>
    <dsp:sp modelId="{A8098DB4-F493-4752-93B9-E10FAAD88B01}">
      <dsp:nvSpPr>
        <dsp:cNvPr id="0" name=""/>
        <dsp:cNvSpPr/>
      </dsp:nvSpPr>
      <dsp:spPr>
        <a:xfrm>
          <a:off x="4670565" y="468629"/>
          <a:ext cx="37490" cy="1874520"/>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B9F70A5-0294-46CC-9AFC-DC1FB259292B}">
      <dsp:nvSpPr>
        <dsp:cNvPr id="0" name=""/>
        <dsp:cNvSpPr/>
      </dsp:nvSpPr>
      <dsp:spPr>
        <a:xfrm>
          <a:off x="7188138" y="3024834"/>
          <a:ext cx="3642080" cy="8810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889000">
            <a:lnSpc>
              <a:spcPct val="90000"/>
            </a:lnSpc>
            <a:spcBef>
              <a:spcPct val="0"/>
            </a:spcBef>
            <a:spcAft>
              <a:spcPct val="35000"/>
            </a:spcAft>
            <a:buNone/>
          </a:pPr>
          <a:r>
            <a:rPr lang="en-US" sz="2000" b="1" kern="1200">
              <a:latin typeface="Arial" panose="020B0604020202020204" pitchFamily="34" charset="0"/>
              <a:cs typeface="Arial" panose="020B0604020202020204" pitchFamily="34" charset="0"/>
            </a:rPr>
            <a:t>Regional Expansion</a:t>
          </a:r>
        </a:p>
        <a:p>
          <a:pPr marL="0" lvl="0" indent="0" algn="l" defTabSz="800100">
            <a:lnSpc>
              <a:spcPct val="90000"/>
            </a:lnSpc>
            <a:spcBef>
              <a:spcPct val="0"/>
            </a:spcBef>
            <a:spcAft>
              <a:spcPct val="35000"/>
            </a:spcAft>
            <a:buNone/>
          </a:pPr>
          <a:r>
            <a:rPr lang="en-US" sz="1800" b="0" kern="1200">
              <a:latin typeface="Arial" panose="020B0604020202020204" pitchFamily="34" charset="0"/>
              <a:cs typeface="Arial" panose="020B0604020202020204" pitchFamily="34" charset="0"/>
            </a:rPr>
            <a:t>- </a:t>
          </a:r>
          <a:r>
            <a:rPr lang="en-US" sz="1800" b="0" i="0" kern="1200">
              <a:latin typeface="Arial" panose="020B0604020202020204" pitchFamily="34" charset="0"/>
              <a:cs typeface="Arial" panose="020B0604020202020204" pitchFamily="34" charset="0"/>
            </a:rPr>
            <a:t>Expand across additional DTE territories</a:t>
          </a:r>
          <a:endParaRPr lang="en-US" sz="1800" b="0" kern="1200">
            <a:latin typeface="Arial" panose="020B0604020202020204" pitchFamily="34" charset="0"/>
            <a:cs typeface="Arial" panose="020B0604020202020204" pitchFamily="34" charset="0"/>
          </a:endParaRPr>
        </a:p>
        <a:p>
          <a:pPr marL="0" lvl="0" indent="0" algn="l" defTabSz="800100">
            <a:lnSpc>
              <a:spcPct val="90000"/>
            </a:lnSpc>
            <a:spcBef>
              <a:spcPct val="0"/>
            </a:spcBef>
            <a:spcAft>
              <a:spcPct val="35000"/>
            </a:spcAft>
            <a:buNone/>
          </a:pPr>
          <a:r>
            <a:rPr lang="en-US" sz="1800" b="0" i="0" kern="1200">
              <a:latin typeface="Arial" panose="020B0604020202020204" pitchFamily="34" charset="0"/>
              <a:cs typeface="Arial" panose="020B0604020202020204" pitchFamily="34" charset="0"/>
            </a:rPr>
            <a:t>- Replicate model in WI, LA, and NC</a:t>
          </a:r>
          <a:endParaRPr lang="en-US" sz="1800" b="0" kern="1200">
            <a:latin typeface="Arial" panose="020B0604020202020204" pitchFamily="34" charset="0"/>
            <a:cs typeface="Arial" panose="020B0604020202020204" pitchFamily="34" charset="0"/>
          </a:endParaRPr>
        </a:p>
      </dsp:txBody>
      <dsp:txXfrm>
        <a:off x="7188138" y="3024834"/>
        <a:ext cx="3642080" cy="881024"/>
      </dsp:txXfrm>
    </dsp:sp>
    <dsp:sp modelId="{5F533469-EA89-4CC4-B714-35E2E6AF8850}">
      <dsp:nvSpPr>
        <dsp:cNvPr id="0" name=""/>
        <dsp:cNvSpPr/>
      </dsp:nvSpPr>
      <dsp:spPr>
        <a:xfrm>
          <a:off x="7188138" y="2443733"/>
          <a:ext cx="3642080" cy="58110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89000">
            <a:lnSpc>
              <a:spcPct val="90000"/>
            </a:lnSpc>
            <a:spcBef>
              <a:spcPct val="0"/>
            </a:spcBef>
            <a:spcAft>
              <a:spcPct val="35000"/>
            </a:spcAft>
            <a:buNone/>
            <a:defRPr b="1"/>
          </a:pPr>
          <a:r>
            <a:rPr lang="en-US" sz="2000" kern="1200">
              <a:latin typeface="Arial" panose="020B0604020202020204" pitchFamily="34" charset="0"/>
              <a:cs typeface="Arial" panose="020B0604020202020204" pitchFamily="34" charset="0"/>
            </a:rPr>
            <a:t>2030+</a:t>
          </a:r>
        </a:p>
      </dsp:txBody>
      <dsp:txXfrm>
        <a:off x="7188138" y="2443733"/>
        <a:ext cx="3642080" cy="581101"/>
      </dsp:txXfrm>
    </dsp:sp>
    <dsp:sp modelId="{D520C184-15C8-4C95-A0CA-D71941C1C11F}">
      <dsp:nvSpPr>
        <dsp:cNvPr id="0" name=""/>
        <dsp:cNvSpPr/>
      </dsp:nvSpPr>
      <dsp:spPr>
        <a:xfrm>
          <a:off x="6864590" y="2343150"/>
          <a:ext cx="37490" cy="1874520"/>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D153DC4-9535-419A-AAD7-0E1ACD065A79}">
      <dsp:nvSpPr>
        <dsp:cNvPr id="0" name=""/>
        <dsp:cNvSpPr/>
      </dsp:nvSpPr>
      <dsp:spPr>
        <a:xfrm>
          <a:off x="4591836" y="2245674"/>
          <a:ext cx="194950" cy="194950"/>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0DE78FF-DA58-4A20-9C28-E7F169E6E10A}">
      <dsp:nvSpPr>
        <dsp:cNvPr id="0" name=""/>
        <dsp:cNvSpPr/>
      </dsp:nvSpPr>
      <dsp:spPr>
        <a:xfrm>
          <a:off x="6785860" y="2245674"/>
          <a:ext cx="194950" cy="194950"/>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C2C8C18-BB22-48A0-ADF5-548946CDC08F}">
      <dsp:nvSpPr>
        <dsp:cNvPr id="0" name=""/>
        <dsp:cNvSpPr/>
      </dsp:nvSpPr>
      <dsp:spPr>
        <a:xfrm>
          <a:off x="1966797" y="576061"/>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Expectations </a:t>
          </a:r>
        </a:p>
      </dsp:txBody>
      <dsp:txXfrm>
        <a:off x="1994291" y="603555"/>
        <a:ext cx="1634701" cy="883728"/>
      </dsp:txXfrm>
    </dsp:sp>
    <dsp:sp modelId="{3EFDE569-E59E-49B1-928E-B5FDAFF8D823}">
      <dsp:nvSpPr>
        <dsp:cNvPr id="0" name=""/>
        <dsp:cNvSpPr/>
      </dsp:nvSpPr>
      <dsp:spPr>
        <a:xfrm>
          <a:off x="4470974" y="192023"/>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Constraints</a:t>
          </a:r>
        </a:p>
      </dsp:txBody>
      <dsp:txXfrm>
        <a:off x="4498468" y="219517"/>
        <a:ext cx="1634701" cy="883728"/>
      </dsp:txXfrm>
    </dsp:sp>
    <dsp:sp modelId="{1F2A4381-1A38-4FCC-B197-636ADD36617A}">
      <dsp:nvSpPr>
        <dsp:cNvPr id="0" name=""/>
        <dsp:cNvSpPr/>
      </dsp:nvSpPr>
      <dsp:spPr>
        <a:xfrm>
          <a:off x="3551453" y="3989543"/>
          <a:ext cx="704037" cy="704037"/>
        </a:xfrm>
        <a:prstGeom prst="triangle">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CE89A2D-1D2B-4548-BC78-71F9C54134DA}">
      <dsp:nvSpPr>
        <dsp:cNvPr id="0" name=""/>
        <dsp:cNvSpPr/>
      </dsp:nvSpPr>
      <dsp:spPr>
        <a:xfrm rot="240000">
          <a:off x="1790715" y="3687856"/>
          <a:ext cx="4225513" cy="295476"/>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A25950-3C51-4F31-A3C1-86C38489660E}">
      <dsp:nvSpPr>
        <dsp:cNvPr id="0" name=""/>
        <dsp:cNvSpPr/>
      </dsp:nvSpPr>
      <dsp:spPr>
        <a:xfrm rot="240000">
          <a:off x="4332315" y="3155543"/>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Federal Funding </a:t>
          </a:r>
          <a:r>
            <a:rPr lang="en-US" sz="1200" kern="1200" err="1"/>
            <a:t>Avability</a:t>
          </a:r>
          <a:r>
            <a:rPr lang="en-US" sz="1200" kern="1200"/>
            <a:t> </a:t>
          </a:r>
        </a:p>
      </dsp:txBody>
      <dsp:txXfrm>
        <a:off x="4360584" y="3183812"/>
        <a:ext cx="1620308" cy="522551"/>
      </dsp:txXfrm>
    </dsp:sp>
    <dsp:sp modelId="{178D41AC-DF01-44B8-91F8-2D35A8A99493}">
      <dsp:nvSpPr>
        <dsp:cNvPr id="0" name=""/>
        <dsp:cNvSpPr/>
      </dsp:nvSpPr>
      <dsp:spPr>
        <a:xfrm rot="240000">
          <a:off x="4379251" y="2535990"/>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Aging Infrastructure</a:t>
          </a:r>
        </a:p>
      </dsp:txBody>
      <dsp:txXfrm>
        <a:off x="4407520" y="2564259"/>
        <a:ext cx="1620308" cy="522551"/>
      </dsp:txXfrm>
    </dsp:sp>
    <dsp:sp modelId="{9669FBE4-1A05-4A2A-ABA1-47D943FFC35F}">
      <dsp:nvSpPr>
        <dsp:cNvPr id="0" name=""/>
        <dsp:cNvSpPr/>
      </dsp:nvSpPr>
      <dsp:spPr>
        <a:xfrm rot="240000">
          <a:off x="4426187" y="1916438"/>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Increased operational complexity</a:t>
          </a:r>
        </a:p>
      </dsp:txBody>
      <dsp:txXfrm>
        <a:off x="4454456" y="1944707"/>
        <a:ext cx="1620308" cy="522551"/>
      </dsp:txXfrm>
    </dsp:sp>
    <dsp:sp modelId="{D3419466-971C-48A4-840E-53E8156ADD97}">
      <dsp:nvSpPr>
        <dsp:cNvPr id="0" name=""/>
        <dsp:cNvSpPr/>
      </dsp:nvSpPr>
      <dsp:spPr>
        <a:xfrm rot="240000">
          <a:off x="4473123" y="1296885"/>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Incentive structure changes</a:t>
          </a:r>
        </a:p>
      </dsp:txBody>
      <dsp:txXfrm>
        <a:off x="4501392" y="1325154"/>
        <a:ext cx="1620308" cy="522551"/>
      </dsp:txXfrm>
    </dsp:sp>
    <dsp:sp modelId="{8FFAE1D4-E0FD-436A-AFC2-F01A6BA71817}">
      <dsp:nvSpPr>
        <dsp:cNvPr id="0" name=""/>
        <dsp:cNvSpPr/>
      </dsp:nvSpPr>
      <dsp:spPr>
        <a:xfrm rot="240000">
          <a:off x="1891653" y="2986574"/>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Sustainability Goals</a:t>
          </a:r>
        </a:p>
      </dsp:txBody>
      <dsp:txXfrm>
        <a:off x="1919922" y="3014843"/>
        <a:ext cx="1620308" cy="522551"/>
      </dsp:txXfrm>
    </dsp:sp>
    <dsp:sp modelId="{E0232CA3-3AC9-4DBC-8C9E-C4B514E62587}">
      <dsp:nvSpPr>
        <dsp:cNvPr id="0" name=""/>
        <dsp:cNvSpPr/>
      </dsp:nvSpPr>
      <dsp:spPr>
        <a:xfrm rot="240000">
          <a:off x="1938589" y="2367021"/>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Grid Resilience </a:t>
          </a:r>
        </a:p>
      </dsp:txBody>
      <dsp:txXfrm>
        <a:off x="1966858" y="2395290"/>
        <a:ext cx="1620308" cy="522551"/>
      </dsp:txXfrm>
    </dsp:sp>
    <dsp:sp modelId="{3D080DC1-C13B-473A-93F7-A89C5C67EC88}">
      <dsp:nvSpPr>
        <dsp:cNvPr id="0" name=""/>
        <dsp:cNvSpPr/>
      </dsp:nvSpPr>
      <dsp:spPr>
        <a:xfrm rot="240000">
          <a:off x="1985525" y="1747469"/>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Energy Efficiency </a:t>
          </a:r>
        </a:p>
      </dsp:txBody>
      <dsp:txXfrm>
        <a:off x="2013794" y="1775738"/>
        <a:ext cx="1620308" cy="52255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920BA5-B028-4B13-9CCE-7DDE9FD75016}">
      <dsp:nvSpPr>
        <dsp:cNvPr id="0" name=""/>
        <dsp:cNvSpPr/>
      </dsp:nvSpPr>
      <dsp:spPr>
        <a:xfrm>
          <a:off x="2016252" y="0"/>
          <a:ext cx="1344168"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Focus on a single group</a:t>
          </a:r>
        </a:p>
      </dsp:txBody>
      <dsp:txXfrm>
        <a:off x="2016252" y="0"/>
        <a:ext cx="1344168" cy="1331129"/>
      </dsp:txXfrm>
    </dsp:sp>
    <dsp:sp modelId="{E3A0DA67-1C43-4242-B3CB-FDDDA9E7374A}">
      <dsp:nvSpPr>
        <dsp:cNvPr id="0" name=""/>
        <dsp:cNvSpPr/>
      </dsp:nvSpPr>
      <dsp:spPr>
        <a:xfrm>
          <a:off x="1344168" y="1331129"/>
          <a:ext cx="2688336"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Assume no new invention of technologies </a:t>
          </a:r>
        </a:p>
      </dsp:txBody>
      <dsp:txXfrm>
        <a:off x="1814626" y="1331129"/>
        <a:ext cx="1747418" cy="1331129"/>
      </dsp:txXfrm>
    </dsp:sp>
    <dsp:sp modelId="{8FDEED87-5058-491D-8CB6-C74AEDBE1F8F}">
      <dsp:nvSpPr>
        <dsp:cNvPr id="0" name=""/>
        <dsp:cNvSpPr/>
      </dsp:nvSpPr>
      <dsp:spPr>
        <a:xfrm>
          <a:off x="672083" y="2662258"/>
          <a:ext cx="4032504"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Leverage existing APTIM Capabilites </a:t>
          </a:r>
        </a:p>
      </dsp:txBody>
      <dsp:txXfrm>
        <a:off x="1377772" y="2662258"/>
        <a:ext cx="2621127" cy="1331129"/>
      </dsp:txXfrm>
    </dsp:sp>
    <dsp:sp modelId="{591B9AF5-E465-4123-B631-9924CE4CCCB1}">
      <dsp:nvSpPr>
        <dsp:cNvPr id="0" name=""/>
        <dsp:cNvSpPr/>
      </dsp:nvSpPr>
      <dsp:spPr>
        <a:xfrm>
          <a:off x="0" y="3993387"/>
          <a:ext cx="5376672"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Allow for scaling, achievable within 1-3 years</a:t>
          </a:r>
        </a:p>
      </dsp:txBody>
      <dsp:txXfrm>
        <a:off x="940917" y="3993387"/>
        <a:ext cx="3494836" cy="133112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1EA34A-8783-4E54-99E6-F0CED26F76DC}">
      <dsp:nvSpPr>
        <dsp:cNvPr id="0" name=""/>
        <dsp:cNvSpPr/>
      </dsp:nvSpPr>
      <dsp:spPr>
        <a:xfrm>
          <a:off x="1663236"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b="1" kern="1200"/>
            <a:t>Leverages Existing Capabilities</a:t>
          </a:r>
        </a:p>
        <a:p>
          <a:pPr marL="171450" lvl="1" indent="-171450" algn="ctr" defTabSz="711200">
            <a:lnSpc>
              <a:spcPct val="90000"/>
            </a:lnSpc>
            <a:spcBef>
              <a:spcPct val="0"/>
            </a:spcBef>
            <a:spcAft>
              <a:spcPct val="15000"/>
            </a:spcAft>
            <a:buChar char="•"/>
          </a:pPr>
          <a:r>
            <a:rPr lang="en-US" sz="16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kern="1200"/>
        </a:p>
      </dsp:txBody>
      <dsp:txXfrm>
        <a:off x="1663236" y="402"/>
        <a:ext cx="4111371" cy="2466822"/>
      </dsp:txXfrm>
    </dsp:sp>
    <dsp:sp modelId="{D27E1064-114D-49EC-BEBD-6FCB94E725A0}">
      <dsp:nvSpPr>
        <dsp:cNvPr id="0" name=""/>
        <dsp:cNvSpPr/>
      </dsp:nvSpPr>
      <dsp:spPr>
        <a:xfrm>
          <a:off x="6185745"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Expands Into New Markets</a:t>
          </a:r>
          <a:endParaRPr lang="en-US" sz="2000" b="1" kern="1200"/>
        </a:p>
        <a:p>
          <a:pPr marL="228600" lvl="1" indent="-228600" algn="ctr" defTabSz="889000">
            <a:lnSpc>
              <a:spcPct val="90000"/>
            </a:lnSpc>
            <a:spcBef>
              <a:spcPct val="0"/>
            </a:spcBef>
            <a:spcAft>
              <a:spcPct val="15000"/>
            </a:spcAft>
            <a:buChar char="•"/>
          </a:pPr>
          <a:endParaRPr lang="en-US" sz="2000" kern="1200"/>
        </a:p>
      </dsp:txBody>
      <dsp:txXfrm>
        <a:off x="6185745" y="402"/>
        <a:ext cx="4111371" cy="2466822"/>
      </dsp:txXfrm>
    </dsp:sp>
    <dsp:sp modelId="{D0DF015F-7FF4-4ABA-A386-73E48B97A52D}">
      <dsp:nvSpPr>
        <dsp:cNvPr id="0" name=""/>
        <dsp:cNvSpPr/>
      </dsp:nvSpPr>
      <dsp:spPr>
        <a:xfrm>
          <a:off x="1663236"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Scales Growth In Existing Relationships</a:t>
          </a:r>
        </a:p>
        <a:p>
          <a:pPr marL="228600" lvl="1" indent="-228600" algn="ctr" defTabSz="889000">
            <a:lnSpc>
              <a:spcPct val="90000"/>
            </a:lnSpc>
            <a:spcBef>
              <a:spcPct val="0"/>
            </a:spcBef>
            <a:spcAft>
              <a:spcPct val="15000"/>
            </a:spcAft>
            <a:buChar char="•"/>
          </a:pPr>
          <a:endParaRPr lang="en-US" sz="2000" kern="1200"/>
        </a:p>
      </dsp:txBody>
      <dsp:txXfrm>
        <a:off x="1663236" y="2878362"/>
        <a:ext cx="4111371" cy="2466822"/>
      </dsp:txXfrm>
    </dsp:sp>
    <dsp:sp modelId="{75DA17C1-641B-4EFD-9B48-316CF74F3B0D}">
      <dsp:nvSpPr>
        <dsp:cNvPr id="0" name=""/>
        <dsp:cNvSpPr/>
      </dsp:nvSpPr>
      <dsp:spPr>
        <a:xfrm>
          <a:off x="6185745"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Creates Resilient Revenue </a:t>
          </a:r>
        </a:p>
        <a:p>
          <a:pPr marL="228600" lvl="1" indent="-228600" algn="ctr" defTabSz="1066800">
            <a:lnSpc>
              <a:spcPct val="90000"/>
            </a:lnSpc>
            <a:spcBef>
              <a:spcPct val="0"/>
            </a:spcBef>
            <a:spcAft>
              <a:spcPct val="15000"/>
            </a:spcAft>
            <a:buChar char="•"/>
          </a:pPr>
          <a:endParaRPr lang="en-US" sz="2400" kern="1200"/>
        </a:p>
      </dsp:txBody>
      <dsp:txXfrm>
        <a:off x="6185745" y="2878362"/>
        <a:ext cx="4111371" cy="2466822"/>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FC99AD-2BA8-48C6-9819-DC36FF7DCAD0}">
      <dsp:nvSpPr>
        <dsp:cNvPr id="0" name=""/>
        <dsp:cNvSpPr/>
      </dsp:nvSpPr>
      <dsp:spPr>
        <a:xfrm>
          <a:off x="9041742"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E9DA51D-772A-44B0-AD7D-D71601FDE07D}">
      <dsp:nvSpPr>
        <dsp:cNvPr id="0" name=""/>
        <dsp:cNvSpPr/>
      </dsp:nvSpPr>
      <dsp:spPr>
        <a:xfrm>
          <a:off x="8277458"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113BFF0-3856-485B-A4A8-E2645871275F}">
      <dsp:nvSpPr>
        <dsp:cNvPr id="0" name=""/>
        <dsp:cNvSpPr/>
      </dsp:nvSpPr>
      <dsp:spPr>
        <a:xfrm>
          <a:off x="5220323" y="1692641"/>
          <a:ext cx="3821418" cy="363729"/>
        </a:xfrm>
        <a:custGeom>
          <a:avLst/>
          <a:gdLst/>
          <a:ahLst/>
          <a:cxnLst/>
          <a:rect l="0" t="0" r="0" b="0"/>
          <a:pathLst>
            <a:path>
              <a:moveTo>
                <a:pt x="0" y="0"/>
              </a:moveTo>
              <a:lnTo>
                <a:pt x="0" y="247871"/>
              </a:lnTo>
              <a:lnTo>
                <a:pt x="3821418" y="247871"/>
              </a:lnTo>
              <a:lnTo>
                <a:pt x="3821418"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F847DB8-DFD3-47E7-B8A5-8C666BF5466B}">
      <dsp:nvSpPr>
        <dsp:cNvPr id="0" name=""/>
        <dsp:cNvSpPr/>
      </dsp:nvSpPr>
      <dsp:spPr>
        <a:xfrm>
          <a:off x="5220323" y="2850531"/>
          <a:ext cx="1528567" cy="363729"/>
        </a:xfrm>
        <a:custGeom>
          <a:avLst/>
          <a:gdLst/>
          <a:ahLst/>
          <a:cxnLst/>
          <a:rect l="0" t="0" r="0" b="0"/>
          <a:pathLst>
            <a:path>
              <a:moveTo>
                <a:pt x="0" y="0"/>
              </a:moveTo>
              <a:lnTo>
                <a:pt x="0" y="247871"/>
              </a:lnTo>
              <a:lnTo>
                <a:pt x="1528567" y="247871"/>
              </a:lnTo>
              <a:lnTo>
                <a:pt x="1528567"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0DB35CD-D4D4-47CA-967D-3A952C83EEAE}">
      <dsp:nvSpPr>
        <dsp:cNvPr id="0" name=""/>
        <dsp:cNvSpPr/>
      </dsp:nvSpPr>
      <dsp:spPr>
        <a:xfrm>
          <a:off x="5174603" y="2850531"/>
          <a:ext cx="91440" cy="363729"/>
        </a:xfrm>
        <a:custGeom>
          <a:avLst/>
          <a:gdLst/>
          <a:ahLst/>
          <a:cxnLst/>
          <a:rect l="0" t="0" r="0" b="0"/>
          <a:pathLst>
            <a:path>
              <a:moveTo>
                <a:pt x="45720" y="0"/>
              </a:moveTo>
              <a:lnTo>
                <a:pt x="4572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9C8F1FE-FB64-4228-BF5C-582E5A979261}">
      <dsp:nvSpPr>
        <dsp:cNvPr id="0" name=""/>
        <dsp:cNvSpPr/>
      </dsp:nvSpPr>
      <dsp:spPr>
        <a:xfrm>
          <a:off x="3691756" y="2850531"/>
          <a:ext cx="1528567" cy="363729"/>
        </a:xfrm>
        <a:custGeom>
          <a:avLst/>
          <a:gdLst/>
          <a:ahLst/>
          <a:cxnLst/>
          <a:rect l="0" t="0" r="0" b="0"/>
          <a:pathLst>
            <a:path>
              <a:moveTo>
                <a:pt x="1528567" y="0"/>
              </a:moveTo>
              <a:lnTo>
                <a:pt x="1528567"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D0DB610-D48E-44F8-92E8-9E8333A7DFA4}">
      <dsp:nvSpPr>
        <dsp:cNvPr id="0" name=""/>
        <dsp:cNvSpPr/>
      </dsp:nvSpPr>
      <dsp:spPr>
        <a:xfrm>
          <a:off x="5174603" y="1692641"/>
          <a:ext cx="91440" cy="363729"/>
        </a:xfrm>
        <a:custGeom>
          <a:avLst/>
          <a:gdLst/>
          <a:ahLst/>
          <a:cxnLst/>
          <a:rect l="0" t="0" r="0" b="0"/>
          <a:pathLst>
            <a:path>
              <a:moveTo>
                <a:pt x="45720" y="0"/>
              </a:moveTo>
              <a:lnTo>
                <a:pt x="4572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EECFDB3-E735-4D21-BF6C-A3BC234599A1}">
      <dsp:nvSpPr>
        <dsp:cNvPr id="0" name=""/>
        <dsp:cNvSpPr/>
      </dsp:nvSpPr>
      <dsp:spPr>
        <a:xfrm>
          <a:off x="1398905"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873CF8F-2372-49F3-9DE9-91DBE3412F46}">
      <dsp:nvSpPr>
        <dsp:cNvPr id="0" name=""/>
        <dsp:cNvSpPr/>
      </dsp:nvSpPr>
      <dsp:spPr>
        <a:xfrm>
          <a:off x="634621"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0275DF9-4862-4349-857A-D238C0F08817}">
      <dsp:nvSpPr>
        <dsp:cNvPr id="0" name=""/>
        <dsp:cNvSpPr/>
      </dsp:nvSpPr>
      <dsp:spPr>
        <a:xfrm>
          <a:off x="1398905" y="1692641"/>
          <a:ext cx="3821418" cy="363729"/>
        </a:xfrm>
        <a:custGeom>
          <a:avLst/>
          <a:gdLst/>
          <a:ahLst/>
          <a:cxnLst/>
          <a:rect l="0" t="0" r="0" b="0"/>
          <a:pathLst>
            <a:path>
              <a:moveTo>
                <a:pt x="3821418" y="0"/>
              </a:moveTo>
              <a:lnTo>
                <a:pt x="3821418" y="247871"/>
              </a:lnTo>
              <a:lnTo>
                <a:pt x="0" y="247871"/>
              </a:lnTo>
              <a:lnTo>
                <a:pt x="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41F23F8-BC01-4CFE-8097-DB5D4D90AAAB}">
      <dsp:nvSpPr>
        <dsp:cNvPr id="0" name=""/>
        <dsp:cNvSpPr/>
      </dsp:nvSpPr>
      <dsp:spPr>
        <a:xfrm>
          <a:off x="4595000" y="89848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CDAFB-9D99-4665-ADBB-63466E903D4A}">
      <dsp:nvSpPr>
        <dsp:cNvPr id="0" name=""/>
        <dsp:cNvSpPr/>
      </dsp:nvSpPr>
      <dsp:spPr>
        <a:xfrm>
          <a:off x="4733961" y="103049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Project Scope</a:t>
          </a:r>
        </a:p>
      </dsp:txBody>
      <dsp:txXfrm>
        <a:off x="4757221" y="1053753"/>
        <a:ext cx="1204126" cy="747640"/>
      </dsp:txXfrm>
    </dsp:sp>
    <dsp:sp modelId="{5FCE555D-A897-49E0-9130-57C9A9EE8917}">
      <dsp:nvSpPr>
        <dsp:cNvPr id="0" name=""/>
        <dsp:cNvSpPr/>
      </dsp:nvSpPr>
      <dsp:spPr>
        <a:xfrm>
          <a:off x="773582"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AE95F25-5232-4E91-9E0E-86CE995ED199}">
      <dsp:nvSpPr>
        <dsp:cNvPr id="0" name=""/>
        <dsp:cNvSpPr/>
      </dsp:nvSpPr>
      <dsp:spPr>
        <a:xfrm>
          <a:off x="912542"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Complexity</a:t>
          </a:r>
        </a:p>
      </dsp:txBody>
      <dsp:txXfrm>
        <a:off x="935802" y="2211643"/>
        <a:ext cx="1204126" cy="747640"/>
      </dsp:txXfrm>
    </dsp:sp>
    <dsp:sp modelId="{DF7F889C-1D0C-44F1-92B7-C3EA5F1AC971}">
      <dsp:nvSpPr>
        <dsp:cNvPr id="0" name=""/>
        <dsp:cNvSpPr/>
      </dsp:nvSpPr>
      <dsp:spPr>
        <a:xfrm>
          <a:off x="929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05C32C6-40C4-42F5-8ED8-9D9B6FC27188}">
      <dsp:nvSpPr>
        <dsp:cNvPr id="0" name=""/>
        <dsp:cNvSpPr/>
      </dsp:nvSpPr>
      <dsp:spPr>
        <a:xfrm>
          <a:off x="148259"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Assume no new invention of technology </a:t>
          </a:r>
        </a:p>
      </dsp:txBody>
      <dsp:txXfrm>
        <a:off x="171519" y="3369533"/>
        <a:ext cx="1204126" cy="747640"/>
      </dsp:txXfrm>
    </dsp:sp>
    <dsp:sp modelId="{C1EED29D-7FA2-47A7-8FC3-95047349D2F8}">
      <dsp:nvSpPr>
        <dsp:cNvPr id="0" name=""/>
        <dsp:cNvSpPr/>
      </dsp:nvSpPr>
      <dsp:spPr>
        <a:xfrm>
          <a:off x="153786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F26E56F-52F5-4277-BF18-8C496767EA5A}">
      <dsp:nvSpPr>
        <dsp:cNvPr id="0" name=""/>
        <dsp:cNvSpPr/>
      </dsp:nvSpPr>
      <dsp:spPr>
        <a:xfrm>
          <a:off x="167682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Leverage existing APTIM capabilities </a:t>
          </a:r>
        </a:p>
      </dsp:txBody>
      <dsp:txXfrm>
        <a:off x="1700086" y="3369533"/>
        <a:ext cx="1204126" cy="747640"/>
      </dsp:txXfrm>
    </dsp:sp>
    <dsp:sp modelId="{74C58B10-E5C6-43D3-AEAD-BAB9F36929F7}">
      <dsp:nvSpPr>
        <dsp:cNvPr id="0" name=""/>
        <dsp:cNvSpPr/>
      </dsp:nvSpPr>
      <dsp:spPr>
        <a:xfrm>
          <a:off x="4595000"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0E54C41-9B69-4F78-A7A0-25D602210C4E}">
      <dsp:nvSpPr>
        <dsp:cNvPr id="0" name=""/>
        <dsp:cNvSpPr/>
      </dsp:nvSpPr>
      <dsp:spPr>
        <a:xfrm>
          <a:off x="4733961"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Focus</a:t>
          </a:r>
        </a:p>
      </dsp:txBody>
      <dsp:txXfrm>
        <a:off x="4757221" y="2211643"/>
        <a:ext cx="1204126" cy="747640"/>
      </dsp:txXfrm>
    </dsp:sp>
    <dsp:sp modelId="{C38DE57C-065B-40B2-BEBD-556290799360}">
      <dsp:nvSpPr>
        <dsp:cNvPr id="0" name=""/>
        <dsp:cNvSpPr/>
      </dsp:nvSpPr>
      <dsp:spPr>
        <a:xfrm>
          <a:off x="3066433"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1BB4F7B-E13B-4DFE-B15D-7DED4959F594}">
      <dsp:nvSpPr>
        <dsp:cNvPr id="0" name=""/>
        <dsp:cNvSpPr/>
      </dsp:nvSpPr>
      <dsp:spPr>
        <a:xfrm>
          <a:off x="320539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Utility</a:t>
          </a:r>
        </a:p>
      </dsp:txBody>
      <dsp:txXfrm>
        <a:off x="3228653" y="3369533"/>
        <a:ext cx="1204126" cy="747640"/>
      </dsp:txXfrm>
    </dsp:sp>
    <dsp:sp modelId="{7B2F6CF9-9255-49A1-8E44-6AD561BC6432}">
      <dsp:nvSpPr>
        <dsp:cNvPr id="0" name=""/>
        <dsp:cNvSpPr/>
      </dsp:nvSpPr>
      <dsp:spPr>
        <a:xfrm>
          <a:off x="4595000"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9927BCA-4CF8-44DE-9F8A-BB4AB6050C8E}">
      <dsp:nvSpPr>
        <dsp:cNvPr id="0" name=""/>
        <dsp:cNvSpPr/>
      </dsp:nvSpPr>
      <dsp:spPr>
        <a:xfrm>
          <a:off x="4733961"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Customer</a:t>
          </a:r>
        </a:p>
      </dsp:txBody>
      <dsp:txXfrm>
        <a:off x="4757221" y="3369533"/>
        <a:ext cx="1204126" cy="747640"/>
      </dsp:txXfrm>
    </dsp:sp>
    <dsp:sp modelId="{3351E779-F6C9-46C2-99D4-4EED2259D109}">
      <dsp:nvSpPr>
        <dsp:cNvPr id="0" name=""/>
        <dsp:cNvSpPr/>
      </dsp:nvSpPr>
      <dsp:spPr>
        <a:xfrm>
          <a:off x="612356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C8D6570-F4A1-424C-B484-E260E47E5F6E}">
      <dsp:nvSpPr>
        <dsp:cNvPr id="0" name=""/>
        <dsp:cNvSpPr/>
      </dsp:nvSpPr>
      <dsp:spPr>
        <a:xfrm>
          <a:off x="6262528"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County/City/State</a:t>
          </a:r>
        </a:p>
      </dsp:txBody>
      <dsp:txXfrm>
        <a:off x="6285788" y="3369533"/>
        <a:ext cx="1204126" cy="747640"/>
      </dsp:txXfrm>
    </dsp:sp>
    <dsp:sp modelId="{90DE277B-6820-45E8-ABC1-436200024406}">
      <dsp:nvSpPr>
        <dsp:cNvPr id="0" name=""/>
        <dsp:cNvSpPr/>
      </dsp:nvSpPr>
      <dsp:spPr>
        <a:xfrm>
          <a:off x="8416419"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A96700A-3EAB-49D1-B0E5-DFF233E1E67E}">
      <dsp:nvSpPr>
        <dsp:cNvPr id="0" name=""/>
        <dsp:cNvSpPr/>
      </dsp:nvSpPr>
      <dsp:spPr>
        <a:xfrm>
          <a:off x="8555379"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Scaling</a:t>
          </a:r>
        </a:p>
      </dsp:txBody>
      <dsp:txXfrm>
        <a:off x="8578639" y="2211643"/>
        <a:ext cx="1204126" cy="747640"/>
      </dsp:txXfrm>
    </dsp:sp>
    <dsp:sp modelId="{35EE64AD-1C4D-4923-9C3A-F5855164B8E3}">
      <dsp:nvSpPr>
        <dsp:cNvPr id="0" name=""/>
        <dsp:cNvSpPr/>
      </dsp:nvSpPr>
      <dsp:spPr>
        <a:xfrm>
          <a:off x="765213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D463962-C8DA-4EEB-962F-4FFE8591FAF3}">
      <dsp:nvSpPr>
        <dsp:cNvPr id="0" name=""/>
        <dsp:cNvSpPr/>
      </dsp:nvSpPr>
      <dsp:spPr>
        <a:xfrm>
          <a:off x="779109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Achievable in 1-3 years</a:t>
          </a:r>
        </a:p>
      </dsp:txBody>
      <dsp:txXfrm>
        <a:off x="7814356" y="3369533"/>
        <a:ext cx="1204126" cy="747640"/>
      </dsp:txXfrm>
    </dsp:sp>
    <dsp:sp modelId="{DBA76714-5C33-4AA1-8515-FA044AD90317}">
      <dsp:nvSpPr>
        <dsp:cNvPr id="0" name=""/>
        <dsp:cNvSpPr/>
      </dsp:nvSpPr>
      <dsp:spPr>
        <a:xfrm>
          <a:off x="9180702"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4791A95-20EC-42C2-99C0-941E9EDBE678}">
      <dsp:nvSpPr>
        <dsp:cNvPr id="0" name=""/>
        <dsp:cNvSpPr/>
      </dsp:nvSpPr>
      <dsp:spPr>
        <a:xfrm>
          <a:off x="931966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Accounts for market shifts</a:t>
          </a:r>
        </a:p>
      </dsp:txBody>
      <dsp:txXfrm>
        <a:off x="9342923" y="3369533"/>
        <a:ext cx="1204126" cy="74764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F27E1B-455B-4D7E-AD7B-40CBDA5C618A}">
      <dsp:nvSpPr>
        <dsp:cNvPr id="0" name=""/>
        <dsp:cNvSpPr/>
      </dsp:nvSpPr>
      <dsp:spPr>
        <a:xfrm rot="16200000">
          <a:off x="921020" y="-921020"/>
          <a:ext cx="2634835" cy="4476877"/>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endParaRPr lang="en-US" sz="1800" b="1" kern="1200"/>
        </a:p>
        <a:p>
          <a:pPr marL="0" lvl="0" indent="0" algn="l" defTabSz="800100">
            <a:lnSpc>
              <a:spcPct val="90000"/>
            </a:lnSpc>
            <a:spcBef>
              <a:spcPct val="0"/>
            </a:spcBef>
            <a:spcAft>
              <a:spcPct val="35000"/>
            </a:spcAft>
            <a:buNone/>
          </a:pPr>
          <a:r>
            <a:rPr lang="en-US" sz="1800" b="1" kern="1200"/>
            <a:t>Leverages Existing Capabilities</a:t>
          </a:r>
        </a:p>
        <a:p>
          <a:pPr marL="0" lvl="0" indent="0" algn="l" defTabSz="800100">
            <a:lnSpc>
              <a:spcPct val="90000"/>
            </a:lnSpc>
            <a:spcBef>
              <a:spcPct val="0"/>
            </a:spcBef>
            <a:spcAft>
              <a:spcPct val="35000"/>
            </a:spcAft>
            <a:buFont typeface="Arial" panose="020B0604020202020204" pitchFamily="34" charset="0"/>
            <a:buNone/>
          </a:pPr>
          <a:r>
            <a:rPr lang="en-US" sz="1800" b="0" i="0" kern="1200"/>
            <a:t>- Existing utility expertise </a:t>
          </a:r>
        </a:p>
        <a:p>
          <a:pPr marL="0" lvl="0" indent="0" algn="l" defTabSz="800100">
            <a:lnSpc>
              <a:spcPct val="90000"/>
            </a:lnSpc>
            <a:spcBef>
              <a:spcPct val="0"/>
            </a:spcBef>
            <a:spcAft>
              <a:spcPct val="35000"/>
            </a:spcAft>
            <a:buNone/>
          </a:pPr>
          <a:r>
            <a:rPr lang="en-US" sz="1800" b="0" i="0" kern="1200"/>
            <a:t>- Established contractor network </a:t>
          </a:r>
        </a:p>
        <a:p>
          <a:pPr marL="0" lvl="0" indent="0" algn="l" defTabSz="800100">
            <a:lnSpc>
              <a:spcPct val="90000"/>
            </a:lnSpc>
            <a:spcBef>
              <a:spcPct val="0"/>
            </a:spcBef>
            <a:spcAft>
              <a:spcPct val="35000"/>
            </a:spcAft>
            <a:buNone/>
          </a:pPr>
          <a:r>
            <a:rPr lang="en-US" sz="1800" b="0" i="0" kern="1200"/>
            <a:t>- Proven customer engagement </a:t>
          </a:r>
        </a:p>
        <a:p>
          <a:pPr marL="0" lvl="0" indent="0" algn="l" defTabSz="800100">
            <a:lnSpc>
              <a:spcPct val="90000"/>
            </a:lnSpc>
            <a:spcBef>
              <a:spcPct val="0"/>
            </a:spcBef>
            <a:spcAft>
              <a:spcPct val="35000"/>
            </a:spcAft>
            <a:buNone/>
          </a:pPr>
          <a:r>
            <a:rPr lang="en-US" sz="1800" b="0" i="0" kern="1200"/>
            <a:t>- Minimal new infrastructure</a:t>
          </a:r>
        </a:p>
      </dsp:txBody>
      <dsp:txXfrm rot="5400000">
        <a:off x="0" y="0"/>
        <a:ext cx="4476877" cy="1976126"/>
      </dsp:txXfrm>
    </dsp:sp>
    <dsp:sp modelId="{C1A07BBF-19DB-47F4-9F21-3C0561070890}">
      <dsp:nvSpPr>
        <dsp:cNvPr id="0" name=""/>
        <dsp:cNvSpPr/>
      </dsp:nvSpPr>
      <dsp:spPr>
        <a:xfrm>
          <a:off x="4476877" y="0"/>
          <a:ext cx="4476877" cy="2634835"/>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r" defTabSz="666750">
            <a:lnSpc>
              <a:spcPct val="90000"/>
            </a:lnSpc>
            <a:spcBef>
              <a:spcPct val="0"/>
            </a:spcBef>
            <a:spcAft>
              <a:spcPct val="35000"/>
            </a:spcAft>
            <a:buNone/>
          </a:pPr>
          <a:endParaRPr lang="en-US" sz="1500" b="1" kern="1200"/>
        </a:p>
        <a:p>
          <a:pPr marL="0" lvl="0" indent="0" algn="r" defTabSz="666750">
            <a:lnSpc>
              <a:spcPct val="90000"/>
            </a:lnSpc>
            <a:spcBef>
              <a:spcPct val="0"/>
            </a:spcBef>
            <a:spcAft>
              <a:spcPct val="35000"/>
            </a:spcAft>
            <a:buNone/>
          </a:pPr>
          <a:r>
            <a:rPr lang="en-US" sz="1800" b="1" kern="1200"/>
            <a:t>Expands Into New Markets</a:t>
          </a:r>
        </a:p>
        <a:p>
          <a:pPr marL="0" lvl="0" indent="0" algn="r" defTabSz="666750">
            <a:lnSpc>
              <a:spcPct val="90000"/>
            </a:lnSpc>
            <a:spcBef>
              <a:spcPct val="0"/>
            </a:spcBef>
            <a:spcAft>
              <a:spcPct val="35000"/>
            </a:spcAft>
            <a:buNone/>
          </a:pPr>
          <a:r>
            <a:rPr lang="en-US" sz="1400" kern="1200"/>
            <a:t>There is little direct competition providing end-to-end administration of utility-owned residential battery fleets. This positions APTIM to establish a differentiated offering within the growing demand response and distributed energy resources market.</a:t>
          </a:r>
        </a:p>
      </dsp:txBody>
      <dsp:txXfrm>
        <a:off x="4476877" y="0"/>
        <a:ext cx="4476877" cy="1976126"/>
      </dsp:txXfrm>
    </dsp:sp>
    <dsp:sp modelId="{112ECAE4-7AC8-4FA3-8B8F-551C4FD20EFF}">
      <dsp:nvSpPr>
        <dsp:cNvPr id="0" name=""/>
        <dsp:cNvSpPr/>
      </dsp:nvSpPr>
      <dsp:spPr>
        <a:xfrm rot="10800000">
          <a:off x="0" y="2634835"/>
          <a:ext cx="4476877" cy="2634835"/>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r>
            <a:rPr lang="en-US" sz="1800" b="1" kern="1200"/>
            <a:t>Scales Through Existing Relationships </a:t>
          </a:r>
        </a:p>
        <a:p>
          <a:pPr marL="0" lvl="0" indent="0" algn="l" defTabSz="800100">
            <a:lnSpc>
              <a:spcPct val="90000"/>
            </a:lnSpc>
            <a:spcBef>
              <a:spcPct val="0"/>
            </a:spcBef>
            <a:spcAft>
              <a:spcPct val="35000"/>
            </a:spcAft>
            <a:buNone/>
          </a:pPr>
          <a:r>
            <a:rPr lang="en-US" sz="1400" kern="12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sp:txBody>
      <dsp:txXfrm rot="10800000">
        <a:off x="0" y="3293544"/>
        <a:ext cx="4476877" cy="1976126"/>
      </dsp:txXfrm>
    </dsp:sp>
    <dsp:sp modelId="{F0217417-7472-463C-831C-1C5DF6C2E09B}">
      <dsp:nvSpPr>
        <dsp:cNvPr id="0" name=""/>
        <dsp:cNvSpPr/>
      </dsp:nvSpPr>
      <dsp:spPr>
        <a:xfrm rot="5400000">
          <a:off x="5397897" y="1713814"/>
          <a:ext cx="2634835" cy="4476877"/>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r" defTabSz="800100">
            <a:lnSpc>
              <a:spcPct val="90000"/>
            </a:lnSpc>
            <a:spcBef>
              <a:spcPct val="0"/>
            </a:spcBef>
            <a:spcAft>
              <a:spcPct val="35000"/>
            </a:spcAft>
            <a:buNone/>
          </a:pPr>
          <a:r>
            <a:rPr lang="en-US" sz="1800" b="1" kern="1200"/>
            <a:t>Creates Resilient Revenue Streams</a:t>
          </a:r>
        </a:p>
        <a:p>
          <a:pPr marL="0" lvl="0" indent="0" algn="r" defTabSz="800100">
            <a:lnSpc>
              <a:spcPct val="90000"/>
            </a:lnSpc>
            <a:spcBef>
              <a:spcPct val="0"/>
            </a:spcBef>
            <a:spcAft>
              <a:spcPct val="35000"/>
            </a:spcAft>
            <a:buNone/>
          </a:pPr>
          <a:r>
            <a:rPr lang="en-US" sz="1400" kern="1200"/>
            <a:t>This program shifts funding away from grants and incentives toward utility infrastructure investments. Reducing reliance on uncertain federal funding creates a more stable revenue source while supporting grid resilience goals.</a:t>
          </a:r>
        </a:p>
        <a:p>
          <a:pPr marL="0" lvl="0" indent="0" algn="r" defTabSz="800100">
            <a:lnSpc>
              <a:spcPct val="90000"/>
            </a:lnSpc>
            <a:spcBef>
              <a:spcPct val="0"/>
            </a:spcBef>
            <a:spcAft>
              <a:spcPct val="35000"/>
            </a:spcAft>
            <a:buNone/>
          </a:pPr>
          <a:endParaRPr lang="en-US" sz="1400" kern="1200"/>
        </a:p>
      </dsp:txBody>
      <dsp:txXfrm rot="-5400000">
        <a:off x="4476877" y="3293544"/>
        <a:ext cx="4476877" cy="1976126"/>
      </dsp:txXfrm>
    </dsp:sp>
    <dsp:sp modelId="{5C165AFF-2126-4842-86A3-BA0B41072E73}">
      <dsp:nvSpPr>
        <dsp:cNvPr id="0" name=""/>
        <dsp:cNvSpPr/>
      </dsp:nvSpPr>
      <dsp:spPr>
        <a:xfrm>
          <a:off x="3133813" y="1976126"/>
          <a:ext cx="2686126" cy="1317417"/>
        </a:xfrm>
        <a:prstGeom prst="roundRect">
          <a:avLst/>
        </a:prstGeom>
        <a:solidFill>
          <a:schemeClr val="accent1">
            <a:lumMod val="10000"/>
            <a:lumOff val="9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5740" tIns="205740" rIns="205740" bIns="205740" numCol="1" spcCol="1270" anchor="ctr" anchorCtr="0">
          <a:noAutofit/>
        </a:bodyPr>
        <a:lstStyle/>
        <a:p>
          <a:pPr marL="0" lvl="0" indent="0" algn="ctr" defTabSz="2400300">
            <a:lnSpc>
              <a:spcPct val="90000"/>
            </a:lnSpc>
            <a:spcBef>
              <a:spcPct val="0"/>
            </a:spcBef>
            <a:spcAft>
              <a:spcPct val="35000"/>
            </a:spcAft>
            <a:buNone/>
          </a:pPr>
          <a:r>
            <a:rPr lang="en-US" sz="5400" kern="1200"/>
            <a:t>   </a:t>
          </a:r>
        </a:p>
      </dsp:txBody>
      <dsp:txXfrm>
        <a:off x="3198124" y="2040437"/>
        <a:ext cx="2557504" cy="1188795"/>
      </dsp:txXfrm>
    </dsp:sp>
  </dsp:spTree>
</dsp:drawing>
</file>

<file path=ppt/diagrams/layout1.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arrow2">
  <dgm:title val=""/>
  <dgm:desc val=""/>
  <dgm:catLst>
    <dgm:cat type="process" pri="2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arrowDiagram">
    <dgm:varLst>
      <dgm:chMax val="5"/>
      <dgm:dir/>
      <dgm:resizeHandles val="exact"/>
    </dgm:varLst>
    <dgm:alg type="composite">
      <dgm:param type="ar" val="1.6"/>
    </dgm:alg>
    <dgm:shape xmlns:r="http://schemas.openxmlformats.org/officeDocument/2006/relationships" r:blip="">
      <dgm:adjLst/>
    </dgm:shape>
    <dgm:presOf/>
    <dgm:constrLst>
      <dgm:constr type="l" for="ch" forName="arrow"/>
      <dgm:constr type="t" for="ch" forName="arrow"/>
      <dgm:constr type="w" for="ch" forName="arrow" refType="w"/>
      <dgm:constr type="h" for="ch" forName="arrow" refType="h"/>
      <dgm:constr type="ctrX" for="ch" forName="arrowDiagram1" refType="w" fact="0.5"/>
      <dgm:constr type="ctrY" for="ch" forName="arrowDiagram1" refType="h" fact="0.5"/>
      <dgm:constr type="w" for="ch" forName="arrowDiagram1" refType="w"/>
      <dgm:constr type="h" for="ch" forName="arrowDiagram1" refType="h"/>
      <dgm:constr type="ctrX" for="ch" forName="arrowDiagram2" refType="w" fact="0.5"/>
      <dgm:constr type="ctrY" for="ch" forName="arrowDiagram2" refType="h" fact="0.5"/>
      <dgm:constr type="w" for="ch" forName="arrowDiagram2" refType="w"/>
      <dgm:constr type="h" for="ch" forName="arrowDiagram2" refType="h"/>
      <dgm:constr type="ctrX" for="ch" forName="arrowDiagram3" refType="w" fact="0.5"/>
      <dgm:constr type="ctrY" for="ch" forName="arrowDiagram3" refType="h" fact="0.5"/>
      <dgm:constr type="w" for="ch" forName="arrowDiagram3" refType="w"/>
      <dgm:constr type="h" for="ch" forName="arrowDiagram3" refType="h"/>
      <dgm:constr type="ctrX" for="ch" forName="arrowDiagram4" refType="w" fact="0.5"/>
      <dgm:constr type="ctrY" for="ch" forName="arrowDiagram4" refType="h" fact="0.5"/>
      <dgm:constr type="w" for="ch" forName="arrowDiagram4" refType="w"/>
      <dgm:constr type="h" for="ch" forName="arrowDiagram4" refType="h"/>
      <dgm:constr type="ctrX" for="ch" forName="arrowDiagram5" refType="w" fact="0.5"/>
      <dgm:constr type="ctrY" for="ch" forName="arrowDiagram5" refType="h" fact="0.5"/>
      <dgm:constr type="w" for="ch" forName="arrowDiagram5" refType="w"/>
      <dgm:constr type="h" for="ch" forName="arrowDiagram5" refType="h"/>
    </dgm:constrLst>
    <dgm:ruleLst/>
    <dgm:choose name="Name0">
      <dgm:if name="Name1" axis="ch" ptType="node" func="cnt" op="gte" val="1">
        <dgm:layoutNode name="arrow" styleLbl="bgShp">
          <dgm:alg type="sp"/>
          <dgm:shape xmlns:r="http://schemas.openxmlformats.org/officeDocument/2006/relationships" type="swooshArrow" r:blip="">
            <dgm:adjLst>
              <dgm:adj idx="2" val="0.25"/>
            </dgm:adjLst>
          </dgm:shape>
          <dgm:presOf/>
          <dgm:constrLst/>
          <dgm:ruleLst/>
        </dgm:layoutNode>
        <dgm:choose name="Name2">
          <dgm:if name="Name3" axis="ch" ptType="node" func="cnt" op="lt" val="1"/>
          <dgm:if name="Name4" axis="ch" ptType="node" func="cnt" op="equ" val="1">
            <dgm:layoutNode name="arrowDiagram1">
              <dgm:varLst>
                <dgm:bulletEnabled val="1"/>
              </dgm:varLst>
              <dgm:alg type="composite">
                <dgm:param type="vertAlign" val="none"/>
                <dgm:param type="horzAlign" val="none"/>
              </dgm:alg>
              <dgm:shape xmlns:r="http://schemas.openxmlformats.org/officeDocument/2006/relationships" r:blip="">
                <dgm:adjLst/>
              </dgm:shape>
              <dgm:presOf/>
              <dgm:constrLst>
                <dgm:constr type="ctrX" for="ch" forName="bullet1" refType="w" fact="0.8"/>
                <dgm:constr type="ctrY" for="ch" forName="bullet1" refType="h" fact="0.262"/>
                <dgm:constr type="w" for="ch" forName="bullet1" refType="w" fact="0.074"/>
                <dgm:constr type="h" for="ch" forName="bullet1" refType="w" refFor="ch" refForName="bullet1"/>
                <dgm:constr type="r" for="ch" forName="textBox1" refType="ctrX" refFor="ch" refForName="bullet1"/>
                <dgm:constr type="t" for="ch" forName="textBox1" refType="ctrY" refFor="ch" refForName="bullet1"/>
                <dgm:constr type="w" for="ch" forName="textBox1" refType="w" fact="0.4"/>
                <dgm:constr type="h" for="ch" forName="textBox1" refType="h" fact="0.738"/>
                <dgm:constr type="userA" refType="h" refFor="ch" refForName="bullet1" fact="0.53"/>
                <dgm:constr type="rMarg" for="ch" forName="textBox1" refType="userA" fact="2.834"/>
                <dgm:constr type="primFontSz" for="ch" ptType="node" op="equ" val="65"/>
              </dgm:constrLst>
              <dgm:ruleLst/>
              <dgm:forEach name="Name5" axis="ch" ptType="node" cnt="1">
                <dgm:layoutNode name="bullet1" styleLbl="node1">
                  <dgm:alg type="sp"/>
                  <dgm:shape xmlns:r="http://schemas.openxmlformats.org/officeDocument/2006/relationships" type="ellipse" r:blip="">
                    <dgm:adjLst/>
                  </dgm:shape>
                  <dgm:presOf/>
                  <dgm:constrLst/>
                  <dgm:ruleLst/>
                </dgm:layoutNode>
                <dgm:layoutNode name="textBox1" styleLbl="revTx">
                  <dgm:varLst>
                    <dgm:bulletEnabled val="1"/>
                  </dgm:varLst>
                  <dgm:alg type="tx">
                    <dgm:param type="txAnchorVert" val="t"/>
                    <dgm:param type="parTxLTRAlign" val="r"/>
                    <dgm:param type="parTxRTLAlign" val="r"/>
                  </dgm:alg>
                  <dgm:shape xmlns:r="http://schemas.openxmlformats.org/officeDocument/2006/relationships" type="round2DiagRect" r:blip="">
                    <dgm:adjLst/>
                  </dgm:shape>
                  <dgm:presOf axis="desOrSelf" ptType="node"/>
                  <dgm:constrLst>
                    <dgm:constr type="lMarg"/>
                    <dgm:constr type="tMarg"/>
                    <dgm:constr type="bMarg"/>
                  </dgm:constrLst>
                  <dgm:ruleLst>
                    <dgm:rule type="primFontSz" val="5" fact="NaN" max="NaN"/>
                  </dgm:ruleLst>
                </dgm:layoutNode>
              </dgm:forEach>
            </dgm:layoutNode>
          </dgm:if>
          <dgm:if name="Name6" axis="ch" ptType="node" func="cnt" op="equ" val="2">
            <dgm:layoutNode name="arrowDiagram2">
              <dgm:alg type="composite">
                <dgm:param type="vertAlign" val="none"/>
                <dgm:param type="horzAlign" val="none"/>
              </dgm:alg>
              <dgm:shape xmlns:r="http://schemas.openxmlformats.org/officeDocument/2006/relationships" r:blip="">
                <dgm:adjLst/>
              </dgm:shape>
              <dgm:presOf/>
              <dgm:choose name="Name7">
                <dgm:if name="Name8" func="var" arg="dir" op="equ" val="norm">
                  <dgm:constrLst>
                    <dgm:constr type="ctrX" for="ch" forName="bullet2a" refType="w" fact="0.25"/>
                    <dgm:constr type="ctrY" for="ch" forName="bullet2a" refType="h" fact="0.573"/>
                    <dgm:constr type="w" for="ch" forName="bullet2a" refType="w" fact="0.035"/>
                    <dgm:constr type="h" for="ch" forName="bullet2a" refType="w" refFor="ch" refForName="bullet2a"/>
                    <dgm:constr type="l" for="ch" forName="textBox2a" refType="ctrX" refFor="ch" refForName="bullet2a"/>
                    <dgm:constr type="t" for="ch" forName="textBox2a" refType="ctrY" refFor="ch" refForName="bullet2a"/>
                    <dgm:constr type="w" for="ch" forName="textBox2a" refType="w" fact="0.325"/>
                    <dgm:constr type="h" for="ch" forName="textBox2a" refType="h" fact="0.427"/>
                    <dgm:constr type="userA" refType="h" refFor="ch" refForName="bullet2a" fact="0.53"/>
                    <dgm:constr type="l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l" for="ch" forName="textBox2b" refType="ctrX" refFor="ch" refForName="bullet2b"/>
                    <dgm:constr type="t" for="ch" forName="textBox2b" refType="ctrY" refFor="ch" refForName="bullet2b"/>
                    <dgm:constr type="w" for="ch" forName="textBox2b" refType="w" fact="0.325"/>
                    <dgm:constr type="h" for="ch" forName="textBox2b" refType="h" fact="0.662"/>
                    <dgm:constr type="userB" refType="h" refFor="ch" refForName="bullet2b" fact="0.53"/>
                    <dgm:constr type="lMarg" for="ch" forName="textBox2b" refType="userB" fact="2.834"/>
                    <dgm:constr type="primFontSz" for="ch" ptType="node" op="equ" val="65"/>
                  </dgm:constrLst>
                </dgm:if>
                <dgm:else name="Name9">
                  <dgm:constrLst>
                    <dgm:constr type="ctrX" for="ch" forName="bullet2a" refType="w" fact="0.25"/>
                    <dgm:constr type="ctrY" for="ch" forName="bullet2a" refType="h" fact="0.573"/>
                    <dgm:constr type="w" for="ch" forName="bullet2a" refType="w" fact="0.035"/>
                    <dgm:constr type="h" for="ch" forName="bullet2a" refType="w" refFor="ch" refForName="bullet2a"/>
                    <dgm:constr type="r" for="ch" forName="textBox2a" refType="ctrX" refFor="ch" refForName="bullet2a"/>
                    <dgm:constr type="b" for="ch" forName="textBox2a" refType="ctrY" refFor="ch" refForName="bullet2a"/>
                    <dgm:constr type="w" for="ch" forName="textBox2a" refType="w" fact="0.25"/>
                    <dgm:constr type="h" for="ch" forName="textBox2a" refType="h" fact="0.573"/>
                    <dgm:constr type="userA" refType="h" refFor="ch" refForName="bullet2a" fact="0.53"/>
                    <dgm:constr type="r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r" for="ch" forName="textBox2b" refType="ctrX" refFor="ch" refForName="bullet2b"/>
                    <dgm:constr type="b" for="ch" forName="textBox2b" refType="ctrY" refFor="ch" refForName="bullet2b"/>
                    <dgm:constr type="w" for="ch" forName="textBox2b" refType="w" fact="0.28"/>
                    <dgm:constr type="h" for="ch" forName="textBox2b" refType="h" fact="0.338"/>
                    <dgm:constr type="userB" refType="h" refFor="ch" refForName="bullet2b" fact="0.53"/>
                    <dgm:constr type="rMarg" for="ch" forName="textBox2b" refType="userB" fact="2.834"/>
                    <dgm:constr type="primFontSz" for="ch" ptType="node" op="equ" val="65"/>
                  </dgm:constrLst>
                </dgm:else>
              </dgm:choose>
              <dgm:ruleLst/>
              <dgm:forEach name="Name10" axis="ch" ptType="node" cnt="1">
                <dgm:layoutNode name="bullet2a" styleLbl="node1">
                  <dgm:alg type="sp"/>
                  <dgm:shape xmlns:r="http://schemas.openxmlformats.org/officeDocument/2006/relationships" type="ellipse" r:blip="">
                    <dgm:adjLst/>
                  </dgm:shape>
                  <dgm:presOf/>
                  <dgm:constrLst/>
                  <dgm:ruleLst/>
                </dgm:layoutNode>
                <dgm:layoutNode name="textBox2a" styleLbl="revTx">
                  <dgm:varLst>
                    <dgm:bulletEnabled val="1"/>
                  </dgm:varLst>
                  <dgm:choose name="Name11">
                    <dgm:if name="Name12" func="var" arg="dir" op="equ" val="norm">
                      <dgm:choose name="Name13">
                        <dgm:if name="Name14" axis="root des" ptType="all node" func="maxDepth" op="gt" val="1">
                          <dgm:alg type="tx">
                            <dgm:param type="txAnchorVert" val="t"/>
                            <dgm:param type="parTxLTRAlign" val="l"/>
                            <dgm:param type="parTxRTLAlign" val="r"/>
                          </dgm:alg>
                        </dgm:if>
                        <dgm:else name="Name15">
                          <dgm:alg type="tx">
                            <dgm:param type="txAnchorVert" val="t"/>
                            <dgm:param type="parTxLTRAlign" val="l"/>
                            <dgm:param type="parTxRTLAlign" val="l"/>
                          </dgm:alg>
                        </dgm:else>
                      </dgm:choose>
                    </dgm:if>
                    <dgm:else name="Name16">
                      <dgm:choose name="Name17">
                        <dgm:if name="Name18" axis="root des" ptType="all node" func="maxDepth" op="gt" val="1">
                          <dgm:alg type="tx">
                            <dgm:param type="txAnchorVert" val="b"/>
                            <dgm:param type="txAnchorVertCh" val="b"/>
                            <dgm:param type="parTxLTRAlign" val="l"/>
                            <dgm:param type="parTxRTLAlign" val="r"/>
                          </dgm:alg>
                        </dgm:if>
                        <dgm:else name="Name1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
                    <dgm:if name="Name21" func="var" arg="dir" op="equ" val="norm">
                      <dgm:constrLst>
                        <dgm:constr type="rMarg"/>
                        <dgm:constr type="tMarg"/>
                        <dgm:constr type="bMarg"/>
                      </dgm:constrLst>
                    </dgm:if>
                    <dgm:else name="Name22">
                      <dgm:constrLst>
                        <dgm:constr type="lMarg"/>
                        <dgm:constr type="tMarg"/>
                        <dgm:constr type="bMarg"/>
                      </dgm:constrLst>
                    </dgm:else>
                  </dgm:choose>
                  <dgm:ruleLst>
                    <dgm:rule type="primFontSz" val="5" fact="NaN" max="NaN"/>
                  </dgm:ruleLst>
                </dgm:layoutNode>
              </dgm:forEach>
              <dgm:forEach name="Name23" axis="ch" ptType="node" st="2" cnt="1">
                <dgm:layoutNode name="bullet2b" styleLbl="node1">
                  <dgm:alg type="sp"/>
                  <dgm:shape xmlns:r="http://schemas.openxmlformats.org/officeDocument/2006/relationships" type="ellipse" r:blip="">
                    <dgm:adjLst/>
                  </dgm:shape>
                  <dgm:presOf/>
                  <dgm:constrLst/>
                  <dgm:ruleLst/>
                </dgm:layoutNode>
                <dgm:layoutNode name="textBox2b" styleLbl="revTx">
                  <dgm:varLst>
                    <dgm:bulletEnabled val="1"/>
                  </dgm:varLst>
                  <dgm:choose name="Name24">
                    <dgm:if name="Name25" func="var" arg="dir" op="equ" val="norm">
                      <dgm:choose name="Name26">
                        <dgm:if name="Name27" axis="root des" ptType="all node" func="maxDepth" op="gt" val="1">
                          <dgm:alg type="tx">
                            <dgm:param type="txAnchorVert" val="t"/>
                            <dgm:param type="parTxLTRAlign" val="l"/>
                            <dgm:param type="parTxRTLAlign" val="r"/>
                          </dgm:alg>
                        </dgm:if>
                        <dgm:else name="Name28">
                          <dgm:alg type="tx">
                            <dgm:param type="txAnchorVert" val="t"/>
                            <dgm:param type="parTxLTRAlign" val="l"/>
                            <dgm:param type="parTxRTLAlign" val="l"/>
                          </dgm:alg>
                        </dgm:else>
                      </dgm:choose>
                    </dgm:if>
                    <dgm:else name="Name29">
                      <dgm:choose name="Name30">
                        <dgm:if name="Name31" axis="root des" ptType="all node" func="maxDepth" op="gt" val="1">
                          <dgm:alg type="tx">
                            <dgm:param type="txAnchorVert" val="b"/>
                            <dgm:param type="txAnchorVertCh" val="b"/>
                            <dgm:param type="parTxLTRAlign" val="l"/>
                            <dgm:param type="parTxRTLAlign" val="r"/>
                          </dgm:alg>
                        </dgm:if>
                        <dgm:else name="Name3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33">
                    <dgm:if name="Name34" func="var" arg="dir" op="equ" val="norm">
                      <dgm:constrLst>
                        <dgm:constr type="rMarg"/>
                        <dgm:constr type="tMarg"/>
                        <dgm:constr type="bMarg"/>
                      </dgm:constrLst>
                    </dgm:if>
                    <dgm:else name="Name35">
                      <dgm:constrLst>
                        <dgm:constr type="lMarg"/>
                        <dgm:constr type="tMarg"/>
                        <dgm:constr type="bMarg"/>
                      </dgm:constrLst>
                    </dgm:else>
                  </dgm:choose>
                  <dgm:ruleLst>
                    <dgm:rule type="primFontSz" val="5" fact="NaN" max="NaN"/>
                  </dgm:ruleLst>
                </dgm:layoutNode>
              </dgm:forEach>
            </dgm:layoutNode>
          </dgm:if>
          <dgm:if name="Name36" axis="ch" ptType="node" func="cnt" op="equ" val="3">
            <dgm:layoutNode name="arrowDiagram3">
              <dgm:alg type="composite">
                <dgm:param type="vertAlign" val="none"/>
                <dgm:param type="horzAlign" val="none"/>
              </dgm:alg>
              <dgm:shape xmlns:r="http://schemas.openxmlformats.org/officeDocument/2006/relationships" r:blip="">
                <dgm:adjLst/>
              </dgm:shape>
              <dgm:presOf/>
              <dgm:choose name="Name37">
                <dgm:if name="Name38" func="var" arg="dir" op="equ" val="norm">
                  <dgm:constrLst>
                    <dgm:constr type="ctrX" for="ch" forName="bullet3a" refType="w" fact="0.14"/>
                    <dgm:constr type="ctrY" for="ch" forName="bullet3a" refType="h" fact="0.711"/>
                    <dgm:constr type="w" for="ch" forName="bullet3a" refType="w" fact="0.026"/>
                    <dgm:constr type="h" for="ch" forName="bullet3a" refType="w" refFor="ch" refForName="bullet3a"/>
                    <dgm:constr type="l" for="ch" forName="textBox3a" refType="ctrX" refFor="ch" refForName="bullet3a"/>
                    <dgm:constr type="t" for="ch" forName="textBox3a" refType="ctrY" refFor="ch" refForName="bullet3a"/>
                    <dgm:constr type="w" for="ch" forName="textBox3a" refType="w" fact="0.233"/>
                    <dgm:constr type="h" for="ch" forName="textBox3a" refType="h" fact="0.289"/>
                    <dgm:constr type="userA" refType="h" refFor="ch" refForName="bullet3a" fact="0.53"/>
                    <dgm:constr type="l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l" for="ch" forName="textBox3b" refType="ctrX" refFor="ch" refForName="bullet3b"/>
                    <dgm:constr type="t" for="ch" forName="textBox3b" refType="ctrY" refFor="ch" refForName="bullet3b"/>
                    <dgm:constr type="w" for="ch" forName="textBox3b" refType="w" fact="0.24"/>
                    <dgm:constr type="h" for="ch" forName="textBox3b" refType="h" fact="0.544"/>
                    <dgm:constr type="userB" refType="h" refFor="ch" refForName="bullet3b" fact="0.53"/>
                    <dgm:constr type="l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l" for="ch" forName="textBox3c" refType="ctrX" refFor="ch" refForName="bullet3c"/>
                    <dgm:constr type="t" for="ch" forName="textBox3c" refType="ctrY" refFor="ch" refForName="bullet3c"/>
                    <dgm:constr type="w" for="ch" forName="textBox3c" refType="w" fact="0.24"/>
                    <dgm:constr type="h" for="ch" forName="textBox3c" refType="h" fact="0.695"/>
                    <dgm:constr type="userC" refType="h" refFor="ch" refForName="bullet3c" fact="0.53"/>
                    <dgm:constr type="lMarg" for="ch" forName="textBox3c" refType="userC" fact="2.834"/>
                    <dgm:constr type="primFontSz" for="ch" ptType="node" op="equ" val="65"/>
                  </dgm:constrLst>
                </dgm:if>
                <dgm:else name="Name39">
                  <dgm:constrLst>
                    <dgm:constr type="ctrX" for="ch" forName="bullet3a" refType="w" fact="0.14"/>
                    <dgm:constr type="ctrY" for="ch" forName="bullet3a" refType="h" fact="0.711"/>
                    <dgm:constr type="w" for="ch" forName="bullet3a" refType="w" fact="0.026"/>
                    <dgm:constr type="h" for="ch" forName="bullet3a" refType="w" refFor="ch" refForName="bullet3a"/>
                    <dgm:constr type="r" for="ch" forName="textBox3a" refType="ctrX" refFor="ch" refForName="bullet3a"/>
                    <dgm:constr type="b" for="ch" forName="textBox3a" refType="ctrY" refFor="ch" refForName="bullet3a"/>
                    <dgm:constr type="w" for="ch" forName="textBox3a" refType="w" fact="0.14"/>
                    <dgm:constr type="h" for="ch" forName="textBox3a" refType="h" fact="0.711"/>
                    <dgm:constr type="userA" refType="h" refFor="ch" refForName="bullet3a" fact="0.53"/>
                    <dgm:constr type="r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r" for="ch" forName="textBox3b" refType="ctrX" refFor="ch" refForName="bullet3b"/>
                    <dgm:constr type="b" for="ch" forName="textBox3b" refType="ctrY" refFor="ch" refForName="bullet3b"/>
                    <dgm:constr type="w" for="ch" forName="textBox3b" refType="w" fact="0.24"/>
                    <dgm:constr type="h" for="ch" forName="textBox3b" refType="h" fact="0.456"/>
                    <dgm:constr type="userB" refType="h" refFor="ch" refForName="bullet3b" fact="0.53"/>
                    <dgm:constr type="r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r" for="ch" forName="textBox3c" refType="ctrX" refFor="ch" refForName="bullet3c"/>
                    <dgm:constr type="b" for="ch" forName="textBox3c" refType="ctrY" refFor="ch" refForName="bullet3c"/>
                    <dgm:constr type="w" for="ch" forName="textBox3c" refType="w" fact="0.24"/>
                    <dgm:constr type="h" for="ch" forName="textBox3c" refType="h" fact="0.305"/>
                    <dgm:constr type="userC" refType="h" refFor="ch" refForName="bullet3c" fact="0.53"/>
                    <dgm:constr type="rMarg" for="ch" forName="textBox3c" refType="userC" fact="2.834"/>
                    <dgm:constr type="primFontSz" for="ch" ptType="node" op="equ" val="65"/>
                  </dgm:constrLst>
                </dgm:else>
              </dgm:choose>
              <dgm:ruleLst/>
              <dgm:forEach name="Name40" axis="ch" ptType="node" cnt="1">
                <dgm:layoutNode name="bullet3a" styleLbl="node1">
                  <dgm:alg type="sp"/>
                  <dgm:shape xmlns:r="http://schemas.openxmlformats.org/officeDocument/2006/relationships" type="ellipse" r:blip="">
                    <dgm:adjLst/>
                  </dgm:shape>
                  <dgm:presOf/>
                  <dgm:constrLst/>
                  <dgm:ruleLst/>
                </dgm:layoutNode>
                <dgm:layoutNode name="textBox3a" styleLbl="revTx">
                  <dgm:varLst>
                    <dgm:bulletEnabled val="1"/>
                  </dgm:varLst>
                  <dgm:choose name="Name41">
                    <dgm:if name="Name42" func="var" arg="dir" op="equ" val="norm">
                      <dgm:choose name="Name43">
                        <dgm:if name="Name44" axis="root des" ptType="all node" func="maxDepth" op="gt" val="1">
                          <dgm:alg type="tx">
                            <dgm:param type="txAnchorVert" val="t"/>
                            <dgm:param type="parTxLTRAlign" val="l"/>
                            <dgm:param type="parTxRTLAlign" val="r"/>
                          </dgm:alg>
                        </dgm:if>
                        <dgm:else name="Name45">
                          <dgm:alg type="tx">
                            <dgm:param type="txAnchorVert" val="t"/>
                            <dgm:param type="parTxLTRAlign" val="l"/>
                            <dgm:param type="parTxRTLAlign" val="l"/>
                          </dgm:alg>
                        </dgm:else>
                      </dgm:choose>
                    </dgm:if>
                    <dgm:else name="Name46">
                      <dgm:choose name="Name47">
                        <dgm:if name="Name48" axis="root des" ptType="all node" func="maxDepth" op="gt" val="1">
                          <dgm:alg type="tx">
                            <dgm:param type="txAnchorVert" val="b"/>
                            <dgm:param type="txAnchorVertCh" val="b"/>
                            <dgm:param type="parTxLTRAlign" val="l"/>
                            <dgm:param type="parTxRTLAlign" val="r"/>
                          </dgm:alg>
                        </dgm:if>
                        <dgm:else name="Name4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50">
                    <dgm:if name="Name51" func="var" arg="dir" op="equ" val="norm">
                      <dgm:constrLst>
                        <dgm:constr type="rMarg"/>
                        <dgm:constr type="tMarg"/>
                        <dgm:constr type="bMarg"/>
                      </dgm:constrLst>
                    </dgm:if>
                    <dgm:else name="Name52">
                      <dgm:constrLst>
                        <dgm:constr type="lMarg"/>
                        <dgm:constr type="tMarg"/>
                        <dgm:constr type="bMarg"/>
                      </dgm:constrLst>
                    </dgm:else>
                  </dgm:choose>
                  <dgm:ruleLst>
                    <dgm:rule type="primFontSz" val="5" fact="NaN" max="NaN"/>
                  </dgm:ruleLst>
                </dgm:layoutNode>
              </dgm:forEach>
              <dgm:forEach name="Name53" axis="ch" ptType="node" st="2" cnt="1">
                <dgm:layoutNode name="bullet3b" styleLbl="node1">
                  <dgm:alg type="sp"/>
                  <dgm:shape xmlns:r="http://schemas.openxmlformats.org/officeDocument/2006/relationships" type="ellipse" r:blip="">
                    <dgm:adjLst/>
                  </dgm:shape>
                  <dgm:presOf/>
                  <dgm:constrLst/>
                  <dgm:ruleLst/>
                </dgm:layoutNode>
                <dgm:layoutNode name="textBox3b" styleLbl="revTx">
                  <dgm:varLst>
                    <dgm:bulletEnabled val="1"/>
                  </dgm:varLst>
                  <dgm:choose name="Name54">
                    <dgm:if name="Name55" func="var" arg="dir" op="equ" val="norm">
                      <dgm:choose name="Name56">
                        <dgm:if name="Name57" axis="root des" ptType="all node" func="maxDepth" op="gt" val="1">
                          <dgm:alg type="tx">
                            <dgm:param type="txAnchorVert" val="t"/>
                            <dgm:param type="parTxLTRAlign" val="l"/>
                            <dgm:param type="parTxRTLAlign" val="r"/>
                          </dgm:alg>
                        </dgm:if>
                        <dgm:else name="Name58">
                          <dgm:alg type="tx">
                            <dgm:param type="txAnchorVert" val="t"/>
                            <dgm:param type="parTxLTRAlign" val="l"/>
                            <dgm:param type="parTxRTLAlign" val="l"/>
                          </dgm:alg>
                        </dgm:else>
                      </dgm:choose>
                    </dgm:if>
                    <dgm:else name="Name59">
                      <dgm:choose name="Name60">
                        <dgm:if name="Name61" axis="root des" ptType="all node" func="maxDepth" op="gt" val="1">
                          <dgm:alg type="tx">
                            <dgm:param type="txAnchorVert" val="b"/>
                            <dgm:param type="txAnchorVertCh" val="b"/>
                            <dgm:param type="parTxLTRAlign" val="l"/>
                            <dgm:param type="parTxRTLAlign" val="r"/>
                          </dgm:alg>
                        </dgm:if>
                        <dgm:else name="Name6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63">
                    <dgm:if name="Name64" func="var" arg="dir" op="equ" val="norm">
                      <dgm:constrLst>
                        <dgm:constr type="rMarg"/>
                        <dgm:constr type="tMarg"/>
                        <dgm:constr type="bMarg"/>
                      </dgm:constrLst>
                    </dgm:if>
                    <dgm:else name="Name65">
                      <dgm:constrLst>
                        <dgm:constr type="lMarg"/>
                        <dgm:constr type="tMarg"/>
                        <dgm:constr type="bMarg"/>
                      </dgm:constrLst>
                    </dgm:else>
                  </dgm:choose>
                  <dgm:ruleLst>
                    <dgm:rule type="primFontSz" val="5" fact="NaN" max="NaN"/>
                  </dgm:ruleLst>
                </dgm:layoutNode>
              </dgm:forEach>
              <dgm:forEach name="Name66" axis="ch" ptType="node" st="3" cnt="1">
                <dgm:layoutNode name="bullet3c" styleLbl="node1">
                  <dgm:alg type="sp"/>
                  <dgm:shape xmlns:r="http://schemas.openxmlformats.org/officeDocument/2006/relationships" type="ellipse" r:blip="">
                    <dgm:adjLst/>
                  </dgm:shape>
                  <dgm:presOf/>
                  <dgm:constrLst/>
                  <dgm:ruleLst/>
                </dgm:layoutNode>
                <dgm:layoutNode name="textBox3c" styleLbl="revTx">
                  <dgm:varLst>
                    <dgm:bulletEnabled val="1"/>
                  </dgm:varLst>
                  <dgm:choose name="Name67">
                    <dgm:if name="Name68" func="var" arg="dir" op="equ" val="norm">
                      <dgm:choose name="Name69">
                        <dgm:if name="Name70" axis="root des" ptType="all node" func="maxDepth" op="gt" val="1">
                          <dgm:alg type="tx">
                            <dgm:param type="txAnchorVert" val="t"/>
                            <dgm:param type="parTxLTRAlign" val="l"/>
                            <dgm:param type="parTxRTLAlign" val="r"/>
                          </dgm:alg>
                        </dgm:if>
                        <dgm:else name="Name71">
                          <dgm:alg type="tx">
                            <dgm:param type="txAnchorVert" val="t"/>
                            <dgm:param type="parTxLTRAlign" val="l"/>
                            <dgm:param type="parTxRTLAlign" val="l"/>
                          </dgm:alg>
                        </dgm:else>
                      </dgm:choose>
                    </dgm:if>
                    <dgm:else name="Name72">
                      <dgm:choose name="Name73">
                        <dgm:if name="Name74" axis="root des" ptType="all node" func="maxDepth" op="gt" val="1">
                          <dgm:alg type="tx">
                            <dgm:param type="txAnchorVert" val="b"/>
                            <dgm:param type="txAnchorVertCh" val="b"/>
                            <dgm:param type="parTxLTRAlign" val="l"/>
                            <dgm:param type="parTxRTLAlign" val="r"/>
                          </dgm:alg>
                        </dgm:if>
                        <dgm:else name="Name7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76">
                    <dgm:if name="Name77" func="var" arg="dir" op="equ" val="norm">
                      <dgm:constrLst>
                        <dgm:constr type="rMarg"/>
                        <dgm:constr type="tMarg"/>
                        <dgm:constr type="bMarg"/>
                      </dgm:constrLst>
                    </dgm:if>
                    <dgm:else name="Name78">
                      <dgm:constrLst>
                        <dgm:constr type="lMarg"/>
                        <dgm:constr type="tMarg"/>
                        <dgm:constr type="bMarg"/>
                      </dgm:constrLst>
                    </dgm:else>
                  </dgm:choose>
                  <dgm:ruleLst>
                    <dgm:rule type="primFontSz" val="5" fact="NaN" max="NaN"/>
                  </dgm:ruleLst>
                </dgm:layoutNode>
              </dgm:forEach>
            </dgm:layoutNode>
          </dgm:if>
          <dgm:if name="Name79" axis="ch" ptType="node" func="cnt" op="equ" val="4">
            <dgm:layoutNode name="arrowDiagram4">
              <dgm:alg type="composite">
                <dgm:param type="vertAlign" val="none"/>
                <dgm:param type="horzAlign" val="none"/>
              </dgm:alg>
              <dgm:shape xmlns:r="http://schemas.openxmlformats.org/officeDocument/2006/relationships" r:blip="">
                <dgm:adjLst/>
              </dgm:shape>
              <dgm:presOf/>
              <dgm:choose name="Name80">
                <dgm:if name="Name81" func="var" arg="dir" op="equ" val="norm">
                  <dgm:constrLst>
                    <dgm:constr type="ctrX" for="ch" forName="bullet4a" refType="w" fact="0.11"/>
                    <dgm:constr type="ctrY" for="ch" forName="bullet4a" refType="h" fact="0.762"/>
                    <dgm:constr type="w" for="ch" forName="bullet4a" refType="w" fact="0.023"/>
                    <dgm:constr type="h" for="ch" forName="bullet4a" refType="w" refFor="ch" refForName="bullet4a"/>
                    <dgm:constr type="l" for="ch" forName="textBox4a" refType="ctrX" refFor="ch" refForName="bullet4a"/>
                    <dgm:constr type="t" for="ch" forName="textBox4a" refType="ctrY" refFor="ch" refForName="bullet4a"/>
                    <dgm:constr type="w" for="ch" forName="textBox4a" refType="w" fact="0.171"/>
                    <dgm:constr type="h" for="ch" forName="textBox4a" refType="h" fact="0.238"/>
                    <dgm:constr type="userA" refType="h" refFor="ch" refForName="bullet4a" fact="0.53"/>
                    <dgm:constr type="l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l" for="ch" forName="textBox4b" refType="ctrX" refFor="ch" refForName="bullet4b"/>
                    <dgm:constr type="t" for="ch" forName="textBox4b" refType="ctrY" refFor="ch" refForName="bullet4b"/>
                    <dgm:constr type="w" for="ch" forName="textBox4b" refType="w" fact="0.21"/>
                    <dgm:constr type="h" for="ch" forName="textBox4b" refType="h" fact="0.457"/>
                    <dgm:constr type="userB" refType="h" refFor="ch" refForName="bullet4b" fact="0.53"/>
                    <dgm:constr type="l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l" for="ch" forName="textBox4c" refType="ctrX" refFor="ch" refForName="bullet4c"/>
                    <dgm:constr type="t" for="ch" forName="textBox4c" refType="ctrY" refFor="ch" refForName="bullet4c"/>
                    <dgm:constr type="w" for="ch" forName="textBox4c" refType="w" fact="0.21"/>
                    <dgm:constr type="h" for="ch" forName="textBox4c" refType="h" fact="0.618"/>
                    <dgm:constr type="userC" refType="h" refFor="ch" refForName="bullet4c" fact="0.53"/>
                    <dgm:constr type="l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l" for="ch" forName="textBox4d" refType="ctrX" refFor="ch" refForName="bullet4d"/>
                    <dgm:constr type="t" for="ch" forName="textBox4d" refType="ctrY" refFor="ch" refForName="bullet4d"/>
                    <dgm:constr type="w" for="ch" forName="textBox4d" refType="w" fact="0.21"/>
                    <dgm:constr type="h" for="ch" forName="textBox4d" refType="h" fact="0.717"/>
                    <dgm:constr type="userD" refType="h" refFor="ch" refForName="bullet4d" fact="0.53"/>
                    <dgm:constr type="lMarg" for="ch" forName="textBox4d" refType="userD" fact="2.834"/>
                    <dgm:constr type="primFontSz" for="ch" ptType="node" op="equ" val="65"/>
                  </dgm:constrLst>
                </dgm:if>
                <dgm:else name="Name82">
                  <dgm:constrLst>
                    <dgm:constr type="ctrX" for="ch" forName="bullet4a" refType="w" fact="0.11"/>
                    <dgm:constr type="ctrY" for="ch" forName="bullet4a" refType="h" fact="0.762"/>
                    <dgm:constr type="w" for="ch" forName="bullet4a" refType="w" fact="0.023"/>
                    <dgm:constr type="h" for="ch" forName="bullet4a" refType="w" refFor="ch" refForName="bullet4a"/>
                    <dgm:constr type="r" for="ch" forName="textBox4a" refType="ctrX" refFor="ch" refForName="bullet4a"/>
                    <dgm:constr type="b" for="ch" forName="textBox4a" refType="ctrY" refFor="ch" refForName="bullet4a"/>
                    <dgm:constr type="w" for="ch" forName="textBox4a" refType="w" fact="0.11"/>
                    <dgm:constr type="h" for="ch" forName="textBox4a" refType="h" fact="0.762"/>
                    <dgm:constr type="userA" refType="h" refFor="ch" refForName="bullet4a" fact="0.53"/>
                    <dgm:constr type="r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r" for="ch" forName="textBox4b" refType="ctrX" refFor="ch" refForName="bullet4b"/>
                    <dgm:constr type="b" for="ch" forName="textBox4b" refType="ctrY" refFor="ch" refForName="bullet4b"/>
                    <dgm:constr type="w" for="ch" forName="textBox4b" refType="w" fact="0.171"/>
                    <dgm:constr type="h" for="ch" forName="textBox4b" refType="h" fact="0.543"/>
                    <dgm:constr type="userB" refType="h" refFor="ch" refForName="bullet4b" fact="0.53"/>
                    <dgm:constr type="r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r" for="ch" forName="textBox4c" refType="ctrX" refFor="ch" refForName="bullet4c"/>
                    <dgm:constr type="b" for="ch" forName="textBox4c" refType="ctrY" refFor="ch" refForName="bullet4c"/>
                    <dgm:constr type="w" for="ch" forName="textBox4c" refType="w" fact="0.21"/>
                    <dgm:constr type="h" for="ch" forName="textBox4c" refType="h" fact="0.382"/>
                    <dgm:constr type="userC" refType="h" refFor="ch" refForName="bullet4c" fact="0.53"/>
                    <dgm:constr type="r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r" for="ch" forName="textBox4d" refType="ctrX" refFor="ch" refForName="bullet4d"/>
                    <dgm:constr type="b" for="ch" forName="textBox4d" refType="ctrY" refFor="ch" refForName="bullet4d"/>
                    <dgm:constr type="w" for="ch" forName="textBox4d" refType="w" fact="0.21"/>
                    <dgm:constr type="h" for="ch" forName="textBox4d" refType="h" fact="0.283"/>
                    <dgm:constr type="userD" refType="h" refFor="ch" refForName="bullet4d" fact="0.53"/>
                    <dgm:constr type="rMarg" for="ch" forName="textBox4d" refType="userD" fact="2.834"/>
                    <dgm:constr type="primFontSz" for="ch" ptType="node" op="equ" val="65"/>
                  </dgm:constrLst>
                </dgm:else>
              </dgm:choose>
              <dgm:ruleLst/>
              <dgm:forEach name="Name83" axis="ch" ptType="node" cnt="1">
                <dgm:layoutNode name="bullet4a" styleLbl="node1">
                  <dgm:alg type="sp"/>
                  <dgm:shape xmlns:r="http://schemas.openxmlformats.org/officeDocument/2006/relationships" type="ellipse" r:blip="">
                    <dgm:adjLst/>
                  </dgm:shape>
                  <dgm:presOf/>
                  <dgm:constrLst/>
                  <dgm:ruleLst/>
                </dgm:layoutNode>
                <dgm:layoutNode name="textBox4a" styleLbl="revTx">
                  <dgm:varLst>
                    <dgm:bulletEnabled val="1"/>
                  </dgm:varLst>
                  <dgm:choose name="Name84">
                    <dgm:if name="Name85" func="var" arg="dir" op="equ" val="norm">
                      <dgm:choose name="Name86">
                        <dgm:if name="Name87" axis="root des" ptType="all node" func="maxDepth" op="gt" val="1">
                          <dgm:alg type="tx">
                            <dgm:param type="txAnchorVert" val="t"/>
                            <dgm:param type="parTxLTRAlign" val="l"/>
                            <dgm:param type="parTxRTLAlign" val="r"/>
                          </dgm:alg>
                        </dgm:if>
                        <dgm:else name="Name88">
                          <dgm:alg type="tx">
                            <dgm:param type="txAnchorVert" val="t"/>
                            <dgm:param type="parTxLTRAlign" val="l"/>
                            <dgm:param type="parTxRTLAlign" val="l"/>
                          </dgm:alg>
                        </dgm:else>
                      </dgm:choose>
                    </dgm:if>
                    <dgm:else name="Name89">
                      <dgm:choose name="Name90">
                        <dgm:if name="Name91" axis="root des" ptType="all node" func="maxDepth" op="gt" val="1">
                          <dgm:alg type="tx">
                            <dgm:param type="txAnchorVert" val="b"/>
                            <dgm:param type="txAnchorVertCh" val="b"/>
                            <dgm:param type="parTxLTRAlign" val="l"/>
                            <dgm:param type="parTxRTLAlign" val="r"/>
                          </dgm:alg>
                        </dgm:if>
                        <dgm:else name="Name9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93">
                    <dgm:if name="Name94" func="var" arg="dir" op="equ" val="norm">
                      <dgm:constrLst>
                        <dgm:constr type="rMarg"/>
                        <dgm:constr type="tMarg"/>
                        <dgm:constr type="bMarg"/>
                      </dgm:constrLst>
                    </dgm:if>
                    <dgm:else name="Name95">
                      <dgm:constrLst>
                        <dgm:constr type="lMarg"/>
                        <dgm:constr type="tMarg"/>
                        <dgm:constr type="bMarg"/>
                      </dgm:constrLst>
                    </dgm:else>
                  </dgm:choose>
                  <dgm:ruleLst>
                    <dgm:rule type="primFontSz" val="5" fact="NaN" max="NaN"/>
                  </dgm:ruleLst>
                </dgm:layoutNode>
              </dgm:forEach>
              <dgm:forEach name="Name96" axis="ch" ptType="node" st="2" cnt="1">
                <dgm:layoutNode name="bullet4b" styleLbl="node1">
                  <dgm:alg type="sp"/>
                  <dgm:shape xmlns:r="http://schemas.openxmlformats.org/officeDocument/2006/relationships" type="ellipse" r:blip="">
                    <dgm:adjLst/>
                  </dgm:shape>
                  <dgm:presOf/>
                  <dgm:constrLst/>
                  <dgm:ruleLst/>
                </dgm:layoutNode>
                <dgm:layoutNode name="textBox4b" styleLbl="revTx">
                  <dgm:varLst>
                    <dgm:bulletEnabled val="1"/>
                  </dgm:varLst>
                  <dgm:choose name="Name97">
                    <dgm:if name="Name98" func="var" arg="dir" op="equ" val="norm">
                      <dgm:choose name="Name99">
                        <dgm:if name="Name100" axis="root des" ptType="all node" func="maxDepth" op="gt" val="1">
                          <dgm:alg type="tx">
                            <dgm:param type="txAnchorVert" val="t"/>
                            <dgm:param type="parTxLTRAlign" val="l"/>
                            <dgm:param type="parTxRTLAlign" val="r"/>
                          </dgm:alg>
                        </dgm:if>
                        <dgm:else name="Name101">
                          <dgm:alg type="tx">
                            <dgm:param type="txAnchorVert" val="t"/>
                            <dgm:param type="parTxLTRAlign" val="l"/>
                            <dgm:param type="parTxRTLAlign" val="l"/>
                          </dgm:alg>
                        </dgm:else>
                      </dgm:choose>
                    </dgm:if>
                    <dgm:else name="Name102">
                      <dgm:choose name="Name103">
                        <dgm:if name="Name104" axis="root des" ptType="all node" func="maxDepth" op="gt" val="1">
                          <dgm:alg type="tx">
                            <dgm:param type="txAnchorVert" val="b"/>
                            <dgm:param type="txAnchorVertCh" val="b"/>
                            <dgm:param type="parTxLTRAlign" val="l"/>
                            <dgm:param type="parTxRTLAlign" val="r"/>
                          </dgm:alg>
                        </dgm:if>
                        <dgm:else name="Name10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06">
                    <dgm:if name="Name107" func="var" arg="dir" op="equ" val="norm">
                      <dgm:constrLst>
                        <dgm:constr type="rMarg"/>
                        <dgm:constr type="tMarg"/>
                        <dgm:constr type="bMarg"/>
                      </dgm:constrLst>
                    </dgm:if>
                    <dgm:else name="Name108">
                      <dgm:constrLst>
                        <dgm:constr type="lMarg"/>
                        <dgm:constr type="tMarg"/>
                        <dgm:constr type="bMarg"/>
                      </dgm:constrLst>
                    </dgm:else>
                  </dgm:choose>
                  <dgm:ruleLst>
                    <dgm:rule type="primFontSz" val="5" fact="NaN" max="NaN"/>
                  </dgm:ruleLst>
                </dgm:layoutNode>
              </dgm:forEach>
              <dgm:forEach name="Name109" axis="ch" ptType="node" st="3" cnt="1">
                <dgm:layoutNode name="bullet4c" styleLbl="node1">
                  <dgm:alg type="sp"/>
                  <dgm:shape xmlns:r="http://schemas.openxmlformats.org/officeDocument/2006/relationships" type="ellipse" r:blip="">
                    <dgm:adjLst/>
                  </dgm:shape>
                  <dgm:presOf/>
                  <dgm:constrLst/>
                  <dgm:ruleLst/>
                </dgm:layoutNode>
                <dgm:layoutNode name="textBox4c" styleLbl="revTx">
                  <dgm:varLst>
                    <dgm:bulletEnabled val="1"/>
                  </dgm:varLst>
                  <dgm:choose name="Name110">
                    <dgm:if name="Name111" func="var" arg="dir" op="equ" val="norm">
                      <dgm:choose name="Name112">
                        <dgm:if name="Name113" axis="root des" ptType="all node" func="maxDepth" op="gt" val="1">
                          <dgm:alg type="tx">
                            <dgm:param type="txAnchorVert" val="t"/>
                            <dgm:param type="parTxLTRAlign" val="l"/>
                            <dgm:param type="parTxRTLAlign" val="r"/>
                          </dgm:alg>
                        </dgm:if>
                        <dgm:else name="Name114">
                          <dgm:alg type="tx">
                            <dgm:param type="txAnchorVert" val="t"/>
                            <dgm:param type="parTxLTRAlign" val="l"/>
                            <dgm:param type="parTxRTLAlign" val="l"/>
                          </dgm:alg>
                        </dgm:else>
                      </dgm:choose>
                    </dgm:if>
                    <dgm:else name="Name115">
                      <dgm:choose name="Name116">
                        <dgm:if name="Name117" axis="root des" ptType="all node" func="maxDepth" op="gt" val="1">
                          <dgm:alg type="tx">
                            <dgm:param type="txAnchorVert" val="b"/>
                            <dgm:param type="txAnchorVertCh" val="b"/>
                            <dgm:param type="parTxLTRAlign" val="l"/>
                            <dgm:param type="parTxRTLAlign" val="r"/>
                          </dgm:alg>
                        </dgm:if>
                        <dgm:else name="Name11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19">
                    <dgm:if name="Name120" func="var" arg="dir" op="equ" val="norm">
                      <dgm:constrLst>
                        <dgm:constr type="rMarg"/>
                        <dgm:constr type="tMarg"/>
                        <dgm:constr type="bMarg"/>
                      </dgm:constrLst>
                    </dgm:if>
                    <dgm:else name="Name121">
                      <dgm:constrLst>
                        <dgm:constr type="lMarg"/>
                        <dgm:constr type="tMarg"/>
                        <dgm:constr type="bMarg"/>
                      </dgm:constrLst>
                    </dgm:else>
                  </dgm:choose>
                  <dgm:ruleLst>
                    <dgm:rule type="primFontSz" val="5" fact="NaN" max="NaN"/>
                  </dgm:ruleLst>
                </dgm:layoutNode>
              </dgm:forEach>
              <dgm:forEach name="Name122" axis="ch" ptType="node" st="4" cnt="1">
                <dgm:layoutNode name="bullet4d" styleLbl="node1">
                  <dgm:alg type="sp"/>
                  <dgm:shape xmlns:r="http://schemas.openxmlformats.org/officeDocument/2006/relationships" type="ellipse" r:blip="">
                    <dgm:adjLst/>
                  </dgm:shape>
                  <dgm:presOf/>
                  <dgm:constrLst/>
                  <dgm:ruleLst/>
                </dgm:layoutNode>
                <dgm:layoutNode name="textBox4d" styleLbl="revTx">
                  <dgm:varLst>
                    <dgm:bulletEnabled val="1"/>
                  </dgm:varLst>
                  <dgm:choose name="Name123">
                    <dgm:if name="Name124" func="var" arg="dir" op="equ" val="norm">
                      <dgm:choose name="Name125">
                        <dgm:if name="Name126" axis="root des" ptType="all node" func="maxDepth" op="gt" val="1">
                          <dgm:alg type="tx">
                            <dgm:param type="txAnchorVert" val="t"/>
                            <dgm:param type="parTxLTRAlign" val="l"/>
                            <dgm:param type="parTxRTLAlign" val="r"/>
                          </dgm:alg>
                        </dgm:if>
                        <dgm:else name="Name127">
                          <dgm:alg type="tx">
                            <dgm:param type="txAnchorVert" val="t"/>
                            <dgm:param type="parTxLTRAlign" val="l"/>
                            <dgm:param type="parTxRTLAlign" val="l"/>
                          </dgm:alg>
                        </dgm:else>
                      </dgm:choose>
                    </dgm:if>
                    <dgm:else name="Name128">
                      <dgm:choose name="Name129">
                        <dgm:if name="Name130" axis="root des" ptType="all node" func="maxDepth" op="gt" val="1">
                          <dgm:alg type="tx">
                            <dgm:param type="txAnchorVert" val="b"/>
                            <dgm:param type="txAnchorVertCh" val="b"/>
                            <dgm:param type="parTxLTRAlign" val="l"/>
                            <dgm:param type="parTxRTLAlign" val="r"/>
                          </dgm:alg>
                        </dgm:if>
                        <dgm:else name="Name13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32">
                    <dgm:if name="Name133" func="var" arg="dir" op="equ" val="norm">
                      <dgm:constrLst>
                        <dgm:constr type="rMarg"/>
                        <dgm:constr type="tMarg"/>
                        <dgm:constr type="bMarg"/>
                      </dgm:constrLst>
                    </dgm:if>
                    <dgm:else name="Name134">
                      <dgm:constrLst>
                        <dgm:constr type="lMarg"/>
                        <dgm:constr type="tMarg"/>
                        <dgm:constr type="bMarg"/>
                      </dgm:constrLst>
                    </dgm:else>
                  </dgm:choose>
                  <dgm:ruleLst>
                    <dgm:rule type="primFontSz" val="5" fact="NaN" max="NaN"/>
                  </dgm:ruleLst>
                </dgm:layoutNode>
              </dgm:forEach>
            </dgm:layoutNode>
          </dgm:if>
          <dgm:else name="Name135">
            <dgm:layoutNode name="arrowDiagram5">
              <dgm:alg type="composite">
                <dgm:param type="vertAlign" val="none"/>
                <dgm:param type="horzAlign" val="none"/>
              </dgm:alg>
              <dgm:shape xmlns:r="http://schemas.openxmlformats.org/officeDocument/2006/relationships" r:blip="">
                <dgm:adjLst/>
              </dgm:shape>
              <dgm:presOf/>
              <dgm:choose name="Name136">
                <dgm:if name="Name137" func="var" arg="dir" op="equ" val="norm">
                  <dgm:constrLst>
                    <dgm:constr type="ctrX" for="ch" forName="bullet5a" refType="w" fact="0.11"/>
                    <dgm:constr type="ctrY" for="ch" forName="bullet5a" refType="h" fact="0.762"/>
                    <dgm:constr type="w" for="ch" forName="bullet5a" refType="w" fact="0.023"/>
                    <dgm:constr type="h" for="ch" forName="bullet5a" refType="w" refFor="ch" refForName="bullet5a"/>
                    <dgm:constr type="l" for="ch" forName="textBox5a" refType="ctrX" refFor="ch" refForName="bullet5a"/>
                    <dgm:constr type="t" for="ch" forName="textBox5a" refType="ctrY" refFor="ch" refForName="bullet5a"/>
                    <dgm:constr type="w" for="ch" forName="textBox5a" refType="w" fact="0.131"/>
                    <dgm:constr type="h" for="ch" forName="textBox5a" refType="h" fact="0.238"/>
                    <dgm:constr type="userA" refType="h" refFor="ch" refForName="bullet5a" fact="0.53"/>
                    <dgm:constr type="l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l" for="ch" forName="textBox5b" refType="ctrX" refFor="ch" refForName="bullet5b"/>
                    <dgm:constr type="t" for="ch" forName="textBox5b" refType="ctrY" refFor="ch" refForName="bullet5b"/>
                    <dgm:constr type="w" for="ch" forName="textBox5b" refType="w" fact="0.166"/>
                    <dgm:constr type="h" for="ch" forName="textBox5b" refType="h" fact="0.419"/>
                    <dgm:constr type="userB" refType="h" refFor="ch" refForName="bullet5b" fact="0.53"/>
                    <dgm:constr type="l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l" for="ch" forName="textBox5c" refType="ctrX" refFor="ch" refForName="bullet5c"/>
                    <dgm:constr type="t" for="ch" forName="textBox5c" refType="ctrY" refFor="ch" refForName="bullet5c"/>
                    <dgm:constr type="w" for="ch" forName="textBox5c" refType="w" fact="0.193"/>
                    <dgm:constr type="h" for="ch" forName="textBox5c" refType="h" fact="0.562"/>
                    <dgm:constr type="userC" refType="h" refFor="ch" refForName="bullet5c" fact="0.53"/>
                    <dgm:constr type="l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l" for="ch" forName="textBox5d" refType="ctrX" refFor="ch" refForName="bullet5d"/>
                    <dgm:constr type="t" for="ch" forName="textBox5d" refType="ctrY" refFor="ch" refForName="bullet5d"/>
                    <dgm:constr type="w" for="ch" forName="textBox5d" refType="w" fact="0.2"/>
                    <dgm:constr type="h" for="ch" forName="textBox5d" refType="h" fact="0.67"/>
                    <dgm:constr type="userD" refType="h" refFor="ch" refForName="bullet5d" fact="0.53"/>
                    <dgm:constr type="l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l" for="ch" forName="textBox5e" refType="ctrX" refFor="ch" refForName="bullet5e"/>
                    <dgm:constr type="t" for="ch" forName="textBox5e" refType="ctrY" refFor="ch" refForName="bullet5e"/>
                    <dgm:constr type="w" for="ch" forName="textBox5e" refType="w" fact="0.2"/>
                    <dgm:constr type="h" for="ch" forName="textBox5e" refType="h" fact="0.736"/>
                    <dgm:constr type="userE" refType="h" refFor="ch" refForName="bullet5e" fact="0.53"/>
                    <dgm:constr type="lMarg" for="ch" forName="textBox5e" refType="userE" fact="2.834"/>
                    <dgm:constr type="primFontSz" for="ch" ptType="node" op="equ" val="65"/>
                  </dgm:constrLst>
                </dgm:if>
                <dgm:else name="Name138">
                  <dgm:constrLst>
                    <dgm:constr type="ctrX" for="ch" forName="bullet5a" refType="w" fact="0.11"/>
                    <dgm:constr type="ctrY" for="ch" forName="bullet5a" refType="h" fact="0.762"/>
                    <dgm:constr type="w" for="ch" forName="bullet5a" refType="w" fact="0.023"/>
                    <dgm:constr type="h" for="ch" forName="bullet5a" refType="w" refFor="ch" refForName="bullet5a"/>
                    <dgm:constr type="r" for="ch" forName="textBox5a" refType="ctrX" refFor="ch" refForName="bullet5a"/>
                    <dgm:constr type="b" for="ch" forName="textBox5a" refType="ctrY" refFor="ch" refForName="bullet5a"/>
                    <dgm:constr type="w" for="ch" forName="textBox5a" refType="w" fact="0.11"/>
                    <dgm:constr type="h" for="ch" forName="textBox5a" refType="h" fact="0.762"/>
                    <dgm:constr type="userA" refType="h" refFor="ch" refForName="bullet5a" fact="0.53"/>
                    <dgm:constr type="r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r" for="ch" forName="textBox5b" refType="ctrX" refFor="ch" refForName="bullet5b"/>
                    <dgm:constr type="b" for="ch" forName="textBox5b" refType="ctrY" refFor="ch" refForName="bullet5b"/>
                    <dgm:constr type="w" for="ch" forName="textBox5b" refType="w" fact="0.131"/>
                    <dgm:constr type="h" for="ch" forName="textBox5b" refType="h" fact="0.581"/>
                    <dgm:constr type="userB" refType="h" refFor="ch" refForName="bullet5b" fact="0.53"/>
                    <dgm:constr type="r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r" for="ch" forName="textBox5c" refType="ctrX" refFor="ch" refForName="bullet5c"/>
                    <dgm:constr type="b" for="ch" forName="textBox5c" refType="ctrY" refFor="ch" refForName="bullet5c"/>
                    <dgm:constr type="w" for="ch" forName="textBox5c" refType="w" fact="0.166"/>
                    <dgm:constr type="h" for="ch" forName="textBox5c" refType="h" fact="0.438"/>
                    <dgm:constr type="userC" refType="h" refFor="ch" refForName="bullet5c" fact="0.53"/>
                    <dgm:constr type="r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r" for="ch" forName="textBox5d" refType="ctrX" refFor="ch" refForName="bullet5d"/>
                    <dgm:constr type="b" for="ch" forName="textBox5d" refType="ctrY" refFor="ch" refForName="bullet5d"/>
                    <dgm:constr type="w" for="ch" forName="textBox5d" refType="w" fact="0.193"/>
                    <dgm:constr type="h" for="ch" forName="textBox5d" refType="h" fact="0.33"/>
                    <dgm:constr type="userD" refType="h" refFor="ch" refForName="bullet5d" fact="0.53"/>
                    <dgm:constr type="r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r" for="ch" forName="textBox5e" refType="ctrX" refFor="ch" refForName="bullet5e"/>
                    <dgm:constr type="b" for="ch" forName="textBox5e" refType="ctrY" refFor="ch" refForName="bullet5e"/>
                    <dgm:constr type="w" for="ch" forName="textBox5e" refType="w" fact="0.2"/>
                    <dgm:constr type="h" for="ch" forName="textBox5e" refType="h" fact="0.264"/>
                    <dgm:constr type="userE" refType="h" refFor="ch" refForName="bullet5e" fact="0.53"/>
                    <dgm:constr type="rMarg" for="ch" forName="textBox5e" refType="userE" fact="2.834"/>
                    <dgm:constr type="primFontSz" for="ch" ptType="node" op="equ" val="65"/>
                  </dgm:constrLst>
                </dgm:else>
              </dgm:choose>
              <dgm:ruleLst/>
              <dgm:forEach name="Name139" axis="ch" ptType="node" cnt="1">
                <dgm:layoutNode name="bullet5a" styleLbl="node1">
                  <dgm:alg type="sp"/>
                  <dgm:shape xmlns:r="http://schemas.openxmlformats.org/officeDocument/2006/relationships" type="ellipse" r:blip="">
                    <dgm:adjLst/>
                  </dgm:shape>
                  <dgm:presOf/>
                  <dgm:constrLst/>
                  <dgm:ruleLst/>
                </dgm:layoutNode>
                <dgm:layoutNode name="textBox5a" styleLbl="revTx">
                  <dgm:varLst>
                    <dgm:bulletEnabled val="1"/>
                  </dgm:varLst>
                  <dgm:choose name="Name140">
                    <dgm:if name="Name141" func="var" arg="dir" op="equ" val="norm">
                      <dgm:choose name="Name142">
                        <dgm:if name="Name143" axis="root des" ptType="all node" func="maxDepth" op="gt" val="1">
                          <dgm:alg type="tx">
                            <dgm:param type="txAnchorVert" val="t"/>
                            <dgm:param type="parTxLTRAlign" val="l"/>
                            <dgm:param type="parTxRTLAlign" val="r"/>
                          </dgm:alg>
                        </dgm:if>
                        <dgm:else name="Name144">
                          <dgm:alg type="tx">
                            <dgm:param type="txAnchorVert" val="t"/>
                            <dgm:param type="parTxLTRAlign" val="l"/>
                            <dgm:param type="parTxRTLAlign" val="l"/>
                          </dgm:alg>
                        </dgm:else>
                      </dgm:choose>
                    </dgm:if>
                    <dgm:else name="Name145">
                      <dgm:choose name="Name146">
                        <dgm:if name="Name147" axis="root des" ptType="all node" func="maxDepth" op="gt" val="1">
                          <dgm:alg type="tx">
                            <dgm:param type="txAnchorVert" val="b"/>
                            <dgm:param type="txAnchorVertCh" val="b"/>
                            <dgm:param type="parTxLTRAlign" val="l"/>
                            <dgm:param type="parTxRTLAlign" val="r"/>
                          </dgm:alg>
                        </dgm:if>
                        <dgm:else name="Name14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49">
                    <dgm:if name="Name150" func="var" arg="dir" op="equ" val="norm">
                      <dgm:constrLst>
                        <dgm:constr type="rMarg"/>
                        <dgm:constr type="tMarg"/>
                        <dgm:constr type="bMarg"/>
                      </dgm:constrLst>
                    </dgm:if>
                    <dgm:else name="Name151">
                      <dgm:constrLst>
                        <dgm:constr type="lMarg"/>
                        <dgm:constr type="tMarg"/>
                        <dgm:constr type="bMarg"/>
                      </dgm:constrLst>
                    </dgm:else>
                  </dgm:choose>
                  <dgm:ruleLst>
                    <dgm:rule type="primFontSz" val="5" fact="NaN" max="NaN"/>
                  </dgm:ruleLst>
                </dgm:layoutNode>
              </dgm:forEach>
              <dgm:forEach name="Name152" axis="ch" ptType="node" st="2" cnt="1">
                <dgm:layoutNode name="bullet5b" styleLbl="node1">
                  <dgm:alg type="sp"/>
                  <dgm:shape xmlns:r="http://schemas.openxmlformats.org/officeDocument/2006/relationships" type="ellipse" r:blip="">
                    <dgm:adjLst/>
                  </dgm:shape>
                  <dgm:presOf/>
                  <dgm:constrLst/>
                  <dgm:ruleLst/>
                </dgm:layoutNode>
                <dgm:layoutNode name="textBox5b" styleLbl="revTx">
                  <dgm:varLst>
                    <dgm:bulletEnabled val="1"/>
                  </dgm:varLst>
                  <dgm:choose name="Name153">
                    <dgm:if name="Name154" func="var" arg="dir" op="equ" val="norm">
                      <dgm:choose name="Name155">
                        <dgm:if name="Name156" axis="root des" ptType="all node" func="maxDepth" op="gt" val="1">
                          <dgm:alg type="tx">
                            <dgm:param type="txAnchorVert" val="t"/>
                            <dgm:param type="parTxLTRAlign" val="l"/>
                            <dgm:param type="parTxRTLAlign" val="r"/>
                          </dgm:alg>
                        </dgm:if>
                        <dgm:else name="Name157">
                          <dgm:alg type="tx">
                            <dgm:param type="txAnchorVert" val="t"/>
                            <dgm:param type="parTxLTRAlign" val="l"/>
                            <dgm:param type="parTxRTLAlign" val="l"/>
                          </dgm:alg>
                        </dgm:else>
                      </dgm:choose>
                    </dgm:if>
                    <dgm:else name="Name158">
                      <dgm:choose name="Name159">
                        <dgm:if name="Name160" axis="root des" ptType="all node" func="maxDepth" op="gt" val="1">
                          <dgm:alg type="tx">
                            <dgm:param type="txAnchorVert" val="b"/>
                            <dgm:param type="txAnchorVertCh" val="b"/>
                            <dgm:param type="parTxLTRAlign" val="l"/>
                            <dgm:param type="parTxRTLAlign" val="r"/>
                          </dgm:alg>
                        </dgm:if>
                        <dgm:else name="Name16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62">
                    <dgm:if name="Name163" func="var" arg="dir" op="equ" val="norm">
                      <dgm:constrLst>
                        <dgm:constr type="rMarg"/>
                        <dgm:constr type="tMarg"/>
                        <dgm:constr type="bMarg"/>
                      </dgm:constrLst>
                    </dgm:if>
                    <dgm:else name="Name164">
                      <dgm:constrLst>
                        <dgm:constr type="lMarg"/>
                        <dgm:constr type="tMarg"/>
                        <dgm:constr type="bMarg"/>
                      </dgm:constrLst>
                    </dgm:else>
                  </dgm:choose>
                  <dgm:ruleLst>
                    <dgm:rule type="primFontSz" val="5" fact="NaN" max="NaN"/>
                  </dgm:ruleLst>
                </dgm:layoutNode>
              </dgm:forEach>
              <dgm:forEach name="Name165" axis="ch" ptType="node" st="3" cnt="1">
                <dgm:layoutNode name="bullet5c" styleLbl="node1">
                  <dgm:alg type="sp"/>
                  <dgm:shape xmlns:r="http://schemas.openxmlformats.org/officeDocument/2006/relationships" type="ellipse" r:blip="">
                    <dgm:adjLst/>
                  </dgm:shape>
                  <dgm:presOf/>
                  <dgm:constrLst/>
                  <dgm:ruleLst/>
                </dgm:layoutNode>
                <dgm:layoutNode name="textBox5c" styleLbl="revTx">
                  <dgm:varLst>
                    <dgm:bulletEnabled val="1"/>
                  </dgm:varLst>
                  <dgm:choose name="Name166">
                    <dgm:if name="Name167" func="var" arg="dir" op="equ" val="norm">
                      <dgm:choose name="Name168">
                        <dgm:if name="Name169" axis="root des" ptType="all node" func="maxDepth" op="gt" val="1">
                          <dgm:alg type="tx">
                            <dgm:param type="txAnchorVert" val="t"/>
                            <dgm:param type="parTxLTRAlign" val="l"/>
                            <dgm:param type="parTxRTLAlign" val="r"/>
                          </dgm:alg>
                        </dgm:if>
                        <dgm:else name="Name170">
                          <dgm:alg type="tx">
                            <dgm:param type="txAnchorVert" val="t"/>
                            <dgm:param type="parTxLTRAlign" val="l"/>
                            <dgm:param type="parTxRTLAlign" val="l"/>
                          </dgm:alg>
                        </dgm:else>
                      </dgm:choose>
                    </dgm:if>
                    <dgm:else name="Name171">
                      <dgm:choose name="Name172">
                        <dgm:if name="Name173" axis="root des" ptType="all node" func="maxDepth" op="gt" val="1">
                          <dgm:alg type="tx">
                            <dgm:param type="txAnchorVert" val="b"/>
                            <dgm:param type="txAnchorVertCh" val="b"/>
                            <dgm:param type="parTxLTRAlign" val="l"/>
                            <dgm:param type="parTxRTLAlign" val="r"/>
                          </dgm:alg>
                        </dgm:if>
                        <dgm:else name="Name174">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75">
                    <dgm:if name="Name176" func="var" arg="dir" op="equ" val="norm">
                      <dgm:constrLst>
                        <dgm:constr type="rMarg"/>
                        <dgm:constr type="tMarg"/>
                        <dgm:constr type="bMarg"/>
                      </dgm:constrLst>
                    </dgm:if>
                    <dgm:else name="Name177">
                      <dgm:constrLst>
                        <dgm:constr type="lMarg"/>
                        <dgm:constr type="tMarg"/>
                        <dgm:constr type="bMarg"/>
                      </dgm:constrLst>
                    </dgm:else>
                  </dgm:choose>
                  <dgm:ruleLst>
                    <dgm:rule type="primFontSz" val="5" fact="NaN" max="NaN"/>
                  </dgm:ruleLst>
                </dgm:layoutNode>
              </dgm:forEach>
              <dgm:forEach name="Name178" axis="ch" ptType="node" st="4" cnt="1">
                <dgm:layoutNode name="bullet5d" styleLbl="node1">
                  <dgm:alg type="sp"/>
                  <dgm:shape xmlns:r="http://schemas.openxmlformats.org/officeDocument/2006/relationships" type="ellipse" r:blip="">
                    <dgm:adjLst/>
                  </dgm:shape>
                  <dgm:presOf/>
                  <dgm:constrLst/>
                  <dgm:ruleLst/>
                </dgm:layoutNode>
                <dgm:layoutNode name="textBox5d" styleLbl="revTx">
                  <dgm:varLst>
                    <dgm:bulletEnabled val="1"/>
                  </dgm:varLst>
                  <dgm:choose name="Name179">
                    <dgm:if name="Name180" func="var" arg="dir" op="equ" val="norm">
                      <dgm:choose name="Name181">
                        <dgm:if name="Name182" axis="root des" ptType="all node" func="maxDepth" op="gt" val="1">
                          <dgm:alg type="tx">
                            <dgm:param type="txAnchorVert" val="t"/>
                            <dgm:param type="parTxLTRAlign" val="l"/>
                            <dgm:param type="parTxRTLAlign" val="r"/>
                          </dgm:alg>
                        </dgm:if>
                        <dgm:else name="Name183">
                          <dgm:alg type="tx">
                            <dgm:param type="txAnchorVert" val="t"/>
                            <dgm:param type="parTxLTRAlign" val="l"/>
                            <dgm:param type="parTxRTLAlign" val="l"/>
                          </dgm:alg>
                        </dgm:else>
                      </dgm:choose>
                    </dgm:if>
                    <dgm:else name="Name184">
                      <dgm:choose name="Name185">
                        <dgm:if name="Name186" axis="root des" ptType="all node" func="maxDepth" op="gt" val="1">
                          <dgm:alg type="tx">
                            <dgm:param type="txAnchorVert" val="b"/>
                            <dgm:param type="txAnchorVertCh" val="b"/>
                            <dgm:param type="parTxLTRAlign" val="l"/>
                            <dgm:param type="parTxRTLAlign" val="r"/>
                          </dgm:alg>
                        </dgm:if>
                        <dgm:else name="Name187">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88">
                    <dgm:if name="Name189" func="var" arg="dir" op="equ" val="norm">
                      <dgm:constrLst>
                        <dgm:constr type="rMarg"/>
                        <dgm:constr type="tMarg"/>
                        <dgm:constr type="bMarg"/>
                      </dgm:constrLst>
                    </dgm:if>
                    <dgm:else name="Name190">
                      <dgm:constrLst>
                        <dgm:constr type="lMarg"/>
                        <dgm:constr type="tMarg"/>
                        <dgm:constr type="bMarg"/>
                      </dgm:constrLst>
                    </dgm:else>
                  </dgm:choose>
                  <dgm:ruleLst>
                    <dgm:rule type="primFontSz" val="5" fact="NaN" max="NaN"/>
                  </dgm:ruleLst>
                </dgm:layoutNode>
              </dgm:forEach>
              <dgm:forEach name="Name191" axis="ch" ptType="node" st="5" cnt="1">
                <dgm:layoutNode name="bullet5e" styleLbl="node1">
                  <dgm:alg type="sp"/>
                  <dgm:shape xmlns:r="http://schemas.openxmlformats.org/officeDocument/2006/relationships" type="ellipse" r:blip="">
                    <dgm:adjLst/>
                  </dgm:shape>
                  <dgm:presOf/>
                  <dgm:constrLst/>
                  <dgm:ruleLst/>
                </dgm:layoutNode>
                <dgm:layoutNode name="textBox5e" styleLbl="revTx">
                  <dgm:varLst>
                    <dgm:bulletEnabled val="1"/>
                  </dgm:varLst>
                  <dgm:choose name="Name192">
                    <dgm:if name="Name193" func="var" arg="dir" op="equ" val="norm">
                      <dgm:choose name="Name194">
                        <dgm:if name="Name195" axis="root des" ptType="all node" func="maxDepth" op="gt" val="1">
                          <dgm:alg type="tx">
                            <dgm:param type="txAnchorVert" val="t"/>
                            <dgm:param type="parTxLTRAlign" val="l"/>
                            <dgm:param type="parTxRTLAlign" val="r"/>
                          </dgm:alg>
                        </dgm:if>
                        <dgm:else name="Name196">
                          <dgm:alg type="tx">
                            <dgm:param type="txAnchorVert" val="t"/>
                            <dgm:param type="parTxLTRAlign" val="l"/>
                            <dgm:param type="parTxRTLAlign" val="l"/>
                          </dgm:alg>
                        </dgm:else>
                      </dgm:choose>
                    </dgm:if>
                    <dgm:else name="Name197">
                      <dgm:choose name="Name198">
                        <dgm:if name="Name199" axis="root des" ptType="all node" func="maxDepth" op="gt" val="1">
                          <dgm:alg type="tx">
                            <dgm:param type="txAnchorVert" val="b"/>
                            <dgm:param type="txAnchorVertCh" val="b"/>
                            <dgm:param type="parTxLTRAlign" val="l"/>
                            <dgm:param type="parTxRTLAlign" val="r"/>
                          </dgm:alg>
                        </dgm:if>
                        <dgm:else name="Name200">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1">
                    <dgm:if name="Name202" func="var" arg="dir" op="equ" val="norm">
                      <dgm:constrLst>
                        <dgm:constr type="rMarg"/>
                        <dgm:constr type="tMarg"/>
                        <dgm:constr type="bMarg"/>
                      </dgm:constrLst>
                    </dgm:if>
                    <dgm:else name="Name203">
                      <dgm:constrLst>
                        <dgm:constr type="lMarg"/>
                        <dgm:constr type="tMarg"/>
                        <dgm:constr type="bMarg"/>
                      </dgm:constrLst>
                    </dgm:else>
                  </dgm:choose>
                  <dgm:ruleLst>
                    <dgm:rule type="primFontSz" val="5" fact="NaN" max="NaN"/>
                  </dgm:ruleLst>
                </dgm:layoutNode>
              </dgm:forEach>
            </dgm:layoutNode>
          </dgm:else>
        </dgm:choose>
      </dgm:if>
      <dgm:else name="Name204"/>
    </dgm:choose>
  </dgm:layoutNode>
</dgm:layoutDef>
</file>

<file path=ppt/diagrams/layout4.xml><?xml version="1.0" encoding="utf-8"?>
<dgm:layoutDef xmlns:dgm="http://schemas.openxmlformats.org/drawingml/2006/diagram" xmlns:a="http://schemas.openxmlformats.org/drawingml/2006/main" uniqueId="urn:microsoft.com/office/officeart/2005/8/layout/matrix1">
  <dgm:title val=""/>
  <dgm:desc val=""/>
  <dgm:catLst>
    <dgm:cat type="matrix" pri="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styleData>
  <dgm:clr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clrData>
  <dgm:layoutNode name="diagram">
    <dgm:varLst>
      <dgm:chMax val="1"/>
      <dgm:dir/>
      <dgm:animLvl val="ctr"/>
      <dgm:resizeHandles val="exact"/>
    </dgm:varLst>
    <dgm:alg type="composite"/>
    <dgm:shape xmlns:r="http://schemas.openxmlformats.org/officeDocument/2006/relationships" r:blip="">
      <dgm:adjLst/>
    </dgm:shape>
    <dgm:presOf/>
    <dgm:constrLst>
      <dgm:constr type="ctrX" for="ch" forName="matrix" refType="w" fact="0.5"/>
      <dgm:constr type="ctrY" for="ch" forName="matrix" refType="h" fact="0.5"/>
      <dgm:constr type="w" for="ch" forName="matrix" refType="w"/>
      <dgm:constr type="h" for="ch" forName="matrix" refType="h"/>
      <dgm:constr type="ctrX" for="ch" forName="centerTile" refType="w" fact="0.5"/>
      <dgm:constr type="ctrY" for="ch" forName="centerTile" refType="h" fact="0.5"/>
      <dgm:constr type="w" for="ch" forName="centerTile" refType="w" fact="0.3"/>
      <dgm:constr type="h" for="ch" forName="centerTile" refType="h" fact="0.25"/>
      <dgm:constr type="primFontSz" for="des" ptType="node" op="equ" val="65"/>
    </dgm:constrLst>
    <dgm:ruleLst/>
    <dgm:choose name="Name0">
      <dgm:if name="Name1" axis="ch" ptType="node" func="cnt" op="gte" val="1">
        <dgm:layoutNode name="matrix">
          <dgm:alg type="composite"/>
          <dgm:shape xmlns:r="http://schemas.openxmlformats.org/officeDocument/2006/relationships" r:blip="">
            <dgm:adjLst/>
          </dgm:shape>
          <dgm:presOf/>
          <dgm:constrLst>
            <dgm:constr type="l" for="ch" forName="tile1"/>
            <dgm:constr type="t" for="ch" forName="tile1"/>
            <dgm:constr type="r" for="ch" forName="tile1" refType="w" fact="0.5"/>
            <dgm:constr type="b" for="ch" forName="tile1" refType="h" fact="0.5"/>
            <dgm:constr type="l" for="ch" forName="tile1text" refType="l" refFor="ch" refForName="tile1"/>
            <dgm:constr type="t" for="ch" forName="tile1text" refType="t" refFor="ch" refForName="tile1"/>
            <dgm:constr type="w" for="ch" forName="tile1text" refType="w" refFor="ch" refForName="tile1"/>
            <dgm:constr type="h" for="ch" forName="tile1text" refType="h" refFor="ch" refForName="tile1" fact="0.75"/>
            <dgm:constr type="r" for="ch" forName="tile2" refType="w"/>
            <dgm:constr type="t" for="ch" forName="tile2"/>
            <dgm:constr type="l" for="ch" forName="tile2" refType="w" fact="0.5"/>
            <dgm:constr type="b" for="ch" forName="tile2" refType="h" fact="0.5"/>
            <dgm:constr type="r" for="ch" forName="tile2text" refType="r" refFor="ch" refForName="tile2"/>
            <dgm:constr type="t" for="ch" forName="tile2text" refType="t" refFor="ch" refForName="tile2"/>
            <dgm:constr type="w" for="ch" forName="tile2text" refType="w" refFor="ch" refForName="tile2"/>
            <dgm:constr type="h" for="ch" forName="tile2text" refType="h" refFor="ch" refForName="tile2" fact="0.75"/>
            <dgm:constr type="l" for="ch" forName="tile3"/>
            <dgm:constr type="b" for="ch" forName="tile3" refType="h"/>
            <dgm:constr type="r" for="ch" forName="tile3" refType="w" fact="0.5"/>
            <dgm:constr type="t" for="ch" forName="tile3" refType="h" fact="0.5"/>
            <dgm:constr type="l" for="ch" forName="tile3text" refType="l" refFor="ch" refForName="tile3"/>
            <dgm:constr type="b" for="ch" forName="tile3text" refType="b" refFor="ch" refForName="tile3"/>
            <dgm:constr type="w" for="ch" forName="tile3text" refType="w" refFor="ch" refForName="tile3"/>
            <dgm:constr type="h" for="ch" forName="tile3text" refType="h" refFor="ch" refForName="tile3" fact="0.75"/>
            <dgm:constr type="r" for="ch" forName="tile4" refType="w"/>
            <dgm:constr type="b" for="ch" forName="tile4" refType="h"/>
            <dgm:constr type="l" for="ch" forName="tile4" refType="w" fact="0.5"/>
            <dgm:constr type="t" for="ch" forName="tile4" refType="h" fact="0.5"/>
            <dgm:constr type="r" for="ch" forName="tile4text" refType="r" refFor="ch" refForName="tile4"/>
            <dgm:constr type="b" for="ch" forName="tile4text" refType="b" refFor="ch" refForName="tile4"/>
            <dgm:constr type="w" for="ch" forName="tile4text" refType="w" refFor="ch" refForName="tile4"/>
            <dgm:constr type="h" for="ch" forName="tile4text" refType="h" refFor="ch" refForName="tile4" fact="0.75"/>
          </dgm:constrLst>
          <dgm:ruleLst/>
          <dgm:layoutNode name="tile1" styleLbl="node1">
            <dgm:alg type="sp"/>
            <dgm:shape xmlns:r="http://schemas.openxmlformats.org/officeDocument/2006/relationships" rot="270" type="round1Rect" r:blip="">
              <dgm:adjLst/>
            </dgm:shape>
            <dgm:choose name="Name2">
              <dgm:if name="Name3" func="var" arg="dir" op="equ" val="norm">
                <dgm:presOf axis="ch ch desOrSelf" ptType="node node node" st="1 1 1" cnt="1 1 0"/>
              </dgm:if>
              <dgm:else name="Name4">
                <dgm:presOf axis="ch ch desOrSelf" ptType="node node node" st="1 2 1" cnt="1 1 0"/>
              </dgm:else>
            </dgm:choose>
            <dgm:constrLst/>
            <dgm:ruleLst/>
          </dgm:layoutNode>
          <dgm:layoutNode name="tile1text" styleLbl="node1">
            <dgm:varLst>
              <dgm:chMax val="0"/>
              <dgm:chPref val="0"/>
              <dgm:bulletEnabled val="1"/>
            </dgm:varLst>
            <dgm:choose name="Name5">
              <dgm:if name="Name6" axis="root des" func="maxDepth" op="gte" val="3">
                <dgm:alg type="tx">
                  <dgm:param type="txAnchorVert" val="t"/>
                  <dgm:param type="parTxLTRAlign" val="l"/>
                  <dgm:param type="parTxRTLAlign" val="r"/>
                </dgm:alg>
              </dgm:if>
              <dgm:else name="Name7">
                <dgm:alg type="tx"/>
              </dgm:else>
            </dgm:choose>
            <dgm:shape xmlns:r="http://schemas.openxmlformats.org/officeDocument/2006/relationships" rot="270" type="rect" r:blip="" hideGeom="1">
              <dgm:adjLst>
                <dgm:adj idx="1" val="0.2"/>
              </dgm:adjLst>
            </dgm:shape>
            <dgm:choose name="Name8">
              <dgm:if name="Name9" func="var" arg="dir" op="equ" val="norm">
                <dgm:presOf axis="ch ch desOrSelf" ptType="node node node" st="1 1 1" cnt="1 1 0"/>
              </dgm:if>
              <dgm:else name="Name10">
                <dgm:presOf axis="ch ch desOrSelf" ptType="node node node" st="1 2 1" cnt="1 1 0"/>
              </dgm:else>
            </dgm:choose>
            <dgm:constrLst/>
            <dgm:ruleLst>
              <dgm:rule type="primFontSz" val="5" fact="NaN" max="NaN"/>
            </dgm:ruleLst>
          </dgm:layoutNode>
          <dgm:layoutNode name="tile2" styleLbl="node1">
            <dgm:alg type="sp"/>
            <dgm:shape xmlns:r="http://schemas.openxmlformats.org/officeDocument/2006/relationships" type="round1Rect" r:blip="">
              <dgm:adjLst/>
            </dgm:shape>
            <dgm:choose name="Name11">
              <dgm:if name="Name12" func="var" arg="dir" op="equ" val="norm">
                <dgm:presOf axis="ch ch desOrSelf" ptType="node node node" st="1 2 1" cnt="1 1 0"/>
              </dgm:if>
              <dgm:else name="Name13">
                <dgm:presOf axis="ch ch desOrSelf" ptType="node node node" st="1 1 1" cnt="1 1 0"/>
              </dgm:else>
            </dgm:choose>
            <dgm:constrLst/>
            <dgm:ruleLst/>
          </dgm:layoutNode>
          <dgm:layoutNode name="tile2text" styleLbl="node1">
            <dgm:varLst>
              <dgm:chMax val="0"/>
              <dgm:chPref val="0"/>
              <dgm:bulletEnabled val="1"/>
            </dgm:varLst>
            <dgm:choose name="Name14">
              <dgm:if name="Name15" axis="root des" func="maxDepth" op="gte" val="3">
                <dgm:alg type="tx">
                  <dgm:param type="txAnchorVert" val="t"/>
                  <dgm:param type="parTxLTRAlign" val="l"/>
                  <dgm:param type="parTxRTLAlign" val="r"/>
                </dgm:alg>
              </dgm:if>
              <dgm:else name="Name16">
                <dgm:alg type="tx"/>
              </dgm:else>
            </dgm:choose>
            <dgm:shape xmlns:r="http://schemas.openxmlformats.org/officeDocument/2006/relationships" type="rect" r:blip="" hideGeom="1">
              <dgm:adjLst/>
            </dgm:shape>
            <dgm:choose name="Name17">
              <dgm:if name="Name18" func="var" arg="dir" op="equ" val="norm">
                <dgm:presOf axis="ch ch desOrSelf" ptType="node node node" st="1 2 1" cnt="1 1 0"/>
              </dgm:if>
              <dgm:else name="Name19">
                <dgm:presOf axis="ch ch desOrSelf" ptType="node node node" st="1 1 1" cnt="1 1 0"/>
              </dgm:else>
            </dgm:choose>
            <dgm:constrLst/>
            <dgm:ruleLst>
              <dgm:rule type="primFontSz" val="5" fact="NaN" max="NaN"/>
            </dgm:ruleLst>
          </dgm:layoutNode>
          <dgm:layoutNode name="tile3" styleLbl="node1">
            <dgm:alg type="sp"/>
            <dgm:shape xmlns:r="http://schemas.openxmlformats.org/officeDocument/2006/relationships" rot="180" type="round1Rect" r:blip="">
              <dgm:adjLst/>
            </dgm:shape>
            <dgm:choose name="Name20">
              <dgm:if name="Name21" func="var" arg="dir" op="equ" val="norm">
                <dgm:presOf axis="ch ch desOrSelf" ptType="node node node" st="1 3 1" cnt="1 1 0"/>
              </dgm:if>
              <dgm:else name="Name22">
                <dgm:presOf axis="ch ch desOrSelf" ptType="node node node" st="1 4 1" cnt="1 1 0"/>
              </dgm:else>
            </dgm:choose>
            <dgm:constrLst/>
            <dgm:ruleLst/>
          </dgm:layoutNode>
          <dgm:layoutNode name="tile3text" styleLbl="node1">
            <dgm:varLst>
              <dgm:chMax val="0"/>
              <dgm:chPref val="0"/>
              <dgm:bulletEnabled val="1"/>
            </dgm:varLst>
            <dgm:choose name="Name23">
              <dgm:if name="Name24" axis="root des" func="maxDepth" op="gte" val="3">
                <dgm:alg type="tx">
                  <dgm:param type="txAnchorVert" val="t"/>
                  <dgm:param type="parTxLTRAlign" val="l"/>
                  <dgm:param type="parTxRTLAlign" val="r"/>
                </dgm:alg>
              </dgm:if>
              <dgm:else name="Name25">
                <dgm:alg type="tx"/>
              </dgm:else>
            </dgm:choose>
            <dgm:shape xmlns:r="http://schemas.openxmlformats.org/officeDocument/2006/relationships" rot="180" type="rect" r:blip="" hideGeom="1">
              <dgm:adjLst/>
            </dgm:shape>
            <dgm:choose name="Name26">
              <dgm:if name="Name27" func="var" arg="dir" op="equ" val="norm">
                <dgm:presOf axis="ch ch desOrSelf" ptType="node node node" st="1 3 1" cnt="1 1 0"/>
              </dgm:if>
              <dgm:else name="Name28">
                <dgm:presOf axis="ch ch desOrSelf" ptType="node node node" st="1 4 1" cnt="1 1 0"/>
              </dgm:else>
            </dgm:choose>
            <dgm:constrLst/>
            <dgm:ruleLst>
              <dgm:rule type="primFontSz" val="5" fact="NaN" max="NaN"/>
            </dgm:ruleLst>
          </dgm:layoutNode>
          <dgm:layoutNode name="tile4" styleLbl="node1">
            <dgm:alg type="sp"/>
            <dgm:shape xmlns:r="http://schemas.openxmlformats.org/officeDocument/2006/relationships" rot="90" type="round1Rect" r:blip="">
              <dgm:adjLst/>
            </dgm:shape>
            <dgm:choose name="Name29">
              <dgm:if name="Name30" func="var" arg="dir" op="equ" val="norm">
                <dgm:presOf axis="ch ch desOrSelf" ptType="node node node" st="1 4 1" cnt="1 1 0"/>
              </dgm:if>
              <dgm:else name="Name31">
                <dgm:presOf axis="ch ch desOrSelf" ptType="node node node" st="1 3 1" cnt="1 1 0"/>
              </dgm:else>
            </dgm:choose>
            <dgm:constrLst/>
            <dgm:ruleLst/>
          </dgm:layoutNode>
          <dgm:layoutNode name="tile4text" styleLbl="node1">
            <dgm:varLst>
              <dgm:chMax val="0"/>
              <dgm:chPref val="0"/>
              <dgm:bulletEnabled val="1"/>
            </dgm:varLst>
            <dgm:choose name="Name32">
              <dgm:if name="Name33" axis="root des" func="maxDepth" op="gte" val="3">
                <dgm:alg type="tx">
                  <dgm:param type="txAnchorVert" val="t"/>
                  <dgm:param type="parTxLTRAlign" val="l"/>
                  <dgm:param type="parTxRTLAlign" val="r"/>
                </dgm:alg>
              </dgm:if>
              <dgm:else name="Name34">
                <dgm:alg type="tx"/>
              </dgm:else>
            </dgm:choose>
            <dgm:shape xmlns:r="http://schemas.openxmlformats.org/officeDocument/2006/relationships" rot="90" type="rect" r:blip="" hideGeom="1">
              <dgm:adjLst/>
            </dgm:shape>
            <dgm:choose name="Name35">
              <dgm:if name="Name36" func="var" arg="dir" op="equ" val="norm">
                <dgm:presOf axis="ch ch desOrSelf" ptType="node node node" st="1 4 1" cnt="1 1 0"/>
              </dgm:if>
              <dgm:else name="Name37">
                <dgm:presOf axis="ch ch desOrSelf" ptType="node node node" st="1 3 1" cnt="1 1 0"/>
              </dgm:else>
            </dgm:choose>
            <dgm:constrLst/>
            <dgm:ruleLst>
              <dgm:rule type="primFontSz" val="5" fact="NaN" max="NaN"/>
            </dgm:ruleLst>
          </dgm:layoutNode>
        </dgm:layoutNode>
        <dgm:layoutNode name="centerTile" styleLbl="fgShp">
          <dgm:varLst>
            <dgm:chMax val="0"/>
            <dgm:chPref val="0"/>
          </dgm:varLst>
          <dgm:alg type="tx"/>
          <dgm:shape xmlns:r="http://schemas.openxmlformats.org/officeDocument/2006/relationships" type="roundRect" r:blip="">
            <dgm:adjLst/>
          </dgm:shape>
          <dgm:presOf axis="ch" ptType="node" cnt="1"/>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8"/>
    </dgm:choose>
  </dgm:layoutNode>
</dgm:layoutDef>
</file>

<file path=ppt/diagrams/layout5.xml><?xml version="1.0" encoding="utf-8"?>
<dgm:layoutDef xmlns:dgm="http://schemas.openxmlformats.org/drawingml/2006/diagram" xmlns:a="http://schemas.openxmlformats.org/drawingml/2006/main" uniqueId="urn:microsoft.com/office/officeart/2024/layout/BulletTimeline">
  <dgm:title val=""/>
  <dgm:desc val=""/>
  <dgm:catLst>
    <dgm:cat type="process" pri="7450"/>
    <dgm:cat type="timeline" pri="100"/>
  </dgm:catLst>
  <dgm:sampData>
    <dgm:dataModel>
      <dgm:ptLst>
        <dgm:pt modelId="0" type="doc"/>
        <dgm:pt modelId="10">
          <dgm:prSet phldrT="Add an event" phldr="1"/>
        </dgm:pt>
        <dgm:pt modelId="11">
          <dgm:prSet phldrT="Write a description of the significance of this event" phldr="1"/>
        </dgm:pt>
        <dgm:pt modelId="20">
          <dgm:prSet phldrT="Add an event" phldr="1"/>
        </dgm:pt>
        <dgm:pt modelId="21">
          <dgm:prSet phldrT="Write a description of the significance of this event" phldr="1"/>
        </dgm:pt>
        <dgm:pt modelId="30">
          <dgm:prSet phldrT="Add an event" phldr="1"/>
        </dgm:pt>
        <dgm:pt modelId="31">
          <dgm:prSet phldrT="Write a description of the significance of this event" phldr="1"/>
        </dgm:pt>
        <dgm:pt modelId="40">
          <dgm:prSet phldrT="Add an event" phldr="1"/>
        </dgm:pt>
        <dgm:pt modelId="41">
          <dgm:prSet phldrT="Write a description of the significance of this event" phldr="1"/>
        </dgm:pt>
        <dgm:pt modelId="50">
          <dgm:prSet phldrT="Add an event" phldr="1"/>
        </dgm:pt>
        <dgm:pt modelId="51">
          <dgm:prSet phldrT="Write a description of the significance of this event" phldr="1"/>
        </dgm:pt>
      </dgm:ptLst>
      <dgm:cxnLst>
        <dgm:cxn modelId="100" srcId="0" destId="10" srcOrd="0" destOrd="0"/>
        <dgm:cxn modelId="12" srcId="10" destId="11" srcOrd="0" destOrd="0"/>
        <dgm:cxn modelId="101" srcId="0" destId="20" srcOrd="1" destOrd="0"/>
        <dgm:cxn modelId="22" srcId="20" destId="21" srcOrd="0" destOrd="0"/>
        <dgm:cxn modelId="102" srcId="0" destId="30" srcOrd="2" destOrd="0"/>
        <dgm:cxn modelId="32" srcId="30" destId="31" srcOrd="0" destOrd="0"/>
        <dgm:cxn modelId="103" srcId="0" destId="40" srcOrd="3" destOrd="0"/>
        <dgm:cxn modelId="42" srcId="40" destId="41" srcOrd="0" destOrd="0"/>
        <dgm:cxn modelId="104" srcId="0" destId="50" srcOrd="4" destOrd="0"/>
        <dgm:cxn modelId="52" srcId="50" destId="5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
    <dgm:varLst>
      <dgm:dir/>
      <dgm:animLvl val="lvl"/>
    </dgm:varLst>
    <dgm:alg type="composite"/>
    <dgm:shape xmlns:r="http://schemas.openxmlformats.org/officeDocument/2006/relationships" r:blip="">
      <dgm:adjLst/>
    </dgm:shape>
    <dgm:constrLst>
      <dgm:constr type="w" for="ch" forName="divider" refType="w"/>
      <dgm:constr type="h" for="ch" forName="divider" refType="h" fact="0.1"/>
      <dgm:constr type="ctrY" for="ch" forName="divider" refType="h" fact="0.5"/>
      <dgm:constr type="l" for="ch" forName="divider"/>
      <dgm:constr type="w" for="ch" forName="nodes" refType="w"/>
      <dgm:constr type="h" for="ch" forName="nodes" refType="h" fact="0.8"/>
      <dgm:constr type="ctrY" for="ch" forName="nodes" refType="h" fact="0.5"/>
    </dgm:constrLst>
    <dgm:layoutNode name="divider">
      <dgm:alg type="composite"/>
      <dgm:shape xmlns:r="http://schemas.openxmlformats.org/officeDocument/2006/relationships" r:blip="">
        <dgm:adjLst/>
      </dgm:shape>
      <dgm:presOf/>
      <dgm:choose name="DividerDirection">
        <dgm:if name="DividerLTR" func="var" arg="dir" op="equ" val="norm">
          <dgm:constrLst>
            <dgm:constr type="w" for="ch" forName="rectBar" refType="w" fact="0.996"/>
            <dgm:constr type="h" for="ch" forName="rectBar" refType="h" fact="0.1"/>
            <dgm:constr type="l" for="ch" forName="rectBar"/>
            <dgm:constr type="ctrY" for="ch" forName="rectBar" refType="h" fact="0.5"/>
            <dgm:constr type="w" for="ch" forName="chevronArrow" refType="h" fact="0.6"/>
            <dgm:constr type="h" for="ch" forName="chevronArrow" refType="h" fact="0.8"/>
            <dgm:constr type="r" for="ch" forName="chevronArrow" refType="w"/>
            <dgm:constr type="ctrY" for="ch" forName="chevronArrow" refType="h" fact="0.5"/>
          </dgm:constrLst>
        </dgm:if>
        <dgm:else name="DividerRTL">
          <dgm:constrLst>
            <dgm:constr type="w" for="ch" forName="rectBar" refType="w" fact="0.996"/>
            <dgm:constr type="h" for="ch" forName="rectBar" refType="h" fact="0.1"/>
            <dgm:constr type="r" for="ch" forName="rectBar" refType="w"/>
            <dgm:constr type="ctrY" for="ch" forName="rectBar" refType="h" fact="0.5"/>
            <dgm:constr type="w" for="ch" forName="chevronArrow" refType="h" fact="0.6"/>
            <dgm:constr type="h" for="ch" forName="chevronArrow" refType="h" fact="0.8"/>
            <dgm:constr type="l" for="ch" forName="chevronArrow"/>
            <dgm:constr type="ctrY" for="ch" forName="chevronArrow" refType="h" fact="0.5"/>
          </dgm:constrLst>
        </dgm:else>
      </dgm:choose>
      <dgm:ruleLst/>
      <dgm:layoutNode name="rectBar" styleLbl="dkBgShp">
        <dgm:alg type="sp"/>
        <dgm:shape xmlns:r="http://schemas.openxmlformats.org/officeDocument/2006/relationships" type="rect" r:blip="" zOrderOff="-1">
          <dgm:adjLst/>
          <dgm:extLst>
            <a:ext uri="{B698B0E9-8C71-41B9-8309-B3DCBF30829C}">
              <dgm1612:spPr xmlns:dgm1612="http://schemas.microsoft.com/office/drawing/2016/12/diagram">
                <a:gradFill rotWithShape="0">
                  <a:gsLst>
                    <a:gs pos="0">
                      <a:schemeClr val="accent1">
                        <a:tint val="76000"/>
                      </a:schemeClr>
                    </a:gs>
                    <a:gs pos="100000">
                      <a:schemeClr val="accent1">
                        <a:tint val="76000"/>
                      </a:schemeClr>
                    </a:gs>
                  </a:gsLst>
                  <a:lin ang="0" scaled="0"/>
                </a:gradFill>
              </dgm1612:spPr>
            </a:ext>
          </dgm:extLst>
        </dgm:shape>
        <dgm:presOf/>
        <dgm:constrLst/>
        <dgm:ruleLst/>
      </dgm:layoutNode>
      <dgm:layoutNode name="chevronArrow" styleLbl="dkBgShp">
        <dgm:alg type="sp"/>
        <dgm:choose name="ChevronDir">
          <dgm:if name="ChevronLTR" func="var" arg="dir" op="equ" val="norm">
            <dgm:shape xmlns:r="http://schemas.openxmlformats.org/officeDocument/2006/relationships" type="chevron" r:blip="" zOrderOff="-1">
              <dgm:adjLst>
                <dgm:adj idx="1" val="0.75"/>
              </dgm:adjLst>
              <dgm:extLst>
                <a:ext uri="{B698B0E9-8C71-41B9-8309-B3DCBF30829C}">
                  <dgm1612:spPr xmlns:dgm1612="http://schemas.microsoft.com/office/drawing/2016/12/diagram">
                    <a:gradFill rotWithShape="0">
                      <a:gsLst>
                        <a:gs pos="0">
                          <a:schemeClr val="accent1">
                            <a:tint val="76000"/>
                          </a:schemeClr>
                        </a:gs>
                        <a:gs pos="100000">
                          <a:schemeClr val="accent1">
                            <a:tint val="76000"/>
                          </a:schemeClr>
                        </a:gs>
                      </a:gsLst>
                      <a:lin ang="0" scaled="0"/>
                    </a:gradFill>
                  </dgm1612:spPr>
                </a:ext>
              </dgm:extLst>
            </dgm:shape>
          </dgm:if>
          <dgm:else name="ChevronRTL">
            <dgm:shape xmlns:r="http://schemas.openxmlformats.org/officeDocument/2006/relationships" rot="180" type="chevron" r:blip="" zOrderOff="-1">
              <dgm:adjLst>
                <dgm:adj idx="1" val="0.75"/>
              </dgm:adjLst>
              <dgm:extLst>
                <a:ext uri="{B698B0E9-8C71-41B9-8309-B3DCBF30829C}">
                  <dgm1612:spPr xmlns:dgm1612="http://schemas.microsoft.com/office/drawing/2016/12/diagram">
                    <a:gradFill rotWithShape="0">
                      <a:gsLst>
                        <a:gs pos="0">
                          <a:schemeClr val="accent1">
                            <a:tint val="76000"/>
                          </a:schemeClr>
                        </a:gs>
                        <a:gs pos="100000">
                          <a:schemeClr val="accent1">
                            <a:tint val="76000"/>
                          </a:schemeClr>
                        </a:gs>
                      </a:gsLst>
                      <a:lin ang="0" scaled="0"/>
                    </a:gradFill>
                  </dgm1612:spPr>
                </a:ext>
              </dgm:extLst>
            </dgm:shape>
          </dgm:else>
        </dgm:choose>
        <dgm:presOf/>
        <dgm:constrLst/>
        <dgm:ruleLst/>
      </dgm:layoutNode>
    </dgm:layoutNode>
    <dgm:layoutNode name="nodes">
      <dgm:varLst>
        <dgm:chMax/>
        <dgm:chPref/>
        <dgm:animLvl val="lvl"/>
      </dgm:varLst>
      <dgm:choose name="Name1">
        <dgm:if name="Name2" func="var" arg="dir" op="equ" val="norm">
          <dgm:alg type="lin">
            <dgm:param type="fallback" val="1D"/>
          </dgm:alg>
        </dgm:if>
        <dgm:else name="Name3">
          <dgm:alg type="lin">
            <dgm:param type="linDir" val="fromR"/>
            <dgm:param type="fallback" val="1D"/>
          </dgm:alg>
        </dgm:else>
      </dgm:choose>
      <dgm:shape xmlns:r="http://schemas.openxmlformats.org/officeDocument/2006/relationships" r:blip="">
        <dgm:adjLst/>
      </dgm:shape>
      <dgm:constrLst>
        <dgm:constr type="primFontSz" for="des" forName="L1TextContainer" val="20"/>
        <dgm:constr type="primFontSz" for="des" forName="L2TextContainer" refType="primFontSz" refFor="des" refForName="L1TextContainer" op="equ" fact="0.75"/>
        <dgm:constr type="w" for="ch" forName="composite" refType="w"/>
        <dgm:constr type="h" for="ch" forName="composite" refType="h"/>
        <dgm:constr type="w" for="ch" forName="spaceBetweenRectangles" refType="w" refFor="ch" refForName="composite" fact="-0.5"/>
        <dgm:constr type="w" for="ch" ptType="sibTrans" op="equ"/>
        <dgm:constr type="primFontSz" for="des" forName="L1TextContainer" op="equ"/>
        <dgm:constr type="primFontSz" for="des" forName="L2TextContainer" op="equ"/>
        <dgm:constr type="primFontSz" for="des" forName="L1TextContainer1" val="20"/>
        <dgm:constr type="primFontSz" for="des" forName="L2TextContainer1" refType="primFontSz" refFor="des" refForName="L1TextContainer1" op="equ" fact="0.75"/>
        <dgm:constr type="w" for="ch" forName="composite1" refType="w"/>
        <dgm:constr type="h" for="ch" forName="composite1" refType="h"/>
        <dgm:constr type="w" for="ch" forName="spaceBetweenRectangles1" refType="w" refFor="ch" refForName="composite1" fact="0.28"/>
        <dgm:constr type="primFontSz" for="des" forName="L1TextContainer1" op="equ"/>
        <dgm:constr type="primFontSz" for="des" forName="L2TextContainer1" op="equ"/>
      </dgm:constrLst>
      <dgm:choose name="LayoutBasedOnCountOfNodes">
        <dgm:if name="LessThanOrEqualToTwoNodes" axis="ch" ptType="node" func="cnt" op="lte" val="2">
          <dgm:forEach name="nodesForEach1" axis="ch" ptType="node">
            <dgm:layoutNode name="composite1">
              <dgm:alg type="composite"/>
              <dgm:shape xmlns:r="http://schemas.openxmlformats.org/officeDocument/2006/relationships" r:blip="">
                <dgm:adjLst/>
              </dgm:shape>
              <dgm:choose name="CaseForLayoutDirection1">
                <dgm:if name="CaseForLayoutDirectionLTR1" func="var" arg="dir" op="equ" val="norm">
                  <dgm:choose name="CaseForPlacingNodesAboveAndBelowDividerLTR1">
                    <dgm:if name="CaseForPlacingNodeAboveDividerLTR1" axis="self" ptType="node" func="posOdd" op="equ" val="1">
                      <dgm:constrLst>
                        <dgm:constr type="w" for="ch" forName="ConnectorPoint1" refType="h" refFor="ch" refForName="DropPinPlaceHolder1" fact="0.325"/>
                        <dgm:constr type="h" for="ch" forName="ConnectorPoint1" refType="h" refFor="ch" refForName="DropPinPlaceHolder1" fact="0.325"/>
                        <dgm:constr type="ctrX" for="ch" forName="ConnectorPoint1" refType="ctrX" refFor="ch" refForName="ConnectLine1"/>
                        <dgm:constr type="ctrY" for="ch" forName="ConnectorPoint1" refType="h" fact="0.5"/>
                        <dgm:constr type="w" for="ch" forName="DropPinPlaceHolder1" refType="h" fact="0.16"/>
                        <dgm:constr type="h" for="ch" forName="DropPinPlaceHolder1" refType="h" fact="0.16"/>
                        <dgm:constr type="t" for="ch" forName="DropPinPlaceHolder1" refType="h" fact="0"/>
                        <dgm:constr type="l" for="ch" forName="DropPinPlaceHolder1" refType="w" fact="0"/>
                        <dgm:constr type="w" for="ch" forName="L2TextContainer1" refType="w" fact="0.83"/>
                        <dgm:constr type="l" for="ch" forName="L2TextContainer1" refType="r" refFor="ch" refForName="DropPinPlaceHolder1"/>
                        <dgm:constr type="t" for="ch" forName="L2TextContainer1" refType="h" fact="0.16"/>
                        <dgm:constr type="b" for="ch" forName="L2TextContainer1" refType="h" fact="0.45"/>
                        <dgm:constr type="w" for="ch" forName="L1TextContainer1" refType="w" fact="0.83"/>
                        <dgm:constr type="l" for="ch" forName="L1TextContainer1" refType="r" refFor="ch" refForName="DropPinPlaceHolder1"/>
                        <dgm:constr type="t" for="ch" forName="L1TextContainer1" refType="h" fact="0.01"/>
                        <dgm:constr type="b" for="ch" forName="L1TextContainer1" refType="h" fact="0.16"/>
                        <dgm:constr type="w" for="ch" forName="ConnectLine1" refType="h" fact="0.01"/>
                        <dgm:constr type="ctrX" for="ch" forName="ConnectLine1" refType="ctrX" refFor="ch" refForName="DropPinPlaceHolder1"/>
                        <dgm:constr type="b" for="ch" forName="ConnectLine1" refType="h" fact="0.5"/>
                        <dgm:constr type="t" for="ch" forName="ConnectLine1" refType="b" refFor="ch" refForName="DropPinPlaceHolder1" fact="0"/>
                        <dgm:constr type="w" for="ch" forName="EmptyPlaceHolder1" refType="w"/>
                        <dgm:constr type="h" for="ch" forName="EmptyPlaceHolder1" refType="h" fact="0.5"/>
                        <dgm:constr type="t" for="ch" forName="EmptyPlaceHolder1" refType="h" fact="0.5"/>
                      </dgm:constrLst>
                    </dgm:if>
                    <dgm:else name="CaseForPlacingNodeBelowDividerLTR1">
                      <dgm:constrLst>
                        <dgm:constr type="w" for="ch" forName="ConnectorPoint1" refType="h" refFor="ch" refForName="DropPinPlaceHolder1" fact="0.325"/>
                        <dgm:constr type="h" for="ch" forName="ConnectorPoint1" refType="h" refFor="ch" refForName="DropPinPlaceHolder1" fact="0.325"/>
                        <dgm:constr type="ctrX" for="ch" forName="ConnectorPoint1" refType="ctrX" refFor="ch" refForName="ConnectLine1"/>
                        <dgm:constr type="ctrY" for="ch" forName="ConnectorPoint1" refType="h" fact="0.5"/>
                        <dgm:constr type="w" for="ch" forName="DropPinPlaceHolder1" refType="h" fact="0.16"/>
                        <dgm:constr type="h" for="ch" forName="DropPinPlaceHolder1" refType="h" fact="0.16"/>
                        <dgm:constr type="b" for="ch" forName="DropPinPlaceHolder1" refType="h"/>
                        <dgm:constr type="l" for="ch" forName="DropPinPlaceHolder1" refType="w" fact="0"/>
                        <dgm:constr type="w" for="ch" forName="L1TextContainer1" refType="w" fact="0.83"/>
                        <dgm:constr type="l" for="ch" forName="L1TextContainer1" refType="r" refFor="ch" refForName="DropPinPlaceHolder1"/>
                        <dgm:constr type="b" for="ch" forName="L1TextContainer1" refType="h" fact="0.755"/>
                        <dgm:constr type="t" for="ch" forName="L1TextContainer1" refType="h" fact="0.6"/>
                        <dgm:constr type="w" for="ch" forName="L2TextContainer1" refType="w" fact="0.83"/>
                        <dgm:constr type="l" for="ch" forName="L2TextContainer1" refType="r" refFor="ch" refForName="DropPinPlaceHolder1"/>
                        <dgm:constr type="b" for="ch" forName="L2TextContainer1" refType="h" fact="0.99"/>
                        <dgm:constr type="t" for="ch" forName="L2TextContainer1" refType="h" fact="0.755"/>
                        <dgm:constr type="w" for="ch" forName="ConnectLine1" refType="h" fact="0.01"/>
                        <dgm:constr type="ctrX" for="ch" forName="ConnectLine1" refType="ctrX" refFor="ch" refForName="DropPinPlaceHolder1"/>
                        <dgm:constr type="t" for="ch" forName="ConnectLine1" refType="h" fact="0.5"/>
                        <dgm:constr type="b" for="ch" forName="ConnectLine1" refType="b" refFor="ch" refForName="DropPinPlaceHolder1"/>
                        <dgm:constr type="w" for="ch" forName="EmptyPlaceHolder1" refType="w"/>
                        <dgm:constr type="h" for="ch" forName="EmptyPlaceHolder1" refType="h" fact="0.5"/>
                        <dgm:constr type="t" for="ch" forName="EmptyPlaceHolder1" refType="h" fact="0"/>
                      </dgm:constrLst>
                    </dgm:else>
                  </dgm:choose>
                </dgm:if>
                <dgm:else name="CaseForLayoutDirectionRTL1">
                  <dgm:choose name="CaseForPlacingNodesAboveAndBelowDividerRTL1">
                    <dgm:if name="CaseForPlacingNodeAboveDividerRTL1" axis="self" ptType="node" func="posOdd" op="equ" val="1">
                      <dgm:constrLst>
                        <dgm:constr type="w" for="ch" forName="L1TextContainer1" refType="w" fact="0.83"/>
                        <dgm:constr type="l" for="ch" forName="L1TextContainer1" refType="w" fact="0"/>
                        <dgm:constr type="t" for="ch" forName="L1TextContainer1" refType="h" fact="0.01"/>
                        <dgm:constr type="b" for="ch" forName="L1TextContainer1" refType="h" fact="0.16"/>
                        <dgm:constr type="w" for="ch" forName="L2TextContainer1" refType="w" fact="0.83"/>
                        <dgm:constr type="l" for="ch" forName="L2TextContainer1" refType="w" fact="0"/>
                        <dgm:constr type="t" for="ch" forName="L2TextContainer1" refType="h" fact="0.16"/>
                        <dgm:constr type="b" for="ch" forName="L2TextContainer1" refType="h" fact="0.45"/>
                        <dgm:constr type="w" for="ch" forName="DropPinPlaceHolder1" refType="h" fact="0.16"/>
                        <dgm:constr type="h" for="ch" forName="DropPinPlaceHolder1" refType="h" fact="0.16"/>
                        <dgm:constr type="t" for="ch" forName="DropPinPlaceHolder1" refType="h" fact="0"/>
                        <dgm:constr type="r" for="ch" forName="DropPinPlaceHolder1" refType="w"/>
                        <dgm:constr type="w" for="ch" forName="ConnectLine1" refType="h" fact="0.01"/>
                        <dgm:constr type="ctrX" for="ch" forName="ConnectLine1" refType="ctrX" refFor="ch" refForName="DropPinPlaceHolder1"/>
                        <dgm:constr type="b" for="ch" forName="ConnectLine1" refType="h" fact="0.5"/>
                        <dgm:constr type="t" for="ch" forName="ConnectLine1" refType="b" refFor="ch" refForName="DropPinPlaceHolder1" fact="0"/>
                        <dgm:constr type="w" for="ch" forName="ConnectorPoint1" refType="h" refFor="ch" refForName="DropPinPlaceHolder1" fact="0.325"/>
                        <dgm:constr type="h" for="ch" forName="ConnectorPoint1" refType="h" refFor="ch" refForName="DropPinPlaceHolder1" fact="0.325"/>
                        <dgm:constr type="ctrX" for="ch" forName="ConnectorPoint1" refType="ctrX" refFor="ch" refForName="ConnectLine1"/>
                        <dgm:constr type="ctrY" for="ch" forName="ConnectorPoint1" refType="h" fact="0.5"/>
                        <dgm:constr type="w" for="ch" forName="EmptyPlaceHolder1" refType="w"/>
                        <dgm:constr type="h" for="ch" forName="EmptyPlaceHolder1" refType="h" fact="0.5"/>
                        <dgm:constr type="t" for="ch" forName="EmptyPlaceHolder1" refType="h" fact="0.5"/>
                      </dgm:constrLst>
                    </dgm:if>
                    <dgm:else name="CaseForPlacingNodeBelowDividerRTL1">
                      <dgm:constrLst>
                        <dgm:constr type="w" for="ch" forName="L1TextContainer1" refType="w" fact="0.83"/>
                        <dgm:constr type="l" for="ch" forName="L1TextContainer1" refType="w" fact="0"/>
                        <dgm:constr type="b" for="ch" forName="L1TextContainer1" refType="h" fact="0.755"/>
                        <dgm:constr type="t" for="ch" forName="L1TextContainer1" refType="h" fact="0.6"/>
                        <dgm:constr type="w" for="ch" forName="L2TextContainer1" refType="w" fact="0.83"/>
                        <dgm:constr type="l" for="ch" forName="L2TextContainer1" refType="w" fact="0"/>
                        <dgm:constr type="b" for="ch" forName="L2TextContainer1" refType="h" fact="0.99"/>
                        <dgm:constr type="t" for="ch" forName="L2TextContainer1" refType="h" fact="0.755"/>
                        <dgm:constr type="w" for="ch" forName="DropPinPlaceHolder1" refType="h" fact="0.16"/>
                        <dgm:constr type="h" for="ch" forName="DropPinPlaceHolder1" refType="h" fact="0.16"/>
                        <dgm:constr type="b" for="ch" forName="DropPinPlaceHolder1" refType="h"/>
                        <dgm:constr type="r" for="ch" forName="DropPinPlaceHolder1" refType="w"/>
                        <dgm:constr type="w" for="ch" forName="ConnectLine1" refType="h" fact="0.01"/>
                        <dgm:constr type="ctrX" for="ch" forName="ConnectLine1" refType="ctrX" refFor="ch" refForName="DropPinPlaceHolder1"/>
                        <dgm:constr type="t" for="ch" forName="ConnectLine1" refType="h" fact="0.5"/>
                        <dgm:constr type="b" for="ch" forName="ConnectLine1" refType="b" refFor="ch" refForName="DropPinPlaceHolder1"/>
                        <dgm:constr type="w" for="ch" forName="ConnectorPoint1" refType="h" refFor="ch" refForName="DropPinPlaceHolder1" fact="0.325"/>
                        <dgm:constr type="h" for="ch" forName="ConnectorPoint1" refType="h" refFor="ch" refForName="DropPinPlaceHolder1" fact="0.325"/>
                        <dgm:constr type="ctrX" for="ch" forName="ConnectorPoint1" refType="ctrX" refFor="ch" refForName="ConnectLine1"/>
                        <dgm:constr type="ctrY" for="ch" forName="ConnectorPoint1" refType="h" fact="0.5"/>
                        <dgm:constr type="w" for="ch" forName="EmptyPlaceHolder1" refType="w"/>
                        <dgm:constr type="h" for="ch" forName="EmptyPlaceHolder1" refType="h" fact="0.5"/>
                        <dgm:constr type="t" for="ch" forName="EmptyPlaceHolder1" refType="h" fact="0"/>
                      </dgm:constrLst>
                    </dgm:else>
                  </dgm:choose>
                </dgm:else>
              </dgm:choose>
              <dgm:layoutNode name="DropPinPlaceHolder1">
                <dgm:alg type="composite"/>
                <dgm:shape xmlns:r="http://schemas.openxmlformats.org/officeDocument/2006/relationships" r:blip="">
                  <dgm:adjLst/>
                </dgm:shape>
                <dgm:constrLst>
                  <dgm:constr type="w" for="ch" forName="DropPin1" refType="w" fact="0"/>
                  <dgm:constr type="h" for="ch" forName="DropPin1" refType="h" fact="0"/>
                  <dgm:constr type="ctrX" for="ch" forName="DropPin1" refType="w" fact="0"/>
                  <dgm:constr type="ctrY" for="ch" forName="DropPin1" refType="h" fact="0"/>
                  <dgm:constr type="w" for="ch" forName="Ellipse1" refType="w" refFor="ch" refForName="DropPin1" fact="0"/>
                  <dgm:constr type="h" for="ch" forName="Ellipse1" refType="w" refFor="ch" refForName="DropPin1" fact="0"/>
                  <dgm:constr type="ctrX" for="ch" forName="Ellipse1" refType="ctrX" refFor="ch" refForName="DropPin1" fact="0"/>
                  <dgm:constr type="ctrY" for="ch" forName="Ellipse1" refType="ctrY" refFor="ch" refForName="DropPin1" fact="0"/>
                </dgm:constrLst>
                <dgm:layoutNode name="DropPin1" styleLbl="alignNode1">
                  <dgm:alg type="sp"/>
                  <dgm:choose name="CaseForPlacingTearDropAboveAndBelowDivider1">
                    <dgm:if name="CaseForPlacingTearDropAboveDivider1" axis="self" ptType="node" func="posOdd" op="equ" val="1">
                      <dgm:shape xmlns:r="http://schemas.openxmlformats.org/officeDocument/2006/relationships" rot="135" type="teardrop" r:blip="">
                        <dgm:adjLst>
                          <dgm:adj idx="1" val="1.15"/>
                        </dgm:adjLst>
                      </dgm:shape>
                    </dgm:if>
                    <dgm:else name="CaseForPlacingTearDropBelowDivider1">
                      <dgm:shape xmlns:r="http://schemas.openxmlformats.org/officeDocument/2006/relationships" rot="-45" type="teardrop" r:blip="">
                        <dgm:adjLst>
                          <dgm:adj idx="1" val="1.15"/>
                        </dgm:adjLst>
                      </dgm:shape>
                    </dgm:else>
                  </dgm:choose>
                  <dgm:presOf/>
                  <dgm:constrLst/>
                </dgm:layoutNode>
                <dgm:layoutNode name="Ellipse1" styleLbl="fgAcc1" moveWith="DropPin1">
                  <dgm:alg type="sp"/>
                  <dgm:shape xmlns:r="http://schemas.openxmlformats.org/officeDocument/2006/relationships" type="ellipse" r:blip="">
                    <dgm:adjLst/>
                  </dgm:shape>
                  <dgm:presOf/>
                  <dgm:constrLst/>
                </dgm:layoutNode>
              </dgm:layoutNode>
              <dgm:layoutNode name="L2TextContainer1" styleLbl="revTx" moveWith="L1TextContainer">
                <dgm:varLst>
                  <dgm:bulletEnabled val="1"/>
                </dgm:varLst>
                <dgm:choose name="casesForTxtDirLogic1">
                  <dgm:if name="Name771" axis="self" ptType="node" func="posOdd" op="equ" val="1">
                    <dgm:alg type="tx">
                      <dgm:param type="txAnchorVert" val="t"/>
                      <dgm:param type="parTxLTRAlign" val="l"/>
                      <dgm:param type="parTxRTLAlign" val="l"/>
                      <dgm:param type="txAnchorVertCh" val="t"/>
                      <dgm:param type="shpTxRTLAlignCh" val="l"/>
                      <dgm:param type="shpTxLTRAlignCh" val="l"/>
                    </dgm:alg>
                    <dgm:constrLst>
                      <dgm:constr type="lMarg"/>
                      <dgm:constr type="rMarg"/>
                      <dgm:constr type="tMarg"/>
                      <dgm:constr type="bMarg"/>
                    </dgm:constrLst>
                  </dgm:if>
                  <dgm:else name="Name881">
                    <dgm:alg type="tx">
                      <dgm:param type="txAnchorVert" val="t"/>
                      <dgm:param type="parTxLTRAlign" val="l"/>
                      <dgm:param type="parTxRTLAlign" val="l"/>
                      <dgm:param type="txAnchorVertCh" val="t"/>
                      <dgm:param type="shpTxRTLAlignCh" val="l"/>
                      <dgm:param type="shpTxLTRAlignCh" val="l"/>
                    </dgm:alg>
                    <dgm:constrLst>
                      <dgm:constr type="lMarg"/>
                      <dgm:constr type="rMarg"/>
                      <dgm:constr type="tMarg"/>
                      <dgm:constr type="bMarg"/>
                    </dgm:constrLst>
                  </dgm:else>
                </dgm:choose>
                <dgm:shape xmlns:r="http://schemas.openxmlformats.org/officeDocument/2006/relationships" type="rect" r:blip="">
                  <dgm:adjLst/>
                </dgm:shape>
                <dgm:presOf axis="des" ptType="node"/>
                <dgm:ruleLst>
                  <dgm:rule type="primFontSz" val="5" fact="NaN" max="NaN"/>
                </dgm:ruleLst>
              </dgm:layoutNode>
              <dgm:layoutNode name="L1TextContainer1" styleLbl="revTx">
                <dgm:varLst>
                  <dgm:chMax val="1"/>
                  <dgm:chPref val="1"/>
                  <dgm:bulletEnabled val="1"/>
                </dgm:varLst>
                <dgm:alg type="tx">
                  <dgm:param type="txAnchorVert" val="mid"/>
                  <dgm:param type="parTxLTRAlign" val="l"/>
                  <dgm:param type="parTxRTLAlign" val="l"/>
                </dgm:alg>
                <dgm:shape xmlns:r="http://schemas.openxmlformats.org/officeDocument/2006/relationships" type="rect" r:blip="">
                  <dgm:adjLst/>
                </dgm:shape>
                <dgm:presOf axis="self"/>
                <dgm:constrLst>
                  <dgm:constr type="lMarg"/>
                  <dgm:constr type="rMarg"/>
                  <dgm:constr type="tMarg"/>
                  <dgm:constr type="bMarg"/>
                </dgm:constrLst>
                <dgm:ruleLst>
                  <dgm:rule type="primFontSz" val="5" fact="NaN" max="NaN"/>
                </dgm:ruleLst>
              </dgm:layoutNode>
              <dgm:layoutNode name="ConnectLine1" styleLbl="dkBgShp">
                <dgm:alg type="sp"/>
                <dgm:shape xmlns:r="http://schemas.openxmlformats.org/officeDocument/2006/relationships" type="rect" r:blip="">
                  <dgm:adjLst/>
                </dgm:shape>
                <dgm:presOf/>
                <dgm:constrLst/>
              </dgm:layoutNode>
              <dgm:layoutNode name="ConnectorPoint1" moveWith="ConnectLine1">
                <dgm:alg type="composite"/>
                <dgm:shape xmlns:r="http://schemas.openxmlformats.org/officeDocument/2006/relationships" r:blip="">
                  <dgm:adjLst/>
                </dgm:shape>
                <dgm:presOf/>
                <dgm:constrLst>
                  <dgm:constr type="w" for="ch" forName="Bullet1" refType="w"/>
                  <dgm:constr type="h" for="ch" forName="Bullet1" refType="w"/>
                  <dgm:constr type="ctrX" for="ch" forName="Bullet1" refType="w" fact="0.5"/>
                  <dgm:constr type="ctrY" for="ch" forName="Bullet1" refType="h" fact="0.5"/>
                </dgm:constrLst>
                <dgm:layoutNode name="Bullet1" styleLbl="lnNode1">
                  <dgm:alg type="sp"/>
                  <dgm:shape xmlns:r="http://schemas.openxmlformats.org/officeDocument/2006/relationships" type="ellipse" r:blip="" zOrderOff="10">
                    <dgm:adjLst/>
                  </dgm:shape>
                  <dgm:presOf/>
                  <dgm:constrLst/>
                </dgm:layoutNode>
              </dgm:layoutNode>
              <dgm:layoutNode name="EmptyPlaceHolder1">
                <dgm:alg type="sp"/>
                <dgm:shape xmlns:r="http://schemas.openxmlformats.org/officeDocument/2006/relationships" r:blip="">
                  <dgm:adjLst/>
                </dgm:shape>
                <dgm:presOf/>
                <dgm:constrLst/>
              </dgm:layoutNode>
            </dgm:layoutNode>
            <dgm:forEach name="Name281" axis="followSib" ptType="sibTrans" cnt="1">
              <dgm:layoutNode name="spaceBetweenRectangles1">
                <dgm:alg type="sp"/>
                <dgm:shape xmlns:r="http://schemas.openxmlformats.org/officeDocument/2006/relationships" r:blip="">
                  <dgm:adjLst/>
                </dgm:shape>
                <dgm:presOf/>
                <dgm:constrLst/>
                <dgm:ruleLst/>
              </dgm:layoutNode>
            </dgm:forEach>
          </dgm:forEach>
        </dgm:if>
        <dgm:else name="MoreThanTwoNodes">
          <dgm:forEach name="nodesForEach" axis="ch" ptType="node">
            <dgm:layoutNode name="composite">
              <dgm:alg type="composite"/>
              <dgm:shape xmlns:r="http://schemas.openxmlformats.org/officeDocument/2006/relationships" r:blip="">
                <dgm:adjLst/>
              </dgm:shape>
              <dgm:choose name="CaseForLayoutDirection">
                <dgm:if name="CaseForLayoutDirectionLTR" func="var" arg="dir" op="equ" val="norm">
                  <dgm:choose name="CaseForPlacingNodesAboveAndBelowDividerLTR">
                    <dgm:if name="CaseForPlacingNodeAboveDividerLTR" axis="self" ptType="node" func="posOdd" op="equ" val="1">
                      <dgm:constrLst>
                        <dgm:constr type="w" for="ch" forName="ConnectorPoint" refType="h" refFor="ch" refForName="DropPinPlaceHolder" fact="0.325"/>
                        <dgm:constr type="h" for="ch" forName="ConnectorPoint" refType="h" refFor="ch" refForName="DropPinPlaceHolder" fact="0.325"/>
                        <dgm:constr type="ctrX" for="ch" forName="ConnectorPoint" refType="ctrX" refFor="ch" refForName="ConnectLine"/>
                        <dgm:constr type="ctrY" for="ch" forName="ConnectorPoint" refType="h" fact="0.5"/>
                        <dgm:constr type="w" for="ch" forName="DropPinPlaceHolder" refType="h" fact="0.16"/>
                        <dgm:constr type="h" for="ch" forName="DropPinPlaceHolder" refType="h" fact="0.16"/>
                        <dgm:constr type="t" for="ch" forName="DropPinPlaceHolder" refType="h" fact="0"/>
                        <dgm:constr type="l" for="ch" forName="DropPinPlaceHolder" refType="w" fact="0"/>
                        <dgm:constr type="w" for="ch" forName="L2TextContainer" refType="w" fact="0.83"/>
                        <dgm:constr type="l" for="ch" forName="L2TextContainer" refType="r" refFor="ch" refForName="DropPinPlaceHolder"/>
                        <dgm:constr type="t" for="ch" forName="L2TextContainer" refType="h" fact="0.16"/>
                        <dgm:constr type="b" for="ch" forName="L2TextContainer" refType="h" fact="0.45"/>
                        <dgm:constr type="w" for="ch" forName="L1TextContainer" refType="w" fact="0.83"/>
                        <dgm:constr type="l" for="ch" forName="L1TextContainer" refType="r" refFor="ch" refForName="DropPinPlaceHolder"/>
                        <dgm:constr type="t" for="ch" forName="L1TextContainer" refType="h" fact="0.01"/>
                        <dgm:constr type="b" for="ch" forName="L1TextContainer" refType="h" fact="0.16"/>
                        <dgm:constr type="w" for="ch" forName="ConnectLine" refType="h" fact="0.01"/>
                        <dgm:constr type="ctrX" for="ch" forName="ConnectLine" refType="ctrX" refFor="ch" refForName="DropPinPlaceHolder"/>
                        <dgm:constr type="b" for="ch" forName="ConnectLine" refType="h" fact="0.5"/>
                        <dgm:constr type="t" for="ch" forName="ConnectLine" refType="b" refFor="ch" refForName="DropPinPlaceHolder" fact="0"/>
                        <dgm:constr type="w" for="ch" forName="EmptyPlaceHolder" refType="w"/>
                        <dgm:constr type="h" for="ch" forName="EmptyPlaceHolder" refType="h" fact="0.5"/>
                        <dgm:constr type="t" for="ch" forName="EmptyPlaceHolder" refType="h" fact="0.5"/>
                      </dgm:constrLst>
                    </dgm:if>
                    <dgm:else name="CaseForPlacingNodeBelowDividerLTR">
                      <dgm:constrLst>
                        <dgm:constr type="w" for="ch" forName="ConnectorPoint" refType="h" refFor="ch" refForName="DropPinPlaceHolder" fact="0.325"/>
                        <dgm:constr type="h" for="ch" forName="ConnectorPoint" refType="h" refFor="ch" refForName="DropPinPlaceHolder" fact="0.325"/>
                        <dgm:constr type="ctrX" for="ch" forName="ConnectorPoint" refType="ctrX" refFor="ch" refForName="ConnectLine"/>
                        <dgm:constr type="ctrY" for="ch" forName="ConnectorPoint" refType="h" fact="0.5"/>
                        <dgm:constr type="w" for="ch" forName="DropPinPlaceHolder" refType="h" fact="0.16"/>
                        <dgm:constr type="h" for="ch" forName="DropPinPlaceHolder" refType="h" fact="0.16"/>
                        <dgm:constr type="b" for="ch" forName="DropPinPlaceHolder" refType="h"/>
                        <dgm:constr type="l" for="ch" forName="DropPinPlaceHolder" refType="w" fact="0"/>
                        <dgm:constr type="w" for="ch" forName="L1TextContainer" refType="w" fact="0.83"/>
                        <dgm:constr type="l" for="ch" forName="L1TextContainer" refType="r" refFor="ch" refForName="DropPinPlaceHolder"/>
                        <dgm:constr type="b" for="ch" forName="L1TextContainer" refType="h" fact="0.755"/>
                        <dgm:constr type="t" for="ch" forName="L1TextContainer" refType="h" fact="0.6"/>
                        <dgm:constr type="w" for="ch" forName="L2TextContainer" refType="w" fact="0.83"/>
                        <dgm:constr type="l" for="ch" forName="L2TextContainer" refType="r" refFor="ch" refForName="DropPinPlaceHolder"/>
                        <dgm:constr type="b" for="ch" forName="L2TextContainer" refType="h" fact="0.99"/>
                        <dgm:constr type="t" for="ch" forName="L2TextContainer" refType="h" fact="0.755"/>
                        <dgm:constr type="w" for="ch" forName="ConnectLine" refType="h" fact="0.01"/>
                        <dgm:constr type="ctrX" for="ch" forName="ConnectLine" refType="ctrX" refFor="ch" refForName="DropPinPlaceHolder"/>
                        <dgm:constr type="t" for="ch" forName="ConnectLine" refType="h" fact="0.5"/>
                        <dgm:constr type="b" for="ch" forName="ConnectLine" refType="b" refFor="ch" refForName="DropPinPlaceHolder"/>
                        <dgm:constr type="w" for="ch" forName="EmptyPlaceHolder" refType="w"/>
                        <dgm:constr type="h" for="ch" forName="EmptyPlaceHolder" refType="h" fact="0.5"/>
                        <dgm:constr type="t" for="ch" forName="EmptyPlaceHolder" refType="h" fact="0"/>
                      </dgm:constrLst>
                    </dgm:else>
                  </dgm:choose>
                </dgm:if>
                <dgm:else name="CaseForLayoutDirectionRTL">
                  <dgm:choose name="CaseForPlacingNodesAboveAndBelowDividerRTL">
                    <dgm:if name="CaseForPlacingNodeAboveDividerRTL" axis="self" ptType="node" func="posOdd" op="equ" val="1">
                      <dgm:constrLst>
                        <dgm:constr type="w" for="ch" forName="L1TextContainer" refType="w" fact="0.83"/>
                        <dgm:constr type="l" for="ch" forName="L1TextContainer" refType="w" fact="0"/>
                        <dgm:constr type="t" for="ch" forName="L1TextContainer" refType="h" fact="0.01"/>
                        <dgm:constr type="b" for="ch" forName="L1TextContainer" refType="h" fact="0.16"/>
                        <dgm:constr type="w" for="ch" forName="L2TextContainer" refType="w" fact="0.83"/>
                        <dgm:constr type="l" for="ch" forName="L2TextContainer" refType="w" fact="0"/>
                        <dgm:constr type="t" for="ch" forName="L2TextContainer" refType="h" fact="0.16"/>
                        <dgm:constr type="b" for="ch" forName="L2TextContainer" refType="h" fact="0.45"/>
                        <dgm:constr type="w" for="ch" forName="DropPinPlaceHolder" refType="h" fact="0.16"/>
                        <dgm:constr type="h" for="ch" forName="DropPinPlaceHolder" refType="h" fact="0.16"/>
                        <dgm:constr type="t" for="ch" forName="DropPinPlaceHolder" refType="h" fact="0"/>
                        <dgm:constr type="r" for="ch" forName="DropPinPlaceHolder" refType="w"/>
                        <dgm:constr type="w" for="ch" forName="ConnectLine" refType="h" fact="0.01"/>
                        <dgm:constr type="ctrX" for="ch" forName="ConnectLine" refType="ctrX" refFor="ch" refForName="DropPinPlaceHolder"/>
                        <dgm:constr type="b" for="ch" forName="ConnectLine" refType="h" fact="0.5"/>
                        <dgm:constr type="t" for="ch" forName="ConnectLine" refType="b" refFor="ch" refForName="DropPinPlaceHolder" fact="0"/>
                        <dgm:constr type="w" for="ch" forName="ConnectorPoint" refType="h" refFor="ch" refForName="DropPinPlaceHolder" fact="0.325"/>
                        <dgm:constr type="h" for="ch" forName="ConnectorPoint" refType="h" refFor="ch" refForName="DropPinPlaceHolder" fact="0.325"/>
                        <dgm:constr type="ctrX" for="ch" forName="ConnectorPoint" refType="ctrX" refFor="ch" refForName="ConnectLine"/>
                        <dgm:constr type="ctrY" for="ch" forName="ConnectorPoint" refType="h" fact="0.5"/>
                        <dgm:constr type="w" for="ch" forName="EmptyPlaceHolder" refType="w"/>
                        <dgm:constr type="h" for="ch" forName="EmptyPlaceHolder" refType="h" fact="0.5"/>
                        <dgm:constr type="t" for="ch" forName="EmptyPlaceHolder" refType="h" fact="0.5"/>
                      </dgm:constrLst>
                    </dgm:if>
                    <dgm:else name="CaseForPlacingNodeBelowDividerRTL">
                      <dgm:constrLst>
                        <dgm:constr type="w" for="ch" forName="L1TextContainer" refType="w" fact="0.83"/>
                        <dgm:constr type="l" for="ch" forName="L1TextContainer" refType="w" fact="0"/>
                        <dgm:constr type="b" for="ch" forName="L1TextContainer" refType="h" fact="0.755"/>
                        <dgm:constr type="t" for="ch" forName="L1TextContainer" refType="h" fact="0.6"/>
                        <dgm:constr type="w" for="ch" forName="L2TextContainer" refType="w" fact="0.83"/>
                        <dgm:constr type="l" for="ch" forName="L2TextContainer" refType="w" fact="0"/>
                        <dgm:constr type="b" for="ch" forName="L2TextContainer" refType="h" fact="0.99"/>
                        <dgm:constr type="t" for="ch" forName="L2TextContainer" refType="h" fact="0.755"/>
                        <dgm:constr type="w" for="ch" forName="DropPinPlaceHolder" refType="h" fact="0.16"/>
                        <dgm:constr type="h" for="ch" forName="DropPinPlaceHolder" refType="h" fact="0.16"/>
                        <dgm:constr type="b" for="ch" forName="DropPinPlaceHolder" refType="h"/>
                        <dgm:constr type="r" for="ch" forName="DropPinPlaceHolder" refType="w"/>
                        <dgm:constr type="w" for="ch" forName="ConnectLine" refType="h" fact="0.01"/>
                        <dgm:constr type="ctrX" for="ch" forName="ConnectLine" refType="ctrX" refFor="ch" refForName="DropPinPlaceHolder"/>
                        <dgm:constr type="t" for="ch" forName="ConnectLine" refType="h" fact="0.5"/>
                        <dgm:constr type="b" for="ch" forName="ConnectLine" refType="b" refFor="ch" refForName="DropPinPlaceHolder"/>
                        <dgm:constr type="w" for="ch" forName="ConnectorPoint" refType="h" refFor="ch" refForName="DropPinPlaceHolder" fact="0.325"/>
                        <dgm:constr type="h" for="ch" forName="ConnectorPoint" refType="h" refFor="ch" refForName="DropPinPlaceHolder" fact="0.325"/>
                        <dgm:constr type="ctrX" for="ch" forName="ConnectorPoint" refType="ctrX" refFor="ch" refForName="ConnectLine"/>
                        <dgm:constr type="ctrY" for="ch" forName="ConnectorPoint" refType="h" fact="0.5"/>
                        <dgm:constr type="w" for="ch" forName="EmptyPlaceHolder" refType="w"/>
                        <dgm:constr type="h" for="ch" forName="EmptyPlaceHolder" refType="h" fact="0.5"/>
                        <dgm:constr type="t" for="ch" forName="EmptyPlaceHolder" refType="h" fact="0"/>
                      </dgm:constrLst>
                    </dgm:else>
                  </dgm:choose>
                </dgm:else>
              </dgm:choose>
              <dgm:layoutNode name="DropPinPlaceHolder">
                <dgm:alg type="composite"/>
                <dgm:shape xmlns:r="http://schemas.openxmlformats.org/officeDocument/2006/relationships" r:blip="">
                  <dgm:adjLst/>
                </dgm:shape>
                <dgm:constrLst>
                  <dgm:constr type="w" for="ch" forName="DropPin" refType="w" fact="0"/>
                  <dgm:constr type="h" for="ch" forName="DropPin" refType="h" fact="0"/>
                  <dgm:constr type="ctrX" for="ch" forName="DropPin" refType="w" fact="0"/>
                  <dgm:constr type="ctrY" for="ch" forName="DropPin" refType="h" fact="0"/>
                  <dgm:constr type="w" for="ch" forName="Ellipse" refType="w" refFor="ch" refForName="DropPin" fact="0"/>
                  <dgm:constr type="h" for="ch" forName="Ellipse" refType="w" refFor="ch" refForName="DropPin" fact="0"/>
                  <dgm:constr type="ctrX" for="ch" forName="Ellipse" refType="ctrX" refFor="ch" refForName="DropPin" fact="0"/>
                  <dgm:constr type="ctrY" for="ch" forName="Ellipse" refType="ctrY" refFor="ch" refForName="DropPin" fact="0"/>
                </dgm:constrLst>
                <dgm:layoutNode name="DropPin" styleLbl="alignNode1">
                  <dgm:alg type="sp"/>
                  <dgm:choose name="CaseForPlacingTearDropAboveAndBelowDivider">
                    <dgm:if name="CaseForPlacingTearDropAboveDivider" axis="self" ptType="node" func="posOdd" op="equ" val="1">
                      <dgm:shape xmlns:r="http://schemas.openxmlformats.org/officeDocument/2006/relationships" rot="135" type="teardrop" r:blip="">
                        <dgm:adjLst>
                          <dgm:adj idx="1" val="1.15"/>
                        </dgm:adjLst>
                      </dgm:shape>
                    </dgm:if>
                    <dgm:else name="CaseForPlacingTearDropBelowDivider">
                      <dgm:shape xmlns:r="http://schemas.openxmlformats.org/officeDocument/2006/relationships" rot="-45" type="teardrop" r:blip="">
                        <dgm:adjLst>
                          <dgm:adj idx="1" val="1.15"/>
                        </dgm:adjLst>
                      </dgm:shape>
                    </dgm:else>
                  </dgm:choose>
                  <dgm:presOf/>
                  <dgm:constrLst/>
                </dgm:layoutNode>
                <dgm:layoutNode name="Ellipse" styleLbl="fgAcc1" moveWith="DropPin">
                  <dgm:alg type="sp"/>
                  <dgm:shape xmlns:r="http://schemas.openxmlformats.org/officeDocument/2006/relationships" type="ellipse" r:blip="">
                    <dgm:adjLst/>
                  </dgm:shape>
                  <dgm:presOf/>
                  <dgm:constrLst/>
                </dgm:layoutNode>
              </dgm:layoutNode>
              <dgm:layoutNode name="L2TextContainer" styleLbl="revTx" moveWith="L1TextContainer">
                <dgm:varLst>
                  <dgm:bulletEnabled val="1"/>
                </dgm:varLst>
                <dgm:choose name="casesForTxtDirLogic">
                  <dgm:if name="Name77" axis="self" ptType="node" func="posOdd" op="equ" val="1">
                    <dgm:alg type="tx">
                      <dgm:param type="txAnchorVert" val="t"/>
                      <dgm:param type="parTxLTRAlign" val="l"/>
                      <dgm:param type="parTxRTLAlign" val="l"/>
                      <dgm:param type="txAnchorVertCh" val="t"/>
                      <dgm:param type="shpTxRTLAlignCh" val="l"/>
                      <dgm:param type="shpTxLTRAlignCh" val="l"/>
                    </dgm:alg>
                    <dgm:constrLst>
                      <dgm:constr type="lMarg"/>
                      <dgm:constr type="rMarg"/>
                      <dgm:constr type="tMarg"/>
                      <dgm:constr type="bMarg"/>
                    </dgm:constrLst>
                  </dgm:if>
                  <dgm:else name="Name88">
                    <dgm:alg type="tx">
                      <dgm:param type="txAnchorVert" val="t"/>
                      <dgm:param type="parTxLTRAlign" val="l"/>
                      <dgm:param type="parTxRTLAlign" val="l"/>
                      <dgm:param type="txAnchorVertCh" val="t"/>
                      <dgm:param type="shpTxRTLAlignCh" val="l"/>
                      <dgm:param type="shpTxLTRAlignCh" val="l"/>
                    </dgm:alg>
                    <dgm:constrLst>
                      <dgm:constr type="lMarg"/>
                      <dgm:constr type="rMarg"/>
                      <dgm:constr type="tMarg"/>
                      <dgm:constr type="bMarg"/>
                    </dgm:constrLst>
                  </dgm:else>
                </dgm:choose>
                <dgm:shape xmlns:r="http://schemas.openxmlformats.org/officeDocument/2006/relationships" type="rect" r:blip="">
                  <dgm:adjLst/>
                </dgm:shape>
                <dgm:presOf axis="des" ptType="node"/>
                <dgm:ruleLst>
                  <dgm:rule type="primFontSz" val="5" fact="NaN" max="NaN"/>
                </dgm:ruleLst>
              </dgm:layoutNode>
              <dgm:layoutNode name="L1TextContainer" styleLbl="revTx">
                <dgm:varLst>
                  <dgm:chMax val="1"/>
                  <dgm:chPref val="1"/>
                  <dgm:bulletEnabled val="1"/>
                </dgm:varLst>
                <dgm:alg type="tx">
                  <dgm:param type="txAnchorVert" val="mid"/>
                  <dgm:param type="parTxLTRAlign" val="l"/>
                  <dgm:param type="parTxRTLAlign" val="l"/>
                </dgm:alg>
                <dgm:shape xmlns:r="http://schemas.openxmlformats.org/officeDocument/2006/relationships" type="rect" r:blip="">
                  <dgm:adjLst/>
                </dgm:shape>
                <dgm:presOf axis="self"/>
                <dgm:constrLst>
                  <dgm:constr type="lMarg"/>
                  <dgm:constr type="rMarg"/>
                  <dgm:constr type="tMarg"/>
                  <dgm:constr type="bMarg"/>
                </dgm:constrLst>
                <dgm:ruleLst>
                  <dgm:rule type="primFontSz" val="5" fact="NaN" max="NaN"/>
                </dgm:ruleLst>
              </dgm:layoutNode>
              <dgm:layoutNode name="ConnectLine" styleLbl="dkBgShp">
                <dgm:alg type="sp"/>
                <dgm:shape xmlns:r="http://schemas.openxmlformats.org/officeDocument/2006/relationships" type="rect" r:blip="">
                  <dgm:adjLst/>
                </dgm:shape>
                <dgm:presOf/>
                <dgm:constrLst/>
              </dgm:layoutNode>
              <dgm:layoutNode name="ConnectorPoint" moveWith="ConnectLine">
                <dgm:alg type="composite"/>
                <dgm:shape xmlns:r="http://schemas.openxmlformats.org/officeDocument/2006/relationships" r:blip="">
                  <dgm:adjLst/>
                </dgm:shape>
                <dgm:presOf/>
                <dgm:constrLst>
                  <dgm:constr type="w" for="ch" forName="Bullet" refType="w"/>
                  <dgm:constr type="h" for="ch" forName="Bullet" refType="w"/>
                  <dgm:constr type="ctrX" for="ch" forName="Bullet" refType="w" fact="0.5"/>
                  <dgm:constr type="ctrY" for="ch" forName="Bullet" refType="h" fact="0.5"/>
                </dgm:constrLst>
                <dgm:layoutNode name="Bullet" styleLbl="lnNode1">
                  <dgm:alg type="sp"/>
                  <dgm:shape xmlns:r="http://schemas.openxmlformats.org/officeDocument/2006/relationships" type="ellipse" r:blip="" zOrderOff="10">
                    <dgm:adjLst/>
                  </dgm:shape>
                  <dgm:presOf/>
                  <dgm:constrLst/>
                </dgm:layoutNode>
              </dgm:layoutNode>
              <dgm:layoutNode name="EmptyPlaceHolder">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else>
      </dgm:choose>
    </dgm:layoutNode>
  </dgm:layoutNode>
  <dgm:extLst>
    <a:ext uri="{68A01E43-0DF5-4B5B-8FA6-DAF915123BFB}">
      <dgm1612:lstStyle xmlns:dgm1612="http://schemas.microsoft.com/office/drawing/2016/12/diagram">
        <a:lvl1pPr>
          <a:defRPr b="1"/>
        </a:lvl1pPr>
      </dgm1612:lstStyle>
    </a:ext>
  </dgm:extLst>
</dgm:layoutDef>
</file>

<file path=ppt/diagrams/layout6.xml><?xml version="1.0" encoding="utf-8"?>
<dgm:layoutDef xmlns:dgm="http://schemas.openxmlformats.org/drawingml/2006/diagram" xmlns:a="http://schemas.openxmlformats.org/drawingml/2006/main" uniqueId="urn:microsoft.com/office/officeart/2005/8/layout/balance1">
  <dgm:title val=""/>
  <dgm:desc val=""/>
  <dgm:catLst>
    <dgm:cat type="relationship" pri="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23">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25" srcId="2" destId="23" srcOrd="0" destOrd="0"/>
      </dgm:cxnLst>
      <dgm:bg/>
      <dgm:whole/>
    </dgm:dataModel>
  </dgm:sampData>
  <dgm:styleData>
    <dgm:dataModel>
      <dgm:ptLst>
        <dgm:pt modelId="0" type="doc"/>
        <dgm:pt modelId="1"/>
        <dgm:pt modelId="11"/>
        <dgm:pt modelId="12"/>
        <dgm:pt modelId="2"/>
        <dgm:pt modelId="21"/>
        <dgm:pt modelId="22"/>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tyleData>
  <dgm:clrData>
    <dgm:dataModel>
      <dgm:ptLst>
        <dgm:pt modelId="0" type="doc"/>
        <dgm:pt modelId="1"/>
        <dgm:pt modelId="11"/>
        <dgm:pt modelId="12"/>
        <dgm:pt modelId="13"/>
        <dgm:pt modelId="2"/>
        <dgm:pt modelId="21"/>
        <dgm:pt modelId="22"/>
        <dgm:pt modelId="23"/>
      </dgm:ptLst>
      <dgm:cxnLst>
        <dgm:cxn modelId="4" srcId="0" destId="1" srcOrd="0" destOrd="0"/>
        <dgm:cxn modelId="5" srcId="0" destId="2" srcOrd="1" destOrd="0"/>
        <dgm:cxn modelId="15" srcId="1" destId="11" srcOrd="0" destOrd="0"/>
        <dgm:cxn modelId="16" srcId="1" destId="12" srcOrd="0" destOrd="0"/>
        <dgm:cxn modelId="17" srcId="1" destId="13" srcOrd="0" destOrd="0"/>
        <dgm:cxn modelId="25" srcId="2" destId="21" srcOrd="0" destOrd="0"/>
        <dgm:cxn modelId="26" srcId="2" destId="22" srcOrd="0" destOrd="0"/>
        <dgm:cxn modelId="27" srcId="2" destId="23" srcOrd="0" destOrd="0"/>
      </dgm:cxnLst>
      <dgm:bg/>
      <dgm:whole/>
    </dgm:dataModel>
  </dgm:clrData>
  <dgm:layoutNode name="outerComposite">
    <dgm:varLst>
      <dgm:chMax val="2"/>
      <dgm:animLvl val="lvl"/>
      <dgm:resizeHandles val="exact"/>
    </dgm:varLst>
    <dgm:alg type="composite">
      <dgm:param type="ar" val="1"/>
    </dgm:alg>
    <dgm:shape xmlns:r="http://schemas.openxmlformats.org/officeDocument/2006/relationships" r:blip="">
      <dgm:adjLst/>
    </dgm:shape>
    <dgm:presOf/>
    <dgm:constrLst>
      <dgm:constr type="h" for="ch" forName="parentComposite" refType="h" refFor="ch" refForName="dummyMaxCanvas" op="equ" fact="0.2"/>
      <dgm:constr type="t" for="ch" forName="parentComposite"/>
      <dgm:constr type="h" for="ch" forName="childrenComposite" refType="h" refFor="ch" refForName="dummyMaxCanvas" op="equ" fact="0.8"/>
      <dgm:constr type="t" for="ch" forName="childrenComposite" refType="h" refFor="ch" refForName="dummyMaxCanvas" fact="0.2"/>
    </dgm:constrLst>
    <dgm:ruleLst/>
    <dgm:layoutNode name="dummyMaxCanvas">
      <dgm:alg type="sp"/>
      <dgm:shape xmlns:r="http://schemas.openxmlformats.org/officeDocument/2006/relationships" r:blip="">
        <dgm:adjLst/>
      </dgm:shape>
      <dgm:presOf/>
      <dgm:constrLst/>
      <dgm:ruleLst/>
    </dgm:layoutNode>
    <dgm:layoutNode name="parentComposite">
      <dgm:alg type="composite"/>
      <dgm:shape xmlns:r="http://schemas.openxmlformats.org/officeDocument/2006/relationships" r:blip="">
        <dgm:adjLst/>
      </dgm:shape>
      <dgm:presOf/>
      <dgm:constrLst>
        <dgm:constr type="w" for="ch" forName="parent1" refType="w" fact="0.36"/>
        <dgm:constr type="ctrX" for="ch" forName="parent1" refType="w" fact="0.24"/>
        <dgm:constr type="w" for="ch" forName="parent2" refType="w" fact="0.36"/>
        <dgm:constr type="ctrX" for="ch" forName="parent2" refType="w" fact="0.76"/>
        <dgm:constr type="primFontSz" for="ch" ptType="node" op="equ"/>
      </dgm:constrLst>
      <dgm:ruleLst/>
      <dgm:layoutNode name="parent1" styleLbl="alignAccFollowNode1">
        <dgm:varLst>
          <dgm:chMax val="4"/>
        </dgm:varLst>
        <dgm:alg type="tx"/>
        <dgm:shape xmlns:r="http://schemas.openxmlformats.org/officeDocument/2006/relationships" type="roundRect" r:blip="">
          <dgm:adjLst>
            <dgm:adj idx="1" val="0.1"/>
          </dgm:adjLst>
        </dgm:shape>
        <dgm:presOf axis="ch" ptType="node"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2" styleLbl="alignAccFollowNode1">
        <dgm:varLst>
          <dgm:chMax val="4"/>
        </dgm:varLst>
        <dgm:alg type="tx"/>
        <dgm:shape xmlns:r="http://schemas.openxmlformats.org/officeDocument/2006/relationships" type="roundRect" r:blip="">
          <dgm:adjLst>
            <dgm:adj idx="1" val="0.1"/>
          </dgm:adjLst>
        </dgm:shape>
        <dgm:presOf axis="ch" ptType="node" st="2"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name="childrenComposite">
      <dgm:alg type="composite"/>
      <dgm:shape xmlns:r="http://schemas.openxmlformats.org/officeDocument/2006/relationships" r:blip="">
        <dgm:adjLst/>
      </dgm:shape>
      <dgm:presOf/>
      <dgm:constrLst>
        <dgm:constr type="primFontSz" for="ch" ptType="node" op="equ" val="65"/>
        <dgm:constr type="w" for="ch" forName="fulcrum" refType="w" fact="0.15"/>
        <dgm:constr type="h" for="ch" forName="fulcrum" refType="w" refFor="ch" refForName="fulcrum"/>
        <dgm:constr type="b" for="ch" forName="fulcrum" refType="h"/>
        <dgm:constr type="ctrX" for="ch" forName="fulcrum" refType="w" fact="0.5"/>
        <dgm:constr type="w" for="ch" forName="balance_00" refType="w" fact="0.9"/>
        <dgm:constr type="h" for="ch" forName="balance_00" refType="h" fact="0.076"/>
        <dgm:constr type="b" for="ch" forName="balance_00" refType="h" fact="0.81"/>
        <dgm:constr type="ctrX" for="ch" forName="balance_00" refType="w" fact="0.5"/>
        <dgm:constr type="w" for="ch" forName="balance_01" refType="w"/>
        <dgm:constr type="h" for="ch" forName="balance_01" refType="h" fact="0.157"/>
        <dgm:constr type="b" for="ch" forName="balance_01" refType="h" fact="0.85"/>
        <dgm:constr type="ctrX" for="ch" forName="balance_01" refType="w" fact="0.5"/>
        <dgm:constr type="w" for="ch" forName="balance_02" refType="w"/>
        <dgm:constr type="h" for="ch" forName="balance_02" refType="h" fact="0.157"/>
        <dgm:constr type="b" for="ch" forName="balance_02" refType="h" fact="0.85"/>
        <dgm:constr type="ctrX" for="ch" forName="balance_02" refType="w" fact="0.5"/>
        <dgm:constr type="w" for="ch" forName="balance_03" refType="w"/>
        <dgm:constr type="h" for="ch" forName="balance_03" refType="h" fact="0.157"/>
        <dgm:constr type="b" for="ch" forName="balance_03" refType="h" fact="0.85"/>
        <dgm:constr type="ctrX" for="ch" forName="balance_03" refType="w" fact="0.5"/>
        <dgm:constr type="w" for="ch" forName="balance_04" refType="w"/>
        <dgm:constr type="h" for="ch" forName="balance_04" refType="h" fact="0.157"/>
        <dgm:constr type="b" for="ch" forName="balance_04" refType="h" fact="0.85"/>
        <dgm:constr type="ctrX" for="ch" forName="balance_04" refType="w" fact="0.5"/>
        <dgm:constr type="w" for="ch" forName="balance_10" refType="w"/>
        <dgm:constr type="h" for="ch" forName="balance_10" refType="h" fact="0.157"/>
        <dgm:constr type="b" for="ch" forName="balance_10" refType="h" fact="0.85"/>
        <dgm:constr type="ctrX" for="ch" forName="balance_10" refType="w" fact="0.5"/>
        <dgm:constr type="w" for="ch" forName="balance_11" refType="w" fact="0.9"/>
        <dgm:constr type="h" for="ch" forName="balance_11" refType="h" fact="0.076"/>
        <dgm:constr type="b" for="ch" forName="balance_11" refType="h" fact="0.81"/>
        <dgm:constr type="ctrX" for="ch" forName="balance_11" refType="w" fact="0.5"/>
        <dgm:constr type="w" for="ch" forName="balance_12" refType="w"/>
        <dgm:constr type="h" for="ch" forName="balance_12" refType="h" fact="0.157"/>
        <dgm:constr type="b" for="ch" forName="balance_12" refType="h" fact="0.85"/>
        <dgm:constr type="ctrX" for="ch" forName="balance_12" refType="w" fact="0.5"/>
        <dgm:constr type="w" for="ch" forName="balance_13" refType="w"/>
        <dgm:constr type="h" for="ch" forName="balance_13" refType="h" fact="0.157"/>
        <dgm:constr type="b" for="ch" forName="balance_13" refType="h" fact="0.85"/>
        <dgm:constr type="ctrX" for="ch" forName="balance_13" refType="w" fact="0.5"/>
        <dgm:constr type="w" for="ch" forName="balance_14" refType="w"/>
        <dgm:constr type="h" for="ch" forName="balance_14" refType="h" fact="0.157"/>
        <dgm:constr type="b" for="ch" forName="balance_14" refType="h" fact="0.85"/>
        <dgm:constr type="ctrX" for="ch" forName="balance_14" refType="w" fact="0.5"/>
        <dgm:constr type="w" for="ch" forName="balance_20" refType="w"/>
        <dgm:constr type="h" for="ch" forName="balance_20" refType="h" fact="0.157"/>
        <dgm:constr type="b" for="ch" forName="balance_20" refType="h" fact="0.85"/>
        <dgm:constr type="ctrX" for="ch" forName="balance_20" refType="w" fact="0.5"/>
        <dgm:constr type="w" for="ch" forName="balance_21" refType="w"/>
        <dgm:constr type="h" for="ch" forName="balance_21" refType="h" fact="0.157"/>
        <dgm:constr type="b" for="ch" forName="balance_21" refType="h" fact="0.85"/>
        <dgm:constr type="ctrX" for="ch" forName="balance_21" refType="w" fact="0.5"/>
        <dgm:constr type="w" for="ch" forName="balance_22" refType="w" fact="0.9"/>
        <dgm:constr type="h" for="ch" forName="balance_22" refType="h" fact="0.076"/>
        <dgm:constr type="b" for="ch" forName="balance_22" refType="h" fact="0.81"/>
        <dgm:constr type="ctrX" for="ch" forName="balance_22" refType="w" fact="0.5"/>
        <dgm:constr type="w" for="ch" forName="balance_23" refType="w"/>
        <dgm:constr type="h" for="ch" forName="balance_23" refType="h" fact="0.157"/>
        <dgm:constr type="b" for="ch" forName="balance_23" refType="h" fact="0.85"/>
        <dgm:constr type="ctrX" for="ch" forName="balance_23" refType="w" fact="0.5"/>
        <dgm:constr type="w" for="ch" forName="balance_24" refType="w"/>
        <dgm:constr type="h" for="ch" forName="balance_24" refType="h" fact="0.157"/>
        <dgm:constr type="b" for="ch" forName="balance_24" refType="h" fact="0.85"/>
        <dgm:constr type="ctrX" for="ch" forName="balance_24" refType="w" fact="0.5"/>
        <dgm:constr type="w" for="ch" forName="balance_30" refType="w"/>
        <dgm:constr type="h" for="ch" forName="balance_30" refType="h" fact="0.157"/>
        <dgm:constr type="b" for="ch" forName="balance_30" refType="h" fact="0.85"/>
        <dgm:constr type="ctrX" for="ch" forName="balance_30" refType="w" fact="0.5"/>
        <dgm:constr type="w" for="ch" forName="balance_31" refType="w"/>
        <dgm:constr type="h" for="ch" forName="balance_31" refType="h" fact="0.157"/>
        <dgm:constr type="b" for="ch" forName="balance_31" refType="h" fact="0.85"/>
        <dgm:constr type="ctrX" for="ch" forName="balance_31" refType="w" fact="0.5"/>
        <dgm:constr type="w" for="ch" forName="balance_32" refType="w"/>
        <dgm:constr type="h" for="ch" forName="balance_32" refType="h" fact="0.157"/>
        <dgm:constr type="b" for="ch" forName="balance_32" refType="h" fact="0.85"/>
        <dgm:constr type="ctrX" for="ch" forName="balance_32" refType="w" fact="0.5"/>
        <dgm:constr type="w" for="ch" forName="balance_33" refType="w" fact="0.9"/>
        <dgm:constr type="h" for="ch" forName="balance_33" refType="h" fact="0.076"/>
        <dgm:constr type="b" for="ch" forName="balance_33" refType="h" fact="0.81"/>
        <dgm:constr type="ctrX" for="ch" forName="balance_33" refType="w" fact="0.5"/>
        <dgm:constr type="w" for="ch" forName="balance_34" refType="w"/>
        <dgm:constr type="h" for="ch" forName="balance_34" refType="h" fact="0.157"/>
        <dgm:constr type="b" for="ch" forName="balance_34" refType="h" fact="0.85"/>
        <dgm:constr type="ctrX" for="ch" forName="balance_34" refType="w" fact="0.5"/>
        <dgm:constr type="w" for="ch" forName="balance_40" refType="w"/>
        <dgm:constr type="h" for="ch" forName="balance_40" refType="h" fact="0.157"/>
        <dgm:constr type="b" for="ch" forName="balance_40" refType="h" fact="0.85"/>
        <dgm:constr type="ctrX" for="ch" forName="balance_40" refType="w" fact="0.5"/>
        <dgm:constr type="w" for="ch" forName="balance_41" refType="w"/>
        <dgm:constr type="h" for="ch" forName="balance_41" refType="h" fact="0.157"/>
        <dgm:constr type="b" for="ch" forName="balance_41" refType="h" fact="0.85"/>
        <dgm:constr type="ctrX" for="ch" forName="balance_41" refType="w" fact="0.5"/>
        <dgm:constr type="w" for="ch" forName="balance_42" refType="w"/>
        <dgm:constr type="h" for="ch" forName="balance_42" refType="h" fact="0.157"/>
        <dgm:constr type="b" for="ch" forName="balance_42" refType="h" fact="0.85"/>
        <dgm:constr type="ctrX" for="ch" forName="balance_42" refType="w" fact="0.5"/>
        <dgm:constr type="w" for="ch" forName="balance_43" refType="w"/>
        <dgm:constr type="h" for="ch" forName="balance_43" refType="h" fact="0.157"/>
        <dgm:constr type="b" for="ch" forName="balance_43" refType="h" fact="0.85"/>
        <dgm:constr type="ctrX" for="ch" forName="balance_43" refType="w" fact="0.5"/>
        <dgm:constr type="w" for="ch" forName="balance_44" refType="w" fact="0.9"/>
        <dgm:constr type="h" for="ch" forName="balance_44" refType="h" fact="0.076"/>
        <dgm:constr type="b" for="ch" forName="balance_44" refType="h" fact="0.81"/>
        <dgm:constr type="ctrX" for="ch" forName="balance_44" refType="w" fact="0.5"/>
        <dgm:constr type="w" for="ch" forName="right_01_1" refType="w" fact="0.4"/>
        <dgm:constr type="h" for="ch" forName="right_01_1" refType="h" fact="0.7"/>
        <dgm:constr type="b" for="ch" forName="right_01_1" refType="h" fact="0.76"/>
        <dgm:constr type="ctrX" for="ch" forName="right_01_1" refType="w" fact="0.78"/>
        <dgm:constr type="w" for="ch" forName="left_10_1" refType="w" fact="0.4"/>
        <dgm:constr type="h" for="ch" forName="left_10_1" refType="h" fact="0.7"/>
        <dgm:constr type="b" for="ch" forName="left_10_1" refType="h" fact="0.76"/>
        <dgm:constr type="ctrX" for="ch" forName="left_10_1" refType="w" fact="0.22"/>
        <dgm:constr type="w" for="ch" forName="right_11_1" refType="w" fact="0.36"/>
        <dgm:constr type="h" for="ch" forName="right_11_1" refType="h" fact="0.67"/>
        <dgm:constr type="b" for="ch" forName="right_11_1" refType="h" fact="0.725"/>
        <dgm:constr type="ctrX" for="ch" forName="right_11_1" refType="w" fact="0.76"/>
        <dgm:constr type="w" for="ch" forName="left_11_1" refType="w" fact="0.36"/>
        <dgm:constr type="h" for="ch" forName="left_11_1" refType="h" fact="0.67"/>
        <dgm:constr type="b" for="ch" forName="left_11_1" refType="h" fact="0.725"/>
        <dgm:constr type="ctrX" for="ch" forName="left_11_1" refType="w" fact="0.24"/>
        <dgm:constr type="w" for="ch" forName="right_02_1" refType="w" fact="0.388"/>
        <dgm:constr type="h" for="ch" forName="right_02_1" refType="h" fact="0.36"/>
        <dgm:constr type="b" for="ch" forName="right_02_1" refType="h" fact="0.76"/>
        <dgm:constr type="ctrX" for="ch" forName="right_02_1" refType="w" fact="0.77"/>
        <dgm:constr type="w" for="ch" forName="right_02_2" refType="w" fact="0.388"/>
        <dgm:constr type="h" for="ch" forName="right_02_2" refType="h" fact="0.36"/>
        <dgm:constr type="b" for="ch" forName="right_02_2" refType="h" fact="0.42"/>
        <dgm:constr type="ctrX" for="ch" forName="right_02_2" refType="w" fact="0.79"/>
        <dgm:constr type="w" for="ch" forName="left_20_1" refType="w" fact="0.388"/>
        <dgm:constr type="h" for="ch" forName="left_20_1" refType="h" fact="0.36"/>
        <dgm:constr type="b" for="ch" forName="left_20_1" refType="h" fact="0.76"/>
        <dgm:constr type="ctrX" for="ch" forName="left_20_1" refType="w" fact="0.23"/>
        <dgm:constr type="w" for="ch" forName="left_20_2" refType="w" fact="0.388"/>
        <dgm:constr type="h" for="ch" forName="left_20_2" refType="h" fact="0.36"/>
        <dgm:constr type="b" for="ch" forName="left_20_2" refType="h" fact="0.42"/>
        <dgm:constr type="ctrX" for="ch" forName="left_20_2" refType="w" fact="0.21"/>
        <dgm:constr type="w" for="ch" forName="right_12_1" refType="w" fact="0.388"/>
        <dgm:constr type="h" for="ch" forName="right_12_1" refType="h" fact="0.36"/>
        <dgm:constr type="b" for="ch" forName="right_12_1" refType="h" fact="0.76"/>
        <dgm:constr type="ctrX" for="ch" forName="right_12_1" refType="w" fact="0.77"/>
        <dgm:constr type="w" for="ch" forName="right_12_2" refType="w" fact="0.388"/>
        <dgm:constr type="h" for="ch" forName="right_12_2" refType="h" fact="0.36"/>
        <dgm:constr type="b" for="ch" forName="right_12_2" refType="h" fact="0.42"/>
        <dgm:constr type="ctrX" for="ch" forName="right_12_2" refType="w" fact="0.79"/>
        <dgm:constr type="w" for="ch" forName="left_12_1" refType="w" fact="0.388"/>
        <dgm:constr type="h" for="ch" forName="left_12_1" refType="h" fact="0.36"/>
        <dgm:constr type="b" for="ch" forName="left_12_1" refType="h" fact="0.715"/>
        <dgm:constr type="ctrX" for="ch" forName="left_12_1" refType="w" fact="0.255"/>
        <dgm:constr type="w" for="ch" forName="right_22_1" refType="w" fact="0.36"/>
        <dgm:constr type="h" for="ch" forName="right_22_1" refType="h" fact="0.32"/>
        <dgm:constr type="b" for="ch" forName="right_22_1" refType="h" fact="0.725"/>
        <dgm:constr type="ctrX" for="ch" forName="right_22_1" refType="w" fact="0.76"/>
        <dgm:constr type="w" for="ch" forName="right_22_2" refType="w" fact="0.36"/>
        <dgm:constr type="h" for="ch" forName="right_22_2" refType="h" fact="0.32"/>
        <dgm:constr type="b" for="ch" forName="right_22_2" refType="h" fact="0.39"/>
        <dgm:constr type="ctrX" for="ch" forName="right_22_2" refType="w" fact="0.76"/>
        <dgm:constr type="w" for="ch" forName="left_22_1" refType="w" fact="0.36"/>
        <dgm:constr type="h" for="ch" forName="left_22_1" refType="h" fact="0.32"/>
        <dgm:constr type="b" for="ch" forName="left_22_1" refType="h" fact="0.725"/>
        <dgm:constr type="ctrX" for="ch" forName="left_22_1" refType="w" fact="0.24"/>
        <dgm:constr type="w" for="ch" forName="left_22_2" refType="w" fact="0.36"/>
        <dgm:constr type="h" for="ch" forName="left_22_2" refType="h" fact="0.32"/>
        <dgm:constr type="b" for="ch" forName="left_22_2" refType="h" fact="0.39"/>
        <dgm:constr type="ctrX" for="ch" forName="left_22_2" refType="w" fact="0.24"/>
        <dgm:constr type="w" for="ch" forName="left_21_1" refType="w" fact="0.388"/>
        <dgm:constr type="h" for="ch" forName="left_21_1" refType="h" fact="0.36"/>
        <dgm:constr type="b" for="ch" forName="left_21_1" refType="h" fact="0.76"/>
        <dgm:constr type="ctrX" for="ch" forName="left_21_1" refType="w" fact="0.23"/>
        <dgm:constr type="w" for="ch" forName="left_21_2" refType="w" fact="0.388"/>
        <dgm:constr type="h" for="ch" forName="left_21_2" refType="h" fact="0.36"/>
        <dgm:constr type="b" for="ch" forName="left_21_2" refType="h" fact="0.42"/>
        <dgm:constr type="ctrX" for="ch" forName="left_21_2" refType="w" fact="0.21"/>
        <dgm:constr type="w" for="ch" forName="right_21_1" refType="w" fact="0.388"/>
        <dgm:constr type="h" for="ch" forName="right_21_1" refType="h" fact="0.36"/>
        <dgm:constr type="b" for="ch" forName="right_21_1" refType="h" fact="0.715"/>
        <dgm:constr type="ctrX" for="ch" forName="right_21_1" refType="w" fact="0.745"/>
        <dgm:constr type="w" for="ch" forName="right_03_1" refType="w" fact="0.37"/>
        <dgm:constr type="h" for="ch" forName="right_03_1" refType="h" fact="0.24"/>
        <dgm:constr type="b" for="ch" forName="right_03_1" refType="h" fact="0.76"/>
        <dgm:constr type="ctrX" for="ch" forName="right_03_1" refType="w" fact="0.77"/>
        <dgm:constr type="w" for="ch" forName="right_03_2" refType="w" fact="0.37"/>
        <dgm:constr type="h" for="ch" forName="right_03_2" refType="h" fact="0.24"/>
        <dgm:constr type="b" for="ch" forName="right_03_2" refType="h" fact="0.535"/>
        <dgm:constr type="ctrX" for="ch" forName="right_03_2" refType="w" fact="0.783"/>
        <dgm:constr type="w" for="ch" forName="right_03_3" refType="w" fact="0.37"/>
        <dgm:constr type="h" for="ch" forName="right_03_3" refType="h" fact="0.24"/>
        <dgm:constr type="b" for="ch" forName="right_03_3" refType="h" fact="0.315"/>
        <dgm:constr type="ctrX" for="ch" forName="right_03_3" refType="w" fact="0.796"/>
        <dgm:constr type="w" for="ch" forName="left_30_1" refType="w" fact="0.37"/>
        <dgm:constr type="h" for="ch" forName="left_30_1" refType="h" fact="0.24"/>
        <dgm:constr type="b" for="ch" forName="left_30_1" refType="h" fact="0.76"/>
        <dgm:constr type="ctrX" for="ch" forName="left_30_1" refType="w" fact="0.23"/>
        <dgm:constr type="w" for="ch" forName="left_30_2" refType="w" fact="0.37"/>
        <dgm:constr type="h" for="ch" forName="left_30_2" refType="h" fact="0.24"/>
        <dgm:constr type="b" for="ch" forName="left_30_2" refType="h" fact="0.535"/>
        <dgm:constr type="ctrX" for="ch" forName="left_30_2" refType="w" fact="0.217"/>
        <dgm:constr type="w" for="ch" forName="left_30_3" refType="w" fact="0.37"/>
        <dgm:constr type="h" for="ch" forName="left_30_3" refType="h" fact="0.24"/>
        <dgm:constr type="b" for="ch" forName="left_30_3" refType="h" fact="0.315"/>
        <dgm:constr type="ctrX" for="ch" forName="left_30_3" refType="w" fact="0.204"/>
        <dgm:constr type="w" for="ch" forName="right_13_1" refType="w" fact="0.37"/>
        <dgm:constr type="h" for="ch" forName="right_13_1" refType="h" fact="0.24"/>
        <dgm:constr type="b" for="ch" forName="right_13_1" refType="h" fact="0.76"/>
        <dgm:constr type="ctrX" for="ch" forName="right_13_1" refType="w" fact="0.77"/>
        <dgm:constr type="w" for="ch" forName="right_13_2" refType="w" fact="0.37"/>
        <dgm:constr type="h" for="ch" forName="right_13_2" refType="h" fact="0.24"/>
        <dgm:constr type="b" for="ch" forName="right_13_2" refType="h" fact="0.535"/>
        <dgm:constr type="ctrX" for="ch" forName="right_13_2" refType="w" fact="0.783"/>
        <dgm:constr type="w" for="ch" forName="right_13_3" refType="w" fact="0.37"/>
        <dgm:constr type="h" for="ch" forName="right_13_3" refType="h" fact="0.24"/>
        <dgm:constr type="b" for="ch" forName="right_13_3" refType="h" fact="0.315"/>
        <dgm:constr type="ctrX" for="ch" forName="right_13_3" refType="w" fact="0.796"/>
        <dgm:constr type="w" for="ch" forName="left_13_1" refType="w" fact="0.37"/>
        <dgm:constr type="h" for="ch" forName="left_13_1" refType="h" fact="0.24"/>
        <dgm:constr type="b" for="ch" forName="left_13_1" refType="h" fact="0.715"/>
        <dgm:constr type="ctrX" for="ch" forName="left_13_1" refType="w" fact="0.255"/>
        <dgm:constr type="w" for="ch" forName="left_31_1" refType="w" fact="0.37"/>
        <dgm:constr type="h" for="ch" forName="left_31_1" refType="h" fact="0.24"/>
        <dgm:constr type="b" for="ch" forName="left_31_1" refType="h" fact="0.76"/>
        <dgm:constr type="ctrX" for="ch" forName="left_31_1" refType="w" fact="0.23"/>
        <dgm:constr type="w" for="ch" forName="left_31_2" refType="w" fact="0.37"/>
        <dgm:constr type="h" for="ch" forName="left_31_2" refType="h" fact="0.24"/>
        <dgm:constr type="b" for="ch" forName="left_31_2" refType="h" fact="0.535"/>
        <dgm:constr type="ctrX" for="ch" forName="left_31_2" refType="w" fact="0.217"/>
        <dgm:constr type="w" for="ch" forName="left_31_3" refType="w" fact="0.37"/>
        <dgm:constr type="h" for="ch" forName="left_31_3" refType="h" fact="0.24"/>
        <dgm:constr type="b" for="ch" forName="left_31_3" refType="h" fact="0.315"/>
        <dgm:constr type="ctrX" for="ch" forName="left_31_3" refType="w" fact="0.204"/>
        <dgm:constr type="w" for="ch" forName="right_31_1" refType="w" fact="0.37"/>
        <dgm:constr type="h" for="ch" forName="right_31_1" refType="h" fact="0.24"/>
        <dgm:constr type="b" for="ch" forName="right_31_1" refType="h" fact="0.715"/>
        <dgm:constr type="ctrX" for="ch" forName="right_31_1" refType="w" fact="0.745"/>
        <dgm:constr type="w" for="ch" forName="right_23_1" refType="w" fact="0.37"/>
        <dgm:constr type="h" for="ch" forName="right_23_1" refType="h" fact="0.24"/>
        <dgm:constr type="b" for="ch" forName="right_23_1" refType="h" fact="0.76"/>
        <dgm:constr type="ctrX" for="ch" forName="right_23_1" refType="w" fact="0.77"/>
        <dgm:constr type="w" for="ch" forName="right_23_2" refType="w" fact="0.37"/>
        <dgm:constr type="h" for="ch" forName="right_23_2" refType="h" fact="0.24"/>
        <dgm:constr type="b" for="ch" forName="right_23_2" refType="h" fact="0.535"/>
        <dgm:constr type="ctrX" for="ch" forName="right_23_2" refType="w" fact="0.783"/>
        <dgm:constr type="w" for="ch" forName="right_23_3" refType="w" fact="0.37"/>
        <dgm:constr type="h" for="ch" forName="right_23_3" refType="h" fact="0.24"/>
        <dgm:constr type="b" for="ch" forName="right_23_3" refType="h" fact="0.315"/>
        <dgm:constr type="ctrX" for="ch" forName="right_23_3" refType="w" fact="0.796"/>
        <dgm:constr type="w" for="ch" forName="left_23_1" refType="w" fact="0.37"/>
        <dgm:constr type="h" for="ch" forName="left_23_1" refType="h" fact="0.24"/>
        <dgm:constr type="b" for="ch" forName="left_23_1" refType="h" fact="0.715"/>
        <dgm:constr type="ctrX" for="ch" forName="left_23_1" refType="w" fact="0.255"/>
        <dgm:constr type="w" for="ch" forName="left_23_2" refType="w" fact="0.37"/>
        <dgm:constr type="h" for="ch" forName="left_23_2" refType="h" fact="0.24"/>
        <dgm:constr type="b" for="ch" forName="left_23_2" refType="h" fact="0.49"/>
        <dgm:constr type="ctrX" for="ch" forName="left_23_2" refType="w" fact="0.268"/>
        <dgm:constr type="w" for="ch" forName="left_32_1" refType="w" fact="0.37"/>
        <dgm:constr type="h" for="ch" forName="left_32_1" refType="h" fact="0.24"/>
        <dgm:constr type="b" for="ch" forName="left_32_1" refType="h" fact="0.76"/>
        <dgm:constr type="ctrX" for="ch" forName="left_32_1" refType="w" fact="0.23"/>
        <dgm:constr type="w" for="ch" forName="left_32_2" refType="w" fact="0.37"/>
        <dgm:constr type="h" for="ch" forName="left_32_2" refType="h" fact="0.24"/>
        <dgm:constr type="b" for="ch" forName="left_32_2" refType="h" fact="0.535"/>
        <dgm:constr type="ctrX" for="ch" forName="left_32_2" refType="w" fact="0.217"/>
        <dgm:constr type="w" for="ch" forName="left_32_3" refType="w" fact="0.37"/>
        <dgm:constr type="h" for="ch" forName="left_32_3" refType="h" fact="0.24"/>
        <dgm:constr type="b" for="ch" forName="left_32_3" refType="h" fact="0.315"/>
        <dgm:constr type="ctrX" for="ch" forName="left_32_3" refType="w" fact="0.204"/>
        <dgm:constr type="w" for="ch" forName="right_32_1" refType="w" fact="0.37"/>
        <dgm:constr type="h" for="ch" forName="right_32_1" refType="h" fact="0.24"/>
        <dgm:constr type="b" for="ch" forName="right_32_1" refType="h" fact="0.715"/>
        <dgm:constr type="ctrX" for="ch" forName="right_32_1" refType="w" fact="0.745"/>
        <dgm:constr type="w" for="ch" forName="right_32_2" refType="w" fact="0.37"/>
        <dgm:constr type="h" for="ch" forName="right_32_2" refType="h" fact="0.24"/>
        <dgm:constr type="b" for="ch" forName="right_32_2" refType="h" fact="0.49"/>
        <dgm:constr type="ctrX" for="ch" forName="right_32_2" refType="w" fact="0.732"/>
        <dgm:constr type="w" for="ch" forName="right_33_1" refType="w" fact="0.36"/>
        <dgm:constr type="h" for="ch" forName="right_33_1" refType="h" fact="0.21"/>
        <dgm:constr type="b" for="ch" forName="right_33_1" refType="h" fact="0.725"/>
        <dgm:constr type="ctrX" for="ch" forName="right_33_1" refType="w" fact="0.76"/>
        <dgm:constr type="w" for="ch" forName="right_33_2" refType="w" fact="0.36"/>
        <dgm:constr type="h" for="ch" forName="right_33_2" refType="h" fact="0.21"/>
        <dgm:constr type="b" for="ch" forName="right_33_2" refType="h" fact="0.5"/>
        <dgm:constr type="ctrX" for="ch" forName="right_33_2" refType="w" fact="0.76"/>
        <dgm:constr type="w" for="ch" forName="right_33_3" refType="w" fact="0.36"/>
        <dgm:constr type="h" for="ch" forName="right_33_3" refType="h" fact="0.21"/>
        <dgm:constr type="b" for="ch" forName="right_33_3" refType="h" fact="0.275"/>
        <dgm:constr type="ctrX" for="ch" forName="right_33_3" refType="w" fact="0.76"/>
        <dgm:constr type="w" for="ch" forName="left_33_1" refType="w" fact="0.36"/>
        <dgm:constr type="h" for="ch" forName="left_33_1" refType="h" fact="0.21"/>
        <dgm:constr type="b" for="ch" forName="left_33_1" refType="h" fact="0.725"/>
        <dgm:constr type="ctrX" for="ch" forName="left_33_1" refType="w" fact="0.24"/>
        <dgm:constr type="w" for="ch" forName="left_33_2" refType="w" fact="0.36"/>
        <dgm:constr type="h" for="ch" forName="left_33_2" refType="h" fact="0.21"/>
        <dgm:constr type="b" for="ch" forName="left_33_2" refType="h" fact="0.5"/>
        <dgm:constr type="ctrX" for="ch" forName="left_33_2" refType="w" fact="0.24"/>
        <dgm:constr type="w" for="ch" forName="left_33_3" refType="w" fact="0.36"/>
        <dgm:constr type="h" for="ch" forName="left_33_3" refType="h" fact="0.21"/>
        <dgm:constr type="b" for="ch" forName="left_33_3" refType="h" fact="0.275"/>
        <dgm:constr type="ctrX" for="ch" forName="left_33_3" refType="w" fact="0.24"/>
        <dgm:constr type="w" for="ch" forName="right_04_1" refType="w" fact="0.365"/>
        <dgm:constr type="h" for="ch" forName="right_04_1" refType="h" fact="0.185"/>
        <dgm:constr type="b" for="ch" forName="right_04_1" refType="h" fact="0.76"/>
        <dgm:constr type="ctrX" for="ch" forName="right_04_1" refType="w" fact="0.77"/>
        <dgm:constr type="w" for="ch" forName="right_04_2" refType="w" fact="0.365"/>
        <dgm:constr type="h" for="ch" forName="right_04_2" refType="h" fact="0.185"/>
        <dgm:constr type="b" for="ch" forName="right_04_2" refType="h" fact="0.595"/>
        <dgm:constr type="ctrX" for="ch" forName="right_04_2" refType="w" fact="0.78"/>
        <dgm:constr type="w" for="ch" forName="right_04_3" refType="w" fact="0.365"/>
        <dgm:constr type="h" for="ch" forName="right_04_3" refType="h" fact="0.185"/>
        <dgm:constr type="b" for="ch" forName="right_04_3" refType="h" fact="0.43"/>
        <dgm:constr type="ctrX" for="ch" forName="right_04_3" refType="w" fact="0.79"/>
        <dgm:constr type="w" for="ch" forName="right_04_4" refType="w" fact="0.365"/>
        <dgm:constr type="h" for="ch" forName="right_04_4" refType="h" fact="0.185"/>
        <dgm:constr type="b" for="ch" forName="right_04_4" refType="h" fact="0.265"/>
        <dgm:constr type="ctrX" for="ch" forName="right_04_4" refType="w" fact="0.8"/>
        <dgm:constr type="w" for="ch" forName="left_40_1" refType="w" fact="0.365"/>
        <dgm:constr type="h" for="ch" forName="left_40_1" refType="h" fact="0.185"/>
        <dgm:constr type="b" for="ch" forName="left_40_1" refType="h" fact="0.76"/>
        <dgm:constr type="ctrX" for="ch" forName="left_40_1" refType="w" fact="0.23"/>
        <dgm:constr type="w" for="ch" forName="left_40_2" refType="w" fact="0.365"/>
        <dgm:constr type="h" for="ch" forName="left_40_2" refType="h" fact="0.185"/>
        <dgm:constr type="b" for="ch" forName="left_40_2" refType="h" fact="0.595"/>
        <dgm:constr type="ctrX" for="ch" forName="left_40_2" refType="w" fact="0.22"/>
        <dgm:constr type="w" for="ch" forName="left_40_3" refType="w" fact="0.365"/>
        <dgm:constr type="h" for="ch" forName="left_40_3" refType="h" fact="0.185"/>
        <dgm:constr type="b" for="ch" forName="left_40_3" refType="h" fact="0.43"/>
        <dgm:constr type="ctrX" for="ch" forName="left_40_3" refType="w" fact="0.21"/>
        <dgm:constr type="w" for="ch" forName="left_40_4" refType="w" fact="0.365"/>
        <dgm:constr type="h" for="ch" forName="left_40_4" refType="h" fact="0.185"/>
        <dgm:constr type="b" for="ch" forName="left_40_4" refType="h" fact="0.265"/>
        <dgm:constr type="ctrX" for="ch" forName="left_40_4" refType="w" fact="0.2"/>
        <dgm:constr type="w" for="ch" forName="right_14_1" refType="w" fact="0.365"/>
        <dgm:constr type="h" for="ch" forName="right_14_1" refType="h" fact="0.185"/>
        <dgm:constr type="b" for="ch" forName="right_14_1" refType="h" fact="0.76"/>
        <dgm:constr type="ctrX" for="ch" forName="right_14_1" refType="w" fact="0.77"/>
        <dgm:constr type="w" for="ch" forName="right_14_2" refType="w" fact="0.365"/>
        <dgm:constr type="h" for="ch" forName="right_14_2" refType="h" fact="0.185"/>
        <dgm:constr type="b" for="ch" forName="right_14_2" refType="h" fact="0.595"/>
        <dgm:constr type="ctrX" for="ch" forName="right_14_2" refType="w" fact="0.78"/>
        <dgm:constr type="w" for="ch" forName="right_14_3" refType="w" fact="0.365"/>
        <dgm:constr type="h" for="ch" forName="right_14_3" refType="h" fact="0.185"/>
        <dgm:constr type="b" for="ch" forName="right_14_3" refType="h" fact="0.43"/>
        <dgm:constr type="ctrX" for="ch" forName="right_14_3" refType="w" fact="0.79"/>
        <dgm:constr type="w" for="ch" forName="right_14_4" refType="w" fact="0.365"/>
        <dgm:constr type="h" for="ch" forName="right_14_4" refType="h" fact="0.185"/>
        <dgm:constr type="b" for="ch" forName="right_14_4" refType="h" fact="0.265"/>
        <dgm:constr type="ctrX" for="ch" forName="right_14_4" refType="w" fact="0.8"/>
        <dgm:constr type="w" for="ch" forName="left_14_1" refType="w" fact="0.365"/>
        <dgm:constr type="h" for="ch" forName="left_14_1" refType="h" fact="0.185"/>
        <dgm:constr type="b" for="ch" forName="left_14_1" refType="h" fact="0.715"/>
        <dgm:constr type="ctrX" for="ch" forName="left_14_1" refType="w" fact="0.25"/>
        <dgm:constr type="w" for="ch" forName="left_41_1" refType="w" fact="0.365"/>
        <dgm:constr type="h" for="ch" forName="left_41_1" refType="h" fact="0.185"/>
        <dgm:constr type="b" for="ch" forName="left_41_1" refType="h" fact="0.76"/>
        <dgm:constr type="ctrX" for="ch" forName="left_41_1" refType="w" fact="0.23"/>
        <dgm:constr type="w" for="ch" forName="left_41_2" refType="w" fact="0.365"/>
        <dgm:constr type="h" for="ch" forName="left_41_2" refType="h" fact="0.185"/>
        <dgm:constr type="b" for="ch" forName="left_41_2" refType="h" fact="0.595"/>
        <dgm:constr type="ctrX" for="ch" forName="left_41_2" refType="w" fact="0.22"/>
        <dgm:constr type="w" for="ch" forName="left_41_3" refType="w" fact="0.365"/>
        <dgm:constr type="h" for="ch" forName="left_41_3" refType="h" fact="0.185"/>
        <dgm:constr type="b" for="ch" forName="left_41_3" refType="h" fact="0.43"/>
        <dgm:constr type="ctrX" for="ch" forName="left_41_3" refType="w" fact="0.21"/>
        <dgm:constr type="w" for="ch" forName="left_41_4" refType="w" fact="0.365"/>
        <dgm:constr type="h" for="ch" forName="left_41_4" refType="h" fact="0.185"/>
        <dgm:constr type="b" for="ch" forName="left_41_4" refType="h" fact="0.265"/>
        <dgm:constr type="ctrX" for="ch" forName="left_41_4" refType="w" fact="0.2"/>
        <dgm:constr type="w" for="ch" forName="right_41_1" refType="w" fact="0.365"/>
        <dgm:constr type="h" for="ch" forName="right_41_1" refType="h" fact="0.185"/>
        <dgm:constr type="b" for="ch" forName="right_41_1" refType="h" fact="0.715"/>
        <dgm:constr type="ctrX" for="ch" forName="right_41_1" refType="w" fact="0.75"/>
        <dgm:constr type="w" for="ch" forName="right_24_1" refType="w" fact="0.365"/>
        <dgm:constr type="h" for="ch" forName="right_24_1" refType="h" fact="0.185"/>
        <dgm:constr type="b" for="ch" forName="right_24_1" refType="h" fact="0.76"/>
        <dgm:constr type="ctrX" for="ch" forName="right_24_1" refType="w" fact="0.77"/>
        <dgm:constr type="w" for="ch" forName="right_24_2" refType="w" fact="0.365"/>
        <dgm:constr type="h" for="ch" forName="right_24_2" refType="h" fact="0.185"/>
        <dgm:constr type="b" for="ch" forName="right_24_2" refType="h" fact="0.595"/>
        <dgm:constr type="ctrX" for="ch" forName="right_24_2" refType="w" fact="0.78"/>
        <dgm:constr type="w" for="ch" forName="right_24_3" refType="w" fact="0.365"/>
        <dgm:constr type="h" for="ch" forName="right_24_3" refType="h" fact="0.185"/>
        <dgm:constr type="b" for="ch" forName="right_24_3" refType="h" fact="0.43"/>
        <dgm:constr type="ctrX" for="ch" forName="right_24_3" refType="w" fact="0.79"/>
        <dgm:constr type="w" for="ch" forName="right_24_4" refType="w" fact="0.365"/>
        <dgm:constr type="h" for="ch" forName="right_24_4" refType="h" fact="0.185"/>
        <dgm:constr type="b" for="ch" forName="right_24_4" refType="h" fact="0.265"/>
        <dgm:constr type="ctrX" for="ch" forName="right_24_4" refType="w" fact="0.8"/>
        <dgm:constr type="w" for="ch" forName="left_24_1" refType="w" fact="0.365"/>
        <dgm:constr type="h" for="ch" forName="left_24_1" refType="h" fact="0.185"/>
        <dgm:constr type="b" for="ch" forName="left_24_1" refType="h" fact="0.715"/>
        <dgm:constr type="ctrX" for="ch" forName="left_24_1" refType="w" fact="0.25"/>
        <dgm:constr type="w" for="ch" forName="left_24_2" refType="w" fact="0.365"/>
        <dgm:constr type="h" for="ch" forName="left_24_2" refType="h" fact="0.185"/>
        <dgm:constr type="b" for="ch" forName="left_24_2" refType="h" fact="0.55"/>
        <dgm:constr type="ctrX" for="ch" forName="left_24_2" refType="w" fact="0.26"/>
        <dgm:constr type="w" for="ch" forName="left_42_1" refType="w" fact="0.365"/>
        <dgm:constr type="h" for="ch" forName="left_42_1" refType="h" fact="0.185"/>
        <dgm:constr type="b" for="ch" forName="left_42_1" refType="h" fact="0.76"/>
        <dgm:constr type="ctrX" for="ch" forName="left_42_1" refType="w" fact="0.23"/>
        <dgm:constr type="w" for="ch" forName="left_42_2" refType="w" fact="0.365"/>
        <dgm:constr type="h" for="ch" forName="left_42_2" refType="h" fact="0.185"/>
        <dgm:constr type="b" for="ch" forName="left_42_2" refType="h" fact="0.595"/>
        <dgm:constr type="ctrX" for="ch" forName="left_42_2" refType="w" fact="0.22"/>
        <dgm:constr type="w" for="ch" forName="left_42_3" refType="w" fact="0.365"/>
        <dgm:constr type="h" for="ch" forName="left_42_3" refType="h" fact="0.185"/>
        <dgm:constr type="b" for="ch" forName="left_42_3" refType="h" fact="0.43"/>
        <dgm:constr type="ctrX" for="ch" forName="left_42_3" refType="w" fact="0.21"/>
        <dgm:constr type="w" for="ch" forName="left_42_4" refType="w" fact="0.365"/>
        <dgm:constr type="h" for="ch" forName="left_42_4" refType="h" fact="0.185"/>
        <dgm:constr type="b" for="ch" forName="left_42_4" refType="h" fact="0.265"/>
        <dgm:constr type="ctrX" for="ch" forName="left_42_4" refType="w" fact="0.2"/>
        <dgm:constr type="w" for="ch" forName="right_42_1" refType="w" fact="0.365"/>
        <dgm:constr type="h" for="ch" forName="right_42_1" refType="h" fact="0.185"/>
        <dgm:constr type="b" for="ch" forName="right_42_1" refType="h" fact="0.715"/>
        <dgm:constr type="ctrX" for="ch" forName="right_42_1" refType="w" fact="0.75"/>
        <dgm:constr type="w" for="ch" forName="right_42_2" refType="w" fact="0.365"/>
        <dgm:constr type="h" for="ch" forName="right_42_2" refType="h" fact="0.185"/>
        <dgm:constr type="b" for="ch" forName="right_42_2" refType="h" fact="0.55"/>
        <dgm:constr type="ctrX" for="ch" forName="right_42_2" refType="w" fact="0.74"/>
        <dgm:constr type="w" for="ch" forName="right_34_1" refType="w" fact="0.365"/>
        <dgm:constr type="h" for="ch" forName="right_34_1" refType="h" fact="0.185"/>
        <dgm:constr type="b" for="ch" forName="right_34_1" refType="h" fact="0.76"/>
        <dgm:constr type="ctrX" for="ch" forName="right_34_1" refType="w" fact="0.77"/>
        <dgm:constr type="w" for="ch" forName="right_34_2" refType="w" fact="0.365"/>
        <dgm:constr type="h" for="ch" forName="right_34_2" refType="h" fact="0.185"/>
        <dgm:constr type="b" for="ch" forName="right_34_2" refType="h" fact="0.595"/>
        <dgm:constr type="ctrX" for="ch" forName="right_34_2" refType="w" fact="0.78"/>
        <dgm:constr type="w" for="ch" forName="right_34_3" refType="w" fact="0.365"/>
        <dgm:constr type="h" for="ch" forName="right_34_3" refType="h" fact="0.185"/>
        <dgm:constr type="b" for="ch" forName="right_34_3" refType="h" fact="0.43"/>
        <dgm:constr type="ctrX" for="ch" forName="right_34_3" refType="w" fact="0.79"/>
        <dgm:constr type="w" for="ch" forName="right_34_4" refType="w" fact="0.365"/>
        <dgm:constr type="h" for="ch" forName="right_34_4" refType="h" fact="0.185"/>
        <dgm:constr type="b" for="ch" forName="right_34_4" refType="h" fact="0.265"/>
        <dgm:constr type="ctrX" for="ch" forName="right_34_4" refType="w" fact="0.8"/>
        <dgm:constr type="w" for="ch" forName="left_34_1" refType="w" fact="0.365"/>
        <dgm:constr type="h" for="ch" forName="left_34_1" refType="h" fact="0.185"/>
        <dgm:constr type="b" for="ch" forName="left_34_1" refType="h" fact="0.715"/>
        <dgm:constr type="ctrX" for="ch" forName="left_34_1" refType="w" fact="0.25"/>
        <dgm:constr type="w" for="ch" forName="left_34_2" refType="w" fact="0.365"/>
        <dgm:constr type="h" for="ch" forName="left_34_2" refType="h" fact="0.185"/>
        <dgm:constr type="b" for="ch" forName="left_34_2" refType="h" fact="0.55"/>
        <dgm:constr type="ctrX" for="ch" forName="left_34_2" refType="w" fact="0.26"/>
        <dgm:constr type="w" for="ch" forName="left_34_3" refType="w" fact="0.365"/>
        <dgm:constr type="h" for="ch" forName="left_34_3" refType="h" fact="0.185"/>
        <dgm:constr type="b" for="ch" forName="left_34_3" refType="h" fact="0.385"/>
        <dgm:constr type="ctrX" for="ch" forName="left_34_3" refType="w" fact="0.27"/>
        <dgm:constr type="w" for="ch" forName="left_43_1" refType="w" fact="0.365"/>
        <dgm:constr type="h" for="ch" forName="left_43_1" refType="h" fact="0.185"/>
        <dgm:constr type="b" for="ch" forName="left_43_1" refType="h" fact="0.76"/>
        <dgm:constr type="ctrX" for="ch" forName="left_43_1" refType="w" fact="0.23"/>
        <dgm:constr type="w" for="ch" forName="left_43_2" refType="w" fact="0.365"/>
        <dgm:constr type="h" for="ch" forName="left_43_2" refType="h" fact="0.185"/>
        <dgm:constr type="b" for="ch" forName="left_43_2" refType="h" fact="0.595"/>
        <dgm:constr type="ctrX" for="ch" forName="left_43_2" refType="w" fact="0.22"/>
        <dgm:constr type="w" for="ch" forName="left_43_3" refType="w" fact="0.365"/>
        <dgm:constr type="h" for="ch" forName="left_43_3" refType="h" fact="0.185"/>
        <dgm:constr type="b" for="ch" forName="left_43_3" refType="h" fact="0.43"/>
        <dgm:constr type="ctrX" for="ch" forName="left_43_3" refType="w" fact="0.21"/>
        <dgm:constr type="w" for="ch" forName="left_43_4" refType="w" fact="0.365"/>
        <dgm:constr type="h" for="ch" forName="left_43_4" refType="h" fact="0.185"/>
        <dgm:constr type="b" for="ch" forName="left_43_4" refType="h" fact="0.265"/>
        <dgm:constr type="ctrX" for="ch" forName="left_43_4" refType="w" fact="0.2"/>
        <dgm:constr type="w" for="ch" forName="right_43_1" refType="w" fact="0.365"/>
        <dgm:constr type="h" for="ch" forName="right_43_1" refType="h" fact="0.185"/>
        <dgm:constr type="b" for="ch" forName="right_43_1" refType="h" fact="0.715"/>
        <dgm:constr type="ctrX" for="ch" forName="right_43_1" refType="w" fact="0.75"/>
        <dgm:constr type="w" for="ch" forName="right_43_2" refType="w" fact="0.365"/>
        <dgm:constr type="h" for="ch" forName="right_43_2" refType="h" fact="0.185"/>
        <dgm:constr type="b" for="ch" forName="right_43_2" refType="h" fact="0.55"/>
        <dgm:constr type="ctrX" for="ch" forName="right_43_2" refType="w" fact="0.74"/>
        <dgm:constr type="w" for="ch" forName="right_43_3" refType="w" fact="0.365"/>
        <dgm:constr type="h" for="ch" forName="right_43_3" refType="h" fact="0.185"/>
        <dgm:constr type="b" for="ch" forName="right_43_3" refType="h" fact="0.385"/>
        <dgm:constr type="ctrX" for="ch" forName="right_43_3" refType="w" fact="0.73"/>
        <dgm:constr type="w" for="ch" forName="right_44_1" refType="w" fact="0.36"/>
        <dgm:constr type="h" for="ch" forName="right_44_1" refType="h" fact="0.154"/>
        <dgm:constr type="b" for="ch" forName="right_44_1" refType="h" fact="0.725"/>
        <dgm:constr type="ctrX" for="ch" forName="right_44_1" refType="w" fact="0.76"/>
        <dgm:constr type="w" for="ch" forName="right_44_2" refType="w" fact="0.36"/>
        <dgm:constr type="h" for="ch" forName="right_44_2" refType="h" fact="0.154"/>
        <dgm:constr type="b" for="ch" forName="right_44_2" refType="h" fact="0.559"/>
        <dgm:constr type="ctrX" for="ch" forName="right_44_2" refType="w" fact="0.76"/>
        <dgm:constr type="w" for="ch" forName="right_44_3" refType="w" fact="0.36"/>
        <dgm:constr type="h" for="ch" forName="right_44_3" refType="h" fact="0.154"/>
        <dgm:constr type="b" for="ch" forName="right_44_3" refType="h" fact="0.393"/>
        <dgm:constr type="ctrX" for="ch" forName="right_44_3" refType="w" fact="0.76"/>
        <dgm:constr type="w" for="ch" forName="right_44_4" refType="w" fact="0.36"/>
        <dgm:constr type="h" for="ch" forName="right_44_4" refType="h" fact="0.154"/>
        <dgm:constr type="b" for="ch" forName="right_44_4" refType="h" fact="0.224"/>
        <dgm:constr type="ctrX" for="ch" forName="right_44_4" refType="w" fact="0.76"/>
        <dgm:constr type="w" for="ch" forName="left_44_1" refType="w" fact="0.36"/>
        <dgm:constr type="h" for="ch" forName="left_44_1" refType="h" fact="0.154"/>
        <dgm:constr type="b" for="ch" forName="left_44_1" refType="h" fact="0.725"/>
        <dgm:constr type="ctrX" for="ch" forName="left_44_1" refType="w" fact="0.24"/>
        <dgm:constr type="w" for="ch" forName="left_44_2" refType="w" fact="0.36"/>
        <dgm:constr type="h" for="ch" forName="left_44_2" refType="h" fact="0.154"/>
        <dgm:constr type="b" for="ch" forName="left_44_2" refType="h" fact="0.559"/>
        <dgm:constr type="ctrX" for="ch" forName="left_44_2" refType="w" fact="0.24"/>
        <dgm:constr type="w" for="ch" forName="left_44_3" refType="w" fact="0.36"/>
        <dgm:constr type="h" for="ch" forName="left_44_3" refType="h" fact="0.154"/>
        <dgm:constr type="b" for="ch" forName="left_44_3" refType="h" fact="0.393"/>
        <dgm:constr type="ctrX" for="ch" forName="left_44_3" refType="w" fact="0.24"/>
        <dgm:constr type="w" for="ch" forName="left_44_4" refType="w" fact="0.36"/>
        <dgm:constr type="h" for="ch" forName="left_44_4" refType="h" fact="0.154"/>
        <dgm:constr type="b" for="ch" forName="left_44_4" refType="h" fact="0.224"/>
        <dgm:constr type="ctrX" for="ch" forName="left_44_4" refType="w" fact="0.24"/>
      </dgm:constrLst>
      <dgm:ruleLst/>
      <dgm:layoutNode name="dummyMaxCanvas_ChildArea">
        <dgm:alg type="sp"/>
        <dgm:shape xmlns:r="http://schemas.openxmlformats.org/officeDocument/2006/relationships" r:blip="">
          <dgm:adjLst/>
        </dgm:shape>
        <dgm:presOf/>
        <dgm:constrLst/>
        <dgm:ruleLst/>
      </dgm:layoutNode>
      <dgm:layoutNode name="fulcrum" styleLbl="alignAccFollowNode1">
        <dgm:alg type="sp"/>
        <dgm:shape xmlns:r="http://schemas.openxmlformats.org/officeDocument/2006/relationships" type="triangle" r:blip="">
          <dgm:adjLst/>
        </dgm:shape>
        <dgm:presOf/>
        <dgm:constrLst/>
        <dgm:ruleLst/>
      </dgm:layoutNode>
      <dgm:choose name="Name0">
        <dgm:if name="Name1" axis="ch ch" ptType="node node" st="1 1" cnt="1 0" func="cnt" op="equ" val="0">
          <dgm:choose name="Name2">
            <dgm:if name="Name3" axis="ch ch" ptType="node node" st="2 1" cnt="1 0" func="cnt" op="equ" val="0">
              <dgm:layoutNode name="balance_00" styleLbl="alignAccFollowNode1">
                <dgm:varLst>
                  <dgm:bulletEnabled val="1"/>
                </dgm:varLst>
                <dgm:alg type="sp"/>
                <dgm:shape xmlns:r="http://schemas.openxmlformats.org/officeDocument/2006/relationships" type="rect" r:blip="">
                  <dgm:adjLst/>
                </dgm:shape>
                <dgm:presOf/>
                <dgm:constrLst/>
                <dgm:ruleLst/>
              </dgm:layoutNode>
            </dgm:if>
            <dgm:else name="Name4">
              <dgm:choose name="Name5">
                <dgm:if name="Name6" axis="ch ch" ptType="node node" st="2 1" cnt="1 0" func="cnt" op="equ" val="1">
                  <dgm:layoutNode name="balance_01" styleLbl="alignAccFollowNode1">
                    <dgm:varLst>
                      <dgm:bulletEnabled val="1"/>
                    </dgm:varLst>
                    <dgm:alg type="sp"/>
                    <dgm:shape xmlns:r="http://schemas.openxmlformats.org/officeDocument/2006/relationships" rot="4" type="rect" r:blip="">
                      <dgm:adjLst/>
                    </dgm:shape>
                    <dgm:presOf/>
                    <dgm:constrLst/>
                    <dgm:ruleLst/>
                  </dgm:layoutNode>
                  <dgm:layoutNode name="right_0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
                  <dgm:choose name="Name8">
                    <dgm:if name="Name9" axis="ch ch" ptType="node node" st="2 1" cnt="1 0" func="cnt" op="equ" val="2">
                      <dgm:layoutNode name="balance_02" styleLbl="alignAccFollowNode1">
                        <dgm:varLst>
                          <dgm:bulletEnabled val="1"/>
                        </dgm:varLst>
                        <dgm:alg type="sp"/>
                        <dgm:shape xmlns:r="http://schemas.openxmlformats.org/officeDocument/2006/relationships" rot="4" type="rect" r:blip="">
                          <dgm:adjLst/>
                        </dgm:shape>
                        <dgm:presOf/>
                        <dgm:constrLst/>
                        <dgm:ruleLst/>
                      </dgm:layoutNode>
                      <dgm:layoutNode name="right_0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
                      <dgm:choose name="Name11">
                        <dgm:if name="Name12" axis="ch ch" ptType="node node" st="2 1" cnt="1 0" func="cnt" op="equ" val="3">
                          <dgm:layoutNode name="balance_03" styleLbl="alignAccFollowNode1">
                            <dgm:varLst>
                              <dgm:bulletEnabled val="1"/>
                            </dgm:varLst>
                            <dgm:alg type="sp"/>
                            <dgm:shape xmlns:r="http://schemas.openxmlformats.org/officeDocument/2006/relationships" rot="4" type="rect" r:blip="">
                              <dgm:adjLst/>
                            </dgm:shape>
                            <dgm:presOf/>
                            <dgm:constrLst/>
                            <dgm:ruleLst/>
                          </dgm:layoutNode>
                          <dgm:layoutNode name="right_0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3">
                          <dgm:choose name="Name14">
                            <dgm:if name="Name15" axis="ch ch" ptType="node node" st="2 1" cnt="1 0" func="cnt" op="gte" val="4">
                              <dgm:layoutNode name="balance_04" styleLbl="alignAccFollowNode1">
                                <dgm:varLst>
                                  <dgm:bulletEnabled val="1"/>
                                </dgm:varLst>
                                <dgm:alg type="sp"/>
                                <dgm:shape xmlns:r="http://schemas.openxmlformats.org/officeDocument/2006/relationships" rot="4" type="rect" r:blip="">
                                  <dgm:adjLst/>
                                </dgm:shape>
                                <dgm:presOf/>
                                <dgm:constrLst/>
                                <dgm:ruleLst/>
                              </dgm:layoutNode>
                              <dgm:layoutNode name="right_0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6"/>
                          </dgm:choose>
                        </dgm:else>
                      </dgm:choose>
                    </dgm:else>
                  </dgm:choose>
                </dgm:else>
              </dgm:choose>
            </dgm:else>
          </dgm:choose>
        </dgm:if>
        <dgm:else name="Name17">
          <dgm:choose name="Name18">
            <dgm:if name="Name19" axis="ch ch" ptType="node node" st="1 1" cnt="1 0" func="cnt" op="equ" val="1">
              <dgm:choose name="Name20">
                <dgm:if name="Name21" axis="ch ch" ptType="node node" st="2 1" cnt="1 0" func="cnt" op="equ" val="0">
                  <dgm:layoutNode name="balance_10" styleLbl="alignAccFollowNode1">
                    <dgm:varLst>
                      <dgm:bulletEnabled val="1"/>
                    </dgm:varLst>
                    <dgm:alg type="sp"/>
                    <dgm:shape xmlns:r="http://schemas.openxmlformats.org/officeDocument/2006/relationships" rot="-4" type="rect" r:blip="">
                      <dgm:adjLst/>
                    </dgm:shape>
                    <dgm:presOf/>
                    <dgm:constrLst/>
                    <dgm:ruleLst/>
                  </dgm:layoutNode>
                  <dgm:layoutNode name="left_1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2">
                  <dgm:choose name="Name23">
                    <dgm:if name="Name24" axis="ch ch" ptType="node node" st="2 1" cnt="1 0" func="cnt" op="equ" val="1">
                      <dgm:layoutNode name="balance_11" styleLbl="alignAccFollowNode1">
                        <dgm:varLst>
                          <dgm:bulletEnabled val="1"/>
                        </dgm:varLst>
                        <dgm:alg type="sp"/>
                        <dgm:shape xmlns:r="http://schemas.openxmlformats.org/officeDocument/2006/relationships" type="rect" r:blip="">
                          <dgm:adjLst/>
                        </dgm:shape>
                        <dgm:presOf/>
                        <dgm:constrLst/>
                        <dgm:ruleLst/>
                      </dgm:layoutNode>
                      <dgm:layoutNode name="left_11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1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5">
                      <dgm:choose name="Name26">
                        <dgm:if name="Name27" axis="ch ch" ptType="node node" st="2 1" cnt="1 0" func="cnt" op="equ" val="2">
                          <dgm:layoutNode name="balance_12" styleLbl="alignAccFollowNode1">
                            <dgm:varLst>
                              <dgm:bulletEnabled val="1"/>
                            </dgm:varLst>
                            <dgm:alg type="sp"/>
                            <dgm:shape xmlns:r="http://schemas.openxmlformats.org/officeDocument/2006/relationships" rot="4" type="rect" r:blip="">
                              <dgm:adjLst/>
                            </dgm:shape>
                            <dgm:presOf/>
                            <dgm:constrLst/>
                            <dgm:ruleLst/>
                          </dgm:layoutNode>
                          <dgm:layoutNode name="right_1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8">
                          <dgm:choose name="Name29">
                            <dgm:if name="Name30" axis="ch ch" ptType="node node" st="2 1" cnt="1 0" func="cnt" op="equ" val="3">
                              <dgm:layoutNode name="balance_13" styleLbl="alignAccFollowNode1">
                                <dgm:varLst>
                                  <dgm:bulletEnabled val="1"/>
                                </dgm:varLst>
                                <dgm:alg type="sp"/>
                                <dgm:shape xmlns:r="http://schemas.openxmlformats.org/officeDocument/2006/relationships" rot="4" type="rect" r:blip="">
                                  <dgm:adjLst/>
                                </dgm:shape>
                                <dgm:presOf/>
                                <dgm:constrLst/>
                                <dgm:ruleLst/>
                              </dgm:layoutNode>
                              <dgm:layoutNode name="right_1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1">
                              <dgm:choose name="Name32">
                                <dgm:if name="Name33" axis="ch ch" ptType="node node" st="2 1" cnt="1 0" func="cnt" op="gte" val="4">
                                  <dgm:layoutNode name="balance_14" styleLbl="alignAccFollowNode1">
                                    <dgm:varLst>
                                      <dgm:bulletEnabled val="1"/>
                                    </dgm:varLst>
                                    <dgm:alg type="sp"/>
                                    <dgm:shape xmlns:r="http://schemas.openxmlformats.org/officeDocument/2006/relationships" rot="4" type="rect" r:blip="">
                                      <dgm:adjLst/>
                                    </dgm:shape>
                                    <dgm:presOf/>
                                    <dgm:constrLst/>
                                    <dgm:ruleLst/>
                                  </dgm:layoutNode>
                                  <dgm:layoutNode name="right_1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4"/>
                              </dgm:choose>
                            </dgm:else>
                          </dgm:choose>
                        </dgm:else>
                      </dgm:choose>
                    </dgm:else>
                  </dgm:choose>
                </dgm:else>
              </dgm:choose>
            </dgm:if>
            <dgm:else name="Name35">
              <dgm:choose name="Name36">
                <dgm:if name="Name37" axis="ch ch" ptType="node node" st="1 1" cnt="1 0" func="cnt" op="equ" val="2">
                  <dgm:choose name="Name38">
                    <dgm:if name="Name39" axis="ch ch" ptType="node node" st="2 1" cnt="1 0" func="cnt" op="equ" val="0">
                      <dgm:layoutNode name="balance_20" styleLbl="alignAccFollowNode1">
                        <dgm:varLst>
                          <dgm:bulletEnabled val="1"/>
                        </dgm:varLst>
                        <dgm:alg type="sp"/>
                        <dgm:shape xmlns:r="http://schemas.openxmlformats.org/officeDocument/2006/relationships" rot="-4" type="rect" r:blip="">
                          <dgm:adjLst/>
                        </dgm:shape>
                        <dgm:presOf/>
                        <dgm:constrLst/>
                        <dgm:ruleLst/>
                      </dgm:layoutNode>
                      <dgm:layoutNode name="left_2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0">
                      <dgm:choose name="Name41">
                        <dgm:if name="Name42" axis="ch ch" ptType="node node" st="2 1" cnt="1 0" func="cnt" op="equ" val="1">
                          <dgm:layoutNode name="balance_21" styleLbl="alignAccFollowNode1">
                            <dgm:varLst>
                              <dgm:bulletEnabled val="1"/>
                            </dgm:varLst>
                            <dgm:alg type="sp"/>
                            <dgm:shape xmlns:r="http://schemas.openxmlformats.org/officeDocument/2006/relationships" rot="-4" type="rect" r:blip="">
                              <dgm:adjLst/>
                            </dgm:shape>
                            <dgm:presOf/>
                            <dgm:constrLst/>
                            <dgm:ruleLst/>
                          </dgm:layoutNode>
                          <dgm:layoutNode name="left_2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3">
                          <dgm:choose name="Name44">
                            <dgm:if name="Name45" axis="ch ch" ptType="node node" st="2 1" cnt="1 0" func="cnt" op="equ" val="2">
                              <dgm:layoutNode name="balance_22" styleLbl="alignAccFollowNode1">
                                <dgm:varLst>
                                  <dgm:bulletEnabled val="1"/>
                                </dgm:varLst>
                                <dgm:alg type="sp"/>
                                <dgm:shape xmlns:r="http://schemas.openxmlformats.org/officeDocument/2006/relationships" type="rect" r:blip="">
                                  <dgm:adjLst/>
                                </dgm:shape>
                                <dgm:presOf/>
                                <dgm:constrLst/>
                                <dgm:ruleLst/>
                              </dgm:layoutNode>
                              <dgm:layoutNode name="right_22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2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6">
                              <dgm:choose name="Name47">
                                <dgm:if name="Name48" axis="ch ch" ptType="node node" st="2 1" cnt="1 0" func="cnt" op="equ" val="3">
                                  <dgm:layoutNode name="balance_23" styleLbl="alignAccFollowNode1">
                                    <dgm:varLst>
                                      <dgm:bulletEnabled val="1"/>
                                    </dgm:varLst>
                                    <dgm:alg type="sp"/>
                                    <dgm:shape xmlns:r="http://schemas.openxmlformats.org/officeDocument/2006/relationships" rot="4" type="rect" r:blip="">
                                      <dgm:adjLst/>
                                    </dgm:shape>
                                    <dgm:presOf/>
                                    <dgm:constrLst/>
                                    <dgm:ruleLst/>
                                  </dgm:layoutNode>
                                  <dgm:layoutNode name="right_2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9">
                                  <dgm:choose name="Name50">
                                    <dgm:if name="Name51" axis="ch ch" ptType="node node" st="2 1" cnt="1 0" func="cnt" op="gte" val="4">
                                      <dgm:layoutNode name="balance_24" styleLbl="alignAccFollowNode1">
                                        <dgm:varLst>
                                          <dgm:bulletEnabled val="1"/>
                                        </dgm:varLst>
                                        <dgm:alg type="sp"/>
                                        <dgm:shape xmlns:r="http://schemas.openxmlformats.org/officeDocument/2006/relationships" rot="4" type="rect" r:blip="">
                                          <dgm:adjLst/>
                                        </dgm:shape>
                                        <dgm:presOf/>
                                        <dgm:constrLst/>
                                        <dgm:ruleLst/>
                                      </dgm:layoutNode>
                                      <dgm:layoutNode name="right_2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2"/>
                                  </dgm:choose>
                                </dgm:else>
                              </dgm:choose>
                            </dgm:else>
                          </dgm:choose>
                        </dgm:else>
                      </dgm:choose>
                    </dgm:else>
                  </dgm:choose>
                </dgm:if>
                <dgm:else name="Name53">
                  <dgm:choose name="Name54">
                    <dgm:if name="Name55" axis="ch ch" ptType="node node" st="1 1" cnt="1 0" func="cnt" op="equ" val="3">
                      <dgm:choose name="Name56">
                        <dgm:if name="Name57" axis="ch ch" ptType="node node" st="2 1" cnt="1 0" func="cnt" op="equ" val="0">
                          <dgm:layoutNode name="balance_30" styleLbl="alignAccFollowNode1">
                            <dgm:varLst>
                              <dgm:bulletEnabled val="1"/>
                            </dgm:varLst>
                            <dgm:alg type="sp"/>
                            <dgm:shape xmlns:r="http://schemas.openxmlformats.org/officeDocument/2006/relationships" rot="-4" type="rect" r:blip="">
                              <dgm:adjLst/>
                            </dgm:shape>
                            <dgm:presOf/>
                            <dgm:constrLst/>
                            <dgm:ruleLst/>
                          </dgm:layoutNode>
                          <dgm:layoutNode name="left_3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name="Name59">
                            <dgm:if name="Name60" axis="ch ch" ptType="node node" st="2 1" cnt="1 0" func="cnt" op="equ" val="1">
                              <dgm:layoutNode name="balance_31" styleLbl="alignAccFollowNode1">
                                <dgm:varLst>
                                  <dgm:bulletEnabled val="1"/>
                                </dgm:varLst>
                                <dgm:alg type="sp"/>
                                <dgm:shape xmlns:r="http://schemas.openxmlformats.org/officeDocument/2006/relationships" rot="-4" type="rect" r:blip="">
                                  <dgm:adjLst/>
                                </dgm:shape>
                                <dgm:presOf/>
                                <dgm:constrLst/>
                                <dgm:ruleLst/>
                              </dgm:layoutNode>
                              <dgm:layoutNode name="left_3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1">
                              <dgm:choose name="Name62">
                                <dgm:if name="Name63" axis="ch ch" ptType="node node" st="2 1" cnt="1 0" func="cnt" op="equ" val="2">
                                  <dgm:layoutNode name="balance_32" styleLbl="alignAccFollowNode1">
                                    <dgm:varLst>
                                      <dgm:bulletEnabled val="1"/>
                                    </dgm:varLst>
                                    <dgm:alg type="sp"/>
                                    <dgm:shape xmlns:r="http://schemas.openxmlformats.org/officeDocument/2006/relationships" rot="-4" type="rect" r:blip="">
                                      <dgm:adjLst/>
                                    </dgm:shape>
                                    <dgm:presOf/>
                                    <dgm:constrLst/>
                                    <dgm:ruleLst/>
                                  </dgm:layoutNode>
                                  <dgm:layoutNode name="left_3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4">
                                  <dgm:choose name="Name65">
                                    <dgm:if name="Name66" axis="ch ch" ptType="node node" st="2 1" cnt="1 0" func="cnt" op="equ" val="3">
                                      <dgm:layoutNode name="balance_33" styleLbl="alignAccFollowNode1">
                                        <dgm:varLst>
                                          <dgm:bulletEnabled val="1"/>
                                        </dgm:varLst>
                                        <dgm:alg type="sp"/>
                                        <dgm:shape xmlns:r="http://schemas.openxmlformats.org/officeDocument/2006/relationships" type="rect" r:blip="">
                                          <dgm:adjLst/>
                                        </dgm:shape>
                                        <dgm:presOf/>
                                        <dgm:constrLst/>
                                        <dgm:ruleLst/>
                                      </dgm:layoutNode>
                                      <dgm:layoutNode name="right_33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7">
                                      <dgm:choose name="Name68">
                                        <dgm:if name="Name69" axis="ch ch" ptType="node node" st="2 1" cnt="1 0" func="cnt" op="gte" val="4">
                                          <dgm:layoutNode name="balance_34" styleLbl="alignAccFollowNode1">
                                            <dgm:varLst>
                                              <dgm:bulletEnabled val="1"/>
                                            </dgm:varLst>
                                            <dgm:alg type="sp"/>
                                            <dgm:shape xmlns:r="http://schemas.openxmlformats.org/officeDocument/2006/relationships" rot="4" type="rect" r:blip="">
                                              <dgm:adjLst/>
                                            </dgm:shape>
                                            <dgm:presOf/>
                                            <dgm:constrLst/>
                                            <dgm:ruleLst/>
                                          </dgm:layoutNode>
                                          <dgm:layoutNode name="right_3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0"/>
                                      </dgm:choose>
                                    </dgm:else>
                                  </dgm:choose>
                                </dgm:else>
                              </dgm:choose>
                            </dgm:else>
                          </dgm:choose>
                        </dgm:else>
                      </dgm:choose>
                    </dgm:if>
                    <dgm:else name="Name71">
                      <dgm:choose name="Name72">
                        <dgm:if name="Name73" axis="ch ch" ptType="node node" st="1 1" cnt="1 0" func="cnt" op="gte" val="4">
                          <dgm:choose name="Name74">
                            <dgm:if name="Name75" axis="ch ch" ptType="node node" st="2 1" cnt="1 0" func="cnt" op="equ" val="0">
                              <dgm:layoutNode name="balance_40" styleLbl="alignAccFollowNode1">
                                <dgm:varLst>
                                  <dgm:bulletEnabled val="1"/>
                                </dgm:varLst>
                                <dgm:alg type="sp"/>
                                <dgm:shape xmlns:r="http://schemas.openxmlformats.org/officeDocument/2006/relationships" rot="-4" type="rect" r:blip="">
                                  <dgm:adjLst/>
                                </dgm:shape>
                                <dgm:presOf/>
                                <dgm:constrLst/>
                                <dgm:ruleLst/>
                              </dgm:layoutNode>
                              <dgm:layoutNode name="left_4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6">
                              <dgm:choose name="Name77">
                                <dgm:if name="Name78" axis="ch ch" ptType="node node" st="2 1" cnt="1 0" func="cnt" op="equ" val="1">
                                  <dgm:layoutNode name="balance_41" styleLbl="alignAccFollowNode1">
                                    <dgm:varLst>
                                      <dgm:bulletEnabled val="1"/>
                                    </dgm:varLst>
                                    <dgm:alg type="sp"/>
                                    <dgm:shape xmlns:r="http://schemas.openxmlformats.org/officeDocument/2006/relationships" rot="-4" type="rect" r:blip="">
                                      <dgm:adjLst/>
                                    </dgm:shape>
                                    <dgm:presOf/>
                                    <dgm:constrLst/>
                                    <dgm:ruleLst/>
                                  </dgm:layoutNode>
                                  <dgm:layoutNode name="left_4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name="Name80">
                                    <dgm:if name="Name81" axis="ch ch" ptType="node node" st="2 1" cnt="1 0" func="cnt" op="equ" val="2">
                                      <dgm:layoutNode name="balance_42" styleLbl="alignAccFollowNode1">
                                        <dgm:varLst>
                                          <dgm:bulletEnabled val="1"/>
                                        </dgm:varLst>
                                        <dgm:alg type="sp"/>
                                        <dgm:shape xmlns:r="http://schemas.openxmlformats.org/officeDocument/2006/relationships" rot="-4" type="rect" r:blip="">
                                          <dgm:adjLst/>
                                        </dgm:shape>
                                        <dgm:presOf/>
                                        <dgm:constrLst/>
                                        <dgm:ruleLst/>
                                      </dgm:layoutNode>
                                      <dgm:layoutNode name="left_4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2">
                                      <dgm:choose name="Name83">
                                        <dgm:if name="Name84" axis="ch ch" ptType="node node" st="2 1" cnt="1 0" func="cnt" op="equ" val="3">
                                          <dgm:layoutNode name="balance_43" styleLbl="alignAccFollowNode1">
                                            <dgm:varLst>
                                              <dgm:bulletEnabled val="1"/>
                                            </dgm:varLst>
                                            <dgm:alg type="sp"/>
                                            <dgm:shape xmlns:r="http://schemas.openxmlformats.org/officeDocument/2006/relationships" rot="-4" type="rect" r:blip="">
                                              <dgm:adjLst/>
                                            </dgm:shape>
                                            <dgm:presOf/>
                                            <dgm:constrLst/>
                                            <dgm:ruleLst/>
                                          </dgm:layoutNode>
                                          <dgm:layoutNode name="left_4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5">
                                          <dgm:choose name="Name86">
                                            <dgm:if name="Name87" axis="ch ch" ptType="node node" st="2 1" cnt="1 0" func="cnt" op="gte" val="4">
                                              <dgm:layoutNode name="balance_44" styleLbl="alignAccFollowNode1">
                                                <dgm:varLst>
                                                  <dgm:bulletEnabled val="1"/>
                                                </dgm:varLst>
                                                <dgm:alg type="sp"/>
                                                <dgm:shape xmlns:r="http://schemas.openxmlformats.org/officeDocument/2006/relationships" type="rect" r:blip="">
                                                  <dgm:adjLst/>
                                                </dgm:shape>
                                                <dgm:presOf/>
                                                <dgm:constrLst/>
                                                <dgm:ruleLst/>
                                              </dgm:layoutNode>
                                              <dgm:layoutNode name="right_44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4" styleLbl="node1">
                                                <dgm:varLst>
                                                  <dgm:bulletEnabled val="1"/>
                                                </dgm:varLst>
                                                <dgm:alg type="tx"/>
                                                <dgm:shape xmlns:r="http://schemas.openxmlformats.org/officeDocument/2006/relationships"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4" styleLbl="node1">
                                                <dgm:varLst>
                                                  <dgm:bulletEnabled val="1"/>
                                                </dgm:varLst>
                                                <dgm:alg type="tx"/>
                                                <dgm:shape xmlns:r="http://schemas.openxmlformats.org/officeDocument/2006/relationships"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8"/>
                                          </dgm:choose>
                                        </dgm:else>
                                      </dgm:choose>
                                    </dgm:else>
                                  </dgm:choose>
                                </dgm:else>
                              </dgm:choose>
                            </dgm:else>
                          </dgm:choose>
                        </dgm:if>
                        <dgm:else name="Name89"/>
                      </dgm:choose>
                    </dgm:else>
                  </dgm:choose>
                </dgm:else>
              </dgm:choose>
            </dgm:else>
          </dgm:choose>
        </dgm:else>
      </dgm:choose>
    </dgm:layoutNode>
  </dgm:layoutNode>
</dgm:layoutDef>
</file>

<file path=ppt/diagrams/layout7.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8.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matrix1">
  <dgm:title val=""/>
  <dgm:desc val=""/>
  <dgm:catLst>
    <dgm:cat type="matrix" pri="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styleData>
  <dgm:clr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clrData>
  <dgm:layoutNode name="diagram">
    <dgm:varLst>
      <dgm:chMax val="1"/>
      <dgm:dir/>
      <dgm:animLvl val="ctr"/>
      <dgm:resizeHandles val="exact"/>
    </dgm:varLst>
    <dgm:alg type="composite"/>
    <dgm:shape xmlns:r="http://schemas.openxmlformats.org/officeDocument/2006/relationships" r:blip="">
      <dgm:adjLst/>
    </dgm:shape>
    <dgm:presOf/>
    <dgm:constrLst>
      <dgm:constr type="ctrX" for="ch" forName="matrix" refType="w" fact="0.5"/>
      <dgm:constr type="ctrY" for="ch" forName="matrix" refType="h" fact="0.5"/>
      <dgm:constr type="w" for="ch" forName="matrix" refType="w"/>
      <dgm:constr type="h" for="ch" forName="matrix" refType="h"/>
      <dgm:constr type="ctrX" for="ch" forName="centerTile" refType="w" fact="0.5"/>
      <dgm:constr type="ctrY" for="ch" forName="centerTile" refType="h" fact="0.5"/>
      <dgm:constr type="w" for="ch" forName="centerTile" refType="w" fact="0.3"/>
      <dgm:constr type="h" for="ch" forName="centerTile" refType="h" fact="0.25"/>
      <dgm:constr type="primFontSz" for="des" ptType="node" op="equ" val="65"/>
    </dgm:constrLst>
    <dgm:ruleLst/>
    <dgm:choose name="Name0">
      <dgm:if name="Name1" axis="ch" ptType="node" func="cnt" op="gte" val="1">
        <dgm:layoutNode name="matrix">
          <dgm:alg type="composite"/>
          <dgm:shape xmlns:r="http://schemas.openxmlformats.org/officeDocument/2006/relationships" r:blip="">
            <dgm:adjLst/>
          </dgm:shape>
          <dgm:presOf/>
          <dgm:constrLst>
            <dgm:constr type="l" for="ch" forName="tile1"/>
            <dgm:constr type="t" for="ch" forName="tile1"/>
            <dgm:constr type="r" for="ch" forName="tile1" refType="w" fact="0.5"/>
            <dgm:constr type="b" for="ch" forName="tile1" refType="h" fact="0.5"/>
            <dgm:constr type="l" for="ch" forName="tile1text" refType="l" refFor="ch" refForName="tile1"/>
            <dgm:constr type="t" for="ch" forName="tile1text" refType="t" refFor="ch" refForName="tile1"/>
            <dgm:constr type="w" for="ch" forName="tile1text" refType="w" refFor="ch" refForName="tile1"/>
            <dgm:constr type="h" for="ch" forName="tile1text" refType="h" refFor="ch" refForName="tile1" fact="0.75"/>
            <dgm:constr type="r" for="ch" forName="tile2" refType="w"/>
            <dgm:constr type="t" for="ch" forName="tile2"/>
            <dgm:constr type="l" for="ch" forName="tile2" refType="w" fact="0.5"/>
            <dgm:constr type="b" for="ch" forName="tile2" refType="h" fact="0.5"/>
            <dgm:constr type="r" for="ch" forName="tile2text" refType="r" refFor="ch" refForName="tile2"/>
            <dgm:constr type="t" for="ch" forName="tile2text" refType="t" refFor="ch" refForName="tile2"/>
            <dgm:constr type="w" for="ch" forName="tile2text" refType="w" refFor="ch" refForName="tile2"/>
            <dgm:constr type="h" for="ch" forName="tile2text" refType="h" refFor="ch" refForName="tile2" fact="0.75"/>
            <dgm:constr type="l" for="ch" forName="tile3"/>
            <dgm:constr type="b" for="ch" forName="tile3" refType="h"/>
            <dgm:constr type="r" for="ch" forName="tile3" refType="w" fact="0.5"/>
            <dgm:constr type="t" for="ch" forName="tile3" refType="h" fact="0.5"/>
            <dgm:constr type="l" for="ch" forName="tile3text" refType="l" refFor="ch" refForName="tile3"/>
            <dgm:constr type="b" for="ch" forName="tile3text" refType="b" refFor="ch" refForName="tile3"/>
            <dgm:constr type="w" for="ch" forName="tile3text" refType="w" refFor="ch" refForName="tile3"/>
            <dgm:constr type="h" for="ch" forName="tile3text" refType="h" refFor="ch" refForName="tile3" fact="0.75"/>
            <dgm:constr type="r" for="ch" forName="tile4" refType="w"/>
            <dgm:constr type="b" for="ch" forName="tile4" refType="h"/>
            <dgm:constr type="l" for="ch" forName="tile4" refType="w" fact="0.5"/>
            <dgm:constr type="t" for="ch" forName="tile4" refType="h" fact="0.5"/>
            <dgm:constr type="r" for="ch" forName="tile4text" refType="r" refFor="ch" refForName="tile4"/>
            <dgm:constr type="b" for="ch" forName="tile4text" refType="b" refFor="ch" refForName="tile4"/>
            <dgm:constr type="w" for="ch" forName="tile4text" refType="w" refFor="ch" refForName="tile4"/>
            <dgm:constr type="h" for="ch" forName="tile4text" refType="h" refFor="ch" refForName="tile4" fact="0.75"/>
          </dgm:constrLst>
          <dgm:ruleLst/>
          <dgm:layoutNode name="tile1" styleLbl="node1">
            <dgm:alg type="sp"/>
            <dgm:shape xmlns:r="http://schemas.openxmlformats.org/officeDocument/2006/relationships" rot="270" type="round1Rect" r:blip="">
              <dgm:adjLst/>
            </dgm:shape>
            <dgm:choose name="Name2">
              <dgm:if name="Name3" func="var" arg="dir" op="equ" val="norm">
                <dgm:presOf axis="ch ch desOrSelf" ptType="node node node" st="1 1 1" cnt="1 1 0"/>
              </dgm:if>
              <dgm:else name="Name4">
                <dgm:presOf axis="ch ch desOrSelf" ptType="node node node" st="1 2 1" cnt="1 1 0"/>
              </dgm:else>
            </dgm:choose>
            <dgm:constrLst/>
            <dgm:ruleLst/>
          </dgm:layoutNode>
          <dgm:layoutNode name="tile1text" styleLbl="node1">
            <dgm:varLst>
              <dgm:chMax val="0"/>
              <dgm:chPref val="0"/>
              <dgm:bulletEnabled val="1"/>
            </dgm:varLst>
            <dgm:choose name="Name5">
              <dgm:if name="Name6" axis="root des" func="maxDepth" op="gte" val="3">
                <dgm:alg type="tx">
                  <dgm:param type="txAnchorVert" val="t"/>
                  <dgm:param type="parTxLTRAlign" val="l"/>
                  <dgm:param type="parTxRTLAlign" val="r"/>
                </dgm:alg>
              </dgm:if>
              <dgm:else name="Name7">
                <dgm:alg type="tx"/>
              </dgm:else>
            </dgm:choose>
            <dgm:shape xmlns:r="http://schemas.openxmlformats.org/officeDocument/2006/relationships" rot="270" type="rect" r:blip="" hideGeom="1">
              <dgm:adjLst>
                <dgm:adj idx="1" val="0.2"/>
              </dgm:adjLst>
            </dgm:shape>
            <dgm:choose name="Name8">
              <dgm:if name="Name9" func="var" arg="dir" op="equ" val="norm">
                <dgm:presOf axis="ch ch desOrSelf" ptType="node node node" st="1 1 1" cnt="1 1 0"/>
              </dgm:if>
              <dgm:else name="Name10">
                <dgm:presOf axis="ch ch desOrSelf" ptType="node node node" st="1 2 1" cnt="1 1 0"/>
              </dgm:else>
            </dgm:choose>
            <dgm:constrLst/>
            <dgm:ruleLst>
              <dgm:rule type="primFontSz" val="5" fact="NaN" max="NaN"/>
            </dgm:ruleLst>
          </dgm:layoutNode>
          <dgm:layoutNode name="tile2" styleLbl="node1">
            <dgm:alg type="sp"/>
            <dgm:shape xmlns:r="http://schemas.openxmlformats.org/officeDocument/2006/relationships" type="round1Rect" r:blip="">
              <dgm:adjLst/>
            </dgm:shape>
            <dgm:choose name="Name11">
              <dgm:if name="Name12" func="var" arg="dir" op="equ" val="norm">
                <dgm:presOf axis="ch ch desOrSelf" ptType="node node node" st="1 2 1" cnt="1 1 0"/>
              </dgm:if>
              <dgm:else name="Name13">
                <dgm:presOf axis="ch ch desOrSelf" ptType="node node node" st="1 1 1" cnt="1 1 0"/>
              </dgm:else>
            </dgm:choose>
            <dgm:constrLst/>
            <dgm:ruleLst/>
          </dgm:layoutNode>
          <dgm:layoutNode name="tile2text" styleLbl="node1">
            <dgm:varLst>
              <dgm:chMax val="0"/>
              <dgm:chPref val="0"/>
              <dgm:bulletEnabled val="1"/>
            </dgm:varLst>
            <dgm:choose name="Name14">
              <dgm:if name="Name15" axis="root des" func="maxDepth" op="gte" val="3">
                <dgm:alg type="tx">
                  <dgm:param type="txAnchorVert" val="t"/>
                  <dgm:param type="parTxLTRAlign" val="l"/>
                  <dgm:param type="parTxRTLAlign" val="r"/>
                </dgm:alg>
              </dgm:if>
              <dgm:else name="Name16">
                <dgm:alg type="tx"/>
              </dgm:else>
            </dgm:choose>
            <dgm:shape xmlns:r="http://schemas.openxmlformats.org/officeDocument/2006/relationships" type="rect" r:blip="" hideGeom="1">
              <dgm:adjLst/>
            </dgm:shape>
            <dgm:choose name="Name17">
              <dgm:if name="Name18" func="var" arg="dir" op="equ" val="norm">
                <dgm:presOf axis="ch ch desOrSelf" ptType="node node node" st="1 2 1" cnt="1 1 0"/>
              </dgm:if>
              <dgm:else name="Name19">
                <dgm:presOf axis="ch ch desOrSelf" ptType="node node node" st="1 1 1" cnt="1 1 0"/>
              </dgm:else>
            </dgm:choose>
            <dgm:constrLst/>
            <dgm:ruleLst>
              <dgm:rule type="primFontSz" val="5" fact="NaN" max="NaN"/>
            </dgm:ruleLst>
          </dgm:layoutNode>
          <dgm:layoutNode name="tile3" styleLbl="node1">
            <dgm:alg type="sp"/>
            <dgm:shape xmlns:r="http://schemas.openxmlformats.org/officeDocument/2006/relationships" rot="180" type="round1Rect" r:blip="">
              <dgm:adjLst/>
            </dgm:shape>
            <dgm:choose name="Name20">
              <dgm:if name="Name21" func="var" arg="dir" op="equ" val="norm">
                <dgm:presOf axis="ch ch desOrSelf" ptType="node node node" st="1 3 1" cnt="1 1 0"/>
              </dgm:if>
              <dgm:else name="Name22">
                <dgm:presOf axis="ch ch desOrSelf" ptType="node node node" st="1 4 1" cnt="1 1 0"/>
              </dgm:else>
            </dgm:choose>
            <dgm:constrLst/>
            <dgm:ruleLst/>
          </dgm:layoutNode>
          <dgm:layoutNode name="tile3text" styleLbl="node1">
            <dgm:varLst>
              <dgm:chMax val="0"/>
              <dgm:chPref val="0"/>
              <dgm:bulletEnabled val="1"/>
            </dgm:varLst>
            <dgm:choose name="Name23">
              <dgm:if name="Name24" axis="root des" func="maxDepth" op="gte" val="3">
                <dgm:alg type="tx">
                  <dgm:param type="txAnchorVert" val="t"/>
                  <dgm:param type="parTxLTRAlign" val="l"/>
                  <dgm:param type="parTxRTLAlign" val="r"/>
                </dgm:alg>
              </dgm:if>
              <dgm:else name="Name25">
                <dgm:alg type="tx"/>
              </dgm:else>
            </dgm:choose>
            <dgm:shape xmlns:r="http://schemas.openxmlformats.org/officeDocument/2006/relationships" rot="180" type="rect" r:blip="" hideGeom="1">
              <dgm:adjLst/>
            </dgm:shape>
            <dgm:choose name="Name26">
              <dgm:if name="Name27" func="var" arg="dir" op="equ" val="norm">
                <dgm:presOf axis="ch ch desOrSelf" ptType="node node node" st="1 3 1" cnt="1 1 0"/>
              </dgm:if>
              <dgm:else name="Name28">
                <dgm:presOf axis="ch ch desOrSelf" ptType="node node node" st="1 4 1" cnt="1 1 0"/>
              </dgm:else>
            </dgm:choose>
            <dgm:constrLst/>
            <dgm:ruleLst>
              <dgm:rule type="primFontSz" val="5" fact="NaN" max="NaN"/>
            </dgm:ruleLst>
          </dgm:layoutNode>
          <dgm:layoutNode name="tile4" styleLbl="node1">
            <dgm:alg type="sp"/>
            <dgm:shape xmlns:r="http://schemas.openxmlformats.org/officeDocument/2006/relationships" rot="90" type="round1Rect" r:blip="">
              <dgm:adjLst/>
            </dgm:shape>
            <dgm:choose name="Name29">
              <dgm:if name="Name30" func="var" arg="dir" op="equ" val="norm">
                <dgm:presOf axis="ch ch desOrSelf" ptType="node node node" st="1 4 1" cnt="1 1 0"/>
              </dgm:if>
              <dgm:else name="Name31">
                <dgm:presOf axis="ch ch desOrSelf" ptType="node node node" st="1 3 1" cnt="1 1 0"/>
              </dgm:else>
            </dgm:choose>
            <dgm:constrLst/>
            <dgm:ruleLst/>
          </dgm:layoutNode>
          <dgm:layoutNode name="tile4text" styleLbl="node1">
            <dgm:varLst>
              <dgm:chMax val="0"/>
              <dgm:chPref val="0"/>
              <dgm:bulletEnabled val="1"/>
            </dgm:varLst>
            <dgm:choose name="Name32">
              <dgm:if name="Name33" axis="root des" func="maxDepth" op="gte" val="3">
                <dgm:alg type="tx">
                  <dgm:param type="txAnchorVert" val="t"/>
                  <dgm:param type="parTxLTRAlign" val="l"/>
                  <dgm:param type="parTxRTLAlign" val="r"/>
                </dgm:alg>
              </dgm:if>
              <dgm:else name="Name34">
                <dgm:alg type="tx"/>
              </dgm:else>
            </dgm:choose>
            <dgm:shape xmlns:r="http://schemas.openxmlformats.org/officeDocument/2006/relationships" rot="90" type="rect" r:blip="" hideGeom="1">
              <dgm:adjLst/>
            </dgm:shape>
            <dgm:choose name="Name35">
              <dgm:if name="Name36" func="var" arg="dir" op="equ" val="norm">
                <dgm:presOf axis="ch ch desOrSelf" ptType="node node node" st="1 4 1" cnt="1 1 0"/>
              </dgm:if>
              <dgm:else name="Name37">
                <dgm:presOf axis="ch ch desOrSelf" ptType="node node node" st="1 3 1" cnt="1 1 0"/>
              </dgm:else>
            </dgm:choose>
            <dgm:constrLst/>
            <dgm:ruleLst>
              <dgm:rule type="primFontSz" val="5" fact="NaN" max="NaN"/>
            </dgm:ruleLst>
          </dgm:layoutNode>
        </dgm:layoutNode>
        <dgm:layoutNode name="centerTile" styleLbl="fgShp">
          <dgm:varLst>
            <dgm:chMax val="0"/>
            <dgm:chPref val="0"/>
          </dgm:varLst>
          <dgm:alg type="tx"/>
          <dgm:shape xmlns:r="http://schemas.openxmlformats.org/officeDocument/2006/relationships" type="roundRect" r:blip="">
            <dgm:adjLst/>
          </dgm:shape>
          <dgm:presOf axis="ch" ptType="node" cnt="1"/>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8"/>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89A0B1A-1E6B-4DB9-B0F6-A958F4359379}" type="datetimeFigureOut">
              <a:rPr lang="en-US" smtClean="0"/>
              <a:t>7/29/2026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149A2A-2FC7-440C-9AA6-4256354C6A8E}" type="slidenum">
              <a:rPr lang="en-US" smtClean="0"/>
              <a:t>‹#›</a:t>
            </a:fld>
            <a:endParaRPr lang="en-US"/>
          </a:p>
        </p:txBody>
      </p:sp>
    </p:spTree>
    <p:extLst>
      <p:ext uri="{BB962C8B-B14F-4D97-AF65-F5344CB8AC3E}">
        <p14:creationId xmlns:p14="http://schemas.microsoft.com/office/powerpoint/2010/main" val="4281165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 Do:</a:t>
            </a:r>
          </a:p>
          <a:p>
            <a:pPr marL="171450" indent="-171450">
              <a:buFontTx/>
              <a:buChar char="-"/>
            </a:pPr>
            <a:r>
              <a:rPr lang="en-US"/>
              <a:t>Determine Speaker</a:t>
            </a:r>
          </a:p>
          <a:p>
            <a:pPr marL="171450" indent="-171450">
              <a:buFontTx/>
              <a:buChar char="-"/>
            </a:pPr>
            <a:r>
              <a:rPr lang="en-US"/>
              <a:t>Add Talking Points (Use animations to guide)</a:t>
            </a:r>
          </a:p>
        </p:txBody>
      </p:sp>
      <p:sp>
        <p:nvSpPr>
          <p:cNvPr id="4" name="Slide Number Placeholder 3"/>
          <p:cNvSpPr>
            <a:spLocks noGrp="1"/>
          </p:cNvSpPr>
          <p:nvPr>
            <p:ph type="sldNum" sz="quarter" idx="5"/>
          </p:nvPr>
        </p:nvSpPr>
        <p:spPr/>
        <p:txBody>
          <a:bodyPr/>
          <a:lstStyle/>
          <a:p>
            <a:fld id="{5D149A2A-2FC7-440C-9AA6-4256354C6A8E}" type="slidenum">
              <a:rPr lang="en-US" smtClean="0"/>
              <a:t>3</a:t>
            </a:fld>
            <a:endParaRPr lang="en-US"/>
          </a:p>
        </p:txBody>
      </p:sp>
    </p:spTree>
    <p:extLst>
      <p:ext uri="{BB962C8B-B14F-4D97-AF65-F5344CB8AC3E}">
        <p14:creationId xmlns:p14="http://schemas.microsoft.com/office/powerpoint/2010/main" val="1902140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 Do:</a:t>
            </a:r>
          </a:p>
          <a:p>
            <a:pPr marL="171450" indent="-171450">
              <a:buFontTx/>
              <a:buChar char="-"/>
            </a:pPr>
            <a:r>
              <a:rPr lang="en-US"/>
              <a:t>Determine Speaker</a:t>
            </a:r>
          </a:p>
          <a:p>
            <a:pPr marL="171450" indent="-171450">
              <a:buFontTx/>
              <a:buChar char="-"/>
            </a:pPr>
            <a:r>
              <a:rPr lang="en-US"/>
              <a:t>Add Talking Points (Use animations to guide)</a:t>
            </a:r>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5D149A2A-2FC7-440C-9AA6-4256354C6A8E}" type="slidenum">
              <a:rPr lang="en-US" smtClean="0"/>
              <a:t>4</a:t>
            </a:fld>
            <a:endParaRPr lang="en-US"/>
          </a:p>
        </p:txBody>
      </p:sp>
    </p:spTree>
    <p:extLst>
      <p:ext uri="{BB962C8B-B14F-4D97-AF65-F5344CB8AC3E}">
        <p14:creationId xmlns:p14="http://schemas.microsoft.com/office/powerpoint/2010/main" val="19532980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83FAB2-4D9A-F6A1-DFDD-C9B57D2DC2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72A327-1873-DF30-2702-90DEFD8860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737065-8450-A6A0-0499-666852DC66D8}"/>
              </a:ext>
            </a:extLst>
          </p:cNvPr>
          <p:cNvSpPr>
            <a:spLocks noGrp="1"/>
          </p:cNvSpPr>
          <p:nvPr>
            <p:ph type="body" idx="1"/>
          </p:nvPr>
        </p:nvSpPr>
        <p:spPr/>
        <p:txBody>
          <a:bodyPr/>
          <a:lstStyle/>
          <a:p>
            <a:r>
              <a:rPr lang="en-US"/>
              <a:t>To Do:</a:t>
            </a:r>
          </a:p>
          <a:p>
            <a:pPr marL="171450" indent="-171450">
              <a:buFontTx/>
              <a:buChar char="-"/>
            </a:pPr>
            <a:r>
              <a:rPr lang="en-US"/>
              <a:t>Determine Speaker</a:t>
            </a:r>
          </a:p>
          <a:p>
            <a:pPr marL="171450" indent="-171450">
              <a:buFontTx/>
              <a:buChar char="-"/>
            </a:pPr>
            <a:r>
              <a:rPr lang="en-US"/>
              <a:t>Add Talking Points (Use animations to guide/introduction to what the service concept is)</a:t>
            </a:r>
          </a:p>
        </p:txBody>
      </p:sp>
      <p:sp>
        <p:nvSpPr>
          <p:cNvPr id="4" name="Slide Number Placeholder 3">
            <a:extLst>
              <a:ext uri="{FF2B5EF4-FFF2-40B4-BE49-F238E27FC236}">
                <a16:creationId xmlns:a16="http://schemas.microsoft.com/office/drawing/2014/main" id="{AC93DFBB-9257-455A-5B0F-7D60F66F1C83}"/>
              </a:ext>
            </a:extLst>
          </p:cNvPr>
          <p:cNvSpPr>
            <a:spLocks noGrp="1"/>
          </p:cNvSpPr>
          <p:nvPr>
            <p:ph type="sldNum" sz="quarter" idx="5"/>
          </p:nvPr>
        </p:nvSpPr>
        <p:spPr/>
        <p:txBody>
          <a:bodyPr/>
          <a:lstStyle/>
          <a:p>
            <a:fld id="{5D149A2A-2FC7-440C-9AA6-4256354C6A8E}" type="slidenum">
              <a:rPr lang="en-US" smtClean="0"/>
              <a:t>5</a:t>
            </a:fld>
            <a:endParaRPr lang="en-US"/>
          </a:p>
        </p:txBody>
      </p:sp>
    </p:spTree>
    <p:extLst>
      <p:ext uri="{BB962C8B-B14F-4D97-AF65-F5344CB8AC3E}">
        <p14:creationId xmlns:p14="http://schemas.microsoft.com/office/powerpoint/2010/main" val="39280785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 Do:</a:t>
            </a:r>
          </a:p>
          <a:p>
            <a:pPr marL="171450" indent="-171450">
              <a:buFontTx/>
              <a:buChar char="-"/>
            </a:pPr>
            <a:r>
              <a:rPr lang="en-US"/>
              <a:t>Reformat Slide</a:t>
            </a:r>
          </a:p>
          <a:p>
            <a:pPr marL="171450" indent="-171450">
              <a:buFontTx/>
              <a:buChar char="-"/>
            </a:pPr>
            <a:r>
              <a:rPr lang="en-US"/>
              <a:t>Determine Speaker</a:t>
            </a:r>
          </a:p>
          <a:p>
            <a:pPr marL="171450" indent="-171450">
              <a:buFontTx/>
              <a:buChar char="-"/>
            </a:pPr>
            <a:r>
              <a:rPr lang="en-US"/>
              <a:t>Create Talking Points</a:t>
            </a:r>
          </a:p>
          <a:p>
            <a:r>
              <a:rPr lang="en-US"/>
              <a:t>- </a:t>
            </a:r>
            <a:r>
              <a:t>Open items for RFP-stage negotiation: exact fee %, named installer network, interconnection process for utility-owned residential batteries (flagged as a regulatory question to work through with MPSC, not assumed).</a:t>
            </a:r>
          </a:p>
        </p:txBody>
      </p:sp>
      <p:sp>
        <p:nvSpPr>
          <p:cNvPr id="4" name="Slide Number Placeholder 3"/>
          <p:cNvSpPr>
            <a:spLocks noGrp="1"/>
          </p:cNvSpPr>
          <p:nvPr>
            <p:ph type="sldNum" sz="quarter" idx="5"/>
          </p:nvPr>
        </p:nvSpPr>
        <p:spPr/>
        <p:txBody>
          <a:bodyPr/>
          <a:lstStyle/>
          <a:p>
            <a:fld id="{5D149A2A-2FC7-440C-9AA6-4256354C6A8E}" type="slidenum">
              <a:rPr lang="en-US" smtClean="0"/>
              <a:t>6</a:t>
            </a:fld>
            <a:endParaRPr lang="en-US"/>
          </a:p>
        </p:txBody>
      </p:sp>
    </p:spTree>
    <p:extLst>
      <p:ext uri="{BB962C8B-B14F-4D97-AF65-F5344CB8AC3E}">
        <p14:creationId xmlns:p14="http://schemas.microsoft.com/office/powerpoint/2010/main" val="31078531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 Prioritization Framework</a:t>
            </a:r>
          </a:p>
          <a:p>
            <a:r>
              <a:t>Flow: this slide exists to pre-empt the question 'why didn't you just pitch a broader capability?' before anyone asks it.</a:t>
            </a:r>
          </a:p>
          <a:p/>
          <a:p>
            <a:r>
              <a:t>1. Walk the table left to right, land on SELECTED for the battery+solar fleet.</a:t>
            </a:r>
          </a:p>
          <a:p>
            <a:r>
              <a:t>2. Then hit the five reasons in the callout, in order:</a:t>
            </a:r>
          </a:p>
          <a:p>
            <a:r>
              <a:t>   - Utilities procure through RFPs for defined programs -- there's no RFP category for a 'toolkit.'</a:t>
            </a:r>
          </a:p>
          <a:p>
            <a:r>
              <a:t>   - The broad-advisory market is already occupied (CLEAResult ~$528M revenue, ICF) -- competing there is a price war against incumbents who've run it for years.</a:t>
            </a:r>
          </a:p>
          <a:p>
            <a:r>
              <a:t>   - The prompt is about funding UNCERTAINTY. A toolkit only helps triage a budget that's already shrinking (cite: Louisiana ended its 2026 program, Duke withdrew 3 residential programs, CA paused a $290M rebate program). The fleet answers the uncertainty directly by moving the funding source to rate base, which a federal freeze cannot touch.</a:t>
            </a:r>
          </a:p>
          <a:p>
            <a:r>
              <a:t>   - Revenue quality: consulting hours end when the engagement ends. Recurring administration fees are tied to a 20-year physical asset.</a:t>
            </a:r>
          </a:p>
          <a:p>
            <a:r>
              <a:t>   - And directly: leadership (Samantha) asked for one specific, concrete program, not a capability list.</a:t>
            </a:r>
          </a:p>
          <a:p/>
          <a:p>
            <a:r>
              <a:t>If asked 'why not both?' -- answer: the toolkit describes HOW APTIM operates internally; it is not a product a utility issues an RFP for.</a:t>
            </a:r>
          </a:p>
          <a:p/>
          <a:p>
            <a:r>
              <a:t>[Placeholder -- swap in team-provided talking points when received.]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Highlighting </a:t>
            </a:r>
            <a:r>
              <a:rPr lang="en-US" err="1">
                <a:latin typeface="Calibri"/>
                <a:ea typeface="Calibri"/>
                <a:cs typeface="Calibri"/>
              </a:rPr>
              <a:t>aptim</a:t>
            </a:r>
            <a:r>
              <a:rPr lang="en-US">
                <a:latin typeface="Calibri"/>
                <a:ea typeface="Calibri"/>
                <a:cs typeface="Calibri"/>
              </a:rPr>
              <a:t> wins is good, fix sizing/format </a:t>
            </a:r>
          </a:p>
        </p:txBody>
      </p:sp>
      <p:sp>
        <p:nvSpPr>
          <p:cNvPr id="4" name="Slide Number Placeholder 3"/>
          <p:cNvSpPr>
            <a:spLocks noGrp="1"/>
          </p:cNvSpPr>
          <p:nvPr>
            <p:ph type="sldNum" sz="quarter" idx="5"/>
          </p:nvPr>
        </p:nvSpPr>
        <p:spPr/>
        <p:txBody>
          <a:bodyPr/>
          <a:lstStyle/>
          <a:p>
            <a:fld id="{5D149A2A-2FC7-440C-9AA6-4256354C6A8E}" type="slidenum">
              <a:rPr lang="en-US" smtClean="0"/>
              <a:t>8</a:t>
            </a:fld>
            <a:endParaRPr lang="en-US"/>
          </a:p>
        </p:txBody>
      </p:sp>
    </p:spTree>
    <p:extLst>
      <p:ext uri="{BB962C8B-B14F-4D97-AF65-F5344CB8AC3E}">
        <p14:creationId xmlns:p14="http://schemas.microsoft.com/office/powerpoint/2010/main" val="29166212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Solid, maybe split into two slides with an intro to avoid overload (or add animations)</a:t>
            </a:r>
          </a:p>
          <a:p>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p:txBody>
      </p:sp>
      <p:sp>
        <p:nvSpPr>
          <p:cNvPr id="4" name="Slide Number Placeholder 3"/>
          <p:cNvSpPr>
            <a:spLocks noGrp="1"/>
          </p:cNvSpPr>
          <p:nvPr>
            <p:ph type="sldNum" sz="quarter" idx="5"/>
          </p:nvPr>
        </p:nvSpPr>
        <p:spPr/>
        <p:txBody>
          <a:bodyPr/>
          <a:lstStyle/>
          <a:p>
            <a:fld id="{5D149A2A-2FC7-440C-9AA6-4256354C6A8E}" type="slidenum">
              <a:rPr lang="en-US" smtClean="0"/>
              <a:t>10</a:t>
            </a:fld>
            <a:endParaRPr lang="en-US"/>
          </a:p>
        </p:txBody>
      </p:sp>
    </p:spTree>
    <p:extLst>
      <p:ext uri="{BB962C8B-B14F-4D97-AF65-F5344CB8AC3E}">
        <p14:creationId xmlns:p14="http://schemas.microsoft.com/office/powerpoint/2010/main" val="35618215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Very good they like this slide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5D149A2A-2FC7-440C-9AA6-4256354C6A8E}" type="slidenum">
              <a:rPr lang="en-US" smtClean="0"/>
              <a:t>11</a:t>
            </a:fld>
            <a:endParaRPr lang="en-US"/>
          </a:p>
        </p:txBody>
      </p:sp>
    </p:spTree>
    <p:extLst>
      <p:ext uri="{BB962C8B-B14F-4D97-AF65-F5344CB8AC3E}">
        <p14:creationId xmlns:p14="http://schemas.microsoft.com/office/powerpoint/2010/main" val="4067292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9DBF6-2359-BA45-F67A-C67A0B6E0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2002D8-0270-F5DC-CBED-560D9795FD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7A958C-BA5F-0512-1AAA-DB82AFFDD668}"/>
              </a:ext>
            </a:extLst>
          </p:cNvPr>
          <p:cNvSpPr>
            <a:spLocks noGrp="1"/>
          </p:cNvSpPr>
          <p:nvPr>
            <p:ph type="body" idx="1"/>
          </p:nvPr>
        </p:nvSpPr>
        <p:spPr/>
        <p:txBody>
          <a:bodyPr/>
          <a:lstStyle/>
          <a:p>
            <a:r>
              <a:rPr lang="en-US">
                <a:latin typeface="Calibri"/>
                <a:ea typeface="Calibri"/>
                <a:cs typeface="Calibri"/>
              </a:rPr>
              <a:t>Highlighting </a:t>
            </a:r>
            <a:r>
              <a:rPr lang="en-US" err="1">
                <a:latin typeface="Calibri"/>
                <a:ea typeface="Calibri"/>
                <a:cs typeface="Calibri"/>
              </a:rPr>
              <a:t>aptim</a:t>
            </a:r>
            <a:r>
              <a:rPr lang="en-US">
                <a:latin typeface="Calibri"/>
                <a:ea typeface="Calibri"/>
                <a:cs typeface="Calibri"/>
              </a:rPr>
              <a:t> wins is good, fix sizing/format </a:t>
            </a:r>
          </a:p>
        </p:txBody>
      </p:sp>
      <p:sp>
        <p:nvSpPr>
          <p:cNvPr id="4" name="Slide Number Placeholder 3">
            <a:extLst>
              <a:ext uri="{FF2B5EF4-FFF2-40B4-BE49-F238E27FC236}">
                <a16:creationId xmlns:a16="http://schemas.microsoft.com/office/drawing/2014/main" id="{F6E4F0E2-14AC-C64F-1D10-0DEE88D9B2BB}"/>
              </a:ext>
            </a:extLst>
          </p:cNvPr>
          <p:cNvSpPr>
            <a:spLocks noGrp="1"/>
          </p:cNvSpPr>
          <p:nvPr>
            <p:ph type="sldNum" sz="quarter" idx="5"/>
          </p:nvPr>
        </p:nvSpPr>
        <p:spPr/>
        <p:txBody>
          <a:bodyPr/>
          <a:lstStyle/>
          <a:p>
            <a:fld id="{5D149A2A-2FC7-440C-9AA6-4256354C6A8E}" type="slidenum">
              <a:rPr lang="en-US" smtClean="0"/>
              <a:t>14</a:t>
            </a:fld>
            <a:endParaRPr lang="en-US"/>
          </a:p>
        </p:txBody>
      </p:sp>
    </p:spTree>
    <p:extLst>
      <p:ext uri="{BB962C8B-B14F-4D97-AF65-F5344CB8AC3E}">
        <p14:creationId xmlns:p14="http://schemas.microsoft.com/office/powerpoint/2010/main" val="975389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678702-4F05-E994-8BA5-3A41289917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9DBFF4-97C5-7744-D1E5-A70EB3AC965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75D3012-3DAD-4A10-447E-66301E676F4A}"/>
              </a:ext>
            </a:extLst>
          </p:cNvPr>
          <p:cNvSpPr>
            <a:spLocks noGrp="1"/>
          </p:cNvSpPr>
          <p:nvPr>
            <p:ph type="body" sz="quarter" idx="3"/>
          </p:nvPr>
        </p:nvSpPr>
        <p:spPr/>
        <p:txBody>
          <a:bodyPr/>
          <a:lstStyle/>
          <a:p>
            <a:r>
              <a:t>Talk about:</a:t>
            </a:r>
          </a:p>
          <a:p>
            <a:r>
              <a:t>- PA 235</a:t>
            </a:r>
          </a:p>
          <a:p>
            <a:r>
              <a:t>- DTE's storage requirements</a:t>
            </a:r>
          </a:p>
          <a:p>
            <a:r>
              <a:t>- Why Detroit was not selected</a:t>
            </a:r>
          </a:p>
          <a:p>
            <a:r>
              <a:t>- Why Ann Arbor provides higher probability of success</a:t>
            </a:r>
          </a:p>
        </p:txBody>
      </p:sp>
      <p:sp>
        <p:nvSpPr>
          <p:cNvPr id="4" name="Slide Number Placeholder 3">
            <a:extLst>
              <a:ext uri="{FF2B5EF4-FFF2-40B4-BE49-F238E27FC236}">
                <a16:creationId xmlns:a16="http://schemas.microsoft.com/office/drawing/2014/main" id="{70A12920-D0E1-CBF2-86C4-A794E8E59470}"/>
              </a:ext>
            </a:extLst>
          </p:cNvPr>
          <p:cNvSpPr>
            <a:spLocks noGrp="1"/>
          </p:cNvSpPr>
          <p:nvPr>
            <p:ph type="sldNum" sz="quarter" idx="5"/>
          </p:nvPr>
        </p:nvSpPr>
        <p:spPr/>
      </p:sp>
    </p:spTree>
    <p:extLst>
      <p:ext uri="{BB962C8B-B14F-4D97-AF65-F5344CB8AC3E}">
        <p14:creationId xmlns:p14="http://schemas.microsoft.com/office/powerpoint/2010/main" val="12451536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SPEAKER NOTES -- Client Use Case: Michigan</a:t>
            </a:r>
          </a:p>
          <a:p>
            <a:r>
              <a:t>This slide answers ONE question: is this legally buildable in Michigan, and what happens if someone pushes back? Win-the-bid and timeline content live on other slides (How APTIM Wins; Future/Scaling) -- don't re-argue them here, just bridge to them if asked.</a:t>
            </a:r>
          </a:p>
          <a:p/>
          <a:p>
            <a:r>
              <a:t>LEGAL AUDIT (say this, don't read the table verbatim):</a:t>
            </a:r>
          </a:p>
          <a:p>
            <a:r>
              <a:t>- Helps: PA 235 is the strongest citation -- mandate-driven demand exists regardless of federal money, which is the direct answer to the prompt. U-20836 + U-21653 together are the second-strongest: the Commission rejected the VENUE (a residential battery pilot bundled into a general rate case), not the concept, and told DTE to refile as a standalone pilot with deferred accounting. U-21653 (approved April 2025) is that exact venue.</a:t>
            </a:r>
          </a:p>
          <a:p>
            <a:r>
              <a:t>- Hurts, with the answer built in: the March 2026 1,332 MW precedent is grid-scale, NOT residential -- don't oversell it; frame it as 'utility-owned storage is approvable in Michigan,' and our pilot sets the residential template. Rate-fatigue politics around DTE cuts against new spending -- answer is 'capped pilot, no new tax, performance-linked fee.' No interconnection template exists yet for utility-owned in-home equipment -- answer is that Michigan's MIXDG interconnection rules already name the utility as a possible interconnection customer.</a:t>
            </a:r>
          </a:p>
          <a:p/>
          <a:p>
            <a:r>
              <a:t>CAVEATS TO CONCEDE GRACEFULLY IF PRESSED: deferred-accounting cost recovery under U-21653 is expected but not yet confirmed by an order; the PA 235 Dec 31 2029 date is a PETITION deadline, not a build deadline -- don't claim false urgency from it.</a:t>
            </a:r>
          </a:p>
          <a:p/>
          <a:p>
            <a:r>
              <a:t>PILOT NUMBERS STRIP: these are Maija's team-built Ann Arbor sizing assumptions, not committed pricing -- if asked, say 'illustrative sizing for a 500-home pilot; actual fees are set at the RFP stage.' Do NOT cite '850+ MW' for DTE's storage need if it comes up elsewhere in the deck -- the confirmed IRP figure is 760 MW by 2032 (settlement: 780 MW by 2030), not 850+.</a:t>
            </a:r>
          </a:p>
          <a:p/>
          <a:p>
            <a:r>
              <a:t>[Placeholder -- swap in team-provided talking points when received.]</a:t>
            </a:r>
          </a:p>
        </p:txBody>
      </p:sp>
      <p:sp>
        <p:nvSpPr>
          <p:cNvPr id="4" name="Slide Number Placeholder 3"/>
          <p:cNvSpPr>
            <a:spLocks noGrp="1"/>
          </p:cNvSpPr>
          <p:nvPr>
            <p:ph type="sldNum" sz="quarter" idx="5"/>
          </p:nvPr>
        </p:nvSpPr>
        <p:spPr/>
        <p:txBody>
          <a:bodyPr/>
          <a:lstStyle/>
          <a:p>
            <a:fld id="{5D149A2A-2FC7-440C-9AA6-4256354C6A8E}" type="slidenum">
              <a:rPr lang="en-US" smtClean="0"/>
              <a:t>16</a:t>
            </a:fld>
            <a:endParaRPr lang="en-US"/>
          </a:p>
        </p:txBody>
      </p:sp>
    </p:spTree>
    <p:extLst>
      <p:ext uri="{BB962C8B-B14F-4D97-AF65-F5344CB8AC3E}">
        <p14:creationId xmlns:p14="http://schemas.microsoft.com/office/powerpoint/2010/main" val="31058616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9F669-F24E-93C7-3CCB-B664EE2B5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894779-67FD-9755-6C5A-EDC41EB81E0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7E18297-58C0-6424-10F6-342AC2A64392}"/>
              </a:ext>
            </a:extLst>
          </p:cNvPr>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a:solidFill>
                  <a:schemeClr val="tx1"/>
                </a:solidFill>
                <a:effectLst/>
                <a:latin typeface="+mn-lt"/>
                <a:ea typeface="+mn-ea"/>
                <a:cs typeface="+mn-cs"/>
              </a:rPr>
              <a:t>he system was sized to be realistic and scalable. Each participating home receives a typical 6-kW rooftop solar system paired with a 15-kWh battery, providing both homeowner resilience and utility dispatch capability. Across 500 homes, that creates a 3-MW distributed solar fleet and 7.5 MWh of battery storage for DTE to leverage as a pilot-scale virtual power plant.</a:t>
            </a:r>
          </a:p>
          <a:p>
            <a:endParaRPr/>
          </a:p>
        </p:txBody>
      </p:sp>
      <p:sp>
        <p:nvSpPr>
          <p:cNvPr id="4" name="Slide Number Placeholder 3">
            <a:extLst>
              <a:ext uri="{FF2B5EF4-FFF2-40B4-BE49-F238E27FC236}">
                <a16:creationId xmlns:a16="http://schemas.microsoft.com/office/drawing/2014/main" id="{A9DAA064-CF17-3458-9810-867AEAC58473}"/>
              </a:ext>
            </a:extLst>
          </p:cNvPr>
          <p:cNvSpPr>
            <a:spLocks noGrp="1"/>
          </p:cNvSpPr>
          <p:nvPr>
            <p:ph type="sldNum" sz="quarter" idx="5"/>
          </p:nvPr>
        </p:nvSpPr>
        <p:spPr/>
      </p:sp>
    </p:spTree>
    <p:extLst>
      <p:ext uri="{BB962C8B-B14F-4D97-AF65-F5344CB8AC3E}">
        <p14:creationId xmlns:p14="http://schemas.microsoft.com/office/powerpoint/2010/main" val="29036850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914400" lvl="2" indent="0">
              <a:buFont typeface="Arial" panose="020B0604020202020204" pitchFamily="34" charset="0"/>
              <a:buNone/>
            </a:pPr>
            <a:r>
              <a:rPr lang="en-US"/>
              <a:t>Notes: Profit margin</a:t>
            </a:r>
          </a:p>
          <a:p>
            <a:pPr marL="914400" lvl="2" indent="0">
              <a:buFont typeface="Arial" panose="020B0604020202020204" pitchFamily="34" charset="0"/>
              <a:buNone/>
            </a:pPr>
            <a:r>
              <a:rPr lang="en-US"/>
              <a:t>-  </a:t>
            </a:r>
            <a:r>
              <a:rPr lang="en-US" sz="1000">
                <a:solidFill>
                  <a:srgbClr val="404040"/>
                </a:solidFill>
                <a:latin typeface="Arial"/>
              </a:rPr>
              <a:t>15: Minimum</a:t>
            </a:r>
          </a:p>
          <a:p>
            <a:pPr marL="1085850" lvl="2" indent="-171450">
              <a:buFont typeface="Arial" panose="020B0604020202020204" pitchFamily="34" charset="0"/>
              <a:buChar char="•"/>
            </a:pPr>
            <a:r>
              <a:rPr lang="en-US" sz="1000">
                <a:solidFill>
                  <a:srgbClr val="404040"/>
                </a:solidFill>
                <a:latin typeface="Arial"/>
              </a:rPr>
              <a:t>20: Recommended</a:t>
            </a:r>
          </a:p>
          <a:p>
            <a:pPr marL="1085850" lvl="2" indent="-171450">
              <a:buFont typeface="Arial" panose="020B0604020202020204" pitchFamily="34" charset="0"/>
              <a:buChar char="•"/>
            </a:pPr>
            <a:r>
              <a:rPr lang="en-US" sz="1000">
                <a:solidFill>
                  <a:srgbClr val="404040"/>
                </a:solidFill>
                <a:latin typeface="Arial"/>
              </a:rPr>
              <a:t>25: Aggressive</a:t>
            </a:r>
          </a:p>
          <a:p>
            <a:endParaRPr lang="en-US"/>
          </a:p>
        </p:txBody>
      </p:sp>
      <p:sp>
        <p:nvSpPr>
          <p:cNvPr id="4" name="Slide Number Placeholder 3"/>
          <p:cNvSpPr>
            <a:spLocks noGrp="1"/>
          </p:cNvSpPr>
          <p:nvPr>
            <p:ph type="sldNum" sz="quarter" idx="5"/>
          </p:nvPr>
        </p:nvSpPr>
        <p:spPr/>
        <p:txBody>
          <a:bodyPr/>
          <a:lstStyle/>
          <a:p>
            <a:fld id="{5D149A2A-2FC7-440C-9AA6-4256354C6A8E}" type="slidenum">
              <a:rPr lang="en-US" smtClean="0"/>
              <a:t>19</a:t>
            </a:fld>
            <a:endParaRPr lang="en-US"/>
          </a:p>
        </p:txBody>
      </p:sp>
    </p:spTree>
    <p:extLst>
      <p:ext uri="{BB962C8B-B14F-4D97-AF65-F5344CB8AC3E}">
        <p14:creationId xmlns:p14="http://schemas.microsoft.com/office/powerpoint/2010/main" val="232270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Practice timing of animations (applies to all of them whole presentation), condense paragraphs into bullet points, lots of words in screen, information is good to use in notes</a:t>
            </a:r>
          </a:p>
        </p:txBody>
      </p:sp>
      <p:sp>
        <p:nvSpPr>
          <p:cNvPr id="4" name="Slide Number Placeholder 3"/>
          <p:cNvSpPr>
            <a:spLocks noGrp="1"/>
          </p:cNvSpPr>
          <p:nvPr>
            <p:ph type="sldNum" sz="quarter" idx="5"/>
          </p:nvPr>
        </p:nvSpPr>
        <p:spPr/>
        <p:txBody>
          <a:bodyPr/>
          <a:lstStyle/>
          <a:p>
            <a:fld id="{5D149A2A-2FC7-440C-9AA6-4256354C6A8E}" type="slidenum">
              <a:rPr lang="en-US" smtClean="0"/>
              <a:t>20</a:t>
            </a:fld>
            <a:endParaRPr lang="en-US"/>
          </a:p>
        </p:txBody>
      </p:sp>
    </p:spTree>
    <p:extLst>
      <p:ext uri="{BB962C8B-B14F-4D97-AF65-F5344CB8AC3E}">
        <p14:creationId xmlns:p14="http://schemas.microsoft.com/office/powerpoint/2010/main" val="95442659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Maybe change formatting </a:t>
            </a:r>
          </a:p>
        </p:txBody>
      </p:sp>
      <p:sp>
        <p:nvSpPr>
          <p:cNvPr id="4" name="Slide Number Placeholder 3"/>
          <p:cNvSpPr>
            <a:spLocks noGrp="1"/>
          </p:cNvSpPr>
          <p:nvPr>
            <p:ph type="sldNum" sz="quarter" idx="5"/>
          </p:nvPr>
        </p:nvSpPr>
        <p:spPr/>
        <p:txBody>
          <a:bodyPr/>
          <a:lstStyle/>
          <a:p>
            <a:fld id="{5D149A2A-2FC7-440C-9AA6-4256354C6A8E}" type="slidenum">
              <a:rPr lang="en-US" smtClean="0"/>
              <a:t>21</a:t>
            </a:fld>
            <a:endParaRPr lang="en-US"/>
          </a:p>
        </p:txBody>
      </p:sp>
    </p:spTree>
    <p:extLst>
      <p:ext uri="{BB962C8B-B14F-4D97-AF65-F5344CB8AC3E}">
        <p14:creationId xmlns:p14="http://schemas.microsoft.com/office/powerpoint/2010/main" val="30284282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D6E70-BD13-98EC-6C12-58F08CDCB7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615C-7D79-D85B-E7AD-4FBC60E46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3488B0-6EED-466A-D649-75CB28DF7B16}"/>
              </a:ext>
            </a:extLst>
          </p:cNvPr>
          <p:cNvSpPr>
            <a:spLocks noGrp="1"/>
          </p:cNvSpPr>
          <p:nvPr>
            <p:ph type="body" idx="1"/>
          </p:nvPr>
        </p:nvSpPr>
        <p:spPr/>
        <p:txBody>
          <a:bodyPr/>
          <a:lstStyle/>
          <a:p>
            <a:r>
              <a:rPr lang="en-US">
                <a:latin typeface="Calibri"/>
                <a:ea typeface="Calibri"/>
                <a:cs typeface="Calibri"/>
              </a:rPr>
              <a:t>Notes: might be light on slides currently, talking fast when nervous makes it go by faster and we currently have 1-2 minutes per slide. Practice </a:t>
            </a:r>
            <a:r>
              <a:rPr lang="en-US" err="1">
                <a:latin typeface="Calibri"/>
                <a:ea typeface="Calibri"/>
                <a:cs typeface="Calibri"/>
              </a:rPr>
              <a:t>practice</a:t>
            </a:r>
            <a:r>
              <a:rPr lang="en-US">
                <a:latin typeface="Calibri"/>
                <a:ea typeface="Calibri"/>
                <a:cs typeface="Calibri"/>
              </a:rPr>
              <a:t> </a:t>
            </a:r>
            <a:r>
              <a:rPr lang="en-US" err="1">
                <a:latin typeface="Calibri"/>
                <a:ea typeface="Calibri"/>
                <a:cs typeface="Calibri"/>
              </a:rPr>
              <a:t>practice</a:t>
            </a:r>
            <a:r>
              <a:rPr lang="en-US">
                <a:latin typeface="Calibri"/>
                <a:ea typeface="Calibri"/>
                <a:cs typeface="Calibri"/>
              </a:rPr>
              <a:t>, if hitting 20 minutes in relaxed setting</a:t>
            </a:r>
            <a:endParaRPr lang="en-US"/>
          </a:p>
        </p:txBody>
      </p:sp>
      <p:sp>
        <p:nvSpPr>
          <p:cNvPr id="4" name="Slide Number Placeholder 3">
            <a:extLst>
              <a:ext uri="{FF2B5EF4-FFF2-40B4-BE49-F238E27FC236}">
                <a16:creationId xmlns:a16="http://schemas.microsoft.com/office/drawing/2014/main" id="{095E8A6B-477A-EE2F-EC94-A1C3386C72E1}"/>
              </a:ext>
            </a:extLst>
          </p:cNvPr>
          <p:cNvSpPr>
            <a:spLocks noGrp="1"/>
          </p:cNvSpPr>
          <p:nvPr>
            <p:ph type="sldNum" sz="quarter" idx="5"/>
          </p:nvPr>
        </p:nvSpPr>
        <p:spPr/>
        <p:txBody>
          <a:bodyPr/>
          <a:lstStyle/>
          <a:p>
            <a:fld id="{5D149A2A-2FC7-440C-9AA6-4256354C6A8E}" type="slidenum">
              <a:rPr lang="en-US" smtClean="0"/>
              <a:t>22</a:t>
            </a:fld>
            <a:endParaRPr lang="en-US"/>
          </a:p>
        </p:txBody>
      </p:sp>
    </p:spTree>
    <p:extLst>
      <p:ext uri="{BB962C8B-B14F-4D97-AF65-F5344CB8AC3E}">
        <p14:creationId xmlns:p14="http://schemas.microsoft.com/office/powerpoint/2010/main" val="17082815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No work cited, make a running list of sources though so we can put them at the bottoms of tables (mainly graphs) </a:t>
            </a:r>
          </a:p>
        </p:txBody>
      </p:sp>
      <p:sp>
        <p:nvSpPr>
          <p:cNvPr id="4" name="Slide Number Placeholder 3"/>
          <p:cNvSpPr>
            <a:spLocks noGrp="1"/>
          </p:cNvSpPr>
          <p:nvPr>
            <p:ph type="sldNum" sz="quarter" idx="5"/>
          </p:nvPr>
        </p:nvSpPr>
        <p:spPr/>
        <p:txBody>
          <a:bodyPr/>
          <a:lstStyle/>
          <a:p>
            <a:fld id="{5D149A2A-2FC7-440C-9AA6-4256354C6A8E}" type="slidenum">
              <a:rPr lang="en-US" smtClean="0"/>
              <a:t>23</a:t>
            </a:fld>
            <a:endParaRPr lang="en-US"/>
          </a:p>
        </p:txBody>
      </p:sp>
    </p:spTree>
    <p:extLst>
      <p:ext uri="{BB962C8B-B14F-4D97-AF65-F5344CB8AC3E}">
        <p14:creationId xmlns:p14="http://schemas.microsoft.com/office/powerpoint/2010/main" val="120408605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Notes: might be light on slides currently, talking fast when nervous makes it go by faster and we currently have 1-2 minutes per slide. Practice </a:t>
            </a:r>
            <a:r>
              <a:rPr lang="en-US" err="1">
                <a:latin typeface="Calibri"/>
                <a:ea typeface="Calibri"/>
                <a:cs typeface="Calibri"/>
              </a:rPr>
              <a:t>practice</a:t>
            </a:r>
            <a:r>
              <a:rPr lang="en-US">
                <a:latin typeface="Calibri"/>
                <a:ea typeface="Calibri"/>
                <a:cs typeface="Calibri"/>
              </a:rPr>
              <a:t> </a:t>
            </a:r>
            <a:r>
              <a:rPr lang="en-US" err="1">
                <a:latin typeface="Calibri"/>
                <a:ea typeface="Calibri"/>
                <a:cs typeface="Calibri"/>
              </a:rPr>
              <a:t>practice</a:t>
            </a:r>
            <a:r>
              <a:rPr lang="en-US">
                <a:latin typeface="Calibri"/>
                <a:ea typeface="Calibri"/>
                <a:cs typeface="Calibri"/>
              </a:rPr>
              <a:t>, if hitting 20 minutes in relaxed setting</a:t>
            </a:r>
            <a:endParaRPr lang="en-US"/>
          </a:p>
        </p:txBody>
      </p:sp>
      <p:sp>
        <p:nvSpPr>
          <p:cNvPr id="4" name="Slide Number Placeholder 3"/>
          <p:cNvSpPr>
            <a:spLocks noGrp="1"/>
          </p:cNvSpPr>
          <p:nvPr>
            <p:ph type="sldNum" sz="quarter" idx="5"/>
          </p:nvPr>
        </p:nvSpPr>
        <p:spPr/>
        <p:txBody>
          <a:bodyPr/>
          <a:lstStyle/>
          <a:p>
            <a:fld id="{5D149A2A-2FC7-440C-9AA6-4256354C6A8E}" type="slidenum">
              <a:rPr lang="en-US" smtClean="0"/>
              <a:t>24</a:t>
            </a:fld>
            <a:endParaRPr lang="en-US"/>
          </a:p>
        </p:txBody>
      </p:sp>
    </p:spTree>
    <p:extLst>
      <p:ext uri="{BB962C8B-B14F-4D97-AF65-F5344CB8AC3E}">
        <p14:creationId xmlns:p14="http://schemas.microsoft.com/office/powerpoint/2010/main" val="16943341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9DBF6-2359-BA45-F67A-C67A0B6E0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2002D8-0270-F5DC-CBED-560D9795FD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7A958C-BA5F-0512-1AAA-DB82AFFDD668}"/>
              </a:ext>
            </a:extLst>
          </p:cNvPr>
          <p:cNvSpPr>
            <a:spLocks noGrp="1"/>
          </p:cNvSpPr>
          <p:nvPr>
            <p:ph type="body" idx="1"/>
          </p:nvPr>
        </p:nvSpPr>
        <p:spPr/>
        <p:txBody>
          <a:bodyPr/>
          <a:lstStyle/>
          <a:p>
            <a:r>
              <a:rPr lang="en-US">
                <a:latin typeface="Calibri"/>
                <a:ea typeface="Calibri"/>
                <a:cs typeface="Calibri"/>
              </a:rPr>
              <a:t>Highlighting </a:t>
            </a:r>
            <a:r>
              <a:rPr lang="en-US" err="1">
                <a:latin typeface="Calibri"/>
                <a:ea typeface="Calibri"/>
                <a:cs typeface="Calibri"/>
              </a:rPr>
              <a:t>aptim</a:t>
            </a:r>
            <a:r>
              <a:rPr lang="en-US">
                <a:latin typeface="Calibri"/>
                <a:ea typeface="Calibri"/>
                <a:cs typeface="Calibri"/>
              </a:rPr>
              <a:t> wins is good, fix sizing/format </a:t>
            </a:r>
          </a:p>
        </p:txBody>
      </p:sp>
      <p:sp>
        <p:nvSpPr>
          <p:cNvPr id="4" name="Slide Number Placeholder 3">
            <a:extLst>
              <a:ext uri="{FF2B5EF4-FFF2-40B4-BE49-F238E27FC236}">
                <a16:creationId xmlns:a16="http://schemas.microsoft.com/office/drawing/2014/main" id="{F6E4F0E2-14AC-C64F-1D10-0DEE88D9B2BB}"/>
              </a:ext>
            </a:extLst>
          </p:cNvPr>
          <p:cNvSpPr>
            <a:spLocks noGrp="1"/>
          </p:cNvSpPr>
          <p:nvPr>
            <p:ph type="sldNum" sz="quarter" idx="5"/>
          </p:nvPr>
        </p:nvSpPr>
        <p:spPr/>
        <p:txBody>
          <a:bodyPr/>
          <a:lstStyle/>
          <a:p>
            <a:fld id="{5D149A2A-2FC7-440C-9AA6-4256354C6A8E}" type="slidenum">
              <a:rPr lang="en-US" smtClean="0"/>
              <a:t>26</a:t>
            </a:fld>
            <a:endParaRPr lang="en-US"/>
          </a:p>
        </p:txBody>
      </p:sp>
    </p:spTree>
    <p:extLst>
      <p:ext uri="{BB962C8B-B14F-4D97-AF65-F5344CB8AC3E}">
        <p14:creationId xmlns:p14="http://schemas.microsoft.com/office/powerpoint/2010/main" val="975389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Solid, maybe split into two slides with an intro to avoid overload (or add animations)</a:t>
            </a:r>
          </a:p>
          <a:p>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p:txBody>
      </p:sp>
      <p:sp>
        <p:nvSpPr>
          <p:cNvPr id="4" name="Slide Number Placeholder 3"/>
          <p:cNvSpPr>
            <a:spLocks noGrp="1"/>
          </p:cNvSpPr>
          <p:nvPr>
            <p:ph type="sldNum" sz="quarter" idx="5"/>
          </p:nvPr>
        </p:nvSpPr>
        <p:spPr/>
        <p:txBody>
          <a:bodyPr/>
          <a:lstStyle/>
          <a:p>
            <a:fld id="{5D149A2A-2FC7-440C-9AA6-4256354C6A8E}" type="slidenum">
              <a:rPr lang="en-US" smtClean="0"/>
              <a:t>27</a:t>
            </a:fld>
            <a:endParaRPr lang="en-US"/>
          </a:p>
        </p:txBody>
      </p:sp>
    </p:spTree>
    <p:extLst>
      <p:ext uri="{BB962C8B-B14F-4D97-AF65-F5344CB8AC3E}">
        <p14:creationId xmlns:p14="http://schemas.microsoft.com/office/powerpoint/2010/main" val="356182159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Merge content from 10 with formatting of 8 and visuals, highlight </a:t>
            </a:r>
            <a:r>
              <a:rPr lang="en-US" err="1">
                <a:latin typeface="Calibri"/>
                <a:ea typeface="Calibri"/>
                <a:cs typeface="Calibri"/>
              </a:rPr>
              <a:t>aptim</a:t>
            </a:r>
            <a:r>
              <a:rPr lang="en-US">
                <a:latin typeface="Calibri"/>
                <a:ea typeface="Calibri"/>
                <a:cs typeface="Calibri"/>
              </a:rPr>
              <a:t> with a box or color etc</a:t>
            </a:r>
          </a:p>
        </p:txBody>
      </p:sp>
      <p:sp>
        <p:nvSpPr>
          <p:cNvPr id="4" name="Slide Number Placeholder 3"/>
          <p:cNvSpPr>
            <a:spLocks noGrp="1"/>
          </p:cNvSpPr>
          <p:nvPr>
            <p:ph type="sldNum" sz="quarter" idx="5"/>
          </p:nvPr>
        </p:nvSpPr>
        <p:spPr/>
        <p:txBody>
          <a:bodyPr/>
          <a:lstStyle/>
          <a:p>
            <a:fld id="{5D149A2A-2FC7-440C-9AA6-4256354C6A8E}" type="slidenum">
              <a:rPr lang="en-US" smtClean="0"/>
              <a:t>30</a:t>
            </a:fld>
            <a:endParaRPr lang="en-US"/>
          </a:p>
        </p:txBody>
      </p:sp>
    </p:spTree>
    <p:extLst>
      <p:ext uri="{BB962C8B-B14F-4D97-AF65-F5344CB8AC3E}">
        <p14:creationId xmlns:p14="http://schemas.microsoft.com/office/powerpoint/2010/main" val="229539432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Compact the chart maybe </a:t>
            </a:r>
          </a:p>
        </p:txBody>
      </p:sp>
      <p:sp>
        <p:nvSpPr>
          <p:cNvPr id="4" name="Slide Number Placeholder 3"/>
          <p:cNvSpPr>
            <a:spLocks noGrp="1"/>
          </p:cNvSpPr>
          <p:nvPr>
            <p:ph type="sldNum" sz="quarter" idx="5"/>
          </p:nvPr>
        </p:nvSpPr>
        <p:spPr/>
        <p:txBody>
          <a:bodyPr/>
          <a:lstStyle/>
          <a:p>
            <a:fld id="{5D149A2A-2FC7-440C-9AA6-4256354C6A8E}" type="slidenum">
              <a:rPr lang="en-US" smtClean="0"/>
              <a:t>31</a:t>
            </a:fld>
            <a:endParaRPr lang="en-US"/>
          </a:p>
        </p:txBody>
      </p:sp>
    </p:spTree>
    <p:extLst>
      <p:ext uri="{BB962C8B-B14F-4D97-AF65-F5344CB8AC3E}">
        <p14:creationId xmlns:p14="http://schemas.microsoft.com/office/powerpoint/2010/main" val="42452292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Talk about:</a:t>
            </a:r>
          </a:p>
          <a:p>
            <a:r>
              <a:t>- PA 235</a:t>
            </a:r>
          </a:p>
          <a:p>
            <a:r>
              <a:t>- DTE's storage requirements</a:t>
            </a:r>
          </a:p>
          <a:p>
            <a:r>
              <a:t>- Why Detroit was not selected</a:t>
            </a:r>
          </a:p>
          <a:p>
            <a:r>
              <a:t>- Why Ann Arbor provides higher probability of success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a:t>
            </a:r>
          </a:p>
          <a:p>
            <a:r>
              <a:t>- Why 15 kWh</a:t>
            </a:r>
          </a:p>
          <a:p>
            <a:r>
              <a:t>- Why 6 kW</a:t>
            </a:r>
          </a:p>
          <a:p>
            <a:r>
              <a:t>- Why 500 homes</a:t>
            </a:r>
          </a:p>
          <a:p>
            <a:r>
              <a:t>- Why existing APTIM inspectors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One or two slides, build this </a:t>
            </a:r>
            <a:r>
              <a:rPr lang="en-US" err="1">
                <a:latin typeface="Calibri"/>
                <a:ea typeface="Calibri"/>
                <a:cs typeface="Calibri"/>
              </a:rPr>
              <a:t>cho</a:t>
            </a:r>
            <a:r>
              <a:rPr lang="en-US">
                <a:latin typeface="Calibri"/>
                <a:ea typeface="Calibri"/>
                <a:cs typeface="Calibri"/>
              </a:rPr>
              <a:t>ice into the entire presentation (market), how did we decide which state to launch in, maybe introduce service concept earlier, look at flow of </a:t>
            </a:r>
            <a:r>
              <a:rPr lang="en-US" err="1">
                <a:latin typeface="Calibri"/>
                <a:ea typeface="Calibri"/>
                <a:cs typeface="Calibri"/>
              </a:rPr>
              <a:t>informaiton</a:t>
            </a:r>
            <a:r>
              <a:rPr lang="en-US">
                <a:latin typeface="Calibri"/>
                <a:ea typeface="Calibri"/>
                <a:cs typeface="Calibri"/>
              </a:rPr>
              <a:t>, focus more on the short term success on why we chose </a:t>
            </a:r>
            <a:r>
              <a:rPr lang="en-US" err="1">
                <a:latin typeface="Calibri"/>
                <a:ea typeface="Calibri"/>
                <a:cs typeface="Calibri"/>
              </a:rPr>
              <a:t>michigan</a:t>
            </a:r>
            <a:r>
              <a:rPr lang="en-US">
                <a:latin typeface="Calibri"/>
                <a:ea typeface="Calibri"/>
                <a:cs typeface="Calibri"/>
              </a:rPr>
              <a:t>, negatives of other states can go on future timeline   </a:t>
            </a:r>
          </a:p>
        </p:txBody>
      </p:sp>
      <p:sp>
        <p:nvSpPr>
          <p:cNvPr id="4" name="Slide Number Placeholder 3"/>
          <p:cNvSpPr>
            <a:spLocks noGrp="1"/>
          </p:cNvSpPr>
          <p:nvPr>
            <p:ph type="sldNum" sz="quarter" idx="5"/>
          </p:nvPr>
        </p:nvSpPr>
        <p:spPr/>
        <p:txBody>
          <a:bodyPr/>
          <a:lstStyle/>
          <a:p>
            <a:fld id="{5D149A2A-2FC7-440C-9AA6-4256354C6A8E}" type="slidenum">
              <a:rPr lang="en-US" smtClean="0"/>
              <a:t>44</a:t>
            </a:fld>
            <a:endParaRPr lang="en-US"/>
          </a:p>
        </p:txBody>
      </p:sp>
    </p:spTree>
    <p:extLst>
      <p:ext uri="{BB962C8B-B14F-4D97-AF65-F5344CB8AC3E}">
        <p14:creationId xmlns:p14="http://schemas.microsoft.com/office/powerpoint/2010/main" val="310586169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20B042-BA83-3931-A11A-D1D60A6AD7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8D7995-AC04-51DE-126F-152E14CEE0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8FDD81-F5F8-7C34-9697-F7BDFFF61D7A}"/>
              </a:ext>
            </a:extLst>
          </p:cNvPr>
          <p:cNvSpPr>
            <a:spLocks noGrp="1"/>
          </p:cNvSpPr>
          <p:nvPr>
            <p:ph type="body" idx="1"/>
          </p:nvPr>
        </p:nvSpPr>
        <p:spPr/>
        <p:txBody>
          <a:bodyPr/>
          <a:lstStyle/>
          <a:p>
            <a:r>
              <a:rPr lang="en-US">
                <a:latin typeface="Calibri"/>
                <a:ea typeface="Calibri"/>
                <a:cs typeface="Calibri"/>
              </a:rPr>
              <a:t>Practice timing of animations (applies to all of them whole presentation), condense paragraphs into bullet points, lots of words in screen, information is good to use in notes</a:t>
            </a:r>
          </a:p>
        </p:txBody>
      </p:sp>
      <p:sp>
        <p:nvSpPr>
          <p:cNvPr id="4" name="Slide Number Placeholder 3">
            <a:extLst>
              <a:ext uri="{FF2B5EF4-FFF2-40B4-BE49-F238E27FC236}">
                <a16:creationId xmlns:a16="http://schemas.microsoft.com/office/drawing/2014/main" id="{B7A7131A-E84C-32A0-6003-907D0A859A17}"/>
              </a:ext>
            </a:extLst>
          </p:cNvPr>
          <p:cNvSpPr>
            <a:spLocks noGrp="1"/>
          </p:cNvSpPr>
          <p:nvPr>
            <p:ph type="sldNum" sz="quarter" idx="5"/>
          </p:nvPr>
        </p:nvSpPr>
        <p:spPr/>
        <p:txBody>
          <a:bodyPr/>
          <a:lstStyle/>
          <a:p>
            <a:fld id="{5D149A2A-2FC7-440C-9AA6-4256354C6A8E}" type="slidenum">
              <a:rPr lang="en-US" smtClean="0"/>
              <a:t>50</a:t>
            </a:fld>
            <a:endParaRPr lang="en-US"/>
          </a:p>
        </p:txBody>
      </p:sp>
    </p:spTree>
    <p:extLst>
      <p:ext uri="{BB962C8B-B14F-4D97-AF65-F5344CB8AC3E}">
        <p14:creationId xmlns:p14="http://schemas.microsoft.com/office/powerpoint/2010/main" val="11364943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alphaModFix amt="7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1524000" y="1122363"/>
            <a:ext cx="9144000" cy="2387600"/>
          </a:xfrm>
        </p:spPr>
        <p:txBody>
          <a:bodyPr anchor="b"/>
          <a:lstStyle>
            <a:lvl1pPr algn="ctr">
              <a:defRPr sz="3200"/>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1524000" y="3602038"/>
            <a:ext cx="9144000" cy="1655762"/>
          </a:xfrm>
        </p:spPr>
        <p:txBody>
          <a:bodyPr/>
          <a:lstStyle>
            <a:lvl1pPr marL="0" indent="0" algn="ctr">
              <a:buNone/>
              <a:defRPr sz="2400">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p>
            <a:fld id="{DC67AFDC-715F-40FC-9DA6-4D8705C5DA61}" type="datetime1">
              <a:rPr lang="en-US" smtClean="0"/>
              <a:t>7/29/2026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24110765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DB3DA5AF-7E39-4F37-9E86-A65FA3BDE287}" type="datetime1">
              <a:rPr lang="en-US" smtClean="0"/>
              <a:t>7/29/2026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30284911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mp;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sz="3000"/>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80ABE404-C58B-49EE-A54D-39345E663D95}" type="datetime1">
              <a:rPr lang="en-US" smtClean="0"/>
              <a:t>7/29/2026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7">
            <a:extLst>
              <a:ext uri="{FF2B5EF4-FFF2-40B4-BE49-F238E27FC236}">
                <a16:creationId xmlns:a16="http://schemas.microsoft.com/office/drawing/2014/main" id="{A472E239-0BF0-8FA8-8E5E-9471C18B0CDA}"/>
              </a:ext>
            </a:extLst>
          </p:cNvPr>
          <p:cNvSpPr>
            <a:spLocks noGrp="1"/>
          </p:cNvSpPr>
          <p:nvPr>
            <p:ph type="body" sz="quarter" idx="13" hasCustomPrompt="1"/>
          </p:nvPr>
        </p:nvSpPr>
        <p:spPr>
          <a:xfrm>
            <a:off x="609600" y="1236094"/>
            <a:ext cx="10972798" cy="304800"/>
          </a:xfrm>
        </p:spPr>
        <p:txBody>
          <a:bodyPr anchor="t" anchorCtr="0"/>
          <a:lstStyle>
            <a:lvl1pPr marL="0" indent="0">
              <a:spcBef>
                <a:spcPts val="0"/>
              </a:spcBef>
              <a:buFontTx/>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2834110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1_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1A63EC8-8F46-B05C-7079-A03FECF0E629}"/>
              </a:ext>
            </a:extLst>
          </p:cNvPr>
          <p:cNvSpPr>
            <a:spLocks noGrp="1"/>
          </p:cNvSpPr>
          <p:nvPr>
            <p:ph sz="half" idx="2"/>
          </p:nvPr>
        </p:nvSpPr>
        <p:spPr>
          <a:xfrm>
            <a:off x="6378702"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890C5BEA-0B90-4EEE-B476-69CB901EF9E9}" type="datetime1">
              <a:rPr lang="en-US" smtClean="0"/>
              <a:t>7/29/2026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5382458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1_Two Column Subtitl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2BC11-8CD8-9576-F379-BA1A691A2531}"/>
              </a:ext>
            </a:extLst>
          </p:cNvPr>
          <p:cNvSpPr>
            <a:spLocks noGrp="1"/>
          </p:cNvSpPr>
          <p:nvPr>
            <p:ph type="title"/>
          </p:nvPr>
        </p:nvSpPr>
        <p:spPr>
          <a:xfrm>
            <a:off x="612646" y="365125"/>
            <a:ext cx="10972800" cy="804672"/>
          </a:xfrm>
        </p:spPr>
        <p:txBody>
          <a:bodyPr/>
          <a:lstStyle>
            <a:lvl1pPr>
              <a:defRPr/>
            </a:lvl1pPr>
          </a:lstStyle>
          <a:p>
            <a:r>
              <a:rPr lang="en-US"/>
              <a:t>Click to edit Master title style</a:t>
            </a:r>
          </a:p>
        </p:txBody>
      </p:sp>
      <p:sp>
        <p:nvSpPr>
          <p:cNvPr id="3" name="Text Placeholder 2">
            <a:extLst>
              <a:ext uri="{FF2B5EF4-FFF2-40B4-BE49-F238E27FC236}">
                <a16:creationId xmlns:a16="http://schemas.microsoft.com/office/drawing/2014/main" id="{5F600C97-BEFB-50BD-D774-6749678A04A1}"/>
              </a:ext>
            </a:extLst>
          </p:cNvPr>
          <p:cNvSpPr>
            <a:spLocks noGrp="1"/>
          </p:cNvSpPr>
          <p:nvPr>
            <p:ph type="body" idx="1"/>
          </p:nvPr>
        </p:nvSpPr>
        <p:spPr>
          <a:xfrm>
            <a:off x="612648" y="1234440"/>
            <a:ext cx="5157787"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D4E0ECA-057C-97F7-80E7-303D8784082D}"/>
              </a:ext>
            </a:extLst>
          </p:cNvPr>
          <p:cNvSpPr>
            <a:spLocks noGrp="1"/>
          </p:cNvSpPr>
          <p:nvPr>
            <p:ph sz="half" idx="2"/>
          </p:nvPr>
        </p:nvSpPr>
        <p:spPr>
          <a:xfrm>
            <a:off x="612648" y="1600200"/>
            <a:ext cx="5157787"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10696D3-CBEF-85C5-D38E-1921A1230492}"/>
              </a:ext>
            </a:extLst>
          </p:cNvPr>
          <p:cNvSpPr>
            <a:spLocks noGrp="1"/>
          </p:cNvSpPr>
          <p:nvPr>
            <p:ph type="body" sz="quarter" idx="3"/>
          </p:nvPr>
        </p:nvSpPr>
        <p:spPr>
          <a:xfrm>
            <a:off x="6388099" y="1234440"/>
            <a:ext cx="5183188"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B47EB91-DA48-69F1-45CF-8B9ADA3681C9}"/>
              </a:ext>
            </a:extLst>
          </p:cNvPr>
          <p:cNvSpPr>
            <a:spLocks noGrp="1"/>
          </p:cNvSpPr>
          <p:nvPr>
            <p:ph sz="quarter" idx="4"/>
          </p:nvPr>
        </p:nvSpPr>
        <p:spPr>
          <a:xfrm>
            <a:off x="6388099" y="1600200"/>
            <a:ext cx="5183188"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DEACB01-FF49-7C4A-268A-654CFE910C72}"/>
              </a:ext>
            </a:extLst>
          </p:cNvPr>
          <p:cNvSpPr>
            <a:spLocks noGrp="1"/>
          </p:cNvSpPr>
          <p:nvPr>
            <p:ph type="dt" sz="half" idx="10"/>
          </p:nvPr>
        </p:nvSpPr>
        <p:spPr/>
        <p:txBody>
          <a:bodyPr/>
          <a:lstStyle/>
          <a:p>
            <a:fld id="{60CA7ACF-9F2E-454D-8D0D-4992D282D4B2}" type="datetime1">
              <a:rPr lang="en-US" smtClean="0"/>
              <a:t>7/29/2026</a:t>
            </a:fld>
            <a:endParaRPr lang="en-US"/>
          </a:p>
        </p:txBody>
      </p:sp>
      <p:sp>
        <p:nvSpPr>
          <p:cNvPr id="8" name="Footer Placeholder 7">
            <a:extLst>
              <a:ext uri="{FF2B5EF4-FFF2-40B4-BE49-F238E27FC236}">
                <a16:creationId xmlns:a16="http://schemas.microsoft.com/office/drawing/2014/main" id="{F1699973-F537-595F-70C4-2756C23EF0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9" name="Slide Number Placeholder 8">
            <a:extLst>
              <a:ext uri="{FF2B5EF4-FFF2-40B4-BE49-F238E27FC236}">
                <a16:creationId xmlns:a16="http://schemas.microsoft.com/office/drawing/2014/main" id="{AEE419C4-35F0-ABF9-A323-901FCAC73EED}"/>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850182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_R">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6410325" y="0"/>
            <a:ext cx="5781675"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599" y="365126"/>
            <a:ext cx="5486401"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483352" cy="4557713"/>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0B8D161A-7328-42A7-97FE-E09E21FD84FD}" type="datetime1">
              <a:rPr lang="en-US" smtClean="0"/>
              <a:t>7/29/2026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2444318" y="6469630"/>
            <a:ext cx="3651682"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872923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Photo_L">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0" y="0"/>
            <a:ext cx="5778499"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6000" y="365126"/>
            <a:ext cx="5486398"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096000" y="1600200"/>
            <a:ext cx="5476441"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5A1B371B-4C8F-427D-8472-67D17CCB5F5E}" type="datetime1">
              <a:rPr lang="en-US" smtClean="0"/>
              <a:t>7/29/2026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6096000" y="6469630"/>
            <a:ext cx="3657600"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8985711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E9438-41CA-6403-82D1-1491E5F84043}"/>
              </a:ext>
            </a:extLst>
          </p:cNvPr>
          <p:cNvSpPr>
            <a:spLocks noGrp="1"/>
          </p:cNvSpPr>
          <p:nvPr>
            <p:ph type="title"/>
          </p:nvPr>
        </p:nvSpPr>
        <p:spPr/>
        <p:txBody>
          <a:bodyPr/>
          <a:lstStyle>
            <a:lvl1pPr>
              <a:defRPr/>
            </a:lvl1pPr>
          </a:lstStyle>
          <a:p>
            <a:r>
              <a:rPr lang="en-US"/>
              <a:t>Click to edit Master title style</a:t>
            </a:r>
          </a:p>
        </p:txBody>
      </p:sp>
      <p:sp>
        <p:nvSpPr>
          <p:cNvPr id="3" name="Date Placeholder 2">
            <a:extLst>
              <a:ext uri="{FF2B5EF4-FFF2-40B4-BE49-F238E27FC236}">
                <a16:creationId xmlns:a16="http://schemas.microsoft.com/office/drawing/2014/main" id="{175A0CD4-D1FB-574D-50CC-5286DC313358}"/>
              </a:ext>
            </a:extLst>
          </p:cNvPr>
          <p:cNvSpPr>
            <a:spLocks noGrp="1"/>
          </p:cNvSpPr>
          <p:nvPr>
            <p:ph type="dt" sz="half" idx="10"/>
          </p:nvPr>
        </p:nvSpPr>
        <p:spPr/>
        <p:txBody>
          <a:bodyPr/>
          <a:lstStyle/>
          <a:p>
            <a:fld id="{378DC9B1-4CB5-41C5-A686-D276F50CDC18}" type="datetime1">
              <a:rPr lang="en-US" smtClean="0"/>
              <a:t>7/29/2026</a:t>
            </a:fld>
            <a:endParaRPr lang="en-US"/>
          </a:p>
        </p:txBody>
      </p:sp>
      <p:sp>
        <p:nvSpPr>
          <p:cNvPr id="4" name="Footer Placeholder 3">
            <a:extLst>
              <a:ext uri="{FF2B5EF4-FFF2-40B4-BE49-F238E27FC236}">
                <a16:creationId xmlns:a16="http://schemas.microsoft.com/office/drawing/2014/main" id="{417B03AE-E331-6F6E-E95F-EC40F015331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A8369F-A487-09AB-5DCF-E9B51B788DE4}"/>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336707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1_No Titl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7/29/2026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79056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5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7/29/2026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601"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609601"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601"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4317492"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4317492"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40668118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5 Photo Grid Alt">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7/29/2026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4317492"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4317492"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4317492"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612648"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612648"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1013426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3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7/29/2026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599" y="684716"/>
            <a:ext cx="7269480" cy="4882896"/>
          </a:xfrm>
          <a:solidFill>
            <a:schemeClr val="accent3">
              <a:lumMod val="20000"/>
              <a:lumOff val="80000"/>
            </a:schemeClr>
          </a:solidFill>
        </p:spPr>
        <p:txBody>
          <a:bodyPr/>
          <a:lstStyle>
            <a:lvl1pPr>
              <a:defRPr/>
            </a:lvl1pPr>
          </a:lstStyle>
          <a:p>
            <a:r>
              <a:rPr lang="en-US"/>
              <a:t>Click icon to add picture </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599" y="5711572"/>
            <a:ext cx="7269480" cy="457200"/>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p:nvPr>
        </p:nvSpPr>
        <p:spPr>
          <a:xfrm>
            <a:off x="8025383" y="684716"/>
            <a:ext cx="3557016" cy="2194560"/>
          </a:xfrm>
          <a:solidFill>
            <a:schemeClr val="accent3">
              <a:lumMod val="20000"/>
              <a:lumOff val="80000"/>
            </a:schemeClr>
          </a:solidFill>
        </p:spPr>
        <p:txBody>
          <a:bodyPr/>
          <a:lstStyle>
            <a:lvl1pPr marL="0" indent="0">
              <a:buNone/>
              <a:defRPr/>
            </a:lvl1pPr>
          </a:lstStyle>
          <a:p>
            <a:r>
              <a:rPr lang="en-US"/>
              <a:t>Click icon to add picture</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9227364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Column_Call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9927C-F1F5-7ABC-F6F5-5070F3210486}"/>
              </a:ext>
            </a:extLst>
          </p:cNvPr>
          <p:cNvSpPr>
            <a:spLocks noGrp="1"/>
          </p:cNvSpPr>
          <p:nvPr>
            <p:ph type="title"/>
          </p:nvPr>
        </p:nvSpPr>
        <p:spPr>
          <a:xfrm>
            <a:off x="612647" y="365760"/>
            <a:ext cx="10972800" cy="804672"/>
          </a:xfrm>
        </p:spPr>
        <p:txBody>
          <a:bodyPr anchor="ctr" anchorCtr="0"/>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32EF38-B78D-EF0B-BAB1-A522624540B4}"/>
              </a:ext>
            </a:extLst>
          </p:cNvPr>
          <p:cNvSpPr>
            <a:spLocks noGrp="1"/>
          </p:cNvSpPr>
          <p:nvPr>
            <p:ph idx="1"/>
          </p:nvPr>
        </p:nvSpPr>
        <p:spPr>
          <a:xfrm>
            <a:off x="5183188" y="1600199"/>
            <a:ext cx="6396164" cy="4581525"/>
          </a:xfrm>
        </p:spPr>
        <p:txBody>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6BA7B6C-A8C6-6B61-6186-FE835A3BD140}"/>
              </a:ext>
            </a:extLst>
          </p:cNvPr>
          <p:cNvSpPr>
            <a:spLocks noGrp="1"/>
          </p:cNvSpPr>
          <p:nvPr>
            <p:ph type="body" sz="half" idx="2"/>
          </p:nvPr>
        </p:nvSpPr>
        <p:spPr>
          <a:xfrm>
            <a:off x="612648" y="1600200"/>
            <a:ext cx="3932237" cy="45815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60848-5EFC-5E33-E34E-D76B5AD82005}"/>
              </a:ext>
            </a:extLst>
          </p:cNvPr>
          <p:cNvSpPr>
            <a:spLocks noGrp="1"/>
          </p:cNvSpPr>
          <p:nvPr>
            <p:ph type="dt" sz="half" idx="10"/>
          </p:nvPr>
        </p:nvSpPr>
        <p:spPr/>
        <p:txBody>
          <a:bodyPr/>
          <a:lstStyle/>
          <a:p>
            <a:fld id="{DF4DDD80-E100-4250-B254-F604B2CEB146}" type="datetime1">
              <a:rPr lang="en-US" smtClean="0"/>
              <a:t>7/29/2026</a:t>
            </a:fld>
            <a:endParaRPr lang="en-US"/>
          </a:p>
        </p:txBody>
      </p:sp>
      <p:sp>
        <p:nvSpPr>
          <p:cNvPr id="6" name="Footer Placeholder 5">
            <a:extLst>
              <a:ext uri="{FF2B5EF4-FFF2-40B4-BE49-F238E27FC236}">
                <a16:creationId xmlns:a16="http://schemas.microsoft.com/office/drawing/2014/main" id="{A28654C0-1751-9657-08BC-9B9F1763946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762FACB1-383F-C084-FE92-6891E03C07F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9" name="Text Placeholder 8">
            <a:extLst>
              <a:ext uri="{FF2B5EF4-FFF2-40B4-BE49-F238E27FC236}">
                <a16:creationId xmlns:a16="http://schemas.microsoft.com/office/drawing/2014/main" id="{C27C40EB-EAD3-897A-F9ED-4B916829B69E}"/>
              </a:ext>
            </a:extLst>
          </p:cNvPr>
          <p:cNvSpPr>
            <a:spLocks noGrp="1"/>
          </p:cNvSpPr>
          <p:nvPr>
            <p:ph type="body" sz="quarter" idx="13" hasCustomPrompt="1"/>
          </p:nvPr>
        </p:nvSpPr>
        <p:spPr>
          <a:xfrm>
            <a:off x="612648" y="1234440"/>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602053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1 Column/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8AF39-4147-F506-9D05-7F5788B14D20}"/>
              </a:ext>
            </a:extLst>
          </p:cNvPr>
          <p:cNvSpPr>
            <a:spLocks noGrp="1"/>
          </p:cNvSpPr>
          <p:nvPr>
            <p:ph type="title"/>
          </p:nvPr>
        </p:nvSpPr>
        <p:spPr>
          <a:xfrm>
            <a:off x="609600" y="457200"/>
            <a:ext cx="3932237" cy="860323"/>
          </a:xfrm>
        </p:spPr>
        <p:txBody>
          <a:bodyPr anchor="ctr" anchorCtr="0"/>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E06B7BB-CEFE-9049-F1F2-DE882FC24EAD}"/>
              </a:ext>
            </a:extLst>
          </p:cNvPr>
          <p:cNvSpPr>
            <a:spLocks noGrp="1"/>
          </p:cNvSpPr>
          <p:nvPr>
            <p:ph type="pic" idx="1"/>
          </p:nvPr>
        </p:nvSpPr>
        <p:spPr>
          <a:xfrm>
            <a:off x="5024284" y="457200"/>
            <a:ext cx="6556528" cy="5717457"/>
          </a:xfrm>
          <a:solidFill>
            <a:schemeClr val="accent3">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09D0B73B-F72E-3091-2968-17B476AC619D}"/>
              </a:ext>
            </a:extLst>
          </p:cNvPr>
          <p:cNvSpPr>
            <a:spLocks noGrp="1"/>
          </p:cNvSpPr>
          <p:nvPr>
            <p:ph type="body" sz="half" idx="2"/>
          </p:nvPr>
        </p:nvSpPr>
        <p:spPr>
          <a:xfrm>
            <a:off x="609600" y="2057399"/>
            <a:ext cx="3932237" cy="4117257"/>
          </a:xfrm>
        </p:spPr>
        <p:txBody>
          <a:bodyPr/>
          <a:lstStyle>
            <a:lvl1pPr marL="285750" indent="-285750">
              <a:buClr>
                <a:schemeClr val="tx2"/>
              </a:buClr>
              <a:buFont typeface="Arial" panose="020B0604020202020204" pitchFamily="34" charset="0"/>
              <a:buChar char="–"/>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8197F5-1C1C-3FA2-EFA1-793B6934A481}"/>
              </a:ext>
            </a:extLst>
          </p:cNvPr>
          <p:cNvSpPr>
            <a:spLocks noGrp="1"/>
          </p:cNvSpPr>
          <p:nvPr>
            <p:ph type="dt" sz="half" idx="10"/>
          </p:nvPr>
        </p:nvSpPr>
        <p:spPr/>
        <p:txBody>
          <a:bodyPr/>
          <a:lstStyle/>
          <a:p>
            <a:fld id="{DFA529EB-661E-4B4E-BD9B-001E9D5DCD5D}" type="datetime1">
              <a:rPr lang="en-US" smtClean="0"/>
              <a:t>7/29/2026</a:t>
            </a:fld>
            <a:endParaRPr lang="en-US"/>
          </a:p>
        </p:txBody>
      </p:sp>
      <p:sp>
        <p:nvSpPr>
          <p:cNvPr id="6" name="Footer Placeholder 5">
            <a:extLst>
              <a:ext uri="{FF2B5EF4-FFF2-40B4-BE49-F238E27FC236}">
                <a16:creationId xmlns:a16="http://schemas.microsoft.com/office/drawing/2014/main" id="{C7FB2BA9-66B6-CB52-4E90-6C35F9D8747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6C2EBFB1-5DA3-3291-A328-6F43C4FAD28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8">
            <a:extLst>
              <a:ext uri="{FF2B5EF4-FFF2-40B4-BE49-F238E27FC236}">
                <a16:creationId xmlns:a16="http://schemas.microsoft.com/office/drawing/2014/main" id="{40B17CFA-C3B5-27F8-FB71-E891F95312CD}"/>
              </a:ext>
            </a:extLst>
          </p:cNvPr>
          <p:cNvSpPr>
            <a:spLocks noGrp="1"/>
          </p:cNvSpPr>
          <p:nvPr>
            <p:ph type="body" sz="quarter" idx="13" hasCustomPrompt="1"/>
          </p:nvPr>
        </p:nvSpPr>
        <p:spPr>
          <a:xfrm>
            <a:off x="612648" y="1536585"/>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7254684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5 Person Team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4484D-75B0-DFAD-9571-2EDEB762644E}"/>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CA5F7240-373D-E9E2-6F39-57D7722E78E9}"/>
              </a:ext>
            </a:extLst>
          </p:cNvPr>
          <p:cNvSpPr>
            <a:spLocks noGrp="1"/>
          </p:cNvSpPr>
          <p:nvPr>
            <p:ph type="sldNum" sz="quarter" idx="10"/>
          </p:nvPr>
        </p:nvSpPr>
        <p:spPr/>
        <p:txBody>
          <a:bodyPr/>
          <a:lstStyle/>
          <a:p>
            <a:fld id="{72E20F18-833A-4542-A439-FC39BC210022}" type="slidenum">
              <a:rPr lang="en-US" smtClean="0"/>
              <a:pPr/>
              <a:t>‹#›</a:t>
            </a:fld>
            <a:endParaRPr lang="en-US"/>
          </a:p>
        </p:txBody>
      </p:sp>
      <p:sp>
        <p:nvSpPr>
          <p:cNvPr id="4" name="Footer Placeholder 3">
            <a:extLst>
              <a:ext uri="{FF2B5EF4-FFF2-40B4-BE49-F238E27FC236}">
                <a16:creationId xmlns:a16="http://schemas.microsoft.com/office/drawing/2014/main" id="{4BB6091E-E525-FA89-6062-56CF687F2E77}"/>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0C32289D-88ED-1848-7EC4-7B7756E619BA}"/>
              </a:ext>
            </a:extLst>
          </p:cNvPr>
          <p:cNvSpPr>
            <a:spLocks noGrp="1"/>
          </p:cNvSpPr>
          <p:nvPr>
            <p:ph type="dt" sz="half" idx="12"/>
          </p:nvPr>
        </p:nvSpPr>
        <p:spPr/>
        <p:txBody>
          <a:bodyPr/>
          <a:lstStyle/>
          <a:p>
            <a:fld id="{40711C0D-6AE8-47B7-9D02-2C83FBE968D2}" type="datetime1">
              <a:rPr lang="en-US" smtClean="0"/>
              <a:pPr/>
              <a:t>7/29/2026</a:t>
            </a:fld>
            <a:endParaRPr lang="en-US"/>
          </a:p>
        </p:txBody>
      </p:sp>
      <p:sp>
        <p:nvSpPr>
          <p:cNvPr id="6" name="Picture Placeholder 10">
            <a:extLst>
              <a:ext uri="{FF2B5EF4-FFF2-40B4-BE49-F238E27FC236}">
                <a16:creationId xmlns:a16="http://schemas.microsoft.com/office/drawing/2014/main" id="{DE8453E8-CBBC-762A-0B1F-273BC7BD6CBE}"/>
              </a:ext>
            </a:extLst>
          </p:cNvPr>
          <p:cNvSpPr>
            <a:spLocks noGrp="1" noChangeAspect="1"/>
          </p:cNvSpPr>
          <p:nvPr>
            <p:ph type="pic" sz="quarter" idx="13" hasCustomPrompt="1"/>
          </p:nvPr>
        </p:nvSpPr>
        <p:spPr>
          <a:xfrm>
            <a:off x="1391" y="1837089"/>
            <a:ext cx="1828800" cy="2743200"/>
          </a:xfrm>
        </p:spPr>
        <p:txBody>
          <a:bodyPr>
            <a:normAutofit/>
          </a:bodyPr>
          <a:lstStyle>
            <a:lvl1pPr>
              <a:defRPr sz="2000"/>
            </a:lvl1pPr>
          </a:lstStyle>
          <a:p>
            <a:r>
              <a:rPr lang="en-US"/>
              <a:t>Add Professional Headshot</a:t>
            </a:r>
          </a:p>
        </p:txBody>
      </p:sp>
      <p:sp>
        <p:nvSpPr>
          <p:cNvPr id="7" name="Text Placeholder 12">
            <a:extLst>
              <a:ext uri="{FF2B5EF4-FFF2-40B4-BE49-F238E27FC236}">
                <a16:creationId xmlns:a16="http://schemas.microsoft.com/office/drawing/2014/main" id="{BC024A8E-E65C-91F9-B044-F874BA470286}"/>
              </a:ext>
            </a:extLst>
          </p:cNvPr>
          <p:cNvSpPr>
            <a:spLocks noGrp="1"/>
          </p:cNvSpPr>
          <p:nvPr>
            <p:ph type="body" sz="quarter" idx="14" hasCustomPrompt="1"/>
          </p:nvPr>
        </p:nvSpPr>
        <p:spPr>
          <a:xfrm>
            <a:off x="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1 (alphabetically) and title</a:t>
            </a:r>
          </a:p>
        </p:txBody>
      </p:sp>
      <p:sp>
        <p:nvSpPr>
          <p:cNvPr id="8" name="Picture Placeholder 10">
            <a:extLst>
              <a:ext uri="{FF2B5EF4-FFF2-40B4-BE49-F238E27FC236}">
                <a16:creationId xmlns:a16="http://schemas.microsoft.com/office/drawing/2014/main" id="{62B36441-D4DC-8305-5396-D1BE296A7123}"/>
              </a:ext>
            </a:extLst>
          </p:cNvPr>
          <p:cNvSpPr>
            <a:spLocks noGrp="1" noChangeAspect="1"/>
          </p:cNvSpPr>
          <p:nvPr>
            <p:ph type="pic" sz="quarter" idx="15" hasCustomPrompt="1"/>
          </p:nvPr>
        </p:nvSpPr>
        <p:spPr>
          <a:xfrm>
            <a:off x="8839200" y="1825625"/>
            <a:ext cx="1828800" cy="2743200"/>
          </a:xfrm>
        </p:spPr>
        <p:txBody>
          <a:bodyPr>
            <a:normAutofit/>
          </a:bodyPr>
          <a:lstStyle>
            <a:lvl1pPr>
              <a:defRPr sz="2000"/>
            </a:lvl1pPr>
          </a:lstStyle>
          <a:p>
            <a:r>
              <a:rPr lang="en-US"/>
              <a:t>Add Professional Headshot</a:t>
            </a:r>
          </a:p>
        </p:txBody>
      </p:sp>
      <p:sp>
        <p:nvSpPr>
          <p:cNvPr id="9" name="Text Placeholder 12">
            <a:extLst>
              <a:ext uri="{FF2B5EF4-FFF2-40B4-BE49-F238E27FC236}">
                <a16:creationId xmlns:a16="http://schemas.microsoft.com/office/drawing/2014/main" id="{A6E6DF15-BD4D-E29B-8E7C-4EB6DBC08BB3}"/>
              </a:ext>
            </a:extLst>
          </p:cNvPr>
          <p:cNvSpPr>
            <a:spLocks noGrp="1"/>
          </p:cNvSpPr>
          <p:nvPr>
            <p:ph type="body" sz="quarter" idx="16" hasCustomPrompt="1"/>
          </p:nvPr>
        </p:nvSpPr>
        <p:spPr>
          <a:xfrm>
            <a:off x="66294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4 (alphabetically) and title</a:t>
            </a:r>
          </a:p>
        </p:txBody>
      </p:sp>
      <p:sp>
        <p:nvSpPr>
          <p:cNvPr id="10" name="Text Placeholder 12">
            <a:extLst>
              <a:ext uri="{FF2B5EF4-FFF2-40B4-BE49-F238E27FC236}">
                <a16:creationId xmlns:a16="http://schemas.microsoft.com/office/drawing/2014/main" id="{FE172D5F-59AE-F32F-D1CB-4EFD0175FC55}"/>
              </a:ext>
            </a:extLst>
          </p:cNvPr>
          <p:cNvSpPr>
            <a:spLocks noGrp="1"/>
          </p:cNvSpPr>
          <p:nvPr>
            <p:ph type="body" sz="quarter" idx="17" hasCustomPrompt="1"/>
          </p:nvPr>
        </p:nvSpPr>
        <p:spPr>
          <a:xfrm>
            <a:off x="22098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2 (alphabetically) and title</a:t>
            </a:r>
          </a:p>
        </p:txBody>
      </p:sp>
      <p:sp>
        <p:nvSpPr>
          <p:cNvPr id="11" name="Text Placeholder 12">
            <a:extLst>
              <a:ext uri="{FF2B5EF4-FFF2-40B4-BE49-F238E27FC236}">
                <a16:creationId xmlns:a16="http://schemas.microsoft.com/office/drawing/2014/main" id="{2EEAB187-123E-4293-F85A-1BCBFBFF6590}"/>
              </a:ext>
            </a:extLst>
          </p:cNvPr>
          <p:cNvSpPr>
            <a:spLocks noGrp="1"/>
          </p:cNvSpPr>
          <p:nvPr>
            <p:ph type="body" sz="quarter" idx="18" hasCustomPrompt="1"/>
          </p:nvPr>
        </p:nvSpPr>
        <p:spPr>
          <a:xfrm>
            <a:off x="44196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3 (alphabetically) and title</a:t>
            </a:r>
          </a:p>
        </p:txBody>
      </p:sp>
      <p:sp>
        <p:nvSpPr>
          <p:cNvPr id="12" name="Picture Placeholder 10">
            <a:extLst>
              <a:ext uri="{FF2B5EF4-FFF2-40B4-BE49-F238E27FC236}">
                <a16:creationId xmlns:a16="http://schemas.microsoft.com/office/drawing/2014/main" id="{C81BC737-4937-A161-DB48-F436A98167FC}"/>
              </a:ext>
            </a:extLst>
          </p:cNvPr>
          <p:cNvSpPr>
            <a:spLocks noGrp="1" noChangeAspect="1"/>
          </p:cNvSpPr>
          <p:nvPr>
            <p:ph type="pic" sz="quarter" idx="19" hasCustomPrompt="1"/>
          </p:nvPr>
        </p:nvSpPr>
        <p:spPr>
          <a:xfrm>
            <a:off x="2210843" y="2318425"/>
            <a:ext cx="1828800" cy="2743200"/>
          </a:xfrm>
        </p:spPr>
        <p:txBody>
          <a:bodyPr>
            <a:normAutofit/>
          </a:bodyPr>
          <a:lstStyle>
            <a:lvl1pPr>
              <a:defRPr sz="2000"/>
            </a:lvl1pPr>
          </a:lstStyle>
          <a:p>
            <a:r>
              <a:rPr lang="en-US"/>
              <a:t>Add Professional Headshot</a:t>
            </a:r>
          </a:p>
        </p:txBody>
      </p:sp>
      <p:sp>
        <p:nvSpPr>
          <p:cNvPr id="13" name="Picture Placeholder 10">
            <a:extLst>
              <a:ext uri="{FF2B5EF4-FFF2-40B4-BE49-F238E27FC236}">
                <a16:creationId xmlns:a16="http://schemas.microsoft.com/office/drawing/2014/main" id="{C76AEED3-3414-3E73-C9D8-F1854608125C}"/>
              </a:ext>
            </a:extLst>
          </p:cNvPr>
          <p:cNvSpPr>
            <a:spLocks noGrp="1" noChangeAspect="1"/>
          </p:cNvSpPr>
          <p:nvPr>
            <p:ph type="pic" sz="quarter" idx="20" hasCustomPrompt="1"/>
          </p:nvPr>
        </p:nvSpPr>
        <p:spPr>
          <a:xfrm>
            <a:off x="4420295" y="1825625"/>
            <a:ext cx="1828800" cy="2743200"/>
          </a:xfrm>
        </p:spPr>
        <p:txBody>
          <a:bodyPr>
            <a:normAutofit/>
          </a:bodyPr>
          <a:lstStyle>
            <a:lvl1pPr>
              <a:defRPr sz="2000"/>
            </a:lvl1pPr>
          </a:lstStyle>
          <a:p>
            <a:r>
              <a:rPr lang="en-US"/>
              <a:t>Add Professional Headshot</a:t>
            </a:r>
          </a:p>
        </p:txBody>
      </p:sp>
      <p:sp>
        <p:nvSpPr>
          <p:cNvPr id="14" name="Picture Placeholder 10">
            <a:extLst>
              <a:ext uri="{FF2B5EF4-FFF2-40B4-BE49-F238E27FC236}">
                <a16:creationId xmlns:a16="http://schemas.microsoft.com/office/drawing/2014/main" id="{99D47603-B850-C180-4CD1-4181324CE1B5}"/>
              </a:ext>
            </a:extLst>
          </p:cNvPr>
          <p:cNvSpPr>
            <a:spLocks noGrp="1" noChangeAspect="1"/>
          </p:cNvSpPr>
          <p:nvPr>
            <p:ph type="pic" sz="quarter" idx="21" hasCustomPrompt="1"/>
          </p:nvPr>
        </p:nvSpPr>
        <p:spPr>
          <a:xfrm>
            <a:off x="6629747" y="2318425"/>
            <a:ext cx="1828800" cy="2743200"/>
          </a:xfrm>
        </p:spPr>
        <p:txBody>
          <a:bodyPr>
            <a:normAutofit/>
          </a:bodyPr>
          <a:lstStyle>
            <a:lvl1pPr>
              <a:defRPr sz="2000"/>
            </a:lvl1pPr>
          </a:lstStyle>
          <a:p>
            <a:r>
              <a:rPr lang="en-US"/>
              <a:t>Add Professional Headshot</a:t>
            </a:r>
          </a:p>
        </p:txBody>
      </p:sp>
      <p:sp>
        <p:nvSpPr>
          <p:cNvPr id="15" name="Text Placeholder 12">
            <a:extLst>
              <a:ext uri="{FF2B5EF4-FFF2-40B4-BE49-F238E27FC236}">
                <a16:creationId xmlns:a16="http://schemas.microsoft.com/office/drawing/2014/main" id="{B7AC8A39-B642-D28D-3029-0323C84E2765}"/>
              </a:ext>
            </a:extLst>
          </p:cNvPr>
          <p:cNvSpPr>
            <a:spLocks noGrp="1"/>
          </p:cNvSpPr>
          <p:nvPr>
            <p:ph type="body" sz="quarter" idx="22" hasCustomPrompt="1"/>
          </p:nvPr>
        </p:nvSpPr>
        <p:spPr>
          <a:xfrm>
            <a:off x="88392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5 (alphabetically) and title</a:t>
            </a:r>
          </a:p>
        </p:txBody>
      </p:sp>
      <p:sp>
        <p:nvSpPr>
          <p:cNvPr id="18" name="Presenter Name">
            <a:extLst>
              <a:ext uri="{FF2B5EF4-FFF2-40B4-BE49-F238E27FC236}">
                <a16:creationId xmlns:a16="http://schemas.microsoft.com/office/drawing/2014/main" id="{C96C96E3-B0CD-13A2-B5A7-1E1EEA4B26C4}"/>
              </a:ext>
            </a:extLst>
          </p:cNvPr>
          <p:cNvSpPr>
            <a:spLocks noGrp="1"/>
          </p:cNvSpPr>
          <p:nvPr>
            <p:ph type="body" sz="quarter" idx="23" hasCustomPrompt="1"/>
          </p:nvPr>
        </p:nvSpPr>
        <p:spPr>
          <a:xfrm>
            <a:off x="10668000" y="0"/>
            <a:ext cx="1524000" cy="757130"/>
          </a:xfrm>
          <a:noFill/>
        </p:spPr>
        <p:txBody>
          <a:bodyPr wrap="square" lIns="91440" tIns="45720" rIns="91440" bIns="45720" rtlCol="0" anchor="ctr">
            <a:noAutofit/>
          </a:bodyPr>
          <a:lstStyle>
            <a:lvl1pPr marL="0" indent="0" algn="ctr">
              <a:buNone/>
              <a:defRPr lang="en-US" sz="1600" dirty="0">
                <a:solidFill>
                  <a:srgbClr val="FFFFFF"/>
                </a:solidFill>
                <a:cs typeface="Calibri"/>
              </a:defRPr>
            </a:lvl1pPr>
          </a:lstStyle>
          <a:p>
            <a:pPr marL="0" lvl="0" algn="ctr"/>
            <a:r>
              <a:rPr lang="en-US"/>
              <a:t>Type the presenter First and Last Name</a:t>
            </a:r>
          </a:p>
        </p:txBody>
      </p:sp>
    </p:spTree>
    <p:extLst>
      <p:ext uri="{BB962C8B-B14F-4D97-AF65-F5344CB8AC3E}">
        <p14:creationId xmlns:p14="http://schemas.microsoft.com/office/powerpoint/2010/main" val="224948750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609600" y="1933574"/>
            <a:ext cx="10972800" cy="1838325"/>
          </a:xfrm>
        </p:spPr>
        <p:txBody>
          <a:bodyPr lIns="0" tIns="0" rIns="0" bIns="0" anchor="ctr" anchorCtr="0">
            <a:noAutofit/>
          </a:bodyPr>
          <a:lstStyle>
            <a:lvl1pPr algn="ctr">
              <a:defRPr sz="4000">
                <a:solidFill>
                  <a:schemeClr val="bg1"/>
                </a:solidFill>
              </a:defRPr>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609600" y="3914774"/>
            <a:ext cx="10972800"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1196A179-E1F3-41DF-A32E-5D20EBA957C1}" type="datetime1">
              <a:rPr lang="en-US" smtClean="0"/>
              <a:t>7/29/2026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8" name="Picture 7" descr="A black and white logo&#10;&#10;AI-generated content may be incorrect.">
            <a:extLst>
              <a:ext uri="{FF2B5EF4-FFF2-40B4-BE49-F238E27FC236}">
                <a16:creationId xmlns:a16="http://schemas.microsoft.com/office/drawing/2014/main" id="{CCFF5D25-23DB-D676-8EDB-7BE6225A8154}"/>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09600" y="569210"/>
            <a:ext cx="2200279" cy="792101"/>
          </a:xfrm>
          <a:prstGeom prst="rect">
            <a:avLst/>
          </a:prstGeom>
        </p:spPr>
      </p:pic>
    </p:spTree>
    <p:extLst>
      <p:ext uri="{BB962C8B-B14F-4D97-AF65-F5344CB8AC3E}">
        <p14:creationId xmlns:p14="http://schemas.microsoft.com/office/powerpoint/2010/main" val="28657178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name="1_Section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29884867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3_Section Slide _ No Waterm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19504621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_Blue Background ">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DD12D8-747A-7760-86BD-9635F1E8F87E}"/>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747F2BB-C62B-86F8-F167-8B8900B3C2C2}"/>
              </a:ext>
            </a:extLst>
          </p:cNvPr>
          <p:cNvSpPr>
            <a:spLocks noGrp="1"/>
          </p:cNvSpPr>
          <p:nvPr>
            <p:ph type="dt" sz="half" idx="10"/>
          </p:nvPr>
        </p:nvSpPr>
        <p:spPr>
          <a:xfrm>
            <a:off x="1078992" y="6469630"/>
            <a:ext cx="914400" cy="251845"/>
          </a:xfrm>
        </p:spPr>
        <p:txBody>
          <a:bodyPr/>
          <a:lstStyle>
            <a:lvl1pPr>
              <a:defRPr>
                <a:solidFill>
                  <a:schemeClr val="bg1"/>
                </a:solidFill>
              </a:defRPr>
            </a:lvl1pPr>
          </a:lstStyle>
          <a:p>
            <a:fld id="{53267548-35E6-4544-9584-3D38A8B3D92B}" type="datetime1">
              <a:rPr lang="en-US" smtClean="0"/>
              <a:pPr/>
              <a:t>7/29/2026</a:t>
            </a:fld>
            <a:endParaRPr lang="en-US"/>
          </a:p>
        </p:txBody>
      </p:sp>
      <p:sp>
        <p:nvSpPr>
          <p:cNvPr id="4" name="Footer Placeholder 3">
            <a:extLst>
              <a:ext uri="{FF2B5EF4-FFF2-40B4-BE49-F238E27FC236}">
                <a16:creationId xmlns:a16="http://schemas.microsoft.com/office/drawing/2014/main" id="{F20A38ED-770F-E051-07E4-BF1F07D3176F}"/>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EAAFC56-4E45-C368-A250-76860BBB4815}"/>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6" name="Picture 5">
            <a:extLst>
              <a:ext uri="{FF2B5EF4-FFF2-40B4-BE49-F238E27FC236}">
                <a16:creationId xmlns:a16="http://schemas.microsoft.com/office/drawing/2014/main" id="{2DB46275-C489-74DF-CCD0-856EE8A881F3}"/>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68519743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5_End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CB9568A7-7C9C-4EFB-9490-5B2B0469AB3C}" type="datetime1">
              <a:rPr lang="en-US" smtClean="0"/>
              <a:t>7/29/2026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9" name="Picture 8">
            <a:extLst>
              <a:ext uri="{FF2B5EF4-FFF2-40B4-BE49-F238E27FC236}">
                <a16:creationId xmlns:a16="http://schemas.microsoft.com/office/drawing/2014/main" id="{1745B5A7-9EB4-349F-8E63-0CA0827DD727}"/>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5367465" y="2700465"/>
            <a:ext cx="1457070" cy="1457070"/>
          </a:xfrm>
          <a:prstGeom prst="rect">
            <a:avLst/>
          </a:prstGeom>
        </p:spPr>
      </p:pic>
    </p:spTree>
    <p:extLst>
      <p:ext uri="{BB962C8B-B14F-4D97-AF65-F5344CB8AC3E}">
        <p14:creationId xmlns:p14="http://schemas.microsoft.com/office/powerpoint/2010/main" val="1168629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alphaModFix amt="50000"/>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599" y="365126"/>
            <a:ext cx="10972799" cy="804735"/>
          </a:xfrm>
          <a:prstGeom prst="rect">
            <a:avLst/>
          </a:prstGeom>
        </p:spPr>
        <p:txBody>
          <a:bodyPr vert="horz" lIns="0" tIns="0" rIns="0" bIns="0" rtlCol="0" anchor="ctr" anchorCtr="0">
            <a:no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5846"/>
            <a:ext cx="10972800" cy="4870654"/>
          </a:xfrm>
          <a:prstGeom prst="rect">
            <a:avLst/>
          </a:prstGeom>
        </p:spPr>
        <p:txBody>
          <a:bodyPr vert="horz" lIns="0" tIns="0" rIns="0" bIns="0" rtlCol="0">
            <a:noAutofit/>
          </a:bodyPr>
          <a:lstStyle/>
          <a:p>
            <a:pPr lvl="0"/>
            <a:r>
              <a:rPr lang="en-US"/>
              <a:t>Click to edit Master text styles or click icon to add graphic or table</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1071717" y="6469630"/>
            <a:ext cx="914400" cy="251845"/>
          </a:xfrm>
          <a:prstGeom prst="rect">
            <a:avLst/>
          </a:prstGeom>
        </p:spPr>
        <p:txBody>
          <a:bodyPr vert="horz" lIns="0" tIns="0" rIns="0" bIns="0" rtlCol="0" anchor="b" anchorCtr="0"/>
          <a:lstStyle>
            <a:lvl1pPr algn="l">
              <a:defRPr sz="700">
                <a:solidFill>
                  <a:schemeClr val="tx2"/>
                </a:solidFill>
                <a:latin typeface="Arial" panose="020B0604020202020204" pitchFamily="34" charset="0"/>
                <a:cs typeface="Arial" panose="020B0604020202020204" pitchFamily="34" charset="0"/>
              </a:defRPr>
            </a:lvl1pPr>
          </a:lstStyle>
          <a:p>
            <a:fld id="{B3C10171-6731-4FE5-ACF0-5BB638CF3093}" type="datetime1">
              <a:rPr lang="en-US" smtClean="0"/>
              <a:t>7/29/2026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7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3" y="6469630"/>
            <a:ext cx="285135" cy="251845"/>
          </a:xfrm>
          <a:prstGeom prst="rect">
            <a:avLst/>
          </a:prstGeom>
        </p:spPr>
        <p:txBody>
          <a:bodyPr vert="horz" lIns="0" tIns="0" rIns="0" bIns="0" rtlCol="0" anchor="b" anchorCtr="0"/>
          <a:lstStyle>
            <a:lvl1pPr algn="r">
              <a:defRPr sz="7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pic>
        <p:nvPicPr>
          <p:cNvPr id="16" name="Picture 15">
            <a:extLst>
              <a:ext uri="{FF2B5EF4-FFF2-40B4-BE49-F238E27FC236}">
                <a16:creationId xmlns:a16="http://schemas.microsoft.com/office/drawing/2014/main" id="{EF86C883-ECB3-EA86-7D2C-B8A6C2CFC4B2}"/>
              </a:ext>
            </a:extLst>
          </p:cNvPr>
          <p:cNvPicPr>
            <a:picLocks noChangeAspect="1"/>
          </p:cNvPicPr>
          <p:nvPr userDrawn="1"/>
        </p:nvPicPr>
        <p:blipFill>
          <a:blip r:embed="rId18">
            <a:extLst>
              <a:ext uri="{28A0092B-C50C-407E-A947-70E740481C1C}">
                <a14:useLocalDpi xmlns:a14="http://schemas.microsoft.com/office/drawing/2010/main" val="0"/>
              </a:ext>
            </a:extLst>
          </a:blip>
          <a:srcRect/>
          <a:stretch/>
        </p:blipFill>
        <p:spPr>
          <a:xfrm>
            <a:off x="609599" y="6473825"/>
            <a:ext cx="285750" cy="247649"/>
          </a:xfrm>
          <a:prstGeom prst="rect">
            <a:avLst/>
          </a:prstGeom>
        </p:spPr>
      </p:pic>
    </p:spTree>
    <p:extLst>
      <p:ext uri="{BB962C8B-B14F-4D97-AF65-F5344CB8AC3E}">
        <p14:creationId xmlns:p14="http://schemas.microsoft.com/office/powerpoint/2010/main" val="9551922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52" r:id="rId4"/>
    <p:sldLayoutId id="2147483653" r:id="rId5"/>
    <p:sldLayoutId id="2147483665" r:id="rId6"/>
    <p:sldLayoutId id="2147483666" r:id="rId7"/>
    <p:sldLayoutId id="2147483654" r:id="rId8"/>
    <p:sldLayoutId id="2147483655" r:id="rId9"/>
    <p:sldLayoutId id="2147483669" r:id="rId10"/>
    <p:sldLayoutId id="2147483671" r:id="rId11"/>
    <p:sldLayoutId id="2147483670" r:id="rId12"/>
    <p:sldLayoutId id="2147483656" r:id="rId13"/>
    <p:sldLayoutId id="2147483657" r:id="rId14"/>
    <p:sldLayoutId id="2147483676" r:id="rId15"/>
  </p:sldLayoutIdLst>
  <p:hf hdr="0" dt="0"/>
  <p:txStyles>
    <p:titleStyle>
      <a:lvl1pPr algn="l" defTabSz="914400" rtl="0" eaLnBrk="1" latinLnBrk="0" hangingPunct="1">
        <a:lnSpc>
          <a:spcPct val="90000"/>
        </a:lnSpc>
        <a:spcBef>
          <a:spcPct val="0"/>
        </a:spcBef>
        <a:buNone/>
        <a:defRPr sz="2800" kern="1200">
          <a:solidFill>
            <a:schemeClr val="accent1"/>
          </a:solidFill>
          <a:latin typeface="Arial Black" panose="020B0A04020102020204" pitchFamily="34" charset="0"/>
          <a:ea typeface="+mj-ea"/>
          <a:cs typeface="Arial" panose="020B0604020202020204" pitchFamily="34" charset="0"/>
        </a:defRPr>
      </a:lvl1pPr>
    </p:titleStyle>
    <p:bodyStyle>
      <a:lvl1pPr marL="233363" indent="-233363" algn="l" defTabSz="914400" rtl="0" eaLnBrk="1" latinLnBrk="0" hangingPunct="1">
        <a:lnSpc>
          <a:spcPct val="100000"/>
        </a:lnSpc>
        <a:spcBef>
          <a:spcPts val="0"/>
        </a:spcBef>
        <a:spcAft>
          <a:spcPts val="500"/>
        </a:spcAft>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1pPr>
      <a:lvl2pPr marL="574675" indent="-336550" algn="l" defTabSz="914400" rtl="0" eaLnBrk="1" latinLnBrk="0" hangingPunct="1">
        <a:lnSpc>
          <a:spcPct val="100000"/>
        </a:lnSpc>
        <a:spcBef>
          <a:spcPts val="0"/>
        </a:spcBef>
        <a:spcAft>
          <a:spcPts val="500"/>
        </a:spcAft>
        <a:buFont typeface="Arial" panose="020B0604020202020204" pitchFamily="34" charset="0"/>
        <a:buChar char="—"/>
        <a:defRPr sz="1600" kern="1200">
          <a:solidFill>
            <a:schemeClr val="tx2"/>
          </a:solidFill>
          <a:latin typeface="Arial" panose="020B0604020202020204" pitchFamily="34" charset="0"/>
          <a:ea typeface="+mn-ea"/>
          <a:cs typeface="Arial" panose="020B0604020202020204" pitchFamily="34" charset="0"/>
        </a:defRPr>
      </a:lvl2pPr>
      <a:lvl3pPr marL="796925" indent="-225425" algn="l" defTabSz="914400" rtl="0" eaLnBrk="1" latinLnBrk="0" hangingPunct="1">
        <a:lnSpc>
          <a:spcPct val="100000"/>
        </a:lnSpc>
        <a:spcBef>
          <a:spcPts val="0"/>
        </a:spcBef>
        <a:spcAft>
          <a:spcPts val="500"/>
        </a:spcAft>
        <a:buFont typeface="Arial" panose="020B0604020202020204" pitchFamily="34" charset="0"/>
        <a:buChar char="•"/>
        <a:defRPr sz="1400" kern="1200">
          <a:solidFill>
            <a:schemeClr val="tx2"/>
          </a:solidFill>
          <a:latin typeface="Arial" panose="020B0604020202020204" pitchFamily="34" charset="0"/>
          <a:ea typeface="+mn-ea"/>
          <a:cs typeface="Arial" panose="020B0604020202020204" pitchFamily="34" charset="0"/>
        </a:defRPr>
      </a:lvl3pPr>
      <a:lvl4pPr marL="1031875" indent="-234950"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4pPr>
      <a:lvl5pPr marL="1254125" indent="-225425"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600" y="365126"/>
            <a:ext cx="10972800" cy="804672"/>
          </a:xfrm>
          <a:prstGeom prst="rect">
            <a:avLst/>
          </a:prstGeom>
        </p:spPr>
        <p:txBody>
          <a:bodyPr vert="horz" lIns="91440" tIns="45720" rIns="91440" bIns="45720" rtlCol="0" anchor="ctr">
            <a:norm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9226"/>
            <a:ext cx="10972800" cy="4867274"/>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609600" y="6469630"/>
            <a:ext cx="1730477" cy="251845"/>
          </a:xfrm>
          <a:prstGeom prst="rect">
            <a:avLst/>
          </a:prstGeom>
        </p:spPr>
        <p:txBody>
          <a:bodyPr vert="horz" lIns="0" tIns="0" rIns="0" bIns="0" rtlCol="0" anchor="b" anchorCtr="0"/>
          <a:lstStyle>
            <a:lvl1pPr algn="l">
              <a:defRPr sz="800">
                <a:solidFill>
                  <a:schemeClr val="tx2"/>
                </a:solidFill>
                <a:latin typeface="Arial" panose="020B0604020202020204" pitchFamily="34" charset="0"/>
                <a:cs typeface="Arial" panose="020B0604020202020204" pitchFamily="34" charset="0"/>
              </a:defRPr>
            </a:lvl1pPr>
          </a:lstStyle>
          <a:p>
            <a:fld id="{53267548-35E6-4544-9584-3D38A8B3D92B}" type="datetime1">
              <a:rPr lang="en-US" smtClean="0"/>
              <a:t>7/29/2026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8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5" y="6469630"/>
            <a:ext cx="285135" cy="251845"/>
          </a:xfrm>
          <a:prstGeom prst="rect">
            <a:avLst/>
          </a:prstGeom>
        </p:spPr>
        <p:txBody>
          <a:bodyPr vert="horz" lIns="0" tIns="0" rIns="0" bIns="0" rtlCol="0" anchor="b" anchorCtr="0"/>
          <a:lstStyle>
            <a:lvl1pPr algn="r">
              <a:defRPr sz="8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spTree>
    <p:extLst>
      <p:ext uri="{BB962C8B-B14F-4D97-AF65-F5344CB8AC3E}">
        <p14:creationId xmlns:p14="http://schemas.microsoft.com/office/powerpoint/2010/main" val="3894721301"/>
      </p:ext>
    </p:extLst>
  </p:cSld>
  <p:clrMap bg1="lt1" tx1="dk1" bg2="lt2" tx2="dk2" accent1="accent1" accent2="accent2" accent3="accent3" accent4="accent4" accent5="accent5" accent6="accent6" hlink="hlink" folHlink="folHlink"/>
  <p:sldLayoutIdLst>
    <p:sldLayoutId id="2147483661" r:id="rId1"/>
    <p:sldLayoutId id="2147483667" r:id="rId2"/>
    <p:sldLayoutId id="2147483675" r:id="rId3"/>
    <p:sldLayoutId id="2147483674" r:id="rId4"/>
    <p:sldLayoutId id="2147483668" r:id="rId5"/>
  </p:sldLayoutIdLst>
  <p:hf hdr="0" dt="0"/>
  <p:txStyles>
    <p:titleStyle>
      <a:lvl1pPr algn="l" defTabSz="914400" rtl="0" eaLnBrk="1" latinLnBrk="0" hangingPunct="1">
        <a:lnSpc>
          <a:spcPct val="90000"/>
        </a:lnSpc>
        <a:spcBef>
          <a:spcPct val="0"/>
        </a:spcBef>
        <a:buNone/>
        <a:defRPr sz="3200" kern="1200">
          <a:solidFill>
            <a:schemeClr val="accent1"/>
          </a:solidFill>
          <a:latin typeface="Arial Black" panose="020B0A04020102020204" pitchFamily="34" charset="0"/>
          <a:ea typeface="+mj-ea"/>
          <a:cs typeface="Arial" panose="020B0604020202020204" pitchFamily="34" charset="0"/>
        </a:defRPr>
      </a:lvl1pPr>
    </p:titleStyle>
    <p:bodyStyle>
      <a:lvl1pPr marL="344488" indent="-344488" algn="l" defTabSz="914400" rtl="0" eaLnBrk="1" latinLnBrk="0" hangingPunct="1">
        <a:lnSpc>
          <a:spcPct val="90000"/>
        </a:lnSpc>
        <a:spcBef>
          <a:spcPts val="1000"/>
        </a:spcBef>
        <a:buFont typeface="Arial" panose="020B0604020202020204" pitchFamily="34" charset="0"/>
        <a:buChar char="–"/>
        <a:defRPr sz="2800" kern="1200">
          <a:solidFill>
            <a:schemeClr val="tx2"/>
          </a:solidFill>
          <a:latin typeface="Arial" panose="020B0604020202020204" pitchFamily="34" charset="0"/>
          <a:ea typeface="+mn-ea"/>
          <a:cs typeface="Arial" panose="020B0604020202020204" pitchFamily="34" charset="0"/>
        </a:defRPr>
      </a:lvl1pPr>
      <a:lvl2pPr marL="796925" indent="-452438" algn="l" defTabSz="914400" rtl="0" eaLnBrk="1" latinLnBrk="0" hangingPunct="1">
        <a:lnSpc>
          <a:spcPct val="90000"/>
        </a:lnSpc>
        <a:spcBef>
          <a:spcPts val="500"/>
        </a:spcBef>
        <a:buFont typeface="Arial" panose="020B0604020202020204" pitchFamily="34" charset="0"/>
        <a:buChar char="—"/>
        <a:defRPr sz="2400" kern="1200">
          <a:solidFill>
            <a:schemeClr val="tx2"/>
          </a:solidFill>
          <a:latin typeface="Arial" panose="020B0604020202020204" pitchFamily="34" charset="0"/>
          <a:ea typeface="+mn-ea"/>
          <a:cs typeface="Arial" panose="020B0604020202020204" pitchFamily="34" charset="0"/>
        </a:defRPr>
      </a:lvl2pPr>
      <a:lvl3pPr marL="1081088" indent="-284163" algn="l" defTabSz="914400" rtl="0" eaLnBrk="1" latinLnBrk="0" hangingPunct="1">
        <a:lnSpc>
          <a:spcPct val="90000"/>
        </a:lnSpc>
        <a:spcBef>
          <a:spcPts val="500"/>
        </a:spcBef>
        <a:buFont typeface="Arial" panose="020B0604020202020204" pitchFamily="34" charset="0"/>
        <a:buChar char="•"/>
        <a:defRPr sz="2000" kern="1200">
          <a:solidFill>
            <a:schemeClr val="tx2"/>
          </a:solidFill>
          <a:latin typeface="Arial" panose="020B0604020202020204" pitchFamily="34" charset="0"/>
          <a:ea typeface="+mn-ea"/>
          <a:cs typeface="Arial" panose="020B0604020202020204" pitchFamily="34" charset="0"/>
        </a:defRPr>
      </a:lvl3pPr>
      <a:lvl4pPr marL="1258888" indent="-228600"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4pPr>
      <a:lvl5pPr marL="1484313" indent="-225425"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9.jpeg"/><Relationship Id="rId3" Type="http://schemas.openxmlformats.org/officeDocument/2006/relationships/image" Target="../media/image10.jpeg"/><Relationship Id="rId4"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3.svg"/><Relationship Id="rId4" Type="http://schemas.openxmlformats.org/officeDocument/2006/relationships/image" Target="../media/image14.svg"/><Relationship Id="rId5" Type="http://schemas.openxmlformats.org/officeDocument/2006/relationships/image" Target="../media/image15.svg"/><Relationship Id="rId6" Type="http://schemas.openxmlformats.org/officeDocument/2006/relationships/image" Target="../media/image16.svg"/><Relationship Id="rId7" Type="http://schemas.openxmlformats.org/officeDocument/2006/relationships/image" Target="../media/image17.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8.jpeg"/><Relationship Id="rId4" Type="http://schemas.openxmlformats.org/officeDocument/2006/relationships/image" Target="../media/image19.jpeg"/><Relationship Id="rId5"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diagramData" Target="../diagrams/data2.xml"/><Relationship Id="rId4" Type="http://schemas.openxmlformats.org/officeDocument/2006/relationships/diagramLayout" Target="../diagrams/layout2.xml"/><Relationship Id="rId5" Type="http://schemas.openxmlformats.org/officeDocument/2006/relationships/diagramQuickStyle" Target="../diagrams/quickStyle2.xml"/><Relationship Id="rId6" Type="http://schemas.openxmlformats.org/officeDocument/2006/relationships/diagramColors" Target="../diagrams/colors2.xml"/><Relationship Id="rId7" Type="http://schemas.microsoft.com/office/2007/relationships/diagramDrawing" Target="../diagrams/drawing2.xml"/><Relationship Id="rId8" Type="http://schemas.openxmlformats.org/officeDocument/2006/relationships/diagramData" Target="../diagrams/data3.xml"/><Relationship Id="rId9" Type="http://schemas.openxmlformats.org/officeDocument/2006/relationships/diagramLayout" Target="../diagrams/layout3.xml"/><Relationship Id="rId10" Type="http://schemas.openxmlformats.org/officeDocument/2006/relationships/diagramQuickStyle" Target="../diagrams/quickStyle3.xml"/><Relationship Id="rId11" Type="http://schemas.openxmlformats.org/officeDocument/2006/relationships/diagramColors" Target="../diagrams/colors3.xml"/><Relationship Id="rId12" Type="http://schemas.microsoft.com/office/2007/relationships/diagramDrawing" Target="../diagrams/drawing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diagramData" Target="../diagrams/data4.xml"/><Relationship Id="rId4" Type="http://schemas.openxmlformats.org/officeDocument/2006/relationships/diagramLayout" Target="../diagrams/layout4.xml"/><Relationship Id="rId5" Type="http://schemas.openxmlformats.org/officeDocument/2006/relationships/diagramQuickStyle" Target="../diagrams/quickStyle4.xml"/><Relationship Id="rId6" Type="http://schemas.openxmlformats.org/officeDocument/2006/relationships/diagramColors" Target="../diagrams/colors4.xml"/><Relationship Id="rId7" Type="http://schemas.microsoft.com/office/2007/relationships/diagramDrawing" Target="../diagrams/drawing4.xml"/><Relationship Id="rId8" Type="http://schemas.openxmlformats.org/officeDocument/2006/relationships/image" Target="../media/image16.svg"/><Relationship Id="rId9" Type="http://schemas.openxmlformats.org/officeDocument/2006/relationships/image" Target="../media/image15.svg"/><Relationship Id="rId10" Type="http://schemas.openxmlformats.org/officeDocument/2006/relationships/image" Target="../media/image23.svg"/><Relationship Id="rId11" Type="http://schemas.openxmlformats.org/officeDocument/2006/relationships/image" Target="../media/image17.svg"/><Relationship Id="rId12" Type="http://schemas.openxmlformats.org/officeDocument/2006/relationships/image" Target="../media/image24.svg"/><Relationship Id="rId13" Type="http://schemas.openxmlformats.org/officeDocument/2006/relationships/image" Target="../media/image25.svg"/><Relationship Id="rId14" Type="http://schemas.openxmlformats.org/officeDocument/2006/relationships/image" Target="../media/image26.svg"/><Relationship Id="rId15" Type="http://schemas.openxmlformats.org/officeDocument/2006/relationships/image" Target="../media/image27.svg"/><Relationship Id="rId16" Type="http://schemas.openxmlformats.org/officeDocument/2006/relationships/image" Target="../media/image28.svg"/><Relationship Id="rId17" Type="http://schemas.openxmlformats.org/officeDocument/2006/relationships/image" Target="../media/image29.sv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diagramData" Target="../diagrams/data5.xml"/><Relationship Id="rId4" Type="http://schemas.openxmlformats.org/officeDocument/2006/relationships/diagramLayout" Target="../diagrams/layout5.xml"/><Relationship Id="rId5" Type="http://schemas.openxmlformats.org/officeDocument/2006/relationships/diagramQuickStyle" Target="../diagrams/quickStyle5.xml"/><Relationship Id="rId6" Type="http://schemas.openxmlformats.org/officeDocument/2006/relationships/diagramColors" Target="../diagrams/colors5.xml"/><Relationship Id="rId7" Type="http://schemas.microsoft.com/office/2007/relationships/diagramDrawing" Target="../diagrams/drawing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0.png"/><Relationship Id="rId4" Type="http://schemas.openxmlformats.org/officeDocument/2006/relationships/image" Target="../media/image31.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35.svg"/><Relationship Id="rId4" Type="http://schemas.openxmlformats.org/officeDocument/2006/relationships/image" Target="../media/image36.svg"/><Relationship Id="rId5" Type="http://schemas.openxmlformats.org/officeDocument/2006/relationships/image" Target="../media/image37.sv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diagramData" Target="../diagrams/data6.xml"/><Relationship Id="rId3" Type="http://schemas.openxmlformats.org/officeDocument/2006/relationships/diagramLayout" Target="../diagrams/layout6.xml"/><Relationship Id="rId4" Type="http://schemas.openxmlformats.org/officeDocument/2006/relationships/diagramQuickStyle" Target="../diagrams/quickStyle6.xml"/><Relationship Id="rId5" Type="http://schemas.openxmlformats.org/officeDocument/2006/relationships/diagramColors" Target="../diagrams/colors6.xml"/><Relationship Id="rId6" Type="http://schemas.microsoft.com/office/2007/relationships/diagramDrawing" Target="../diagrams/drawing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7.xml"/><Relationship Id="rId3" Type="http://schemas.openxmlformats.org/officeDocument/2006/relationships/diagramLayout" Target="../diagrams/layout7.xml"/><Relationship Id="rId4" Type="http://schemas.openxmlformats.org/officeDocument/2006/relationships/diagramQuickStyle" Target="../diagrams/quickStyle7.xml"/><Relationship Id="rId5" Type="http://schemas.openxmlformats.org/officeDocument/2006/relationships/diagramColors" Target="../diagrams/colors7.xml"/><Relationship Id="rId6" Type="http://schemas.microsoft.com/office/2007/relationships/diagramDrawing" Target="../diagrams/drawing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8.xml"/><Relationship Id="rId3" Type="http://schemas.openxmlformats.org/officeDocument/2006/relationships/diagramLayout" Target="../diagrams/layout8.xml"/><Relationship Id="rId4" Type="http://schemas.openxmlformats.org/officeDocument/2006/relationships/diagramQuickStyle" Target="../diagrams/quickStyle8.xml"/><Relationship Id="rId5" Type="http://schemas.openxmlformats.org/officeDocument/2006/relationships/diagramColors" Target="../diagrams/colors8.xml"/><Relationship Id="rId6" Type="http://schemas.microsoft.com/office/2007/relationships/diagramDrawing" Target="../diagrams/drawing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9.xml"/><Relationship Id="rId3" Type="http://schemas.openxmlformats.org/officeDocument/2006/relationships/diagramLayout" Target="../diagrams/layout9.xml"/><Relationship Id="rId4" Type="http://schemas.openxmlformats.org/officeDocument/2006/relationships/diagramQuickStyle" Target="../diagrams/quickStyle9.xml"/><Relationship Id="rId5" Type="http://schemas.openxmlformats.org/officeDocument/2006/relationships/diagramColors" Target="../diagrams/colors9.xml"/><Relationship Id="rId6" Type="http://schemas.microsoft.com/office/2007/relationships/diagramDrawing" Target="../diagrams/drawing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diagramData" Target="../diagrams/data10.xml"/><Relationship Id="rId4" Type="http://schemas.openxmlformats.org/officeDocument/2006/relationships/diagramLayout" Target="../diagrams/layout10.xml"/><Relationship Id="rId5" Type="http://schemas.openxmlformats.org/officeDocument/2006/relationships/diagramQuickStyle" Target="../diagrams/quickStyle10.xml"/><Relationship Id="rId6" Type="http://schemas.openxmlformats.org/officeDocument/2006/relationships/diagramColors" Target="../diagrams/colors10.xml"/><Relationship Id="rId7" Type="http://schemas.microsoft.com/office/2007/relationships/diagramDrawing" Target="../diagrams/drawing10.xml"/><Relationship Id="rId8" Type="http://schemas.openxmlformats.org/officeDocument/2006/relationships/image" Target="../media/image16.svg"/><Relationship Id="rId9" Type="http://schemas.openxmlformats.org/officeDocument/2006/relationships/image" Target="../media/image15.svg"/><Relationship Id="rId10" Type="http://schemas.openxmlformats.org/officeDocument/2006/relationships/image" Target="../media/image23.svg"/><Relationship Id="rId11" Type="http://schemas.openxmlformats.org/officeDocument/2006/relationships/image" Target="../media/image17.svg"/><Relationship Id="rId12" Type="http://schemas.openxmlformats.org/officeDocument/2006/relationships/image" Target="../media/image24.svg"/><Relationship Id="rId13" Type="http://schemas.openxmlformats.org/officeDocument/2006/relationships/image" Target="../media/image25.svg"/><Relationship Id="rId14" Type="http://schemas.openxmlformats.org/officeDocument/2006/relationships/image" Target="../media/image26.svg"/><Relationship Id="rId15" Type="http://schemas.openxmlformats.org/officeDocument/2006/relationships/image" Target="../media/image27.svg"/><Relationship Id="rId16" Type="http://schemas.openxmlformats.org/officeDocument/2006/relationships/image" Target="../media/image28.svg"/><Relationship Id="rId17" Type="http://schemas.openxmlformats.org/officeDocument/2006/relationships/image" Target="../media/image29.sv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SitePages/hubley%20Pages/Marketing-Collateral.aspx"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www.wrike.com/frontend/requestforms/index.html?token=eyJhY2NvdW50SWQiOjIwMDQ1NTgsInRhc2tGb3JtSWQiOjQ2NDU5MX0JNDc5OTIzNTkwNzkzOAkzZTQ1YTMyMDdmNTgxMWVkNGU2YTliMzQyNmNiMGFiZGEwODAxYzVkZjJmYzM1YWQ3ZGM1NjRkMWE5M2EyYWEz"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Marketing%20Collateral/APTIM%20Branding/Brand%20Guidelines/2025%20APTIM%20Written%20Style%20Guide.pdf" TargetMode="External"/><Relationship Id="rId3" Type="http://schemas.openxmlformats.org/officeDocument/2006/relationships/image" Target="../media/image3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9373E-1094-4F3A-6BEC-225A620FBC20}"/>
              </a:ext>
            </a:extLst>
          </p:cNvPr>
          <p:cNvSpPr>
            <a:spLocks noGrp="1"/>
          </p:cNvSpPr>
          <p:nvPr>
            <p:ph type="ctrTitle"/>
          </p:nvPr>
        </p:nvSpPr>
        <p:spPr/>
        <p:txBody>
          <a:bodyPr/>
          <a:lstStyle/>
          <a:p>
            <a:r>
              <a:rPr lang="en-US"/>
              <a:t>Evolving Energy Programs Under Funding Uncertainty</a:t>
            </a:r>
          </a:p>
        </p:txBody>
      </p:sp>
      <p:sp>
        <p:nvSpPr>
          <p:cNvPr id="3" name="Subtitle 2">
            <a:extLst>
              <a:ext uri="{FF2B5EF4-FFF2-40B4-BE49-F238E27FC236}">
                <a16:creationId xmlns:a16="http://schemas.microsoft.com/office/drawing/2014/main" id="{AF7B6484-1211-33BD-C548-B9D847708AC9}"/>
              </a:ext>
            </a:extLst>
          </p:cNvPr>
          <p:cNvSpPr>
            <a:spLocks noGrp="1"/>
          </p:cNvSpPr>
          <p:nvPr>
            <p:ph type="subTitle" idx="1"/>
          </p:nvPr>
        </p:nvSpPr>
        <p:spPr/>
        <p:txBody>
          <a:bodyPr/>
          <a:lstStyle/>
          <a:p>
            <a:r>
              <a:rPr lang="en-US">
                <a:latin typeface="Arial"/>
                <a:cs typeface="Arial"/>
              </a:rPr>
              <a:t>Alexander Brown, Christian Gracia, Jenny Isham, Maija Miller, John Woods</a:t>
            </a:r>
          </a:p>
          <a:p>
            <a:r>
              <a:rPr lang="en-US"/>
              <a:t>August 5</a:t>
            </a:r>
            <a:r>
              <a:rPr lang="en-US" baseline="30000"/>
              <a:t>th</a:t>
            </a:r>
            <a:r>
              <a:rPr lang="en-US"/>
              <a:t>, 2026</a:t>
            </a:r>
          </a:p>
        </p:txBody>
      </p:sp>
      <p:sp>
        <p:nvSpPr>
          <p:cNvPr id="4" name="Footer Placeholder 3">
            <a:extLst>
              <a:ext uri="{FF2B5EF4-FFF2-40B4-BE49-F238E27FC236}">
                <a16:creationId xmlns:a16="http://schemas.microsoft.com/office/drawing/2014/main" id="{DBFD8D97-70AF-3DCF-B8E5-926FC888842F}"/>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2D922BD-7674-1FA6-49BC-8770A507F359}"/>
              </a:ext>
            </a:extLst>
          </p:cNvPr>
          <p:cNvSpPr>
            <a:spLocks noGrp="1"/>
          </p:cNvSpPr>
          <p:nvPr>
            <p:ph type="sldNum" sz="quarter" idx="12"/>
          </p:nvPr>
        </p:nvSpPr>
        <p:spPr/>
        <p:txBody>
          <a:bodyPr/>
          <a:lstStyle/>
          <a:p>
            <a:fld id="{F8F6B9CD-BE6B-498B-93B3-0FAD7ADE75E3}" type="slidenum">
              <a:rPr lang="en-US" smtClean="0"/>
              <a:pPr/>
              <a:t>1</a:t>
            </a:fld>
            <a:endParaRPr lang="en-US"/>
          </a:p>
        </p:txBody>
      </p:sp>
    </p:spTree>
    <p:extLst>
      <p:ext uri="{BB962C8B-B14F-4D97-AF65-F5344CB8AC3E}">
        <p14:creationId xmlns:p14="http://schemas.microsoft.com/office/powerpoint/2010/main" val="2238147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D8BC2B-447D-F588-3D91-F0DEA555B354}"/>
              </a:ext>
            </a:extLst>
          </p:cNvPr>
          <p:cNvSpPr>
            <a:spLocks noGrp="1"/>
          </p:cNvSpPr>
          <p:nvPr>
            <p:ph type="title"/>
          </p:nvPr>
        </p:nvSpPr>
        <p:spPr/>
        <p:txBody>
          <a:bodyPr/>
          <a:lstStyle/>
          <a:p>
            <a:r>
              <a:rPr lang="en-US">
                <a:latin typeface="Arial Black"/>
                <a:cs typeface="Arial"/>
              </a:rPr>
              <a:t>The Dream Team</a:t>
            </a:r>
            <a:endParaRPr lang="en-US"/>
          </a:p>
        </p:txBody>
      </p:sp>
      <p:sp>
        <p:nvSpPr>
          <p:cNvPr id="3" name="Slide Number Placeholder 2">
            <a:extLst>
              <a:ext uri="{FF2B5EF4-FFF2-40B4-BE49-F238E27FC236}">
                <a16:creationId xmlns:a16="http://schemas.microsoft.com/office/drawing/2014/main" id="{921551E4-713F-AA64-0B60-ACFE8208A0DB}"/>
              </a:ext>
            </a:extLst>
          </p:cNvPr>
          <p:cNvSpPr>
            <a:spLocks noGrp="1"/>
          </p:cNvSpPr>
          <p:nvPr>
            <p:ph type="sldNum" sz="quarter" idx="10"/>
          </p:nvPr>
        </p:nvSpPr>
        <p:spPr/>
        <p:txBody>
          <a:bodyPr/>
          <a:lstStyle/>
          <a:p>
            <a:fld id="{72E20F18-833A-4542-A439-FC39BC210022}" type="slidenum">
              <a:rPr lang="en-US" smtClean="0"/>
              <a:pPr/>
              <a:t>2</a:t>
            </a:fld>
            <a:endParaRPr lang="en-US"/>
          </a:p>
        </p:txBody>
      </p:sp>
      <p:sp>
        <p:nvSpPr>
          <p:cNvPr id="4" name="Footer Placeholder 3">
            <a:extLst>
              <a:ext uri="{FF2B5EF4-FFF2-40B4-BE49-F238E27FC236}">
                <a16:creationId xmlns:a16="http://schemas.microsoft.com/office/drawing/2014/main" id="{D91D99CB-02AE-21FD-5DE4-0308A1EA90A8}"/>
              </a:ext>
            </a:extLst>
          </p:cNvPr>
          <p:cNvSpPr>
            <a:spLocks noGrp="1"/>
          </p:cNvSpPr>
          <p:nvPr>
            <p:ph type="ftr" sz="quarter" idx="11"/>
          </p:nvPr>
        </p:nvSpPr>
        <p:spPr/>
        <p:txBody>
          <a:bodyPr/>
          <a:lstStyle/>
          <a:p>
            <a:endParaRPr lang="en-US"/>
          </a:p>
        </p:txBody>
      </p:sp>
      <p:sp>
        <p:nvSpPr>
          <p:cNvPr id="5" name="Picture Placeholder 4">
            <a:extLst>
              <a:ext uri="{FF2B5EF4-FFF2-40B4-BE49-F238E27FC236}">
                <a16:creationId xmlns:a16="http://schemas.microsoft.com/office/drawing/2014/main" id="{3626F35C-2F42-1673-A24D-EAFED75CB96A}"/>
              </a:ext>
            </a:extLst>
          </p:cNvPr>
          <p:cNvSpPr>
            <a:spLocks noGrp="1"/>
          </p:cNvSpPr>
          <p:nvPr>
            <p:ph type="pic" sz="quarter" idx="13"/>
          </p:nvPr>
        </p:nvSpPr>
        <p:spPr>
          <a:xfrm>
            <a:off x="751199" y="1764858"/>
            <a:ext cx="1828800" cy="2743200"/>
          </a:xfrm>
        </p:spPr>
        <p:txBody>
          <a:bodyPr/>
          <a:lstStyle/>
          <a:p>
            <a:endParaRPr lang="en-US"/>
          </a:p>
        </p:txBody>
      </p:sp>
      <p:sp>
        <p:nvSpPr>
          <p:cNvPr id="6" name="Text Placeholder 5">
            <a:extLst>
              <a:ext uri="{FF2B5EF4-FFF2-40B4-BE49-F238E27FC236}">
                <a16:creationId xmlns:a16="http://schemas.microsoft.com/office/drawing/2014/main" id="{326FAA2A-23FE-50CC-F3CC-C50F38617BC1}"/>
              </a:ext>
            </a:extLst>
          </p:cNvPr>
          <p:cNvSpPr>
            <a:spLocks noGrp="1"/>
          </p:cNvSpPr>
          <p:nvPr>
            <p:ph type="body" sz="quarter" idx="14"/>
          </p:nvPr>
        </p:nvSpPr>
        <p:spPr>
          <a:xfrm>
            <a:off x="749808" y="4553066"/>
            <a:ext cx="1828800" cy="618118"/>
          </a:xfrm>
        </p:spPr>
        <p:txBody>
          <a:bodyPr/>
          <a:lstStyle/>
          <a:p>
            <a:r>
              <a:rPr lang="en-US" b="1"/>
              <a:t>Alexander Brown</a:t>
            </a:r>
          </a:p>
          <a:p>
            <a:endParaRPr lang="en-US"/>
          </a:p>
        </p:txBody>
      </p:sp>
      <p:pic>
        <p:nvPicPr>
          <p:cNvPr id="15" name="Picture Placeholder 14">
            <a:extLst>
              <a:ext uri="{FF2B5EF4-FFF2-40B4-BE49-F238E27FC236}">
                <a16:creationId xmlns:a16="http://schemas.microsoft.com/office/drawing/2014/main" id="{BC69E68D-3474-CDE0-C137-3D5E49DD0222}"/>
              </a:ext>
            </a:extLst>
          </p:cNvPr>
          <p:cNvPicPr>
            <a:picLocks noGrp="1" noChangeAspect="1"/>
          </p:cNvPicPr>
          <p:nvPr>
            <p:ph type="pic" sz="quarter" idx="15"/>
          </p:nvPr>
        </p:nvPicPr>
        <p:blipFill>
          <a:blip r:embed="rId2"/>
          <a:srcRect l="13757" t="357" r="11129" b="-357"/>
          <a:stretch>
            <a:fillRect/>
          </a:stretch>
        </p:blipFill>
        <p:spPr>
          <a:xfrm>
            <a:off x="9588499" y="2076044"/>
            <a:ext cx="1828329" cy="2431146"/>
          </a:xfrm>
          <a:prstGeom prst="rect">
            <a:avLst/>
          </a:prstGeom>
        </p:spPr>
      </p:pic>
      <p:sp>
        <p:nvSpPr>
          <p:cNvPr id="8" name="Text Placeholder 7">
            <a:extLst>
              <a:ext uri="{FF2B5EF4-FFF2-40B4-BE49-F238E27FC236}">
                <a16:creationId xmlns:a16="http://schemas.microsoft.com/office/drawing/2014/main" id="{D5C19598-634D-36D0-C064-349B7E6A1DD8}"/>
              </a:ext>
            </a:extLst>
          </p:cNvPr>
          <p:cNvSpPr>
            <a:spLocks noGrp="1"/>
          </p:cNvSpPr>
          <p:nvPr>
            <p:ph type="body" sz="quarter" idx="16"/>
          </p:nvPr>
        </p:nvSpPr>
        <p:spPr>
          <a:xfrm>
            <a:off x="7379208" y="5045866"/>
            <a:ext cx="1828800" cy="895117"/>
          </a:xfrm>
        </p:spPr>
        <p:txBody>
          <a:bodyPr vert="horz" wrap="square" lIns="0" tIns="0" rIns="0" bIns="0" rtlCol="0" anchor="t">
            <a:spAutoFit/>
          </a:bodyPr>
          <a:lstStyle/>
          <a:p>
            <a:pPr algn="ctr"/>
            <a:r>
              <a:rPr lang="en-US" b="1"/>
              <a:t>Maija Miller</a:t>
            </a:r>
            <a:endParaRPr lang="en-US"/>
          </a:p>
          <a:p>
            <a:pPr algn="ctr"/>
            <a:r>
              <a:rPr lang="en-US"/>
              <a:t>Environmental Engineering Intern</a:t>
            </a:r>
          </a:p>
        </p:txBody>
      </p:sp>
      <p:sp>
        <p:nvSpPr>
          <p:cNvPr id="9" name="Text Placeholder 8">
            <a:extLst>
              <a:ext uri="{FF2B5EF4-FFF2-40B4-BE49-F238E27FC236}">
                <a16:creationId xmlns:a16="http://schemas.microsoft.com/office/drawing/2014/main" id="{4B47FEE4-846E-F8B8-E297-D64A17BD1252}"/>
              </a:ext>
            </a:extLst>
          </p:cNvPr>
          <p:cNvSpPr>
            <a:spLocks noGrp="1"/>
          </p:cNvSpPr>
          <p:nvPr>
            <p:ph type="body" sz="quarter" idx="17"/>
          </p:nvPr>
        </p:nvSpPr>
        <p:spPr>
          <a:xfrm>
            <a:off x="2959608" y="5045866"/>
            <a:ext cx="1828800" cy="1172116"/>
          </a:xfrm>
        </p:spPr>
        <p:txBody>
          <a:bodyPr vert="horz" wrap="square" lIns="0" tIns="0" rIns="0" bIns="0" rtlCol="0" anchor="t">
            <a:spAutoFit/>
          </a:bodyPr>
          <a:lstStyle/>
          <a:p>
            <a:pPr algn="ctr"/>
            <a:r>
              <a:rPr lang="en-US" b="1"/>
              <a:t>Christian Garcia</a:t>
            </a:r>
            <a:endParaRPr lang="en-US"/>
          </a:p>
          <a:p>
            <a:pPr algn="ctr"/>
            <a:r>
              <a:rPr lang="en-US"/>
              <a:t>Climate Resilience &amp; Technology Intern</a:t>
            </a:r>
          </a:p>
        </p:txBody>
      </p:sp>
      <p:sp>
        <p:nvSpPr>
          <p:cNvPr id="10" name="Text Placeholder 9">
            <a:extLst>
              <a:ext uri="{FF2B5EF4-FFF2-40B4-BE49-F238E27FC236}">
                <a16:creationId xmlns:a16="http://schemas.microsoft.com/office/drawing/2014/main" id="{D09783BE-494C-A327-A8BE-1D2D55A38E3C}"/>
              </a:ext>
            </a:extLst>
          </p:cNvPr>
          <p:cNvSpPr>
            <a:spLocks noGrp="1"/>
          </p:cNvSpPr>
          <p:nvPr>
            <p:ph type="body" sz="quarter" idx="18"/>
          </p:nvPr>
        </p:nvSpPr>
        <p:spPr>
          <a:xfrm>
            <a:off x="5169408" y="4553066"/>
            <a:ext cx="1828800" cy="895117"/>
          </a:xfrm>
        </p:spPr>
        <p:txBody>
          <a:bodyPr vert="horz" wrap="square" lIns="0" tIns="0" rIns="0" bIns="0" rtlCol="0" anchor="t">
            <a:spAutoFit/>
          </a:bodyPr>
          <a:lstStyle/>
          <a:p>
            <a:pPr algn="ctr"/>
            <a:r>
              <a:rPr lang="en-US" b="1"/>
              <a:t>Jenny Isham</a:t>
            </a:r>
            <a:endParaRPr lang="en-US"/>
          </a:p>
          <a:p>
            <a:pPr algn="ctr"/>
            <a:r>
              <a:rPr lang="en-US"/>
              <a:t>Civil Engineering Intern</a:t>
            </a:r>
          </a:p>
        </p:txBody>
      </p:sp>
      <p:sp>
        <p:nvSpPr>
          <p:cNvPr id="11" name="Picture Placeholder 10">
            <a:extLst>
              <a:ext uri="{FF2B5EF4-FFF2-40B4-BE49-F238E27FC236}">
                <a16:creationId xmlns:a16="http://schemas.microsoft.com/office/drawing/2014/main" id="{E0F0DD91-5435-BD69-E7E6-32B045873F9B}"/>
              </a:ext>
            </a:extLst>
          </p:cNvPr>
          <p:cNvSpPr>
            <a:spLocks noGrp="1"/>
          </p:cNvSpPr>
          <p:nvPr>
            <p:ph type="pic" sz="quarter" idx="19"/>
          </p:nvPr>
        </p:nvSpPr>
        <p:spPr>
          <a:xfrm>
            <a:off x="2960651" y="2246194"/>
            <a:ext cx="1828800" cy="2743200"/>
          </a:xfrm>
        </p:spPr>
        <p:txBody>
          <a:bodyPr/>
          <a:lstStyle/>
          <a:p>
            <a:endParaRPr lang="en-US"/>
          </a:p>
        </p:txBody>
      </p:sp>
      <p:pic>
        <p:nvPicPr>
          <p:cNvPr id="7" name="Picture Placeholder 6">
            <a:extLst>
              <a:ext uri="{FF2B5EF4-FFF2-40B4-BE49-F238E27FC236}">
                <a16:creationId xmlns:a16="http://schemas.microsoft.com/office/drawing/2014/main" id="{2CBD7041-05C2-CBFF-68F3-1DC70BE6DA00}"/>
              </a:ext>
            </a:extLst>
          </p:cNvPr>
          <p:cNvPicPr>
            <a:picLocks noGrp="1" noChangeAspect="1"/>
          </p:cNvPicPr>
          <p:nvPr>
            <p:ph type="pic" sz="quarter" idx="20"/>
          </p:nvPr>
        </p:nvPicPr>
        <p:blipFill>
          <a:blip r:embed="rId3"/>
          <a:srcRect l="2057" r="2057"/>
          <a:stretch/>
        </p:blipFill>
        <p:spPr>
          <a:xfrm>
            <a:off x="5170488" y="1754188"/>
            <a:ext cx="1828800" cy="2743200"/>
          </a:xfrm>
          <a:prstGeom prst="rect">
            <a:avLst/>
          </a:prstGeom>
        </p:spPr>
      </p:pic>
      <p:pic>
        <p:nvPicPr>
          <p:cNvPr id="18" name="Picture Placeholder 17">
            <a:extLst>
              <a:ext uri="{FF2B5EF4-FFF2-40B4-BE49-F238E27FC236}">
                <a16:creationId xmlns:a16="http://schemas.microsoft.com/office/drawing/2014/main" id="{DCF8BF28-8627-5D7B-A352-F7DF9453399E}"/>
              </a:ext>
            </a:extLst>
          </p:cNvPr>
          <p:cNvPicPr>
            <a:picLocks noGrp="1" noChangeAspect="1"/>
          </p:cNvPicPr>
          <p:nvPr>
            <p:ph type="pic" sz="quarter" idx="21"/>
          </p:nvPr>
        </p:nvPicPr>
        <p:blipFill>
          <a:blip r:embed="rId4"/>
          <a:srcRect/>
          <a:stretch/>
        </p:blipFill>
        <p:spPr>
          <a:xfrm>
            <a:off x="7380288" y="2246313"/>
            <a:ext cx="1828800" cy="2743200"/>
          </a:xfrm>
          <a:prstGeom prst="rect">
            <a:avLst/>
          </a:prstGeom>
        </p:spPr>
      </p:pic>
      <p:sp>
        <p:nvSpPr>
          <p:cNvPr id="14" name="Text Placeholder 13">
            <a:extLst>
              <a:ext uri="{FF2B5EF4-FFF2-40B4-BE49-F238E27FC236}">
                <a16:creationId xmlns:a16="http://schemas.microsoft.com/office/drawing/2014/main" id="{8D71C4B5-C3DE-6429-B429-D997B984B758}"/>
              </a:ext>
            </a:extLst>
          </p:cNvPr>
          <p:cNvSpPr>
            <a:spLocks noGrp="1"/>
          </p:cNvSpPr>
          <p:nvPr>
            <p:ph type="body" sz="quarter" idx="22"/>
          </p:nvPr>
        </p:nvSpPr>
        <p:spPr>
          <a:xfrm>
            <a:off x="9589008" y="4553066"/>
            <a:ext cx="1828800" cy="1236236"/>
          </a:xfrm>
        </p:spPr>
        <p:txBody>
          <a:bodyPr vert="horz" wrap="square" lIns="0" tIns="0" rIns="0" bIns="0" rtlCol="0" anchor="t">
            <a:spAutoFit/>
          </a:bodyPr>
          <a:lstStyle/>
          <a:p>
            <a:pPr algn="ctr"/>
            <a:r>
              <a:rPr lang="en-US" b="1"/>
              <a:t>John Woods</a:t>
            </a:r>
            <a:endParaRPr lang="en-US"/>
          </a:p>
          <a:p>
            <a:pPr algn="ctr"/>
            <a:r>
              <a:rPr lang="en-US"/>
              <a:t>Mechanical Engineering Intern</a:t>
            </a:r>
          </a:p>
          <a:p>
            <a:pPr algn="ctr"/>
            <a:r>
              <a:rPr lang="en-US"/>
              <a:t>Knoxville, TN</a:t>
            </a:r>
          </a:p>
        </p:txBody>
      </p:sp>
    </p:spTree>
    <p:extLst>
      <p:ext uri="{BB962C8B-B14F-4D97-AF65-F5344CB8AC3E}">
        <p14:creationId xmlns:p14="http://schemas.microsoft.com/office/powerpoint/2010/main" val="18281139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Rounded Corners 16">
            <a:extLst>
              <a:ext uri="{FF2B5EF4-FFF2-40B4-BE49-F238E27FC236}">
                <a16:creationId xmlns:a16="http://schemas.microsoft.com/office/drawing/2014/main" id="{BB29BABF-9F2A-BFC5-62C4-ED276D0E09BB}"/>
              </a:ext>
            </a:extLst>
          </p:cNvPr>
          <p:cNvSpPr/>
          <p:nvPr/>
        </p:nvSpPr>
        <p:spPr>
          <a:xfrm>
            <a:off x="486926" y="3222082"/>
            <a:ext cx="3741404" cy="2329148"/>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a:solidFill>
                  <a:schemeClr val="tx1"/>
                </a:solidFill>
                <a:cs typeface="Arial"/>
              </a:rPr>
              <a:t>How could APTIM leverage its existing capabilities across </a:t>
            </a:r>
            <a:r>
              <a:rPr lang="en-US" b="1">
                <a:solidFill>
                  <a:schemeClr val="tx1"/>
                </a:solidFill>
              </a:rPr>
              <a:t>consulting and management to help deliver effective programs under constrained funding?</a:t>
            </a:r>
          </a:p>
        </p:txBody>
      </p:sp>
      <p:sp>
        <p:nvSpPr>
          <p:cNvPr id="9" name="Title 8">
            <a:extLst>
              <a:ext uri="{FF2B5EF4-FFF2-40B4-BE49-F238E27FC236}">
                <a16:creationId xmlns:a16="http://schemas.microsoft.com/office/drawing/2014/main" id="{CF013CD0-1ED7-54E6-8681-3CFFE6ADBE0A}"/>
              </a:ext>
            </a:extLst>
          </p:cNvPr>
          <p:cNvSpPr>
            <a:spLocks noGrp="1"/>
          </p:cNvSpPr>
          <p:nvPr>
            <p:ph type="title"/>
          </p:nvPr>
        </p:nvSpPr>
        <p:spPr>
          <a:xfrm>
            <a:off x="609600" y="370511"/>
            <a:ext cx="10972799" cy="804735"/>
          </a:xfrm>
        </p:spPr>
        <p:txBody>
          <a:bodyPr/>
          <a:lstStyle/>
          <a:p>
            <a:r>
              <a:rPr lang="en-US"/>
              <a:t>What is the Problem? </a:t>
            </a:r>
          </a:p>
        </p:txBody>
      </p:sp>
      <p:sp>
        <p:nvSpPr>
          <p:cNvPr id="7" name="Footer Placeholder 6">
            <a:extLst>
              <a:ext uri="{FF2B5EF4-FFF2-40B4-BE49-F238E27FC236}">
                <a16:creationId xmlns:a16="http://schemas.microsoft.com/office/drawing/2014/main" id="{6281D506-D025-5D72-D80D-ECACC270B56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5359DF0C-675C-38C3-DD98-2540894C87E9}"/>
              </a:ext>
            </a:extLst>
          </p:cNvPr>
          <p:cNvSpPr>
            <a:spLocks noGrp="1"/>
          </p:cNvSpPr>
          <p:nvPr>
            <p:ph type="sldNum" sz="quarter" idx="12"/>
          </p:nvPr>
        </p:nvSpPr>
        <p:spPr>
          <a:xfrm>
            <a:off x="11178391" y="6140991"/>
            <a:ext cx="285135" cy="251845"/>
          </a:xfrm>
        </p:spPr>
        <p:txBody>
          <a:bodyPr/>
          <a:lstStyle/>
          <a:p>
            <a:fld id="{F8F6B9CD-BE6B-498B-93B3-0FAD7ADE75E3}" type="slidenum">
              <a:rPr lang="en-US" smtClean="0"/>
              <a:t>3</a:t>
            </a:fld>
            <a:endParaRPr lang="en-US"/>
          </a:p>
        </p:txBody>
      </p:sp>
      <p:sp>
        <p:nvSpPr>
          <p:cNvPr id="13" name="TextBox 12">
            <a:extLst>
              <a:ext uri="{FF2B5EF4-FFF2-40B4-BE49-F238E27FC236}">
                <a16:creationId xmlns:a16="http://schemas.microsoft.com/office/drawing/2014/main" id="{27A59918-E638-25AF-CB5A-1AA8C557485B}"/>
              </a:ext>
            </a:extLst>
          </p:cNvPr>
          <p:cNvSpPr txBox="1"/>
          <p:nvPr/>
        </p:nvSpPr>
        <p:spPr>
          <a:xfrm>
            <a:off x="609600" y="1598499"/>
            <a:ext cx="3922776" cy="1200329"/>
          </a:xfrm>
          <a:prstGeom prst="rect">
            <a:avLst/>
          </a:prstGeom>
          <a:noFill/>
        </p:spPr>
        <p:txBody>
          <a:bodyPr wrap="square" rtlCol="0">
            <a:spAutoFit/>
          </a:bodyPr>
          <a:lstStyle/>
          <a:p>
            <a:r>
              <a:rPr lang="en-US">
                <a:solidFill>
                  <a:schemeClr val="accent3"/>
                </a:solidFill>
              </a:rPr>
              <a:t>Utilities, states, counties, cities and program administrators have to balance growing expectations and growing constraints:</a:t>
            </a:r>
          </a:p>
        </p:txBody>
      </p:sp>
      <p:sp>
        <p:nvSpPr>
          <p:cNvPr id="2" name="Isosceles Triangle 1">
            <a:extLst>
              <a:ext uri="{FF2B5EF4-FFF2-40B4-BE49-F238E27FC236}">
                <a16:creationId xmlns:a16="http://schemas.microsoft.com/office/drawing/2014/main" id="{23BB380C-82D2-BA5E-9FD1-531D184A67C9}"/>
              </a:ext>
            </a:extLst>
          </p:cNvPr>
          <p:cNvSpPr/>
          <p:nvPr/>
        </p:nvSpPr>
        <p:spPr>
          <a:xfrm>
            <a:off x="7917976" y="3397775"/>
            <a:ext cx="722376" cy="566928"/>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8ACAD5E-D6A3-37FE-8A74-39583F73CCBC}"/>
              </a:ext>
            </a:extLst>
          </p:cNvPr>
          <p:cNvSpPr txBox="1"/>
          <p:nvPr/>
        </p:nvSpPr>
        <p:spPr>
          <a:xfrm>
            <a:off x="8613914" y="952635"/>
            <a:ext cx="2569464" cy="1923604"/>
          </a:xfrm>
          <a:prstGeom prst="rect">
            <a:avLst/>
          </a:prstGeom>
          <a:noFill/>
        </p:spPr>
        <p:txBody>
          <a:bodyPr wrap="square" rtlCol="0">
            <a:spAutoFit/>
          </a:bodyPr>
          <a:lstStyle/>
          <a:p>
            <a:pPr lvl="0">
              <a:spcAft>
                <a:spcPts val="1200"/>
              </a:spcAft>
            </a:pPr>
            <a:r>
              <a:rPr lang="en-US" sz="1900"/>
              <a:t>Constraints </a:t>
            </a:r>
          </a:p>
          <a:p>
            <a:pPr marL="285750" lvl="0" indent="-285750">
              <a:buFont typeface="Arial" panose="020B0604020202020204" pitchFamily="34" charset="0"/>
              <a:buChar char="•"/>
            </a:pPr>
            <a:r>
              <a:rPr lang="en-US" sz="1500"/>
              <a:t>Federal Funding Uncertainty</a:t>
            </a:r>
          </a:p>
          <a:p>
            <a:pPr marL="285750" lvl="0" indent="-285750">
              <a:buFont typeface="Arial" panose="020B0604020202020204" pitchFamily="34" charset="0"/>
              <a:buChar char="•"/>
            </a:pPr>
            <a:r>
              <a:rPr lang="en-US" sz="1500"/>
              <a:t>Changing Incentive Structure </a:t>
            </a:r>
          </a:p>
          <a:p>
            <a:pPr marL="285750" lvl="0" indent="-285750">
              <a:buFont typeface="Arial" panose="020B0604020202020204" pitchFamily="34" charset="0"/>
              <a:buChar char="•"/>
            </a:pPr>
            <a:r>
              <a:rPr lang="en-US" sz="1500"/>
              <a:t>Operational Complexity </a:t>
            </a:r>
          </a:p>
          <a:p>
            <a:pPr marL="285750" lvl="0" indent="-285750">
              <a:buFont typeface="Arial" panose="020B0604020202020204" pitchFamily="34" charset="0"/>
              <a:buChar char="•"/>
            </a:pPr>
            <a:r>
              <a:rPr lang="en-US" sz="1500"/>
              <a:t>Aging Infrastructure </a:t>
            </a:r>
          </a:p>
        </p:txBody>
      </p:sp>
      <p:sp>
        <p:nvSpPr>
          <p:cNvPr id="4" name="TextBox 3">
            <a:extLst>
              <a:ext uri="{FF2B5EF4-FFF2-40B4-BE49-F238E27FC236}">
                <a16:creationId xmlns:a16="http://schemas.microsoft.com/office/drawing/2014/main" id="{70AD5F4C-9CDC-5349-3E70-9A8E2948D747}"/>
              </a:ext>
            </a:extLst>
          </p:cNvPr>
          <p:cNvSpPr txBox="1"/>
          <p:nvPr/>
        </p:nvSpPr>
        <p:spPr>
          <a:xfrm>
            <a:off x="5374951" y="3964703"/>
            <a:ext cx="2569464" cy="1923604"/>
          </a:xfrm>
          <a:prstGeom prst="rect">
            <a:avLst/>
          </a:prstGeom>
          <a:noFill/>
        </p:spPr>
        <p:txBody>
          <a:bodyPr wrap="square" rtlCol="0">
            <a:spAutoFit/>
          </a:bodyPr>
          <a:lstStyle/>
          <a:p>
            <a:pPr lvl="0">
              <a:spcAft>
                <a:spcPts val="1200"/>
              </a:spcAft>
            </a:pPr>
            <a:r>
              <a:rPr lang="en-US" sz="1900"/>
              <a:t>Expectations </a:t>
            </a:r>
          </a:p>
          <a:p>
            <a:pPr marL="285750" lvl="0" indent="-285750">
              <a:buFont typeface="Arial" panose="020B0604020202020204" pitchFamily="34" charset="0"/>
              <a:buChar char="•"/>
            </a:pPr>
            <a:r>
              <a:rPr lang="en-US" sz="1500"/>
              <a:t>Energy Efficiency</a:t>
            </a:r>
          </a:p>
          <a:p>
            <a:pPr marL="285750" lvl="0" indent="-285750">
              <a:buFont typeface="Arial" panose="020B0604020202020204" pitchFamily="34" charset="0"/>
              <a:buChar char="•"/>
            </a:pPr>
            <a:r>
              <a:rPr lang="en-US" sz="1500"/>
              <a:t>Sustainability Initiatives</a:t>
            </a:r>
          </a:p>
          <a:p>
            <a:pPr marL="285750" lvl="0" indent="-285750">
              <a:buFont typeface="Arial" panose="020B0604020202020204" pitchFamily="34" charset="0"/>
              <a:buChar char="•"/>
            </a:pPr>
            <a:r>
              <a:rPr lang="en-US" sz="1500"/>
              <a:t>Grid Resilience </a:t>
            </a:r>
          </a:p>
          <a:p>
            <a:pPr marL="285750" lvl="0" indent="-285750">
              <a:buFont typeface="Arial" panose="020B0604020202020204" pitchFamily="34" charset="0"/>
              <a:buChar char="•"/>
            </a:pPr>
            <a:r>
              <a:rPr lang="en-US" sz="1500"/>
              <a:t>Electrification </a:t>
            </a:r>
          </a:p>
          <a:p>
            <a:pPr marL="285750" lvl="0" indent="-285750">
              <a:buFont typeface="Arial" panose="020B0604020202020204" pitchFamily="34" charset="0"/>
              <a:buChar char="•"/>
            </a:pPr>
            <a:r>
              <a:rPr lang="en-US" sz="1500"/>
              <a:t>Implementation Support</a:t>
            </a:r>
          </a:p>
          <a:p>
            <a:pPr marL="285750" lvl="0" indent="-285750">
              <a:buFont typeface="Arial" panose="020B0604020202020204" pitchFamily="34" charset="0"/>
              <a:buChar char="•"/>
            </a:pPr>
            <a:r>
              <a:rPr lang="en-US" sz="1500"/>
              <a:t>Cost Effective Solutions </a:t>
            </a:r>
          </a:p>
        </p:txBody>
      </p:sp>
      <p:sp>
        <p:nvSpPr>
          <p:cNvPr id="5" name="Minus Sign 4">
            <a:extLst>
              <a:ext uri="{FF2B5EF4-FFF2-40B4-BE49-F238E27FC236}">
                <a16:creationId xmlns:a16="http://schemas.microsoft.com/office/drawing/2014/main" id="{D41A70D8-9DAB-39B9-7AC0-6DC1795886B8}"/>
              </a:ext>
            </a:extLst>
          </p:cNvPr>
          <p:cNvSpPr/>
          <p:nvPr/>
        </p:nvSpPr>
        <p:spPr>
          <a:xfrm>
            <a:off x="4366327" y="2949696"/>
            <a:ext cx="7825673" cy="896157"/>
          </a:xfrm>
          <a:prstGeom prst="mathMinus">
            <a:avLst/>
          </a:prstGeom>
        </p:spPr>
        <p:style>
          <a:lnRef idx="2">
            <a:schemeClr val="lt1">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6" name="Arrow: Down 5">
            <a:extLst>
              <a:ext uri="{FF2B5EF4-FFF2-40B4-BE49-F238E27FC236}">
                <a16:creationId xmlns:a16="http://schemas.microsoft.com/office/drawing/2014/main" id="{864C3051-D7DE-CB13-67F0-268368856F63}"/>
              </a:ext>
            </a:extLst>
          </p:cNvPr>
          <p:cNvSpPr/>
          <p:nvPr/>
        </p:nvSpPr>
        <p:spPr>
          <a:xfrm>
            <a:off x="5374951" y="960399"/>
            <a:ext cx="2362200" cy="1989297"/>
          </a:xfrm>
          <a:prstGeom prst="downArrow">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US"/>
          </a:p>
        </p:txBody>
      </p:sp>
      <p:sp>
        <p:nvSpPr>
          <p:cNvPr id="11" name="Arrow: Up 10">
            <a:extLst>
              <a:ext uri="{FF2B5EF4-FFF2-40B4-BE49-F238E27FC236}">
                <a16:creationId xmlns:a16="http://schemas.microsoft.com/office/drawing/2014/main" id="{9C79E366-6BC3-BFDB-2A3E-2B84A079424F}"/>
              </a:ext>
            </a:extLst>
          </p:cNvPr>
          <p:cNvSpPr/>
          <p:nvPr/>
        </p:nvSpPr>
        <p:spPr>
          <a:xfrm>
            <a:off x="8821177" y="3845853"/>
            <a:ext cx="2362200" cy="1989297"/>
          </a:xfrm>
          <a:prstGeom prst="upArrow">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US"/>
          </a:p>
        </p:txBody>
      </p:sp>
      <p:pic>
        <p:nvPicPr>
          <p:cNvPr id="12" name="Picture 11">
            <a:extLst>
              <a:ext uri="{FF2B5EF4-FFF2-40B4-BE49-F238E27FC236}">
                <a16:creationId xmlns:a16="http://schemas.microsoft.com/office/drawing/2014/main" id="{200924E6-2128-72C7-D32A-21C099A8775C}"/>
              </a:ext>
            </a:extLst>
          </p:cNvPr>
          <p:cNvPicPr>
            <a:picLocks noChangeAspect="1"/>
          </p:cNvPicPr>
          <p:nvPr/>
        </p:nvPicPr>
        <p:blipFill>
          <a:blip r:embed="rId3"/>
          <a:stretch>
            <a:fillRect/>
          </a:stretch>
        </p:blipFill>
        <p:spPr>
          <a:xfrm>
            <a:off x="7944415" y="3132133"/>
            <a:ext cx="669499" cy="549106"/>
          </a:xfrm>
          <a:prstGeom prst="rect">
            <a:avLst/>
          </a:prstGeom>
          <a:ln w="28575">
            <a:solidFill>
              <a:schemeClr val="tx1"/>
            </a:solidFill>
          </a:ln>
        </p:spPr>
      </p:pic>
    </p:spTree>
    <p:extLst>
      <p:ext uri="{BB962C8B-B14F-4D97-AF65-F5344CB8AC3E}">
        <p14:creationId xmlns:p14="http://schemas.microsoft.com/office/powerpoint/2010/main" val="14388021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par>
                                <p:cTn id="8" presetID="10" presetClass="entr" presetSubtype="0" fill="hold" grpId="2"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fade">
                                      <p:cBhvr>
                                        <p:cTn id="16" dur="500"/>
                                        <p:tgtEl>
                                          <p:spTgt spid="2"/>
                                        </p:tgtEl>
                                      </p:cBhvr>
                                    </p:animEffect>
                                  </p:childTnLst>
                                </p:cTn>
                              </p:par>
                            </p:childTnLst>
                          </p:cTn>
                        </p:par>
                      </p:childTnLst>
                    </p:cTn>
                  </p:par>
                  <p:par>
                    <p:cTn id="17" fill="hold">
                      <p:stCondLst>
                        <p:cond delay="indefinite"/>
                      </p:stCondLst>
                      <p:childTnLst>
                        <p:par>
                          <p:cTn id="18" fill="hold">
                            <p:stCondLst>
                              <p:cond delay="0"/>
                            </p:stCondLst>
                            <p:childTnLst>
                              <p:par>
                                <p:cTn id="19" presetID="47"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750"/>
                                        <p:tgtEl>
                                          <p:spTgt spid="6"/>
                                        </p:tgtEl>
                                      </p:cBhvr>
                                    </p:animEffect>
                                    <p:anim calcmode="lin" valueType="num">
                                      <p:cBhvr>
                                        <p:cTn id="22" dur="1750" fill="hold"/>
                                        <p:tgtEl>
                                          <p:spTgt spid="6"/>
                                        </p:tgtEl>
                                        <p:attrNameLst>
                                          <p:attrName>ppt_x</p:attrName>
                                        </p:attrNameLst>
                                      </p:cBhvr>
                                      <p:tavLst>
                                        <p:tav tm="0">
                                          <p:val>
                                            <p:strVal val="#ppt_x"/>
                                          </p:val>
                                        </p:tav>
                                        <p:tav tm="100000">
                                          <p:val>
                                            <p:strVal val="#ppt_x"/>
                                          </p:val>
                                        </p:tav>
                                      </p:tavLst>
                                    </p:anim>
                                    <p:anim calcmode="lin" valueType="num">
                                      <p:cBhvr>
                                        <p:cTn id="23" dur="1750" fill="hold"/>
                                        <p:tgtEl>
                                          <p:spTgt spid="6"/>
                                        </p:tgtEl>
                                        <p:attrNameLst>
                                          <p:attrName>ppt_y</p:attrName>
                                        </p:attrNameLst>
                                      </p:cBhvr>
                                      <p:tavLst>
                                        <p:tav tm="0">
                                          <p:val>
                                            <p:strVal val="#ppt_y-.1"/>
                                          </p:val>
                                        </p:tav>
                                        <p:tav tm="100000">
                                          <p:val>
                                            <p:strVal val="#ppt_y"/>
                                          </p:val>
                                        </p:tav>
                                      </p:tavLst>
                                    </p:anim>
                                  </p:childTnLst>
                                </p:cTn>
                              </p:par>
                              <p:par>
                                <p:cTn id="24" presetID="47" presetClass="entr" presetSubtype="0" fill="hold" grpId="0" nodeType="withEffect">
                                  <p:stCondLst>
                                    <p:cond delay="0"/>
                                  </p:stCondLst>
                                  <p:childTnLst>
                                    <p:set>
                                      <p:cBhvr>
                                        <p:cTn id="25" dur="1" fill="hold">
                                          <p:stCondLst>
                                            <p:cond delay="0"/>
                                          </p:stCondLst>
                                        </p:cTn>
                                        <p:tgtEl>
                                          <p:spTgt spid="3"/>
                                        </p:tgtEl>
                                        <p:attrNameLst>
                                          <p:attrName>style.visibility</p:attrName>
                                        </p:attrNameLst>
                                      </p:cBhvr>
                                      <p:to>
                                        <p:strVal val="visible"/>
                                      </p:to>
                                    </p:set>
                                    <p:animEffect transition="in" filter="fade">
                                      <p:cBhvr>
                                        <p:cTn id="26" dur="1750"/>
                                        <p:tgtEl>
                                          <p:spTgt spid="3"/>
                                        </p:tgtEl>
                                      </p:cBhvr>
                                    </p:animEffect>
                                    <p:anim calcmode="lin" valueType="num">
                                      <p:cBhvr>
                                        <p:cTn id="27" dur="1750" fill="hold"/>
                                        <p:tgtEl>
                                          <p:spTgt spid="3"/>
                                        </p:tgtEl>
                                        <p:attrNameLst>
                                          <p:attrName>ppt_x</p:attrName>
                                        </p:attrNameLst>
                                      </p:cBhvr>
                                      <p:tavLst>
                                        <p:tav tm="0">
                                          <p:val>
                                            <p:strVal val="#ppt_x"/>
                                          </p:val>
                                        </p:tav>
                                        <p:tav tm="100000">
                                          <p:val>
                                            <p:strVal val="#ppt_x"/>
                                          </p:val>
                                        </p:tav>
                                      </p:tavLst>
                                    </p:anim>
                                    <p:anim calcmode="lin" valueType="num">
                                      <p:cBhvr>
                                        <p:cTn id="28" dur="1750" fill="hold"/>
                                        <p:tgtEl>
                                          <p:spTgt spid="3"/>
                                        </p:tgtEl>
                                        <p:attrNameLst>
                                          <p:attrName>ppt_y</p:attrName>
                                        </p:attrNameLst>
                                      </p:cBhvr>
                                      <p:tavLst>
                                        <p:tav tm="0">
                                          <p:val>
                                            <p:strVal val="#ppt_y-.1"/>
                                          </p:val>
                                        </p:tav>
                                        <p:tav tm="100000">
                                          <p:val>
                                            <p:strVal val="#ppt_y"/>
                                          </p:val>
                                        </p:tav>
                                      </p:tavLst>
                                    </p:anim>
                                  </p:childTnLst>
                                </p:cTn>
                              </p:par>
                              <p:par>
                                <p:cTn id="29" presetID="8" presetClass="emph" presetSubtype="0" fill="hold" grpId="0" nodeType="withEffect">
                                  <p:stCondLst>
                                    <p:cond delay="0"/>
                                  </p:stCondLst>
                                  <p:childTnLst>
                                    <p:animRot by="-240000">
                                      <p:cBhvr>
                                        <p:cTn id="30" dur="1750" fill="hold"/>
                                        <p:tgtEl>
                                          <p:spTgt spid="5"/>
                                        </p:tgtEl>
                                        <p:attrNameLst>
                                          <p:attrName>r</p:attrName>
                                        </p:attrNameLst>
                                      </p:cBhvr>
                                    </p:animRot>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4"/>
                                        </p:tgtEl>
                                        <p:attrNameLst>
                                          <p:attrName>style.visibility</p:attrName>
                                        </p:attrNameLst>
                                      </p:cBhvr>
                                      <p:to>
                                        <p:strVal val="visible"/>
                                      </p:to>
                                    </p:set>
                                    <p:animEffect transition="in" filter="fade">
                                      <p:cBhvr>
                                        <p:cTn id="35" dur="1750"/>
                                        <p:tgtEl>
                                          <p:spTgt spid="4"/>
                                        </p:tgtEl>
                                      </p:cBhvr>
                                    </p:animEffect>
                                    <p:anim calcmode="lin" valueType="num">
                                      <p:cBhvr>
                                        <p:cTn id="36" dur="1750" fill="hold"/>
                                        <p:tgtEl>
                                          <p:spTgt spid="4"/>
                                        </p:tgtEl>
                                        <p:attrNameLst>
                                          <p:attrName>ppt_x</p:attrName>
                                        </p:attrNameLst>
                                      </p:cBhvr>
                                      <p:tavLst>
                                        <p:tav tm="0">
                                          <p:val>
                                            <p:strVal val="#ppt_x"/>
                                          </p:val>
                                        </p:tav>
                                        <p:tav tm="100000">
                                          <p:val>
                                            <p:strVal val="#ppt_x"/>
                                          </p:val>
                                        </p:tav>
                                      </p:tavLst>
                                    </p:anim>
                                    <p:anim calcmode="lin" valueType="num">
                                      <p:cBhvr>
                                        <p:cTn id="37" dur="1750" fill="hold"/>
                                        <p:tgtEl>
                                          <p:spTgt spid="4"/>
                                        </p:tgtEl>
                                        <p:attrNameLst>
                                          <p:attrName>ppt_y</p:attrName>
                                        </p:attrNameLst>
                                      </p:cBhvr>
                                      <p:tavLst>
                                        <p:tav tm="0">
                                          <p:val>
                                            <p:strVal val="#ppt_y+.1"/>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1750"/>
                                        <p:tgtEl>
                                          <p:spTgt spid="11"/>
                                        </p:tgtEl>
                                      </p:cBhvr>
                                    </p:animEffect>
                                    <p:anim calcmode="lin" valueType="num">
                                      <p:cBhvr>
                                        <p:cTn id="41" dur="1750" fill="hold"/>
                                        <p:tgtEl>
                                          <p:spTgt spid="11"/>
                                        </p:tgtEl>
                                        <p:attrNameLst>
                                          <p:attrName>ppt_x</p:attrName>
                                        </p:attrNameLst>
                                      </p:cBhvr>
                                      <p:tavLst>
                                        <p:tav tm="0">
                                          <p:val>
                                            <p:strVal val="#ppt_x"/>
                                          </p:val>
                                        </p:tav>
                                        <p:tav tm="100000">
                                          <p:val>
                                            <p:strVal val="#ppt_x"/>
                                          </p:val>
                                        </p:tav>
                                      </p:tavLst>
                                    </p:anim>
                                    <p:anim calcmode="lin" valueType="num">
                                      <p:cBhvr>
                                        <p:cTn id="42" dur="1750" fill="hold"/>
                                        <p:tgtEl>
                                          <p:spTgt spid="11"/>
                                        </p:tgtEl>
                                        <p:attrNameLst>
                                          <p:attrName>ppt_y</p:attrName>
                                        </p:attrNameLst>
                                      </p:cBhvr>
                                      <p:tavLst>
                                        <p:tav tm="0">
                                          <p:val>
                                            <p:strVal val="#ppt_y+.1"/>
                                          </p:val>
                                        </p:tav>
                                        <p:tav tm="100000">
                                          <p:val>
                                            <p:strVal val="#ppt_y"/>
                                          </p:val>
                                        </p:tav>
                                      </p:tavLst>
                                    </p:anim>
                                  </p:childTnLst>
                                </p:cTn>
                              </p:par>
                              <p:par>
                                <p:cTn id="43" presetID="8" presetClass="emph" presetSubtype="0" fill="hold" grpId="1" nodeType="withEffect">
                                  <p:stCondLst>
                                    <p:cond delay="0"/>
                                  </p:stCondLst>
                                  <p:childTnLst>
                                    <p:animRot by="-240000">
                                      <p:cBhvr>
                                        <p:cTn id="44" dur="1750" fill="hold"/>
                                        <p:tgtEl>
                                          <p:spTgt spid="5"/>
                                        </p:tgtEl>
                                        <p:attrNameLst>
                                          <p:attrName>r</p:attrName>
                                        </p:attrNameLst>
                                      </p:cBhvr>
                                    </p:animRo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3" grpId="0"/>
      <p:bldP spid="2" grpId="0" animBg="1"/>
      <p:bldP spid="3" grpId="0"/>
      <p:bldP spid="4" grpId="0"/>
      <p:bldP spid="5" grpId="0" animBg="1"/>
      <p:bldP spid="5" grpId="1" animBg="1"/>
      <p:bldP spid="5" grpId="2" animBg="1"/>
      <p:bldP spid="6" grpId="0" animBg="1"/>
      <p:bldP spid="1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E3043-B4A8-8DA4-5BEE-DC9249CA2396}"/>
              </a:ext>
            </a:extLst>
          </p:cNvPr>
          <p:cNvSpPr>
            <a:spLocks noGrp="1"/>
          </p:cNvSpPr>
          <p:nvPr>
            <p:ph type="title"/>
          </p:nvPr>
        </p:nvSpPr>
        <p:spPr/>
        <p:txBody>
          <a:bodyPr/>
          <a:lstStyle/>
          <a:p>
            <a:r>
              <a:rPr lang="en-US">
                <a:latin typeface="Arial Black"/>
                <a:cs typeface="Arial"/>
              </a:rPr>
              <a:t>Pain Point</a:t>
            </a:r>
            <a:endParaRPr lang="en-US"/>
          </a:p>
        </p:txBody>
      </p:sp>
      <p:sp>
        <p:nvSpPr>
          <p:cNvPr id="5" name="Content Placeholder 4">
            <a:extLst>
              <a:ext uri="{FF2B5EF4-FFF2-40B4-BE49-F238E27FC236}">
                <a16:creationId xmlns:a16="http://schemas.microsoft.com/office/drawing/2014/main" id="{A8ADC309-BDA1-B72D-7986-0888DCF1F3E9}"/>
              </a:ext>
            </a:extLst>
          </p:cNvPr>
          <p:cNvSpPr>
            <a:spLocks noGrp="1"/>
          </p:cNvSpPr>
          <p:nvPr>
            <p:ph idx="1"/>
          </p:nvPr>
        </p:nvSpPr>
        <p:spPr>
          <a:xfrm>
            <a:off x="609600" y="1346201"/>
            <a:ext cx="10972800" cy="1232408"/>
          </a:xfrm>
        </p:spPr>
        <p:txBody>
          <a:bodyPr vert="horz" lIns="0" tIns="0" rIns="0" bIns="0" rtlCol="0" anchor="t">
            <a:noAutofit/>
          </a:bodyPr>
          <a:lstStyle/>
          <a:p>
            <a:pPr marL="0" indent="0" algn="ctr">
              <a:buNone/>
            </a:pPr>
            <a:r>
              <a:rPr lang="en-US" sz="2400">
                <a:latin typeface="Aptos Black" panose="020F0502020204030204" pitchFamily="34" charset="0"/>
              </a:rPr>
              <a:t>“…the US power sector is expected to require sustained capital investments over the next two to three decades. Investments could total as much as </a:t>
            </a:r>
          </a:p>
          <a:p>
            <a:pPr marL="0" indent="0" algn="ctr">
              <a:buNone/>
            </a:pPr>
            <a:r>
              <a:rPr lang="en-US" sz="2400">
                <a:latin typeface="Aptos Black" panose="020F0502020204030204" pitchFamily="34" charset="0"/>
              </a:rPr>
              <a:t>$1.4 trillion from 2025 to 2030…”</a:t>
            </a:r>
          </a:p>
        </p:txBody>
      </p:sp>
      <p:sp>
        <p:nvSpPr>
          <p:cNvPr id="3" name="Footer Placeholder 2">
            <a:extLst>
              <a:ext uri="{FF2B5EF4-FFF2-40B4-BE49-F238E27FC236}">
                <a16:creationId xmlns:a16="http://schemas.microsoft.com/office/drawing/2014/main" id="{B26D0BB9-591A-2092-23E0-657EBE6B59A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60A32DB5-0325-0A48-3ECB-E8236ACF0CA3}"/>
              </a:ext>
            </a:extLst>
          </p:cNvPr>
          <p:cNvSpPr>
            <a:spLocks noGrp="1"/>
          </p:cNvSpPr>
          <p:nvPr>
            <p:ph type="sldNum" sz="quarter" idx="12"/>
          </p:nvPr>
        </p:nvSpPr>
        <p:spPr/>
        <p:txBody>
          <a:bodyPr/>
          <a:lstStyle/>
          <a:p>
            <a:fld id="{F8F6B9CD-BE6B-498B-93B3-0FAD7ADE75E3}" type="slidenum">
              <a:rPr lang="en-US" smtClean="0"/>
              <a:t>4</a:t>
            </a:fld>
            <a:endParaRPr lang="en-US"/>
          </a:p>
        </p:txBody>
      </p:sp>
      <p:sp>
        <p:nvSpPr>
          <p:cNvPr id="8" name="Rectangle: Rounded Corners 7">
            <a:extLst>
              <a:ext uri="{FF2B5EF4-FFF2-40B4-BE49-F238E27FC236}">
                <a16:creationId xmlns:a16="http://schemas.microsoft.com/office/drawing/2014/main" id="{CFBD705B-CDFC-82C8-0551-AF9CFA197FFE}"/>
              </a:ext>
            </a:extLst>
          </p:cNvPr>
          <p:cNvSpPr/>
          <p:nvPr/>
        </p:nvSpPr>
        <p:spPr>
          <a:xfrm>
            <a:off x="4517899" y="3139914"/>
            <a:ext cx="3156202" cy="275685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t>Why We Need It?</a:t>
            </a:r>
          </a:p>
          <a:p>
            <a:pPr algn="ctr"/>
            <a:endParaRPr lang="en-US"/>
          </a:p>
          <a:p>
            <a:pPr marL="285750" indent="-285750">
              <a:buClr>
                <a:schemeClr val="bg1"/>
              </a:buClr>
              <a:buFont typeface="Aptos" panose="020B0004020202020204" pitchFamily="34" charset="0"/>
              <a:buChar char="→"/>
            </a:pPr>
            <a:r>
              <a:rPr lang="en-US"/>
              <a:t>AI Infrastructure</a:t>
            </a:r>
          </a:p>
          <a:p>
            <a:pPr marL="285750" indent="-285750">
              <a:buClr>
                <a:schemeClr val="bg1"/>
              </a:buClr>
              <a:buFont typeface="Aptos" panose="020B0004020202020204" pitchFamily="34" charset="0"/>
              <a:buChar char="→"/>
            </a:pPr>
            <a:r>
              <a:rPr lang="en-US"/>
              <a:t>Climate Effects</a:t>
            </a:r>
          </a:p>
          <a:p>
            <a:pPr marL="285750" indent="-285750">
              <a:buClr>
                <a:schemeClr val="bg1"/>
              </a:buClr>
              <a:buFont typeface="Aptos" panose="020B0004020202020204" pitchFamily="34" charset="0"/>
              <a:buChar char="→"/>
            </a:pPr>
            <a:r>
              <a:rPr lang="en-US"/>
              <a:t>Politics</a:t>
            </a:r>
          </a:p>
          <a:p>
            <a:pPr marL="285750" indent="-285750">
              <a:buClr>
                <a:schemeClr val="bg1"/>
              </a:buClr>
              <a:buFont typeface="Aptos" panose="020B0004020202020204" pitchFamily="34" charset="0"/>
              <a:buChar char="→"/>
            </a:pPr>
            <a:endParaRPr lang="en-US"/>
          </a:p>
        </p:txBody>
      </p:sp>
      <p:sp>
        <p:nvSpPr>
          <p:cNvPr id="10" name="Rectangle: Rounded Corners 9">
            <a:extLst>
              <a:ext uri="{FF2B5EF4-FFF2-40B4-BE49-F238E27FC236}">
                <a16:creationId xmlns:a16="http://schemas.microsoft.com/office/drawing/2014/main" id="{7B290406-E2CD-0732-94A5-FE3350B2664C}"/>
              </a:ext>
            </a:extLst>
          </p:cNvPr>
          <p:cNvSpPr/>
          <p:nvPr/>
        </p:nvSpPr>
        <p:spPr>
          <a:xfrm>
            <a:off x="381763" y="3139914"/>
            <a:ext cx="3156202" cy="275685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lang="en-US"/>
              <a:t>What We Need?</a:t>
            </a:r>
          </a:p>
          <a:p>
            <a:pPr algn="ctr"/>
            <a:endParaRPr lang="en-US"/>
          </a:p>
          <a:p>
            <a:pPr marL="285750" indent="-285750">
              <a:buClr>
                <a:schemeClr val="bg1"/>
              </a:buClr>
              <a:buFont typeface="Aptos" panose="020B0004020202020204" pitchFamily="34" charset="0"/>
              <a:buChar char="→"/>
            </a:pPr>
            <a:r>
              <a:rPr lang="en-US"/>
              <a:t>Efficient Energy Usage</a:t>
            </a:r>
          </a:p>
          <a:p>
            <a:pPr marL="285750" indent="-285750">
              <a:buClr>
                <a:schemeClr val="bg1"/>
              </a:buClr>
              <a:buFont typeface="Aptos" panose="020B0004020202020204" pitchFamily="34" charset="0"/>
              <a:buChar char="→"/>
            </a:pPr>
            <a:r>
              <a:rPr lang="en-US"/>
              <a:t>Resource Independence</a:t>
            </a:r>
          </a:p>
          <a:p>
            <a:pPr marL="285750" indent="-285750">
              <a:buClr>
                <a:schemeClr val="bg1"/>
              </a:buClr>
              <a:buFont typeface="Aptos" panose="020B0004020202020204" pitchFamily="34" charset="0"/>
              <a:buChar char="→"/>
            </a:pPr>
            <a:r>
              <a:rPr lang="en-US"/>
              <a:t>Cost Reduction</a:t>
            </a:r>
          </a:p>
          <a:p>
            <a:pPr marL="285750" indent="-285750">
              <a:buClr>
                <a:schemeClr val="bg1"/>
              </a:buClr>
              <a:buFont typeface="Aptos" panose="020B0004020202020204" pitchFamily="34" charset="0"/>
              <a:buChar char="→"/>
            </a:pPr>
            <a:endParaRPr lang="en-US"/>
          </a:p>
        </p:txBody>
      </p:sp>
      <p:sp>
        <p:nvSpPr>
          <p:cNvPr id="12" name="Rectangle: Rounded Corners 11">
            <a:extLst>
              <a:ext uri="{FF2B5EF4-FFF2-40B4-BE49-F238E27FC236}">
                <a16:creationId xmlns:a16="http://schemas.microsoft.com/office/drawing/2014/main" id="{F0EBADC1-BD09-98EA-CFA1-52196F81CBD0}"/>
              </a:ext>
            </a:extLst>
          </p:cNvPr>
          <p:cNvSpPr/>
          <p:nvPr/>
        </p:nvSpPr>
        <p:spPr>
          <a:xfrm>
            <a:off x="8654035" y="3139914"/>
            <a:ext cx="3156202" cy="2756850"/>
          </a:xfrm>
          <a:prstGeom prst="roundRec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en-US"/>
              <a:t>Consequences</a:t>
            </a:r>
          </a:p>
          <a:p>
            <a:pPr algn="ctr"/>
            <a:endParaRPr lang="en-US"/>
          </a:p>
          <a:p>
            <a:pPr marL="285750" indent="-285750">
              <a:buClr>
                <a:schemeClr val="bg1"/>
              </a:buClr>
              <a:buFont typeface="Aptos" panose="020B0004020202020204" pitchFamily="34" charset="0"/>
              <a:buChar char="→"/>
            </a:pPr>
            <a:r>
              <a:rPr lang="en-US"/>
              <a:t>Grid Overload</a:t>
            </a:r>
          </a:p>
          <a:p>
            <a:pPr marL="285750" indent="-285750">
              <a:buClr>
                <a:schemeClr val="bg1"/>
              </a:buClr>
              <a:buFont typeface="Aptos" panose="020B0004020202020204" pitchFamily="34" charset="0"/>
              <a:buChar char="→"/>
            </a:pPr>
            <a:r>
              <a:rPr lang="en-US"/>
              <a:t>Complex Solutions</a:t>
            </a:r>
          </a:p>
          <a:p>
            <a:pPr marL="285750" indent="-285750">
              <a:buClr>
                <a:schemeClr val="bg1"/>
              </a:buClr>
              <a:buFont typeface="Aptos" panose="020B0004020202020204" pitchFamily="34" charset="0"/>
              <a:buChar char="→"/>
            </a:pPr>
            <a:r>
              <a:rPr lang="en-US"/>
              <a:t>Funding Pressure</a:t>
            </a:r>
          </a:p>
          <a:p>
            <a:pPr algn="ctr"/>
            <a:endParaRPr lang="en-US"/>
          </a:p>
        </p:txBody>
      </p:sp>
      <p:cxnSp>
        <p:nvCxnSpPr>
          <p:cNvPr id="14" name="Straight Arrow Connector 13">
            <a:extLst>
              <a:ext uri="{FF2B5EF4-FFF2-40B4-BE49-F238E27FC236}">
                <a16:creationId xmlns:a16="http://schemas.microsoft.com/office/drawing/2014/main" id="{136723FF-1A95-C5EB-7274-34475C2F21B3}"/>
              </a:ext>
            </a:extLst>
          </p:cNvPr>
          <p:cNvCxnSpPr>
            <a:stCxn id="10" idx="3"/>
            <a:endCxn id="8" idx="1"/>
          </p:cNvCxnSpPr>
          <p:nvPr/>
        </p:nvCxnSpPr>
        <p:spPr>
          <a:xfrm>
            <a:off x="3537965"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7B320C94-5E01-B10E-BC97-517CDF7F5871}"/>
              </a:ext>
            </a:extLst>
          </p:cNvPr>
          <p:cNvCxnSpPr>
            <a:stCxn id="8" idx="3"/>
            <a:endCxn id="12" idx="1"/>
          </p:cNvCxnSpPr>
          <p:nvPr/>
        </p:nvCxnSpPr>
        <p:spPr>
          <a:xfrm>
            <a:off x="7674101"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810030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anim calcmode="lin" valueType="num">
                                      <p:cBhvr>
                                        <p:cTn id="8" dur="1000" fill="hold"/>
                                        <p:tgtEl>
                                          <p:spTgt spid="10"/>
                                        </p:tgtEl>
                                        <p:attrNameLst>
                                          <p:attrName>ppt_x</p:attrName>
                                        </p:attrNameLst>
                                      </p:cBhvr>
                                      <p:tavLst>
                                        <p:tav tm="0">
                                          <p:val>
                                            <p:strVal val="#ppt_x"/>
                                          </p:val>
                                        </p:tav>
                                        <p:tav tm="100000">
                                          <p:val>
                                            <p:strVal val="#ppt_x"/>
                                          </p:val>
                                        </p:tav>
                                      </p:tavLst>
                                    </p:anim>
                                    <p:anim calcmode="lin" valueType="num">
                                      <p:cBhvr>
                                        <p:cTn id="9"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1000"/>
                                        <p:tgtEl>
                                          <p:spTgt spid="14"/>
                                        </p:tgtEl>
                                      </p:cBhvr>
                                    </p:animEffect>
                                    <p:anim calcmode="lin" valueType="num">
                                      <p:cBhvr>
                                        <p:cTn id="15" dur="1000" fill="hold"/>
                                        <p:tgtEl>
                                          <p:spTgt spid="14"/>
                                        </p:tgtEl>
                                        <p:attrNameLst>
                                          <p:attrName>ppt_x</p:attrName>
                                        </p:attrNameLst>
                                      </p:cBhvr>
                                      <p:tavLst>
                                        <p:tav tm="0">
                                          <p:val>
                                            <p:strVal val="#ppt_x"/>
                                          </p:val>
                                        </p:tav>
                                        <p:tav tm="100000">
                                          <p:val>
                                            <p:strVal val="#ppt_x"/>
                                          </p:val>
                                        </p:tav>
                                      </p:tavLst>
                                    </p:anim>
                                    <p:anim calcmode="lin" valueType="num">
                                      <p:cBhvr>
                                        <p:cTn id="16" dur="1000" fill="hold"/>
                                        <p:tgtEl>
                                          <p:spTgt spid="14"/>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1000"/>
                                        <p:tgtEl>
                                          <p:spTgt spid="8"/>
                                        </p:tgtEl>
                                      </p:cBhvr>
                                    </p:animEffect>
                                    <p:anim calcmode="lin" valueType="num">
                                      <p:cBhvr>
                                        <p:cTn id="20" dur="1000" fill="hold"/>
                                        <p:tgtEl>
                                          <p:spTgt spid="8"/>
                                        </p:tgtEl>
                                        <p:attrNameLst>
                                          <p:attrName>ppt_x</p:attrName>
                                        </p:attrNameLst>
                                      </p:cBhvr>
                                      <p:tavLst>
                                        <p:tav tm="0">
                                          <p:val>
                                            <p:strVal val="#ppt_x"/>
                                          </p:val>
                                        </p:tav>
                                        <p:tav tm="100000">
                                          <p:val>
                                            <p:strVal val="#ppt_x"/>
                                          </p:val>
                                        </p:tav>
                                      </p:tavLst>
                                    </p:anim>
                                    <p:anim calcmode="lin" valueType="num">
                                      <p:cBhvr>
                                        <p:cTn id="2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nodeType="click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1000"/>
                                        <p:tgtEl>
                                          <p:spTgt spid="16"/>
                                        </p:tgtEl>
                                      </p:cBhvr>
                                    </p:animEffect>
                                    <p:anim calcmode="lin" valueType="num">
                                      <p:cBhvr>
                                        <p:cTn id="27" dur="1000" fill="hold"/>
                                        <p:tgtEl>
                                          <p:spTgt spid="16"/>
                                        </p:tgtEl>
                                        <p:attrNameLst>
                                          <p:attrName>ppt_x</p:attrName>
                                        </p:attrNameLst>
                                      </p:cBhvr>
                                      <p:tavLst>
                                        <p:tav tm="0">
                                          <p:val>
                                            <p:strVal val="#ppt_x"/>
                                          </p:val>
                                        </p:tav>
                                        <p:tav tm="100000">
                                          <p:val>
                                            <p:strVal val="#ppt_x"/>
                                          </p:val>
                                        </p:tav>
                                      </p:tavLst>
                                    </p:anim>
                                    <p:anim calcmode="lin" valueType="num">
                                      <p:cBhvr>
                                        <p:cTn id="28" dur="1000" fill="hold"/>
                                        <p:tgtEl>
                                          <p:spTgt spid="16"/>
                                        </p:tgtEl>
                                        <p:attrNameLst>
                                          <p:attrName>ppt_y</p:attrName>
                                        </p:attrNameLst>
                                      </p:cBhvr>
                                      <p:tavLst>
                                        <p:tav tm="0">
                                          <p:val>
                                            <p:strVal val="#ppt_y+.1"/>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1000"/>
                                        <p:tgtEl>
                                          <p:spTgt spid="12"/>
                                        </p:tgtEl>
                                      </p:cBhvr>
                                    </p:animEffect>
                                    <p:anim calcmode="lin" valueType="num">
                                      <p:cBhvr>
                                        <p:cTn id="32" dur="1000" fill="hold"/>
                                        <p:tgtEl>
                                          <p:spTgt spid="12"/>
                                        </p:tgtEl>
                                        <p:attrNameLst>
                                          <p:attrName>ppt_x</p:attrName>
                                        </p:attrNameLst>
                                      </p:cBhvr>
                                      <p:tavLst>
                                        <p:tav tm="0">
                                          <p:val>
                                            <p:strVal val="#ppt_x"/>
                                          </p:val>
                                        </p:tav>
                                        <p:tav tm="100000">
                                          <p:val>
                                            <p:strVal val="#ppt_x"/>
                                          </p:val>
                                        </p:tav>
                                      </p:tavLst>
                                    </p:anim>
                                    <p:anim calcmode="lin" valueType="num">
                                      <p:cBhvr>
                                        <p:cTn id="33"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B9E7E4-9329-7F3E-2693-3AA94D672204}"/>
            </a:ext>
          </a:extLst>
        </p:cNvPr>
        <p:cNvGrpSpPr/>
        <p:nvPr/>
      </p:nvGrpSpPr>
      <p:grpSpPr>
        <a:xfrm>
          <a:off x="0" y="0"/>
          <a:ext cx="0" cy="0"/>
          <a:chOff x="0" y="0"/>
          <a:chExt cx="0" cy="0"/>
        </a:xfrm>
      </p:grpSpPr>
      <p:sp>
        <p:nvSpPr>
          <p:cNvPr id="27" name="Freeform: Shape 26">
            <a:extLst>
              <a:ext uri="{FF2B5EF4-FFF2-40B4-BE49-F238E27FC236}">
                <a16:creationId xmlns:a16="http://schemas.microsoft.com/office/drawing/2014/main" id="{76281A60-410A-CACA-6171-BF59B1D16396}"/>
              </a:ext>
            </a:extLst>
          </p:cNvPr>
          <p:cNvSpPr/>
          <p:nvPr/>
        </p:nvSpPr>
        <p:spPr>
          <a:xfrm>
            <a:off x="1454669" y="2771141"/>
            <a:ext cx="10045849" cy="585974"/>
          </a:xfrm>
          <a:custGeom>
            <a:avLst/>
            <a:gdLst>
              <a:gd name="csX0" fmla="*/ 0 w 10045849"/>
              <a:gd name="csY0" fmla="*/ 0 h 585974"/>
              <a:gd name="csX1" fmla="*/ 10045849 w 10045849"/>
              <a:gd name="csY1" fmla="*/ 0 h 585974"/>
              <a:gd name="csX2" fmla="*/ 10045849 w 10045849"/>
              <a:gd name="csY2" fmla="*/ 585974 h 585974"/>
              <a:gd name="csX3" fmla="*/ 0 w 10045849"/>
              <a:gd name="csY3" fmla="*/ 585974 h 585974"/>
              <a:gd name="csX4" fmla="*/ 0 w 10045849"/>
              <a:gd name="csY4" fmla="*/ 0 h 585974"/>
            </a:gdLst>
            <a:ahLst/>
            <a:cxnLst>
              <a:cxn ang="0">
                <a:pos x="csX0" y="csY0"/>
              </a:cxn>
              <a:cxn ang="0">
                <a:pos x="csX1" y="csY1"/>
              </a:cxn>
              <a:cxn ang="0">
                <a:pos x="csX2" y="csY2"/>
              </a:cxn>
              <a:cxn ang="0">
                <a:pos x="csX3" y="csY3"/>
              </a:cxn>
              <a:cxn ang="0">
                <a:pos x="csX4" y="csY4"/>
              </a:cxn>
            </a:cxnLst>
            <a:rect l="l" t="t" r="r" b="b"/>
            <a:pathLst>
              <a:path w="10045849" h="585974">
                <a:moveTo>
                  <a:pt x="0" y="0"/>
                </a:moveTo>
                <a:lnTo>
                  <a:pt x="10045849" y="0"/>
                </a:lnTo>
                <a:lnTo>
                  <a:pt x="10045849" y="585974"/>
                </a:lnTo>
                <a:lnTo>
                  <a:pt x="0" y="585974"/>
                </a:lnTo>
                <a:lnTo>
                  <a:pt x="0" y="0"/>
                </a:ln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rial" panose="020B0604020202020204" pitchFamily="34" charset="0"/>
                <a:cs typeface="Arial" panose="020B0604020202020204" pitchFamily="34" charset="0"/>
              </a:rPr>
              <a:t>Residential Solar and Battery Programs </a:t>
            </a:r>
          </a:p>
        </p:txBody>
      </p:sp>
      <p:sp>
        <p:nvSpPr>
          <p:cNvPr id="33" name="Freeform: Shape 32">
            <a:extLst>
              <a:ext uri="{FF2B5EF4-FFF2-40B4-BE49-F238E27FC236}">
                <a16:creationId xmlns:a16="http://schemas.microsoft.com/office/drawing/2014/main" id="{DBF58CDC-55FB-3815-FF5E-A138391E3115}"/>
              </a:ext>
            </a:extLst>
          </p:cNvPr>
          <p:cNvSpPr/>
          <p:nvPr/>
        </p:nvSpPr>
        <p:spPr>
          <a:xfrm>
            <a:off x="1057087" y="5432612"/>
            <a:ext cx="10465742" cy="585974"/>
          </a:xfrm>
          <a:custGeom>
            <a:avLst/>
            <a:gdLst>
              <a:gd name="csX0" fmla="*/ 0 w 10465742"/>
              <a:gd name="csY0" fmla="*/ 0 h 585974"/>
              <a:gd name="csX1" fmla="*/ 10465742 w 10465742"/>
              <a:gd name="csY1" fmla="*/ 0 h 585974"/>
              <a:gd name="csX2" fmla="*/ 10465742 w 10465742"/>
              <a:gd name="csY2" fmla="*/ 585974 h 585974"/>
              <a:gd name="csX3" fmla="*/ 0 w 10465742"/>
              <a:gd name="csY3" fmla="*/ 585974 h 585974"/>
              <a:gd name="csX4" fmla="*/ 0 w 10465742"/>
              <a:gd name="csY4" fmla="*/ 0 h 585974"/>
            </a:gdLst>
            <a:ahLst/>
            <a:cxnLst>
              <a:cxn ang="0">
                <a:pos x="csX0" y="csY0"/>
              </a:cxn>
              <a:cxn ang="0">
                <a:pos x="csX1" y="csY1"/>
              </a:cxn>
              <a:cxn ang="0">
                <a:pos x="csX2" y="csY2"/>
              </a:cxn>
              <a:cxn ang="0">
                <a:pos x="csX3" y="csY3"/>
              </a:cxn>
              <a:cxn ang="0">
                <a:pos x="csX4" y="csY4"/>
              </a:cxn>
            </a:cxnLst>
            <a:rect l="l" t="t" r="r" b="b"/>
            <a:pathLst>
              <a:path w="10465742" h="585974">
                <a:moveTo>
                  <a:pt x="0" y="0"/>
                </a:moveTo>
                <a:lnTo>
                  <a:pt x="10465742" y="0"/>
                </a:lnTo>
                <a:lnTo>
                  <a:pt x="10465742" y="585974"/>
                </a:lnTo>
                <a:lnTo>
                  <a:pt x="0" y="585974"/>
                </a:lnTo>
                <a:lnTo>
                  <a:pt x="0" y="0"/>
                </a:ln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rial" panose="020B0604020202020204" pitchFamily="34" charset="0"/>
                <a:cs typeface="Arial" panose="020B0604020202020204" pitchFamily="34" charset="0"/>
              </a:rPr>
              <a:t>Small scale 1 to 3-year pilot programs could show what long-term implementation could look like </a:t>
            </a:r>
          </a:p>
        </p:txBody>
      </p:sp>
      <p:sp>
        <p:nvSpPr>
          <p:cNvPr id="9" name="Title 8">
            <a:extLst>
              <a:ext uri="{FF2B5EF4-FFF2-40B4-BE49-F238E27FC236}">
                <a16:creationId xmlns:a16="http://schemas.microsoft.com/office/drawing/2014/main" id="{59B54F6E-0101-26A9-C9A2-2278A39AFE0B}"/>
              </a:ext>
            </a:extLst>
          </p:cNvPr>
          <p:cNvSpPr>
            <a:spLocks noGrp="1"/>
          </p:cNvSpPr>
          <p:nvPr>
            <p:ph type="title"/>
          </p:nvPr>
        </p:nvSpPr>
        <p:spPr/>
        <p:txBody>
          <a:bodyPr/>
          <a:lstStyle/>
          <a:p>
            <a:r>
              <a:rPr lang="en-US">
                <a:latin typeface="Arial Black"/>
                <a:cs typeface="Arial"/>
              </a:rPr>
              <a:t>Key Goals</a:t>
            </a:r>
          </a:p>
        </p:txBody>
      </p:sp>
      <p:sp>
        <p:nvSpPr>
          <p:cNvPr id="24" name="Block Arc 23">
            <a:extLst>
              <a:ext uri="{FF2B5EF4-FFF2-40B4-BE49-F238E27FC236}">
                <a16:creationId xmlns:a16="http://schemas.microsoft.com/office/drawing/2014/main" id="{2BBB9282-583E-F3E7-594B-7BA758CDFD8F}"/>
              </a:ext>
            </a:extLst>
          </p:cNvPr>
          <p:cNvSpPr/>
          <p:nvPr/>
        </p:nvSpPr>
        <p:spPr>
          <a:xfrm>
            <a:off x="-4725016" y="798787"/>
            <a:ext cx="6309187" cy="6309187"/>
          </a:xfrm>
          <a:prstGeom prst="blockArc">
            <a:avLst>
              <a:gd name="adj1" fmla="val 18900000"/>
              <a:gd name="adj2" fmla="val 2700000"/>
              <a:gd name="adj3" fmla="val 342"/>
            </a:avLst>
          </a:prstGeom>
        </p:spPr>
        <p:style>
          <a:lnRef idx="2">
            <a:schemeClr val="accent1">
              <a:shade val="60000"/>
              <a:hueOff val="0"/>
              <a:satOff val="0"/>
              <a:lumOff val="0"/>
              <a:alphaOff val="0"/>
            </a:schemeClr>
          </a:lnRef>
          <a:fillRef idx="0">
            <a:schemeClr val="accent1">
              <a:hueOff val="0"/>
              <a:satOff val="0"/>
              <a:lumOff val="0"/>
              <a:alphaOff val="0"/>
            </a:schemeClr>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US"/>
          </a:p>
        </p:txBody>
      </p:sp>
      <p:sp>
        <p:nvSpPr>
          <p:cNvPr id="25" name="Freeform: Shape 24">
            <a:extLst>
              <a:ext uri="{FF2B5EF4-FFF2-40B4-BE49-F238E27FC236}">
                <a16:creationId xmlns:a16="http://schemas.microsoft.com/office/drawing/2014/main" id="{E2BE97D6-8E56-310F-93BF-D8D11D90C25D}"/>
              </a:ext>
            </a:extLst>
          </p:cNvPr>
          <p:cNvSpPr/>
          <p:nvPr/>
        </p:nvSpPr>
        <p:spPr>
          <a:xfrm>
            <a:off x="1035405" y="1888176"/>
            <a:ext cx="10465742" cy="585974"/>
          </a:xfrm>
          <a:custGeom>
            <a:avLst/>
            <a:gdLst>
              <a:gd name="csX0" fmla="*/ 0 w 10465742"/>
              <a:gd name="csY0" fmla="*/ 0 h 585974"/>
              <a:gd name="csX1" fmla="*/ 10465742 w 10465742"/>
              <a:gd name="csY1" fmla="*/ 0 h 585974"/>
              <a:gd name="csX2" fmla="*/ 10465742 w 10465742"/>
              <a:gd name="csY2" fmla="*/ 585974 h 585974"/>
              <a:gd name="csX3" fmla="*/ 0 w 10465742"/>
              <a:gd name="csY3" fmla="*/ 585974 h 585974"/>
              <a:gd name="csX4" fmla="*/ 0 w 10465742"/>
              <a:gd name="csY4" fmla="*/ 0 h 585974"/>
            </a:gdLst>
            <a:ahLst/>
            <a:cxnLst>
              <a:cxn ang="0">
                <a:pos x="csX0" y="csY0"/>
              </a:cxn>
              <a:cxn ang="0">
                <a:pos x="csX1" y="csY1"/>
              </a:cxn>
              <a:cxn ang="0">
                <a:pos x="csX2" y="csY2"/>
              </a:cxn>
              <a:cxn ang="0">
                <a:pos x="csX3" y="csY3"/>
              </a:cxn>
              <a:cxn ang="0">
                <a:pos x="csX4" y="csY4"/>
              </a:cxn>
            </a:cxnLst>
            <a:rect l="l" t="t" r="r" b="b"/>
            <a:pathLst>
              <a:path w="10465742" h="585974">
                <a:moveTo>
                  <a:pt x="0" y="0"/>
                </a:moveTo>
                <a:lnTo>
                  <a:pt x="10465742" y="0"/>
                </a:lnTo>
                <a:lnTo>
                  <a:pt x="10465742" y="585974"/>
                </a:lnTo>
                <a:lnTo>
                  <a:pt x="0" y="585974"/>
                </a:lnTo>
                <a:lnTo>
                  <a:pt x="0" y="0"/>
                </a:ln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rial" panose="020B0604020202020204" pitchFamily="34" charset="0"/>
                <a:cs typeface="Arial" panose="020B0604020202020204" pitchFamily="34" charset="0"/>
              </a:rPr>
              <a:t>Utilities – focus area</a:t>
            </a:r>
          </a:p>
        </p:txBody>
      </p:sp>
      <p:sp>
        <p:nvSpPr>
          <p:cNvPr id="26" name="Oval 25">
            <a:extLst>
              <a:ext uri="{FF2B5EF4-FFF2-40B4-BE49-F238E27FC236}">
                <a16:creationId xmlns:a16="http://schemas.microsoft.com/office/drawing/2014/main" id="{8591E176-2D5C-3D50-824B-27F1B377A499}"/>
              </a:ext>
            </a:extLst>
          </p:cNvPr>
          <p:cNvSpPr/>
          <p:nvPr/>
        </p:nvSpPr>
        <p:spPr>
          <a:xfrm>
            <a:off x="669171" y="5354800"/>
            <a:ext cx="732468" cy="732468"/>
          </a:xfrm>
          <a:prstGeom prst="ellipse">
            <a:avLst/>
          </a:prstGeom>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28" name="Oval 27">
            <a:extLst>
              <a:ext uri="{FF2B5EF4-FFF2-40B4-BE49-F238E27FC236}">
                <a16:creationId xmlns:a16="http://schemas.microsoft.com/office/drawing/2014/main" id="{B43235F0-4C25-9D4F-5222-B46C825C328A}"/>
              </a:ext>
            </a:extLst>
          </p:cNvPr>
          <p:cNvSpPr/>
          <p:nvPr/>
        </p:nvSpPr>
        <p:spPr>
          <a:xfrm>
            <a:off x="669171" y="1814929"/>
            <a:ext cx="732468" cy="732468"/>
          </a:xfrm>
          <a:prstGeom prst="ellipse">
            <a:avLst/>
          </a:prstGeom>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29" name="Freeform: Shape 28">
            <a:extLst>
              <a:ext uri="{FF2B5EF4-FFF2-40B4-BE49-F238E27FC236}">
                <a16:creationId xmlns:a16="http://schemas.microsoft.com/office/drawing/2014/main" id="{5CF95732-D7FE-789F-D317-7B00FCDE6387}"/>
              </a:ext>
            </a:extLst>
          </p:cNvPr>
          <p:cNvSpPr/>
          <p:nvPr/>
        </p:nvSpPr>
        <p:spPr>
          <a:xfrm>
            <a:off x="1584171" y="3660394"/>
            <a:ext cx="9916976" cy="585974"/>
          </a:xfrm>
          <a:custGeom>
            <a:avLst/>
            <a:gdLst>
              <a:gd name="csX0" fmla="*/ 0 w 9916976"/>
              <a:gd name="csY0" fmla="*/ 0 h 585974"/>
              <a:gd name="csX1" fmla="*/ 9916976 w 9916976"/>
              <a:gd name="csY1" fmla="*/ 0 h 585974"/>
              <a:gd name="csX2" fmla="*/ 9916976 w 9916976"/>
              <a:gd name="csY2" fmla="*/ 585974 h 585974"/>
              <a:gd name="csX3" fmla="*/ 0 w 9916976"/>
              <a:gd name="csY3" fmla="*/ 585974 h 585974"/>
              <a:gd name="csX4" fmla="*/ 0 w 9916976"/>
              <a:gd name="csY4" fmla="*/ 0 h 585974"/>
            </a:gdLst>
            <a:ahLst/>
            <a:cxnLst>
              <a:cxn ang="0">
                <a:pos x="csX0" y="csY0"/>
              </a:cxn>
              <a:cxn ang="0">
                <a:pos x="csX1" y="csY1"/>
              </a:cxn>
              <a:cxn ang="0">
                <a:pos x="csX2" y="csY2"/>
              </a:cxn>
              <a:cxn ang="0">
                <a:pos x="csX3" y="csY3"/>
              </a:cxn>
              <a:cxn ang="0">
                <a:pos x="csX4" y="csY4"/>
              </a:cxn>
            </a:cxnLst>
            <a:rect l="l" t="t" r="r" b="b"/>
            <a:pathLst>
              <a:path w="9916976" h="585974">
                <a:moveTo>
                  <a:pt x="0" y="0"/>
                </a:moveTo>
                <a:lnTo>
                  <a:pt x="9916976" y="0"/>
                </a:lnTo>
                <a:lnTo>
                  <a:pt x="9916976" y="585974"/>
                </a:lnTo>
                <a:lnTo>
                  <a:pt x="0" y="585974"/>
                </a:lnTo>
                <a:lnTo>
                  <a:pt x="0" y="0"/>
                </a:ln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rial" panose="020B0604020202020204" pitchFamily="34" charset="0"/>
                <a:cs typeface="Arial" panose="020B0604020202020204" pitchFamily="34" charset="0"/>
              </a:rPr>
              <a:t>APTIM to work as administer for these programs</a:t>
            </a:r>
          </a:p>
        </p:txBody>
      </p:sp>
      <p:sp>
        <p:nvSpPr>
          <p:cNvPr id="30" name="Oval 29">
            <a:extLst>
              <a:ext uri="{FF2B5EF4-FFF2-40B4-BE49-F238E27FC236}">
                <a16:creationId xmlns:a16="http://schemas.microsoft.com/office/drawing/2014/main" id="{EBE130C1-3134-AF7D-04C2-DC2D520F8629}"/>
              </a:ext>
            </a:extLst>
          </p:cNvPr>
          <p:cNvSpPr/>
          <p:nvPr/>
        </p:nvSpPr>
        <p:spPr>
          <a:xfrm>
            <a:off x="1088435" y="2704183"/>
            <a:ext cx="732468" cy="732468"/>
          </a:xfrm>
          <a:prstGeom prst="ellipse">
            <a:avLst/>
          </a:prstGeom>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31" name="Freeform: Shape 30">
            <a:extLst>
              <a:ext uri="{FF2B5EF4-FFF2-40B4-BE49-F238E27FC236}">
                <a16:creationId xmlns:a16="http://schemas.microsoft.com/office/drawing/2014/main" id="{C0A85464-883D-196D-8C7D-FB658DA13881}"/>
              </a:ext>
            </a:extLst>
          </p:cNvPr>
          <p:cNvSpPr/>
          <p:nvPr/>
        </p:nvSpPr>
        <p:spPr>
          <a:xfrm>
            <a:off x="1455298" y="4543359"/>
            <a:ext cx="10045849" cy="585974"/>
          </a:xfrm>
          <a:custGeom>
            <a:avLst/>
            <a:gdLst>
              <a:gd name="csX0" fmla="*/ 0 w 10045849"/>
              <a:gd name="csY0" fmla="*/ 0 h 585974"/>
              <a:gd name="csX1" fmla="*/ 10045849 w 10045849"/>
              <a:gd name="csY1" fmla="*/ 0 h 585974"/>
              <a:gd name="csX2" fmla="*/ 10045849 w 10045849"/>
              <a:gd name="csY2" fmla="*/ 585974 h 585974"/>
              <a:gd name="csX3" fmla="*/ 0 w 10045849"/>
              <a:gd name="csY3" fmla="*/ 585974 h 585974"/>
              <a:gd name="csX4" fmla="*/ 0 w 10045849"/>
              <a:gd name="csY4" fmla="*/ 0 h 585974"/>
            </a:gdLst>
            <a:ahLst/>
            <a:cxnLst>
              <a:cxn ang="0">
                <a:pos x="csX0" y="csY0"/>
              </a:cxn>
              <a:cxn ang="0">
                <a:pos x="csX1" y="csY1"/>
              </a:cxn>
              <a:cxn ang="0">
                <a:pos x="csX2" y="csY2"/>
              </a:cxn>
              <a:cxn ang="0">
                <a:pos x="csX3" y="csY3"/>
              </a:cxn>
              <a:cxn ang="0">
                <a:pos x="csX4" y="csY4"/>
              </a:cxn>
            </a:cxnLst>
            <a:rect l="l" t="t" r="r" b="b"/>
            <a:pathLst>
              <a:path w="10045849" h="585974">
                <a:moveTo>
                  <a:pt x="0" y="0"/>
                </a:moveTo>
                <a:lnTo>
                  <a:pt x="10045849" y="0"/>
                </a:lnTo>
                <a:lnTo>
                  <a:pt x="10045849" y="585974"/>
                </a:lnTo>
                <a:lnTo>
                  <a:pt x="0" y="585974"/>
                </a:lnTo>
                <a:lnTo>
                  <a:pt x="0" y="0"/>
                </a:ln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rial" panose="020B0604020202020204" pitchFamily="34" charset="0"/>
                <a:cs typeface="Arial" panose="020B0604020202020204" pitchFamily="34" charset="0"/>
              </a:rPr>
              <a:t>Start with states that have begun the process of  implementing similar programs</a:t>
            </a:r>
          </a:p>
        </p:txBody>
      </p:sp>
      <p:sp>
        <p:nvSpPr>
          <p:cNvPr id="32" name="Oval 31">
            <a:extLst>
              <a:ext uri="{FF2B5EF4-FFF2-40B4-BE49-F238E27FC236}">
                <a16:creationId xmlns:a16="http://schemas.microsoft.com/office/drawing/2014/main" id="{65B40EFC-3416-FB30-D927-8D0CB27FFCF8}"/>
              </a:ext>
            </a:extLst>
          </p:cNvPr>
          <p:cNvSpPr/>
          <p:nvPr/>
        </p:nvSpPr>
        <p:spPr>
          <a:xfrm>
            <a:off x="1234665" y="3593437"/>
            <a:ext cx="732468" cy="732468"/>
          </a:xfrm>
          <a:prstGeom prst="ellipse">
            <a:avLst/>
          </a:prstGeom>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34" name="Oval 33">
            <a:extLst>
              <a:ext uri="{FF2B5EF4-FFF2-40B4-BE49-F238E27FC236}">
                <a16:creationId xmlns:a16="http://schemas.microsoft.com/office/drawing/2014/main" id="{0E48A10C-565A-CDF6-9818-ABC3558826BA}"/>
              </a:ext>
            </a:extLst>
          </p:cNvPr>
          <p:cNvSpPr/>
          <p:nvPr/>
        </p:nvSpPr>
        <p:spPr>
          <a:xfrm>
            <a:off x="1088435" y="4470112"/>
            <a:ext cx="732468" cy="732468"/>
          </a:xfrm>
          <a:prstGeom prst="ellipse">
            <a:avLst/>
          </a:prstGeom>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4" name="Footer Placeholder 3">
            <a:extLst>
              <a:ext uri="{FF2B5EF4-FFF2-40B4-BE49-F238E27FC236}">
                <a16:creationId xmlns:a16="http://schemas.microsoft.com/office/drawing/2014/main" id="{AAFE608D-C3EE-B00C-BCFF-AB7F0A054BA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9159C1F8-4F66-3EED-E3F5-E53725D5C9F6}"/>
              </a:ext>
            </a:extLst>
          </p:cNvPr>
          <p:cNvSpPr>
            <a:spLocks noGrp="1"/>
          </p:cNvSpPr>
          <p:nvPr>
            <p:ph type="sldNum" sz="quarter" idx="12"/>
          </p:nvPr>
        </p:nvSpPr>
        <p:spPr/>
        <p:txBody>
          <a:bodyPr/>
          <a:lstStyle/>
          <a:p>
            <a:fld id="{F8F6B9CD-BE6B-498B-93B3-0FAD7ADE75E3}" type="slidenum">
              <a:rPr lang="en-US" smtClean="0"/>
              <a:t>5</a:t>
            </a:fld>
            <a:endParaRPr lang="en-US"/>
          </a:p>
        </p:txBody>
      </p:sp>
      <p:pic>
        <p:nvPicPr>
          <p:cNvPr id="13" name="Graphic 12" descr="Monthly calendar with solid fill">
            <a:extLst>
              <a:ext uri="{FF2B5EF4-FFF2-40B4-BE49-F238E27FC236}">
                <a16:creationId xmlns:a16="http://schemas.microsoft.com/office/drawing/2014/main" id="{22513EC3-30D0-A331-BEDE-8A8761F0273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3399" y="5441318"/>
            <a:ext cx="559432" cy="559432"/>
          </a:xfrm>
          <a:prstGeom prst="rect">
            <a:avLst/>
          </a:prstGeom>
        </p:spPr>
      </p:pic>
      <p:pic>
        <p:nvPicPr>
          <p:cNvPr id="15" name="Graphic 14" descr="No sign with solid fill">
            <a:extLst>
              <a:ext uri="{FF2B5EF4-FFF2-40B4-BE49-F238E27FC236}">
                <a16:creationId xmlns:a16="http://schemas.microsoft.com/office/drawing/2014/main" id="{326C5B4D-7EA5-4780-BD57-BE431BFD2F5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79576" y="2787272"/>
            <a:ext cx="559432" cy="559432"/>
          </a:xfrm>
          <a:prstGeom prst="rect">
            <a:avLst/>
          </a:prstGeom>
        </p:spPr>
      </p:pic>
      <p:pic>
        <p:nvPicPr>
          <p:cNvPr id="17" name="Graphic 16" descr="Bar graph with upward trend with solid fill">
            <a:extLst>
              <a:ext uri="{FF2B5EF4-FFF2-40B4-BE49-F238E27FC236}">
                <a16:creationId xmlns:a16="http://schemas.microsoft.com/office/drawing/2014/main" id="{EBFA18F1-BA69-372B-A7B6-A367A273AAF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79576" y="4558922"/>
            <a:ext cx="559432" cy="559432"/>
          </a:xfrm>
          <a:prstGeom prst="rect">
            <a:avLst/>
          </a:prstGeom>
        </p:spPr>
      </p:pic>
      <p:pic>
        <p:nvPicPr>
          <p:cNvPr id="19" name="Graphic 18" descr="Person with idea with solid fill">
            <a:extLst>
              <a:ext uri="{FF2B5EF4-FFF2-40B4-BE49-F238E27FC236}">
                <a16:creationId xmlns:a16="http://schemas.microsoft.com/office/drawing/2014/main" id="{B1B8D6B7-3162-0023-9E84-58526782AD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321183" y="3676526"/>
            <a:ext cx="559432" cy="559432"/>
          </a:xfrm>
          <a:prstGeom prst="rect">
            <a:avLst/>
          </a:prstGeom>
        </p:spPr>
      </p:pic>
      <p:pic>
        <p:nvPicPr>
          <p:cNvPr id="21" name="Graphic 20" descr="Bullseye with solid fill">
            <a:extLst>
              <a:ext uri="{FF2B5EF4-FFF2-40B4-BE49-F238E27FC236}">
                <a16:creationId xmlns:a16="http://schemas.microsoft.com/office/drawing/2014/main" id="{18596CB4-93E0-A54B-95E0-E1A9544A274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1751" y="1901447"/>
            <a:ext cx="559432" cy="559432"/>
          </a:xfrm>
          <a:prstGeom prst="rect">
            <a:avLst/>
          </a:prstGeom>
        </p:spPr>
      </p:pic>
    </p:spTree>
    <p:extLst>
      <p:ext uri="{BB962C8B-B14F-4D97-AF65-F5344CB8AC3E}">
        <p14:creationId xmlns:p14="http://schemas.microsoft.com/office/powerpoint/2010/main" val="4360850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500"/>
                                        <p:tgtEl>
                                          <p:spTgt spid="2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500"/>
                                        <p:tgtEl>
                                          <p:spTgt spid="1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500"/>
                                        <p:tgtEl>
                                          <p:spTgt spid="2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500"/>
                                        <p:tgtEl>
                                          <p:spTgt spid="1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500"/>
                                        <p:tgtEl>
                                          <p:spTgt spid="2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5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500"/>
                                        <p:tgtEl>
                                          <p:spTgt spid="3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500"/>
                                        <p:tgtEl>
                                          <p:spTgt spid="1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33" grpId="0" animBg="1"/>
      <p:bldP spid="25" grpId="0" animBg="1"/>
      <p:bldP spid="29" grpId="0" animBg="1"/>
      <p:bldP spid="3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2AF80-10E3-8BE1-45CC-0803639F96D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1A4FF38-A895-E5AD-7B7D-E210952D7017}"/>
              </a:ext>
            </a:extLst>
          </p:cNvPr>
          <p:cNvSpPr txBox="1"/>
          <p:nvPr/>
        </p:nvSpPr>
        <p:spPr>
          <a:xfrm>
            <a:off x="457200" y="320040"/>
            <a:ext cx="11247120" cy="685800"/>
          </a:xfrm>
          <a:prstGeom prst="rect">
            <a:avLst/>
          </a:prstGeom>
          <a:noFill/>
        </p:spPr>
        <p:txBody>
          <a:bodyPr wrap="square">
            <a:spAutoFit/>
          </a:bodyPr>
          <a:lstStyle/>
          <a:p>
            <a:r>
              <a:rPr lang="en-US" sz="2200" b="1">
                <a:solidFill>
                  <a:srgbClr val="002856"/>
                </a:solidFill>
                <a:latin typeface="Arial Black" panose="020B0A04020102020204" pitchFamily="34" charset="0"/>
              </a:rPr>
              <a:t>Service Concept: How It Works</a:t>
            </a:r>
          </a:p>
        </p:txBody>
      </p:sp>
      <p:sp>
        <p:nvSpPr>
          <p:cNvPr id="4" name="Rectangle 3">
            <a:extLst>
              <a:ext uri="{FF2B5EF4-FFF2-40B4-BE49-F238E27FC236}">
                <a16:creationId xmlns:a16="http://schemas.microsoft.com/office/drawing/2014/main" id="{138D4283-7822-FC9D-F50B-C0138675BA66}"/>
              </a:ext>
            </a:extLst>
          </p:cNvPr>
          <p:cNvSpPr/>
          <p:nvPr/>
        </p:nvSpPr>
        <p:spPr>
          <a:xfrm>
            <a:off x="457200" y="1554480"/>
            <a:ext cx="3483864" cy="2286000"/>
          </a:xfrm>
          <a:prstGeom prst="rect">
            <a:avLst/>
          </a:prstGeom>
          <a:solidFill>
            <a:schemeClr val="accent3"/>
          </a:solidFill>
          <a:ln>
            <a:solidFill>
              <a:schemeClr val="accent3"/>
            </a:solid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Hardware Maker</a:t>
            </a:r>
          </a:p>
          <a:p>
            <a:pPr algn="ctr"/>
            <a:r>
              <a:rPr sz="1200" b="1">
                <a:solidFill>
                  <a:srgbClr val="FFFFFF"/>
                </a:solidFill>
                <a:latin typeface="Arial"/>
              </a:rPr>
              <a:t>e.g., Tesla, Enphase</a:t>
            </a:r>
          </a:p>
          <a:p>
            <a:pPr algn="ctr"/>
            <a:r>
              <a:rPr sz="1200">
                <a:solidFill>
                  <a:srgbClr val="FFFFFF"/>
                </a:solidFill>
                <a:latin typeface="Arial"/>
              </a:rPr>
              <a:t>Manufactures the battery + solar hardware</a:t>
            </a:r>
          </a:p>
        </p:txBody>
      </p:sp>
      <p:sp>
        <p:nvSpPr>
          <p:cNvPr id="5" name="Rectangle 4">
            <a:extLst>
              <a:ext uri="{FF2B5EF4-FFF2-40B4-BE49-F238E27FC236}">
                <a16:creationId xmlns:a16="http://schemas.microsoft.com/office/drawing/2014/main" id="{1A649AB2-5AFF-AE36-992D-9C1F37D39A46}"/>
              </a:ext>
            </a:extLst>
          </p:cNvPr>
          <p:cNvSpPr/>
          <p:nvPr/>
        </p:nvSpPr>
        <p:spPr>
          <a:xfrm>
            <a:off x="4352544" y="1554480"/>
            <a:ext cx="3483864" cy="228600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bIns="45720" rtlCol="0" anchor="ctr"/>
          <a:lstStyle/>
          <a:p>
            <a:pPr algn="ctr"/>
            <a:r>
              <a:rPr sz="1300" b="1">
                <a:solidFill>
                  <a:srgbClr val="FFFFFF"/>
                </a:solidFill>
                <a:latin typeface="Arial"/>
              </a:rPr>
              <a:t>Asset Owner + Dispatcher</a:t>
            </a:r>
          </a:p>
          <a:p>
            <a:pPr algn="ctr"/>
            <a:r>
              <a:rPr sz="1200" b="1">
                <a:solidFill>
                  <a:srgbClr val="FFFFFF"/>
                </a:solidFill>
                <a:latin typeface="Arial"/>
              </a:rPr>
              <a:t>The Utility</a:t>
            </a:r>
          </a:p>
          <a:p>
            <a:pPr algn="ctr"/>
            <a:r>
              <a:rPr lang="en-US" sz="1200">
                <a:solidFill>
                  <a:srgbClr val="FFFFFF"/>
                </a:solidFill>
                <a:latin typeface="Arial"/>
              </a:rPr>
              <a:t>Finances, owns, rate-bases the fleet; earns regulated return; dispatches via software partner</a:t>
            </a:r>
            <a:endParaRPr lang="en-US"/>
          </a:p>
        </p:txBody>
      </p:sp>
      <p:sp>
        <p:nvSpPr>
          <p:cNvPr id="6" name="Rectangle 5">
            <a:extLst>
              <a:ext uri="{FF2B5EF4-FFF2-40B4-BE49-F238E27FC236}">
                <a16:creationId xmlns:a16="http://schemas.microsoft.com/office/drawing/2014/main" id="{F87FDEAC-D4E3-2260-737F-DD8AD45F87E4}"/>
              </a:ext>
            </a:extLst>
          </p:cNvPr>
          <p:cNvSpPr/>
          <p:nvPr/>
        </p:nvSpPr>
        <p:spPr>
          <a:xfrm>
            <a:off x="8247888" y="1554480"/>
            <a:ext cx="3483864" cy="228600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Program Administrator (APTIM)</a:t>
            </a:r>
          </a:p>
          <a:p>
            <a:pPr algn="ctr"/>
            <a:r>
              <a:rPr sz="1200" b="1">
                <a:solidFill>
                  <a:srgbClr val="FFFFFF"/>
                </a:solidFill>
                <a:latin typeface="Arial"/>
              </a:rPr>
              <a:t>APTIM</a:t>
            </a:r>
          </a:p>
          <a:p>
            <a:pPr algn="ctr"/>
            <a:r>
              <a:rPr sz="1200">
                <a:solidFill>
                  <a:srgbClr val="FFFFFF"/>
                </a:solidFill>
                <a:latin typeface="Arial"/>
              </a:rPr>
              <a:t>Site selection, household recruitment, hosting agreements, contractor network, install QA, fleet reporting, compliance</a:t>
            </a:r>
          </a:p>
        </p:txBody>
      </p:sp>
      <p:sp>
        <p:nvSpPr>
          <p:cNvPr id="7" name="TextBox 6">
            <a:extLst>
              <a:ext uri="{FF2B5EF4-FFF2-40B4-BE49-F238E27FC236}">
                <a16:creationId xmlns:a16="http://schemas.microsoft.com/office/drawing/2014/main" id="{45D9B8C9-2E0C-6396-2593-3EA9C48FAAD0}"/>
              </a:ext>
            </a:extLst>
          </p:cNvPr>
          <p:cNvSpPr txBox="1"/>
          <p:nvPr/>
        </p:nvSpPr>
        <p:spPr>
          <a:xfrm>
            <a:off x="3986784" y="2468880"/>
            <a:ext cx="320040" cy="457200"/>
          </a:xfrm>
          <a:prstGeom prst="rect">
            <a:avLst/>
          </a:prstGeom>
          <a:noFill/>
        </p:spPr>
        <p:txBody>
          <a:bodyPr wrap="square">
            <a:spAutoFit/>
          </a:bodyPr>
          <a:lstStyle/>
          <a:p>
            <a:pPr algn="ctr"/>
            <a:r>
              <a:rPr sz="2200" b="1">
                <a:solidFill>
                  <a:srgbClr val="002856"/>
                </a:solidFill>
              </a:rPr>
              <a:t>→</a:t>
            </a:r>
          </a:p>
        </p:txBody>
      </p:sp>
      <p:sp>
        <p:nvSpPr>
          <p:cNvPr id="8" name="TextBox 7">
            <a:extLst>
              <a:ext uri="{FF2B5EF4-FFF2-40B4-BE49-F238E27FC236}">
                <a16:creationId xmlns:a16="http://schemas.microsoft.com/office/drawing/2014/main" id="{ED16DC1E-ACD4-FCA4-6042-7C8B6FB0E4D4}"/>
              </a:ext>
            </a:extLst>
          </p:cNvPr>
          <p:cNvSpPr txBox="1"/>
          <p:nvPr/>
        </p:nvSpPr>
        <p:spPr>
          <a:xfrm>
            <a:off x="7882128" y="2468880"/>
            <a:ext cx="320040" cy="457200"/>
          </a:xfrm>
          <a:prstGeom prst="rect">
            <a:avLst/>
          </a:prstGeom>
          <a:noFill/>
        </p:spPr>
        <p:txBody>
          <a:bodyPr wrap="square">
            <a:spAutoFit/>
          </a:bodyPr>
          <a:lstStyle/>
          <a:p>
            <a:pPr algn="ctr"/>
            <a:r>
              <a:rPr sz="2200" b="1">
                <a:solidFill>
                  <a:srgbClr val="002856"/>
                </a:solidFill>
              </a:rPr>
              <a:t>→</a:t>
            </a:r>
          </a:p>
        </p:txBody>
      </p:sp>
      <p:sp>
        <p:nvSpPr>
          <p:cNvPr id="9" name="Rectangle 8">
            <a:extLst>
              <a:ext uri="{FF2B5EF4-FFF2-40B4-BE49-F238E27FC236}">
                <a16:creationId xmlns:a16="http://schemas.microsoft.com/office/drawing/2014/main" id="{4719FA5B-4C6D-90AC-08EA-ACD2E15BDAA7}"/>
              </a:ext>
            </a:extLst>
          </p:cNvPr>
          <p:cNvSpPr/>
          <p:nvPr/>
        </p:nvSpPr>
        <p:spPr>
          <a:xfrm>
            <a:off x="457200" y="4206240"/>
            <a:ext cx="11247120" cy="1554480"/>
          </a:xfrm>
          <a:prstGeom prst="rect">
            <a:avLst/>
          </a:prstGeom>
          <a:solidFill>
            <a:srgbClr val="FDF1D9"/>
          </a:solidFill>
          <a:ln w="12700">
            <a:solidFill>
              <a:srgbClr val="FF8200"/>
            </a:solidFill>
          </a:ln>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r>
              <a:rPr sz="1400" i="1">
                <a:solidFill>
                  <a:srgbClr val="002856"/>
                </a:solidFill>
                <a:latin typeface="Arial"/>
              </a:rPr>
              <a:t>Who pays: the utility recovers its investment from ALL ratepayers via rate base (standard cost-of-service regulation) -- not a special charge to the hosting household. The household's "payment" for hosting is free backup power and lower bills. This is NOT a Power Purchase Agreement -- the utility owns the asset directly, it does not buy output from a third-party owner.</a:t>
            </a:r>
          </a:p>
        </p:txBody>
      </p:sp>
      <p:sp>
        <p:nvSpPr>
          <p:cNvPr id="15" name="TextBox 14">
            <a:extLst>
              <a:ext uri="{FF2B5EF4-FFF2-40B4-BE49-F238E27FC236}">
                <a16:creationId xmlns:a16="http://schemas.microsoft.com/office/drawing/2014/main" id="{42703F9F-40E7-D271-6607-47225C69D6C2}"/>
              </a:ext>
            </a:extLst>
          </p:cNvPr>
          <p:cNvSpPr txBox="1"/>
          <p:nvPr/>
        </p:nvSpPr>
        <p:spPr>
          <a:xfrm>
            <a:off x="2444191" y="6469380"/>
            <a:ext cx="7309713" cy="215444"/>
          </a:xfrm>
          <a:prstGeom prst="rect">
            <a:avLst/>
          </a:prstGeom>
          <a:noFill/>
        </p:spPr>
        <p:txBody>
          <a:bodyPr wrap="square">
            <a:spAutoFit/>
          </a:bodyPr>
          <a:lstStyle/>
          <a:p>
            <a:r>
              <a:rPr sz="1000">
                <a:solidFill>
                  <a:srgbClr val="595959"/>
                </a:solidFill>
                <a:latin typeface="Arial"/>
              </a:rPr>
              <a:t>Confidential. Not to be copied, distributed, or reproduced without prior approval. © 2026 APTIM - All rights reserved.</a:t>
            </a:r>
          </a:p>
        </p:txBody>
      </p:sp>
      <p:sp>
        <p:nvSpPr>
          <p:cNvPr id="16" name="TextBox 15">
            <a:extLst>
              <a:ext uri="{FF2B5EF4-FFF2-40B4-BE49-F238E27FC236}">
                <a16:creationId xmlns:a16="http://schemas.microsoft.com/office/drawing/2014/main" id="{A2D8C53D-ED68-D0CA-7EF7-85843039914F}"/>
              </a:ext>
            </a:extLst>
          </p:cNvPr>
          <p:cNvSpPr txBox="1"/>
          <p:nvPr/>
        </p:nvSpPr>
        <p:spPr>
          <a:xfrm>
            <a:off x="11297412" y="6469380"/>
            <a:ext cx="285292" cy="251460"/>
          </a:xfrm>
          <a:prstGeom prst="rect">
            <a:avLst/>
          </a:prstGeom>
          <a:noFill/>
        </p:spPr>
        <p:txBody>
          <a:bodyPr wrap="none" lIns="91440" tIns="45720" rIns="91440" bIns="45720" anchor="t">
            <a:spAutoFit/>
          </a:bodyPr>
          <a:lstStyle/>
          <a:p>
            <a:r>
              <a:rPr lang="en-US" sz="1000">
                <a:solidFill>
                  <a:srgbClr val="595959"/>
                </a:solidFill>
                <a:latin typeface="Arial"/>
                <a:cs typeface="Arial"/>
              </a:rPr>
              <a:t>10</a:t>
            </a:r>
          </a:p>
        </p:txBody>
      </p:sp>
      <p:sp>
        <p:nvSpPr>
          <p:cNvPr id="17" name="TextBox 16"/>
          <p:cNvSpPr txBox="1"/>
          <p:nvPr/>
        </p:nvSpPr>
        <p:spPr>
          <a:xfrm>
            <a:off x="457200" y="1051560"/>
            <a:ext cx="11247120" cy="256032"/>
          </a:xfrm>
          <a:prstGeom prst="rect">
            <a:avLst/>
          </a:prstGeom>
          <a:noFill/>
        </p:spPr>
        <p:txBody>
          <a:bodyPr wrap="square">
            <a:spAutoFit/>
          </a:bodyPr>
          <a:lstStyle/>
          <a:p>
            <a:r>
              <a:rPr sz="1300" i="1">
                <a:solidFill>
                  <a:srgbClr val="595959"/>
                </a:solidFill>
                <a:latin typeface="Arial"/>
              </a:rPr>
              <a:t>Three roles, one flow -- the utility owns, APTIM administers, the household hosts</a:t>
            </a:r>
          </a:p>
        </p:txBody>
      </p:sp>
    </p:spTree>
    <p:extLst>
      <p:ext uri="{BB962C8B-B14F-4D97-AF65-F5344CB8AC3E}">
        <p14:creationId xmlns:p14="http://schemas.microsoft.com/office/powerpoint/2010/main" val="3444185173"/>
      </p:ext>
    </p:extLst>
  </p:cSld>
  <p:clrMapOvr>
    <a:masterClrMapping/>
  </p:clrMapOvr>
  <p:timing>
    <p:tnLst>
      <p:par>
        <p:cTn id="122" dur="indefinite" restart="never" nodeType="tmRoot">
          <p:childTnLst>
            <p:seq concat="0" nextAc="seek">
              <p:cTn id="121" dur="indefinite" nodeType="mainSeq">
                <p:childTnLst>
                  <p:par>
                    <p:cTn id="103" fill="hold">
                      <p:stCondLst>
                        <p:cond delay="indefinite"/>
                      </p:stCondLst>
                      <p:childTnLst>
                        <p:par>
                          <p:cTn id="104" fill="hold">
                            <p:stCondLst>
                              <p:cond delay="0"/>
                            </p:stCondLst>
                            <p:childTnLst>
                              <p:par>
                                <p:cTn id="102" presetID="2" presetClass="entr" presetSubtype="0" fill="hold" nodeType="withEffect">
                                  <p:stCondLst>
                                    <p:cond delay="0"/>
                                  </p:stCondLst>
                                  <p:childTnLst>
                                    <p:set>
                                      <p:cBhvr>
                                        <p:cTn id="101" dur="1" fill="hold">
                                          <p:stCondLst>
                                            <p:cond delay="0"/>
                                          </p:stCondLst>
                                        </p:cTn>
                                        <p:tgtEl>
                                          <p:spTgt spid="4"/>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06" presetID="2" presetClass="entr" presetSubtype="0" fill="hold" nodeType="withEffect">
                                  <p:stCondLst>
                                    <p:cond delay="0"/>
                                  </p:stCondLst>
                                  <p:childTnLst>
                                    <p:set>
                                      <p:cBhvr>
                                        <p:cTn id="105" dur="1" fill="hold">
                                          <p:stCondLst>
                                            <p:cond delay="0"/>
                                          </p:stCondLst>
                                        </p:cTn>
                                        <p:tgtEl>
                                          <p:spTgt spid="7"/>
                                        </p:tgtEl>
                                        <p:attrNameLst>
                                          <p:attrName>style.visibility</p:attrName>
                                        </p:attrNameLst>
                                      </p:cBhvr>
                                      <p:to>
                                        <p:strVal val="visible"/>
                                      </p:to>
                                    </p:set>
                                  </p:childTnLst>
                                </p:cTn>
                              </p:par>
                              <p:par>
                                <p:cTn id="108" presetID="2" presetClass="entr" presetSubtype="0" fill="hold" nodeType="withEffect">
                                  <p:stCondLst>
                                    <p:cond delay="0"/>
                                  </p:stCondLst>
                                  <p:childTnLst>
                                    <p:set>
                                      <p:cBhvr>
                                        <p:cTn id="107" dur="1" fill="hold">
                                          <p:stCondLst>
                                            <p:cond delay="0"/>
                                          </p:stCondLst>
                                        </p:cTn>
                                        <p:tgtEl>
                                          <p:spTgt spid="5"/>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2" presetID="2" presetClass="entr" presetSubtype="0" fill="hold" nodeType="withEffect">
                                  <p:stCondLst>
                                    <p:cond delay="0"/>
                                  </p:stCondLst>
                                  <p:childTnLst>
                                    <p:set>
                                      <p:cBhvr>
                                        <p:cTn id="111" dur="1" fill="hold">
                                          <p:stCondLst>
                                            <p:cond delay="0"/>
                                          </p:stCondLst>
                                        </p:cTn>
                                        <p:tgtEl>
                                          <p:spTgt spid="8"/>
                                        </p:tgtEl>
                                        <p:attrNameLst>
                                          <p:attrName>style.visibility</p:attrName>
                                        </p:attrNameLst>
                                      </p:cBhvr>
                                      <p:to>
                                        <p:strVal val="visible"/>
                                      </p:to>
                                    </p:set>
                                  </p:childTnLst>
                                </p:cTn>
                              </p:par>
                              <p:par>
                                <p:cTn id="114" presetID="2" presetClass="entr" presetSubtype="0" fill="hold" nodeType="withEffect">
                                  <p:stCondLst>
                                    <p:cond delay="0"/>
                                  </p:stCondLst>
                                  <p:childTnLst>
                                    <p:set>
                                      <p:cBhvr>
                                        <p:cTn id="113" dur="1" fill="hold">
                                          <p:stCondLst>
                                            <p:cond delay="0"/>
                                          </p:stCondLst>
                                        </p:cTn>
                                        <p:tgtEl>
                                          <p:spTgt spid="6"/>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18" presetID="2" presetClass="entr" presetSubtype="0" fill="hold" nodeType="withEffect">
                                  <p:stCondLst>
                                    <p:cond delay="0"/>
                                  </p:stCondLst>
                                  <p:childTnLst>
                                    <p:set>
                                      <p:cBhvr>
                                        <p:cTn id="117"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5" grpId="0"/>
      <p:bldP spid="8" grpId="0"/>
      <p:bldP spid="6" grpId="0"/>
      <p:bldP spid="9" grpId="0"/>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TextBox 16"/>
          <p:cNvSpPr txBox="1"/>
          <p:nvPr/>
        </p:nvSpPr>
        <p:spPr>
          <a:xfrm>
            <a:off x="457200" y="1463040"/>
            <a:ext cx="3606698" cy="365760"/>
          </a:xfrm>
          <a:prstGeom prst="rect">
            <a:avLst/>
          </a:prstGeom>
          <a:noFill/>
        </p:spPr>
        <p:txBody>
          <a:bodyPr wrap="none">
            <a:spAutoFit/>
          </a:bodyPr>
          <a:lstStyle/>
          <a:p>
            <a:r>
              <a:rPr sz="1300" b="1">
                <a:solidFill>
                  <a:srgbClr val="FF8200"/>
                </a:solidFill>
                <a:latin typeface="Arial"/>
              </a:rPr>
              <a:t>How APTIM Gets Paid</a:t>
            </a:r>
          </a:p>
        </p:txBody>
      </p:sp>
      <p:sp>
        <p:nvSpPr>
          <p:cNvPr id="18" name="TextBox 17"/>
          <p:cNvSpPr txBox="1"/>
          <p:nvPr/>
        </p:nvSpPr>
        <p:spPr>
          <a:xfrm>
            <a:off x="457200" y="1920240"/>
            <a:ext cx="3606698" cy="3931920"/>
          </a:xfrm>
          <a:prstGeom prst="rect">
            <a:avLst/>
          </a:prstGeom>
          <a:noFill/>
        </p:spPr>
        <p:txBody>
          <a:bodyPr wrap="square">
            <a:spAutoFit/>
          </a:bodyPr>
          <a:lstStyle/>
          <a:p>
            <a:pPr>
              <a:spcAft>
                <a:spcPts val="600"/>
              </a:spcAft>
            </a:pPr>
            <a:r>
              <a:rPr sz="1200" b="1">
                <a:solidFill>
                  <a:srgbClr val="002856"/>
                </a:solidFill>
                <a:latin typeface="Arial"/>
              </a:rPr>
              <a:t>Model: </a:t>
            </a:r>
            <a:r>
              <a:rPr sz="1200">
                <a:solidFill>
                  <a:srgbClr val="002856"/>
                </a:solidFill>
                <a:latin typeface="Arial"/>
              </a:rPr>
              <a:t>Base fee as % of program budget + performance bonus overlay</a:t>
            </a:r>
          </a:p>
          <a:p>
            <a:pPr>
              <a:spcAft>
                <a:spcPts val="600"/>
              </a:spcAft>
            </a:pPr>
            <a:r>
              <a:rPr sz="1200" b="1">
                <a:solidFill>
                  <a:srgbClr val="002856"/>
                </a:solidFill>
                <a:latin typeface="Arial"/>
              </a:rPr>
              <a:t>Precedent: </a:t>
            </a:r>
            <a:r>
              <a:rPr sz="1200">
                <a:solidFill>
                  <a:srgbClr val="002856"/>
                </a:solidFill>
                <a:latin typeface="Arial"/>
              </a:rPr>
              <a:t>APTIM's real Focus on Energy contract (2023-2026) uses this exact structure</a:t>
            </a:r>
          </a:p>
          <a:p>
            <a:pPr>
              <a:spcAft>
                <a:spcPts val="600"/>
              </a:spcAft>
            </a:pPr>
            <a:r>
              <a:rPr sz="1200" b="1">
                <a:solidFill>
                  <a:srgbClr val="002856"/>
                </a:solidFill>
                <a:latin typeface="Arial"/>
              </a:rPr>
              <a:t>Benchmark: </a:t>
            </a:r>
            <a:r>
              <a:rPr sz="1200">
                <a:solidFill>
                  <a:srgbClr val="002856"/>
                </a:solidFill>
                <a:latin typeface="Arial"/>
              </a:rPr>
              <a:t>Federal EECBG caps admin fees at 10% of funds -- a citable floor</a:t>
            </a:r>
          </a:p>
          <a:p>
            <a:pPr>
              <a:spcAft>
                <a:spcPts val="600"/>
              </a:spcAft>
            </a:pPr>
            <a:r>
              <a:rPr sz="1200" b="1">
                <a:solidFill>
                  <a:srgbClr val="002856"/>
                </a:solidFill>
                <a:latin typeface="Arial"/>
              </a:rPr>
              <a:t>Exact %: </a:t>
            </a:r>
            <a:r>
              <a:rPr sz="1200">
                <a:solidFill>
                  <a:srgbClr val="002856"/>
                </a:solidFill>
                <a:latin typeface="Arial"/>
              </a:rPr>
              <a:t>Negotiated at RFP stage, not fixed here</a:t>
            </a:r>
          </a:p>
        </p:txBody>
      </p:sp>
      <p:sp>
        <p:nvSpPr>
          <p:cNvPr id="19" name="TextBox 18"/>
          <p:cNvSpPr txBox="1"/>
          <p:nvPr/>
        </p:nvSpPr>
        <p:spPr>
          <a:xfrm>
            <a:off x="4292498" y="1463040"/>
            <a:ext cx="3606698" cy="365760"/>
          </a:xfrm>
          <a:prstGeom prst="rect">
            <a:avLst/>
          </a:prstGeom>
          <a:noFill/>
        </p:spPr>
        <p:txBody>
          <a:bodyPr wrap="none">
            <a:spAutoFit/>
          </a:bodyPr>
          <a:lstStyle/>
          <a:p>
            <a:r>
              <a:rPr sz="1300" b="1">
                <a:solidFill>
                  <a:srgbClr val="FF8200"/>
                </a:solidFill>
                <a:latin typeface="Arial"/>
              </a:rPr>
              <a:t>Why All Parties Say Yes</a:t>
            </a:r>
          </a:p>
        </p:txBody>
      </p:sp>
      <p:sp>
        <p:nvSpPr>
          <p:cNvPr id="20" name="TextBox 19"/>
          <p:cNvSpPr txBox="1"/>
          <p:nvPr/>
        </p:nvSpPr>
        <p:spPr>
          <a:xfrm>
            <a:off x="4292498" y="1920240"/>
            <a:ext cx="3606698" cy="3931920"/>
          </a:xfrm>
          <a:prstGeom prst="rect">
            <a:avLst/>
          </a:prstGeom>
          <a:noFill/>
        </p:spPr>
        <p:txBody>
          <a:bodyPr wrap="square">
            <a:spAutoFit/>
          </a:bodyPr>
          <a:lstStyle/>
          <a:p>
            <a:pPr>
              <a:spcAft>
                <a:spcPts val="600"/>
              </a:spcAft>
            </a:pPr>
            <a:r>
              <a:rPr sz="1200" b="1">
                <a:solidFill>
                  <a:srgbClr val="002856"/>
                </a:solidFill>
                <a:latin typeface="Arial"/>
              </a:rPr>
              <a:t>Utility: </a:t>
            </a:r>
            <a:r>
              <a:rPr sz="1200">
                <a:solidFill>
                  <a:srgbClr val="002856"/>
                </a:solidFill>
                <a:latin typeface="Arial"/>
              </a:rPr>
              <a:t>Meets storage mandate, grows rate base, cheaper than new peaker capacity</a:t>
            </a:r>
          </a:p>
          <a:p>
            <a:pPr>
              <a:spcAft>
                <a:spcPts val="600"/>
              </a:spcAft>
            </a:pPr>
            <a:r>
              <a:rPr sz="1200" b="1">
                <a:solidFill>
                  <a:srgbClr val="002856"/>
                </a:solidFill>
                <a:latin typeface="Arial"/>
              </a:rPr>
              <a:t>Household: </a:t>
            </a:r>
            <a:r>
              <a:rPr sz="1200">
                <a:solidFill>
                  <a:srgbClr val="002856"/>
                </a:solidFill>
                <a:latin typeface="Arial"/>
              </a:rPr>
              <a:t>Free backup power, zero upfront or monthly cost</a:t>
            </a:r>
          </a:p>
          <a:p>
            <a:pPr>
              <a:spcAft>
                <a:spcPts val="600"/>
              </a:spcAft>
            </a:pPr>
            <a:r>
              <a:rPr sz="1200" b="1">
                <a:solidFill>
                  <a:srgbClr val="002856"/>
                </a:solidFill>
                <a:latin typeface="Arial"/>
              </a:rPr>
              <a:t>APTIM: </a:t>
            </a:r>
            <a:r>
              <a:rPr sz="1200">
                <a:solidFill>
                  <a:srgbClr val="002856"/>
                </a:solidFill>
                <a:latin typeface="Arial"/>
              </a:rPr>
              <a:t>Recurring fee + Michigan market entry, filling an unadministered service niche</a:t>
            </a:r>
          </a:p>
          <a:p>
            <a:pPr>
              <a:spcAft>
                <a:spcPts val="600"/>
              </a:spcAft>
            </a:pPr>
            <a:r>
              <a:rPr sz="1200" b="1">
                <a:solidFill>
                  <a:srgbClr val="002856"/>
                </a:solidFill>
                <a:latin typeface="Arial"/>
              </a:rPr>
              <a:t>Regulator: </a:t>
            </a:r>
            <a:r>
              <a:rPr sz="1200">
                <a:solidFill>
                  <a:srgbClr val="002856"/>
                </a:solidFill>
                <a:latin typeface="Arial"/>
              </a:rPr>
              <a:t>Resilience delivered without a new tax; performance-linked fee keeps utility accountable</a:t>
            </a:r>
          </a:p>
        </p:txBody>
      </p:sp>
      <p:sp>
        <p:nvSpPr>
          <p:cNvPr id="21" name="TextBox 20"/>
          <p:cNvSpPr txBox="1"/>
          <p:nvPr/>
        </p:nvSpPr>
        <p:spPr>
          <a:xfrm>
            <a:off x="8127796" y="1463040"/>
            <a:ext cx="3606698" cy="365760"/>
          </a:xfrm>
          <a:prstGeom prst="rect">
            <a:avLst/>
          </a:prstGeom>
          <a:noFill/>
        </p:spPr>
        <p:txBody>
          <a:bodyPr wrap="none">
            <a:spAutoFit/>
          </a:bodyPr>
          <a:lstStyle/>
          <a:p>
            <a:r>
              <a:rPr sz="1300" b="1">
                <a:solidFill>
                  <a:srgbClr val="FF8200"/>
                </a:solidFill>
                <a:latin typeface="Arial"/>
              </a:rPr>
              <a:t>Design &amp; Rollout</a:t>
            </a:r>
          </a:p>
        </p:txBody>
      </p:sp>
      <p:sp>
        <p:nvSpPr>
          <p:cNvPr id="22" name="TextBox 21"/>
          <p:cNvSpPr txBox="1"/>
          <p:nvPr/>
        </p:nvSpPr>
        <p:spPr>
          <a:xfrm>
            <a:off x="8127796" y="1920240"/>
            <a:ext cx="3606698" cy="3931920"/>
          </a:xfrm>
          <a:prstGeom prst="rect">
            <a:avLst/>
          </a:prstGeom>
          <a:noFill/>
        </p:spPr>
        <p:txBody>
          <a:bodyPr wrap="square">
            <a:spAutoFit/>
          </a:bodyPr>
          <a:lstStyle/>
          <a:p>
            <a:pPr>
              <a:spcAft>
                <a:spcPts val="600"/>
              </a:spcAft>
            </a:pPr>
            <a:r>
              <a:rPr sz="1200" b="1">
                <a:solidFill>
                  <a:srgbClr val="002856"/>
                </a:solidFill>
                <a:latin typeface="Arial"/>
              </a:rPr>
              <a:t>Cold weather: </a:t>
            </a:r>
            <a:r>
              <a:rPr sz="1200">
                <a:solidFill>
                  <a:srgbClr val="002856"/>
                </a:solidFill>
                <a:latin typeface="Arial"/>
              </a:rPr>
              <a:t>Thermally-managed battery chemistry, sized with a winter capacity buffer -- Michigan's worst outages are winter/ice-storm driven</a:t>
            </a:r>
          </a:p>
          <a:p>
            <a:pPr>
              <a:spcAft>
                <a:spcPts val="600"/>
              </a:spcAft>
            </a:pPr>
            <a:r>
              <a:rPr sz="1200" b="1">
                <a:solidFill>
                  <a:srgbClr val="002856"/>
                </a:solidFill>
                <a:latin typeface="Arial"/>
              </a:rPr>
              <a:t>Maintenance: </a:t>
            </a:r>
            <a:r>
              <a:rPr sz="1200">
                <a:solidFill>
                  <a:srgbClr val="002856"/>
                </a:solidFill>
                <a:latin typeface="Arial"/>
              </a:rPr>
              <a:t>Utility owns the fleet, so utility (via APTIM's contractor network) maintains it -- zero burden on the household</a:t>
            </a:r>
          </a:p>
          <a:p>
            <a:pPr>
              <a:spcAft>
                <a:spcPts val="600"/>
              </a:spcAft>
            </a:pPr>
            <a:r>
              <a:rPr sz="1200" b="1">
                <a:solidFill>
                  <a:srgbClr val="002856"/>
                </a:solidFill>
                <a:latin typeface="Arial"/>
              </a:rPr>
              <a:t>Pilot targeting: </a:t>
            </a:r>
            <a:r>
              <a:rPr sz="1200">
                <a:solidFill>
                  <a:srgbClr val="002856"/>
                </a:solidFill>
                <a:latin typeface="Arial"/>
              </a:rPr>
              <a:t>Phase 1 enrolls qualifying, stable homeowners to prove the model; Phase 2 expands to higher-need areas</a:t>
            </a:r>
          </a:p>
        </p:txBody>
      </p:sp>
      <p:sp>
        <p:nvSpPr>
          <p:cNvPr id="2" name="TextBox 1">
            <a:extLst>
              <a:ext uri="{FF2B5EF4-FFF2-40B4-BE49-F238E27FC236}">
                <a16:creationId xmlns:a16="http://schemas.microsoft.com/office/drawing/2014/main" id="{11A4FF38-A895-E5AD-7B7D-E210952D7017}"/>
              </a:ext>
            </a:extLst>
          </p:cNvPr>
          <p:cNvSpPr txBox="1"/>
          <p:nvPr/>
        </p:nvSpPr>
        <p:spPr>
          <a:xfrm>
            <a:off x="457200" y="320040"/>
            <a:ext cx="11247120" cy="685800"/>
          </a:xfrm>
          <a:prstGeom prst="rect">
            <a:avLst/>
          </a:prstGeom>
          <a:noFill/>
        </p:spPr>
        <p:txBody>
          <a:bodyPr wrap="square">
            <a:spAutoFit/>
          </a:bodyPr>
          <a:lstStyle/>
          <a:p>
            <a:r>
              <a:rPr lang="en-US" sz="2200" b="1">
                <a:solidFill>
                  <a:srgbClr val="002856"/>
                </a:solidFill>
                <a:latin typeface="Arial Black" panose="020B0A04020102020204" pitchFamily="34" charset="0"/>
              </a:rPr>
              <a:t>Service Concept: Why It Holds Together</a:t>
            </a:r>
          </a:p>
        </p:txBody>
      </p:sp>
      <p:sp>
        <p:nvSpPr>
          <p:cNvPr id="15" name="TextBox 14">
            <a:extLst>
              <a:ext uri="{FF2B5EF4-FFF2-40B4-BE49-F238E27FC236}">
                <a16:creationId xmlns:a16="http://schemas.microsoft.com/office/drawing/2014/main" id="{42703F9F-40E7-D271-6607-47225C69D6C2}"/>
              </a:ext>
            </a:extLst>
          </p:cNvPr>
          <p:cNvSpPr txBox="1"/>
          <p:nvPr/>
        </p:nvSpPr>
        <p:spPr>
          <a:xfrm>
            <a:off x="2444191" y="6469380"/>
            <a:ext cx="7309713" cy="215444"/>
          </a:xfrm>
          <a:prstGeom prst="rect">
            <a:avLst/>
          </a:prstGeom>
          <a:noFill/>
        </p:spPr>
        <p:txBody>
          <a:bodyPr wrap="square">
            <a:spAutoFit/>
          </a:bodyPr>
          <a:lstStyle/>
          <a:p>
            <a:r>
              <a:rPr sz="1000">
                <a:solidFill>
                  <a:srgbClr val="595959"/>
                </a:solidFill>
                <a:latin typeface="Arial"/>
              </a:rPr>
              <a:t>Confidential. Not to be copied, distributed, or reproduced without prior approval. © 2026 APTIM - All rights reserved.</a:t>
            </a:r>
          </a:p>
        </p:txBody>
      </p:sp>
      <p:sp>
        <p:nvSpPr>
          <p:cNvPr id="16" name="TextBox 15">
            <a:extLst>
              <a:ext uri="{FF2B5EF4-FFF2-40B4-BE49-F238E27FC236}">
                <a16:creationId xmlns:a16="http://schemas.microsoft.com/office/drawing/2014/main" id="{A2D8C53D-ED68-D0CA-7EF7-85843039914F}"/>
              </a:ext>
            </a:extLst>
          </p:cNvPr>
          <p:cNvSpPr txBox="1"/>
          <p:nvPr/>
        </p:nvSpPr>
        <p:spPr>
          <a:xfrm>
            <a:off x="11297412" y="6469380"/>
            <a:ext cx="285292" cy="251460"/>
          </a:xfrm>
          <a:prstGeom prst="rect">
            <a:avLst/>
          </a:prstGeom>
          <a:noFill/>
        </p:spPr>
        <p:txBody>
          <a:bodyPr wrap="none" lIns="91440" tIns="45720" rIns="91440" bIns="45720" anchor="t">
            <a:spAutoFit/>
          </a:bodyPr>
          <a:lstStyle/>
          <a:p>
            <a:r>
              <a:rPr lang="en-US" sz="1000">
                <a:solidFill>
                  <a:srgbClr val="595959"/>
                </a:solidFill>
                <a:latin typeface="Arial"/>
                <a:cs typeface="Arial"/>
              </a:rPr>
              <a:t>10</a:t>
            </a:r>
          </a:p>
        </p:txBody>
      </p:sp>
      <p:sp>
        <p:nvSpPr>
          <p:cNvPr id="23" name="TextBox 22"/>
          <p:cNvSpPr txBox="1"/>
          <p:nvPr/>
        </p:nvSpPr>
        <p:spPr>
          <a:xfrm>
            <a:off x="457200" y="1051560"/>
            <a:ext cx="11247120" cy="256032"/>
          </a:xfrm>
          <a:prstGeom prst="rect">
            <a:avLst/>
          </a:prstGeom>
          <a:noFill/>
        </p:spPr>
        <p:txBody>
          <a:bodyPr wrap="square">
            <a:spAutoFit/>
          </a:bodyPr>
          <a:lstStyle/>
          <a:p>
            <a:r>
              <a:rPr sz="1300" i="1">
                <a:solidFill>
                  <a:srgbClr val="595959"/>
                </a:solidFill>
                <a:latin typeface="Arial"/>
              </a:rPr>
              <a:t>The fee model, the incentives, and the rollout design</a:t>
            </a:r>
          </a:p>
        </p:txBody>
      </p:sp>
    </p:spTree>
  </p:cSld>
  <p:clrMapOvr>
    <a:masterClrMapping/>
  </p:clrMapOvr>
  <p:timing>
    <p:tnLst>
      <p:par>
        <p:cTn id="120" dur="indefinite" restart="never" nodeType="tmRoot">
          <p:childTnLst>
            <p:seq concat="0" nextAc="seek">
              <p:cTn id="119" dur="indefinite" nodeType="mainSeq">
                <p:childTnLst>
                  <p:par>
                    <p:cTn id="105" fill="hold">
                      <p:stCondLst>
                        <p:cond delay="indefinite"/>
                      </p:stCondLst>
                      <p:childTnLst>
                        <p:par>
                          <p:cTn id="106" fill="hold">
                            <p:stCondLst>
                              <p:cond delay="0"/>
                            </p:stCondLst>
                            <p:childTnLst>
                              <p:par>
                                <p:cTn id="102" presetID="2" presetClass="entr" presetSubtype="0" fill="hold" nodeType="withEffect">
                                  <p:stCondLst>
                                    <p:cond delay="0"/>
                                  </p:stCondLst>
                                  <p:childTnLst>
                                    <p:set>
                                      <p:cBhvr>
                                        <p:cTn id="101" dur="1" fill="hold">
                                          <p:stCondLst>
                                            <p:cond delay="0"/>
                                          </p:stCondLst>
                                        </p:cTn>
                                        <p:tgtEl>
                                          <p:spTgt spid="17"/>
                                        </p:tgtEl>
                                        <p:attrNameLst>
                                          <p:attrName>style.visibility</p:attrName>
                                        </p:attrNameLst>
                                      </p:cBhvr>
                                      <p:to>
                                        <p:strVal val="visible"/>
                                      </p:to>
                                    </p:set>
                                  </p:childTnLst>
                                </p:cTn>
                              </p:par>
                              <p:par>
                                <p:cTn id="104" presetID="2" presetClass="entr" presetSubtype="0" fill="hold" nodeType="withEffect">
                                  <p:stCondLst>
                                    <p:cond delay="0"/>
                                  </p:stCondLst>
                                  <p:childTnLst>
                                    <p:set>
                                      <p:cBhvr>
                                        <p:cTn id="103" dur="1" fill="hold">
                                          <p:stCondLst>
                                            <p:cond delay="0"/>
                                          </p:stCondLst>
                                        </p:cTn>
                                        <p:tgtEl>
                                          <p:spTgt spid="18"/>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08" presetID="2" presetClass="entr" presetSubtype="0" fill="hold" nodeType="withEffect">
                                  <p:stCondLst>
                                    <p:cond delay="0"/>
                                  </p:stCondLst>
                                  <p:childTnLst>
                                    <p:set>
                                      <p:cBhvr>
                                        <p:cTn id="107" dur="1" fill="hold">
                                          <p:stCondLst>
                                            <p:cond delay="0"/>
                                          </p:stCondLst>
                                        </p:cTn>
                                        <p:tgtEl>
                                          <p:spTgt spid="19"/>
                                        </p:tgtEl>
                                        <p:attrNameLst>
                                          <p:attrName>style.visibility</p:attrName>
                                        </p:attrNameLst>
                                      </p:cBhvr>
                                      <p:to>
                                        <p:strVal val="visible"/>
                                      </p:to>
                                    </p:set>
                                  </p:childTnLst>
                                </p:cTn>
                              </p:par>
                              <p:par>
                                <p:cTn id="110" presetID="2" presetClass="entr" presetSubtype="0" fill="hold" nodeType="withEffect">
                                  <p:stCondLst>
                                    <p:cond delay="0"/>
                                  </p:stCondLst>
                                  <p:childTnLst>
                                    <p:set>
                                      <p:cBhvr>
                                        <p:cTn id="109" dur="1" fill="hold">
                                          <p:stCondLst>
                                            <p:cond delay="0"/>
                                          </p:stCondLst>
                                        </p:cTn>
                                        <p:tgtEl>
                                          <p:spTgt spid="20"/>
                                        </p:tgtEl>
                                        <p:attrNameLst>
                                          <p:attrName>style.visibility</p:attrName>
                                        </p:attrNameLst>
                                      </p:cBhvr>
                                      <p:to>
                                        <p:strVal val="visible"/>
                                      </p:to>
                                    </p:set>
                                  </p:childTnLst>
                                </p:cTn>
                              </p:par>
                            </p:childTnLst>
                          </p:cTn>
                        </p:par>
                      </p:childTnLst>
                    </p:cTn>
                  </p:par>
                  <p:par>
                    <p:cTn id="117" fill="hold">
                      <p:stCondLst>
                        <p:cond delay="indefinite"/>
                      </p:stCondLst>
                      <p:childTnLst>
                        <p:par>
                          <p:cTn id="118" fill="hold">
                            <p:stCondLst>
                              <p:cond delay="0"/>
                            </p:stCondLst>
                            <p:childTnLst>
                              <p:par>
                                <p:cTn id="114" presetID="2" presetClass="entr" presetSubtype="0" fill="hold" nodeType="withEffect">
                                  <p:stCondLst>
                                    <p:cond delay="0"/>
                                  </p:stCondLst>
                                  <p:childTnLst>
                                    <p:set>
                                      <p:cBhvr>
                                        <p:cTn id="113" dur="1" fill="hold">
                                          <p:stCondLst>
                                            <p:cond delay="0"/>
                                          </p:stCondLst>
                                        </p:cTn>
                                        <p:tgtEl>
                                          <p:spTgt spid="21"/>
                                        </p:tgtEl>
                                        <p:attrNameLst>
                                          <p:attrName>style.visibility</p:attrName>
                                        </p:attrNameLst>
                                      </p:cBhvr>
                                      <p:to>
                                        <p:strVal val="visible"/>
                                      </p:to>
                                    </p:set>
                                  </p:childTnLst>
                                </p:cTn>
                              </p:par>
                              <p:par>
                                <p:cTn id="116" presetID="2" presetClass="entr" presetSubtype="0" fill="hold" nodeType="withEffect">
                                  <p:stCondLst>
                                    <p:cond delay="0"/>
                                  </p:stCondLst>
                                  <p:childTnLst>
                                    <p:set>
                                      <p:cBhvr>
                                        <p:cTn id="115"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p:bldP spid="2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49943" y="320040"/>
            <a:ext cx="11247120" cy="685800"/>
          </a:xfrm>
          <a:prstGeom prst="rect">
            <a:avLst/>
          </a:prstGeom>
          <a:noFill/>
        </p:spPr>
        <p:txBody>
          <a:bodyPr wrap="square">
            <a:spAutoFit/>
          </a:bodyPr>
          <a:lstStyle/>
          <a:p>
            <a:r>
              <a:rPr lang="en-US" sz="2200" b="1">
                <a:solidFill>
                  <a:srgbClr val="002856"/>
                </a:solidFill>
                <a:latin typeface="Arial Black" panose="020B0A04020102020204" pitchFamily="34" charset="0"/>
              </a:rPr>
              <a:t>Prioritization Framework: Why Battery + Solar Administration</a:t>
            </a:r>
          </a:p>
        </p:txBody>
      </p:sp>
      <p:graphicFrame>
        <p:nvGraphicFramePr>
          <p:cNvPr id="4" name="Table 3"/>
          <p:cNvGraphicFramePr>
            <a:graphicFrameLocks noGrp="1"/>
          </p:cNvGraphicFramePr>
          <p:nvPr>
            <p:extLst>
              <p:ext uri="{D42A27DB-BD31-4B8C-83A1-F6EECF244321}">
                <p14:modId xmlns:p14="http://schemas.microsoft.com/office/powerpoint/2010/main" val="4045984683"/>
              </p:ext>
            </p:extLst>
          </p:nvPr>
        </p:nvGraphicFramePr>
        <p:xfrm>
          <a:off x="457200" y="1280159"/>
          <a:ext cx="11247120" cy="3109104"/>
        </p:xfrm>
        <a:graphic>
          <a:graphicData uri="http://schemas.openxmlformats.org/drawingml/2006/table">
            <a:tbl>
              <a:tblPr firstRow="1" bandRow="1">
                <a:tableStyleId>{5C22544A-7EE6-4342-B048-85BDC9FD1C3A}</a:tableStyleId>
              </a:tblPr>
              <a:tblGrid>
                <a:gridCol w="36576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1036368">
                <a:tc>
                  <a:txBody>
                    <a:bodyPr/>
                    <a:lstStyle/>
                    <a:p>
                      <a:pPr>
                        <a:defRPr sz="1100" b="1">
                          <a:solidFill>
                            <a:srgbClr val="FFFFFF"/>
                          </a:solidFill>
                          <a:latin typeface="Arial"/>
                        </a:defRPr>
                      </a:pPr>
                      <a:r>
                        <a:t>Approach Considered</a:t>
                      </a:r>
                    </a:p>
                  </a:txBody>
                  <a:tcPr>
                    <a:solidFill>
                      <a:srgbClr val="002856"/>
                    </a:solidFill>
                  </a:tcPr>
                </a:tc>
                <a:tc>
                  <a:txBody>
                    <a:bodyPr/>
                    <a:lstStyle/>
                    <a:p>
                      <a:pPr>
                        <a:defRPr sz="1100" b="1">
                          <a:solidFill>
                            <a:srgbClr val="FFFFFF"/>
                          </a:solidFill>
                          <a:latin typeface="Arial"/>
                        </a:defRPr>
                      </a:pPr>
                      <a:r>
                        <a:t>1-3 Yr Feasibility</a:t>
                      </a:r>
                    </a:p>
                  </a:txBody>
                  <a:tcPr>
                    <a:solidFill>
                      <a:srgbClr val="002856"/>
                    </a:solidFill>
                  </a:tcPr>
                </a:tc>
                <a:tc>
                  <a:txBody>
                    <a:bodyPr/>
                    <a:lstStyle/>
                    <a:p>
                      <a:pPr>
                        <a:defRPr sz="1100" b="1">
                          <a:solidFill>
                            <a:srgbClr val="FFFFFF"/>
                          </a:solidFill>
                          <a:latin typeface="Arial"/>
                        </a:defRPr>
                      </a:pPr>
                      <a:r>
                        <a:t>Alignment with Prompt</a:t>
                      </a:r>
                    </a:p>
                  </a:txBody>
                  <a:tcPr>
                    <a:solidFill>
                      <a:srgbClr val="002856"/>
                    </a:solidFill>
                  </a:tcPr>
                </a:tc>
                <a:tc>
                  <a:txBody>
                    <a:bodyPr/>
                    <a:lstStyle/>
                    <a:p>
                      <a:pPr>
                        <a:defRPr sz="1100" b="1">
                          <a:solidFill>
                            <a:srgbClr val="FFFFFF"/>
                          </a:solidFill>
                          <a:latin typeface="Arial"/>
                        </a:defRPr>
                      </a:pPr>
                      <a:r>
                        <a:t>Verdict</a:t>
                      </a:r>
                    </a:p>
                  </a:txBody>
                  <a:tcPr>
                    <a:solidFill>
                      <a:srgbClr val="002856"/>
                    </a:solidFill>
                  </a:tcPr>
                </a:tc>
                <a:extLst>
                  <a:ext uri="{0D108BD9-81ED-4DB2-BD59-A6C34878D82A}">
                    <a16:rowId xmlns:a16="http://schemas.microsoft.com/office/drawing/2014/main" val="10000"/>
                  </a:ext>
                </a:extLst>
              </a:tr>
              <a:tr h="1036368">
                <a:tc>
                  <a:txBody>
                    <a:bodyPr/>
                    <a:lstStyle/>
                    <a:p>
                      <a:pPr>
                        <a:defRPr sz="1100">
                          <a:solidFill>
                            <a:srgbClr val="002856"/>
                          </a:solidFill>
                          <a:latin typeface="Arial"/>
                        </a:defRPr>
                      </a:pPr>
                      <a:r>
                        <a:t>Broad "Program Resilience Toolkit" (multi-module: adaptation support, funding navigation, compliance/reporting, contractor continuity)</a:t>
                      </a:r>
                    </a:p>
                  </a:txBody>
                  <a:tcPr>
                    <a:solidFill>
                      <a:srgbClr val="F5E4E7"/>
                    </a:solidFill>
                  </a:tcPr>
                </a:tc>
                <a:tc>
                  <a:txBody>
                    <a:bodyPr/>
                    <a:lstStyle/>
                    <a:p>
                      <a:pPr>
                        <a:defRPr sz="1100">
                          <a:solidFill>
                            <a:srgbClr val="002856"/>
                          </a:solidFill>
                          <a:latin typeface="Arial"/>
                        </a:defRPr>
                      </a:pPr>
                      <a:r>
                        <a:t>Medium -- every module individually feasible, but no single concrete offering</a:t>
                      </a:r>
                    </a:p>
                  </a:txBody>
                  <a:tcPr>
                    <a:solidFill>
                      <a:srgbClr val="F5E4E7"/>
                    </a:solidFill>
                  </a:tcPr>
                </a:tc>
                <a:tc>
                  <a:txBody>
                    <a:bodyPr/>
                    <a:lstStyle/>
                    <a:p>
                      <a:pPr>
                        <a:defRPr sz="1100">
                          <a:solidFill>
                            <a:srgbClr val="002856"/>
                          </a:solidFill>
                          <a:latin typeface="Arial"/>
                        </a:defRPr>
                      </a:pPr>
                      <a:r>
                        <a:t>Partial -- leadership explicitly asked for a specific program, not a broad toolkit; prompt calls for a focused solution, not a general capability set</a:t>
                      </a:r>
                    </a:p>
                  </a:txBody>
                  <a:tcPr>
                    <a:solidFill>
                      <a:srgbClr val="F5E4E7"/>
                    </a:solidFill>
                  </a:tcPr>
                </a:tc>
                <a:tc>
                  <a:txBody>
                    <a:bodyPr/>
                    <a:lstStyle/>
                    <a:p>
                      <a:pPr>
                        <a:defRPr sz="1100">
                          <a:solidFill>
                            <a:srgbClr val="002856"/>
                          </a:solidFill>
                          <a:latin typeface="Arial"/>
                        </a:defRPr>
                      </a:pPr>
                      <a:r>
                        <a:t>NOT SELECTED as standalone pitch</a:t>
                      </a:r>
                    </a:p>
                  </a:txBody>
                  <a:tcPr>
                    <a:solidFill>
                      <a:srgbClr val="F5E4E7"/>
                    </a:solidFill>
                  </a:tcPr>
                </a:tc>
                <a:extLst>
                  <a:ext uri="{0D108BD9-81ED-4DB2-BD59-A6C34878D82A}">
                    <a16:rowId xmlns:a16="http://schemas.microsoft.com/office/drawing/2014/main" val="10001"/>
                  </a:ext>
                </a:extLst>
              </a:tr>
              <a:tr h="1036368">
                <a:tc>
                  <a:txBody>
                    <a:bodyPr/>
                    <a:lstStyle/>
                    <a:p>
                      <a:pPr>
                        <a:defRPr sz="1100">
                          <a:solidFill>
                            <a:srgbClr val="002856"/>
                          </a:solidFill>
                          <a:latin typeface="Arial"/>
                        </a:defRPr>
                      </a:pPr>
                      <a:r>
                        <a:t>Utility-Owned Battery + Solar Fleet, APTIM-Administered</a:t>
                      </a:r>
                    </a:p>
                  </a:txBody>
                  <a:tcPr>
                    <a:solidFill>
                      <a:srgbClr val="E0F2F1"/>
                    </a:solidFill>
                  </a:tcPr>
                </a:tc>
                <a:tc>
                  <a:txBody>
                    <a:bodyPr/>
                    <a:lstStyle/>
                    <a:p>
                      <a:pPr>
                        <a:defRPr sz="1100">
                          <a:solidFill>
                            <a:srgbClr val="002856"/>
                          </a:solidFill>
                          <a:latin typeface="Arial"/>
                        </a:defRPr>
                      </a:pPr>
                      <a:r>
                        <a:t>High -- matches an existing, proven APTIM capability</a:t>
                      </a:r>
                    </a:p>
                  </a:txBody>
                  <a:tcPr>
                    <a:solidFill>
                      <a:srgbClr val="E0F2F1"/>
                    </a:solidFill>
                  </a:tcPr>
                </a:tc>
                <a:tc>
                  <a:txBody>
                    <a:bodyPr/>
                    <a:lstStyle/>
                    <a:p>
                      <a:pPr>
                        <a:defRPr sz="1100">
                          <a:solidFill>
                            <a:srgbClr val="002856"/>
                          </a:solidFill>
                          <a:latin typeface="Arial"/>
                        </a:defRPr>
                      </a:pPr>
                      <a:r>
                        <a:t>Full -- single client group (utilities), no new technology, leverages current APTIM capabilities, achievable in 1-3 years, scalable across states</a:t>
                      </a:r>
                    </a:p>
                  </a:txBody>
                  <a:tcPr>
                    <a:solidFill>
                      <a:srgbClr val="E0F2F1"/>
                    </a:solidFill>
                  </a:tcPr>
                </a:tc>
                <a:tc>
                  <a:txBody>
                    <a:bodyPr/>
                    <a:lstStyle/>
                    <a:p>
                      <a:pPr>
                        <a:defRPr sz="1100">
                          <a:solidFill>
                            <a:srgbClr val="002856"/>
                          </a:solidFill>
                          <a:latin typeface="Arial"/>
                        </a:defRPr>
                      </a:pPr>
                      <a:r>
                        <a:t>SELECTED</a:t>
                      </a:r>
                    </a:p>
                  </a:txBody>
                  <a:tcPr>
                    <a:solidFill>
                      <a:srgbClr val="E0F2F1"/>
                    </a:solidFill>
                  </a:tcPr>
                </a:tc>
                <a:extLst>
                  <a:ext uri="{0D108BD9-81ED-4DB2-BD59-A6C34878D82A}">
                    <a16:rowId xmlns:a16="http://schemas.microsoft.com/office/drawing/2014/main" val="10002"/>
                  </a:ext>
                </a:extLst>
              </a:tr>
            </a:tbl>
          </a:graphicData>
        </a:graphic>
      </p:graphicFrame>
      <p:sp>
        <p:nvSpPr>
          <p:cNvPr id="5" name="Rectangle 4"/>
          <p:cNvSpPr/>
          <p:nvPr/>
        </p:nvSpPr>
        <p:spPr>
          <a:xfrm>
            <a:off x="457200" y="4160520"/>
            <a:ext cx="11239863" cy="1965960"/>
          </a:xfrm>
          <a:prstGeom prst="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600"/>
              </a:spcAft>
            </a:pPr>
            <a:r>
              <a:rPr b="1" sz="1400">
                <a:solidFill>
                  <a:srgbClr val="002856"/>
                </a:solidFill>
              </a:rPr>
              <a:t>Why We Didn't Stop at the Toolkit</a:t>
            </a:r>
          </a:p>
          <a:p>
            <a:pPr>
              <a:spcAft>
                <a:spcPts val="600"/>
              </a:spcAft>
            </a:pPr>
            <a:r>
              <a:rPr sz="1200">
                <a:solidFill>
                  <a:srgbClr val="002856"/>
                </a:solidFill>
              </a:rPr>
              <a:t>•  Not procurable: utilities buy defined programs through RFPs -- a toolkit isn't a bid, it's a brochure</a:t>
            </a:r>
          </a:p>
          <a:p>
            <a:pPr>
              <a:spcAft>
                <a:spcPts val="600"/>
              </a:spcAft>
            </a:pPr>
            <a:r>
              <a:rPr sz="1200">
                <a:solidFill>
                  <a:srgbClr val="002856"/>
                </a:solidFill>
              </a:rPr>
              <a:t>•  That seat is taken: CLEAResult and ICF already sell broad program advisory; the fleet-administration seat is empty</a:t>
            </a:r>
          </a:p>
          <a:p>
            <a:pPr>
              <a:spcAft>
                <a:spcPts val="600"/>
              </a:spcAft>
            </a:pPr>
            <a:r>
              <a:rPr sz="1200">
                <a:solidFill>
                  <a:srgbClr val="002856"/>
                </a:solidFill>
              </a:rPr>
              <a:t>•  Wrong answer to the prompt: a toolkit only helps manage shrinking grant budgets -- the fleet creates a NEW ratepayer-financed budget line federal freezes can't touch</a:t>
            </a:r>
          </a:p>
          <a:p>
            <a:pPr>
              <a:spcAft>
                <a:spcPts val="600"/>
              </a:spcAft>
            </a:pPr>
            <a:r>
              <a:rPr sz="1200">
                <a:solidFill>
                  <a:srgbClr val="002856"/>
                </a:solidFill>
              </a:rPr>
              <a:t>•  Revenue quality: toolkit sells consulting hours; the fleet earns recurring fees tied to 20-year infrastructure</a:t>
            </a:r>
          </a:p>
          <a:p>
            <a:pPr>
              <a:spcAft>
                <a:spcPts val="600"/>
              </a:spcAft>
            </a:pPr>
            <a:r>
              <a:rPr sz="1200">
                <a:solidFill>
                  <a:srgbClr val="002856"/>
                </a:solidFill>
              </a:rPr>
              <a:t>•  Leadership directive: one specific, concrete program -- not a capability list</a:t>
            </a:r>
          </a:p>
        </p:txBody>
      </p:sp>
      <p:sp>
        <p:nvSpPr>
          <p:cNvPr id="6" name="TextBox 5"/>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7" name="TextBox 6"/>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6</a:t>
            </a:r>
          </a:p>
        </p:txBody>
      </p:sp>
    </p:spTree>
    <p:extLst>
      <p:ext uri="{BB962C8B-B14F-4D97-AF65-F5344CB8AC3E}">
        <p14:creationId xmlns:p14="http://schemas.microsoft.com/office/powerpoint/2010/main" val="954952773"/>
      </p:ext>
    </p:extLst>
  </p:cSld>
  <p:clrMapOvr>
    <a:masterClrMapping/>
  </p:clrMapOvr>
  <p:timing>
    <p:tnLst>
      <p:par>
        <p:cTn id="110" dur="indefinite" restart="never" nodeType="tmRoot">
          <p:childTnLst>
            <p:seq concat="0" nextAc="seek">
              <p:cTn id="109" dur="indefinite" nodeType="mainSeq">
                <p:childTnLst>
                  <p:par>
                    <p:cTn id="103" fill="hold">
                      <p:stCondLst>
                        <p:cond delay="indefinite"/>
                      </p:stCondLst>
                      <p:childTnLst>
                        <p:par>
                          <p:cTn id="104" fill="hold">
                            <p:stCondLst>
                              <p:cond delay="0"/>
                            </p:stCondLst>
                            <p:childTnLst>
                              <p:par>
                                <p:cTn id="102" presetID="2" presetClass="entr" presetSubtype="0" fill="hold" nodeType="withEffect">
                                  <p:stCondLst>
                                    <p:cond delay="0"/>
                                  </p:stCondLst>
                                  <p:childTnLst>
                                    <p:set>
                                      <p:cBhvr>
                                        <p:cTn id="101" dur="1" fill="hold">
                                          <p:stCondLst>
                                            <p:cond delay="0"/>
                                          </p:stCondLst>
                                        </p:cTn>
                                        <p:tgtEl>
                                          <p:spTgt spid="4"/>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6" presetID="2" presetClass="entr" presetSubtype="0" fill="hold" nodeType="withEffect">
                                  <p:stCondLst>
                                    <p:cond delay="0"/>
                                  </p:stCondLst>
                                  <p:childTnLst>
                                    <p:set>
                                      <p:cBhvr>
                                        <p:cTn id="105"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8C1DBF-00D2-2BD5-8D43-5E26A2FC00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26203F-FAA3-204C-0F9F-C78B361E92C2}"/>
              </a:ext>
            </a:extLst>
          </p:cNvPr>
          <p:cNvSpPr>
            <a:spLocks noGrp="1"/>
          </p:cNvSpPr>
          <p:nvPr>
            <p:ph type="title"/>
          </p:nvPr>
        </p:nvSpPr>
        <p:spPr/>
        <p:txBody>
          <a:bodyPr/>
          <a:lstStyle/>
          <a:p>
            <a:r>
              <a:rPr lang="en-US">
                <a:latin typeface="Arial Black"/>
                <a:cs typeface="Arial"/>
              </a:rPr>
              <a:t>National Competitive Landscape</a:t>
            </a:r>
            <a:endParaRPr lang="en-US"/>
          </a:p>
        </p:txBody>
      </p:sp>
      <p:sp>
        <p:nvSpPr>
          <p:cNvPr id="4" name="Footer Placeholder 3">
            <a:extLst>
              <a:ext uri="{FF2B5EF4-FFF2-40B4-BE49-F238E27FC236}">
                <a16:creationId xmlns:a16="http://schemas.microsoft.com/office/drawing/2014/main" id="{CF2153C5-03FE-C52B-AB72-1ACE773478C5}"/>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F182A612-0460-57B1-4910-34D58C5DFEA2}"/>
              </a:ext>
            </a:extLst>
          </p:cNvPr>
          <p:cNvSpPr>
            <a:spLocks noGrp="1"/>
          </p:cNvSpPr>
          <p:nvPr>
            <p:ph type="sldNum" sz="quarter" idx="12"/>
          </p:nvPr>
        </p:nvSpPr>
        <p:spPr/>
        <p:txBody>
          <a:bodyPr/>
          <a:lstStyle/>
          <a:p>
            <a:fld id="{F8F6B9CD-BE6B-498B-93B3-0FAD7ADE75E3}" type="slidenum">
              <a:rPr lang="en-US" smtClean="0"/>
              <a:t>8</a:t>
            </a:fld>
            <a:endParaRPr lang="en-US"/>
          </a:p>
        </p:txBody>
      </p:sp>
      <p:sp>
        <p:nvSpPr>
          <p:cNvPr id="8" name="TextBox 7">
            <a:extLst>
              <a:ext uri="{FF2B5EF4-FFF2-40B4-BE49-F238E27FC236}">
                <a16:creationId xmlns:a16="http://schemas.microsoft.com/office/drawing/2014/main" id="{FC2A4717-2B42-A73A-96A5-EC766367F73F}"/>
              </a:ext>
            </a:extLst>
          </p:cNvPr>
          <p:cNvSpPr txBox="1"/>
          <p:nvPr/>
        </p:nvSpPr>
        <p:spPr>
          <a:xfrm>
            <a:off x="195943" y="1389018"/>
            <a:ext cx="3593735" cy="236988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000" b="1">
                <a:latin typeface="Arial" panose="020B0604020202020204" pitchFamily="34" charset="0"/>
                <a:cs typeface="Arial" panose="020B0604020202020204" pitchFamily="34" charset="0"/>
              </a:rPr>
              <a:t>CLEAResult</a:t>
            </a: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Customer Acquisition and Participation</a:t>
            </a: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Large Contractor and Utility Networks</a:t>
            </a: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Focus on Large-Scale Program Implementation</a:t>
            </a:r>
          </a:p>
          <a:p>
            <a:pPr marL="285750" indent="-285750">
              <a:buFont typeface="Calibri"/>
              <a:buChar char="-"/>
            </a:pPr>
            <a:endParaRPr lang="en-US" sz="2000"/>
          </a:p>
        </p:txBody>
      </p:sp>
      <p:sp>
        <p:nvSpPr>
          <p:cNvPr id="9" name="TextBox 8">
            <a:extLst>
              <a:ext uri="{FF2B5EF4-FFF2-40B4-BE49-F238E27FC236}">
                <a16:creationId xmlns:a16="http://schemas.microsoft.com/office/drawing/2014/main" id="{A381B1B7-5CE4-B478-16FF-573FF931233F}"/>
              </a:ext>
            </a:extLst>
          </p:cNvPr>
          <p:cNvSpPr txBox="1"/>
          <p:nvPr/>
        </p:nvSpPr>
        <p:spPr>
          <a:xfrm>
            <a:off x="4147456" y="1359452"/>
            <a:ext cx="3897083" cy="178510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000" b="1">
                <a:latin typeface="Arial" panose="020B0604020202020204" pitchFamily="34" charset="0"/>
                <a:cs typeface="Arial" panose="020B0604020202020204" pitchFamily="34" charset="0"/>
              </a:rPr>
              <a:t>ICF</a:t>
            </a:r>
            <a:endParaRPr lang="en-US" b="1">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Cost-Effective Program Design</a:t>
            </a: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Customer Targeting and Segmentation</a:t>
            </a: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Focus on Advanced Analytics and Program Optimization</a:t>
            </a:r>
          </a:p>
        </p:txBody>
      </p:sp>
      <p:sp>
        <p:nvSpPr>
          <p:cNvPr id="10" name="TextBox 9">
            <a:extLst>
              <a:ext uri="{FF2B5EF4-FFF2-40B4-BE49-F238E27FC236}">
                <a16:creationId xmlns:a16="http://schemas.microsoft.com/office/drawing/2014/main" id="{2CA1AC09-2B36-ADA1-F182-F01702388FBA}"/>
              </a:ext>
            </a:extLst>
          </p:cNvPr>
          <p:cNvSpPr txBox="1"/>
          <p:nvPr/>
        </p:nvSpPr>
        <p:spPr>
          <a:xfrm>
            <a:off x="8551817" y="1387567"/>
            <a:ext cx="3480525" cy="206210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000" b="1">
                <a:latin typeface="Arial" panose="020B0604020202020204" pitchFamily="34" charset="0"/>
                <a:cs typeface="Arial" panose="020B0604020202020204" pitchFamily="34" charset="0"/>
              </a:rPr>
              <a:t>Stantec</a:t>
            </a:r>
            <a:endParaRPr lang="en-US" b="1">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Grid and Infrastructure Engineering</a:t>
            </a: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Energy System Planning</a:t>
            </a: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Focus on Utility Infrastructure and DER Integration</a:t>
            </a:r>
          </a:p>
        </p:txBody>
      </p:sp>
      <p:pic>
        <p:nvPicPr>
          <p:cNvPr id="6" name="Picture 5" descr="250+ Map Of Usa Network Stock Photos, Pictures &amp; Royalty-Free Images ...">
            <a:extLst>
              <a:ext uri="{FF2B5EF4-FFF2-40B4-BE49-F238E27FC236}">
                <a16:creationId xmlns:a16="http://schemas.microsoft.com/office/drawing/2014/main" id="{83F5F855-5A3B-588B-0848-1C40F24F70C8}"/>
              </a:ext>
            </a:extLst>
          </p:cNvPr>
          <p:cNvPicPr>
            <a:picLocks noChangeAspect="1"/>
          </p:cNvPicPr>
          <p:nvPr/>
        </p:nvPicPr>
        <p:blipFill>
          <a:blip r:embed="rId3"/>
          <a:stretch>
            <a:fillRect/>
          </a:stretch>
        </p:blipFill>
        <p:spPr>
          <a:xfrm>
            <a:off x="365579" y="3944484"/>
            <a:ext cx="3245758" cy="2394404"/>
          </a:xfrm>
          <a:prstGeom prst="rect">
            <a:avLst/>
          </a:prstGeom>
        </p:spPr>
      </p:pic>
      <p:pic>
        <p:nvPicPr>
          <p:cNvPr id="7" name="Picture 6" descr="Statistics graph 3d icon growing bars columns | Premium AI-generated image">
            <a:extLst>
              <a:ext uri="{FF2B5EF4-FFF2-40B4-BE49-F238E27FC236}">
                <a16:creationId xmlns:a16="http://schemas.microsoft.com/office/drawing/2014/main" id="{1A644B81-E5E8-7E52-02B6-D78B4559DCFC}"/>
              </a:ext>
            </a:extLst>
          </p:cNvPr>
          <p:cNvPicPr>
            <a:picLocks noChangeAspect="1"/>
          </p:cNvPicPr>
          <p:nvPr/>
        </p:nvPicPr>
        <p:blipFill>
          <a:blip r:embed="rId4"/>
          <a:stretch>
            <a:fillRect/>
          </a:stretch>
        </p:blipFill>
        <p:spPr>
          <a:xfrm>
            <a:off x="4724400" y="3617686"/>
            <a:ext cx="2743200" cy="2721428"/>
          </a:xfrm>
          <a:prstGeom prst="rect">
            <a:avLst/>
          </a:prstGeom>
        </p:spPr>
      </p:pic>
      <p:pic>
        <p:nvPicPr>
          <p:cNvPr id="12" name="Picture 11" descr="Google-backed IPX Power launches with 4.4 GW solar portfolio after">
            <a:extLst>
              <a:ext uri="{FF2B5EF4-FFF2-40B4-BE49-F238E27FC236}">
                <a16:creationId xmlns:a16="http://schemas.microsoft.com/office/drawing/2014/main" id="{86914FBD-3EE9-74A3-2C0E-01AED2BB8C09}"/>
              </a:ext>
            </a:extLst>
          </p:cNvPr>
          <p:cNvPicPr>
            <a:picLocks noChangeAspect="1"/>
          </p:cNvPicPr>
          <p:nvPr/>
        </p:nvPicPr>
        <p:blipFill>
          <a:blip r:embed="rId5"/>
          <a:stretch>
            <a:fillRect/>
          </a:stretch>
        </p:blipFill>
        <p:spPr>
          <a:xfrm>
            <a:off x="8776607" y="3944484"/>
            <a:ext cx="3035300" cy="2256518"/>
          </a:xfrm>
          <a:prstGeom prst="rect">
            <a:avLst/>
          </a:prstGeom>
        </p:spPr>
      </p:pic>
    </p:spTree>
    <p:extLst>
      <p:ext uri="{BB962C8B-B14F-4D97-AF65-F5344CB8AC3E}">
        <p14:creationId xmlns:p14="http://schemas.microsoft.com/office/powerpoint/2010/main" val="38372841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7A61-4829-B6C1-D5ED-C82677BAA59D}"/>
              </a:ext>
            </a:extLst>
          </p:cNvPr>
          <p:cNvSpPr>
            <a:spLocks noGrp="1"/>
          </p:cNvSpPr>
          <p:nvPr>
            <p:ph type="title"/>
          </p:nvPr>
        </p:nvSpPr>
        <p:spPr/>
        <p:txBody>
          <a:bodyPr/>
          <a:lstStyle/>
          <a:p>
            <a:r>
              <a:rPr lang="en-US">
                <a:latin typeface="Arial Black"/>
                <a:cs typeface="Arial"/>
              </a:rPr>
              <a:t>Market Analysis: Opportunity Assessment</a:t>
            </a:r>
            <a:endParaRPr lang="en-US"/>
          </a:p>
        </p:txBody>
      </p:sp>
      <p:graphicFrame>
        <p:nvGraphicFramePr>
          <p:cNvPr id="889" name="Content Placeholder 888">
            <a:extLst>
              <a:ext uri="{FF2B5EF4-FFF2-40B4-BE49-F238E27FC236}">
                <a16:creationId xmlns:a16="http://schemas.microsoft.com/office/drawing/2014/main" id="{51A8CCA6-EAA8-8822-AB74-F96AF758C3D2}"/>
              </a:ext>
            </a:extLst>
          </p:cNvPr>
          <p:cNvGraphicFramePr>
            <a:graphicFrameLocks noGrp="1"/>
          </p:cNvGraphicFramePr>
          <p:nvPr>
            <p:ph idx="1"/>
            <p:extLst>
              <p:ext uri="{D42A27DB-BD31-4B8C-83A1-F6EECF244321}">
                <p14:modId xmlns:p14="http://schemas.microsoft.com/office/powerpoint/2010/main" val="1170024997"/>
              </p:ext>
            </p:extLst>
          </p:nvPr>
        </p:nvGraphicFramePr>
        <p:xfrm>
          <a:off x="609600" y="1600200"/>
          <a:ext cx="10972800" cy="46863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Footer Placeholder 4">
            <a:extLst>
              <a:ext uri="{FF2B5EF4-FFF2-40B4-BE49-F238E27FC236}">
                <a16:creationId xmlns:a16="http://schemas.microsoft.com/office/drawing/2014/main" id="{E9066A03-4D7E-0198-5673-F149F7D158A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0B119E32-8D67-F0A4-DD0A-FF3BCD7068F1}"/>
              </a:ext>
            </a:extLst>
          </p:cNvPr>
          <p:cNvSpPr>
            <a:spLocks noGrp="1"/>
          </p:cNvSpPr>
          <p:nvPr>
            <p:ph type="sldNum" sz="quarter" idx="12"/>
          </p:nvPr>
        </p:nvSpPr>
        <p:spPr/>
        <p:txBody>
          <a:bodyPr/>
          <a:lstStyle/>
          <a:p>
            <a:fld id="{F8F6B9CD-BE6B-498B-93B3-0FAD7ADE75E3}" type="slidenum">
              <a:rPr lang="en-US" smtClean="0"/>
              <a:t>9</a:t>
            </a:fld>
            <a:endParaRPr lang="en-US"/>
          </a:p>
        </p:txBody>
      </p:sp>
    </p:spTree>
    <p:extLst>
      <p:ext uri="{BB962C8B-B14F-4D97-AF65-F5344CB8AC3E}">
        <p14:creationId xmlns:p14="http://schemas.microsoft.com/office/powerpoint/2010/main" val="25824805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BADE1B-285C-3ABA-06EA-02BD882B95F4}"/>
              </a:ext>
            </a:extLst>
          </p:cNvPr>
          <p:cNvSpPr>
            <a:spLocks noGrp="1"/>
          </p:cNvSpPr>
          <p:nvPr>
            <p:ph type="title"/>
          </p:nvPr>
        </p:nvSpPr>
        <p:spPr/>
        <p:txBody>
          <a:bodyPr/>
          <a:lstStyle/>
          <a:p>
            <a:r>
              <a:rPr lang="en-US">
                <a:latin typeface="Arial Black"/>
                <a:cs typeface="Arial"/>
              </a:rPr>
              <a:t>Market Analysis: State Opportunities and APTIM Role</a:t>
            </a:r>
            <a:endParaRPr lang="en-US"/>
          </a:p>
        </p:txBody>
      </p:sp>
      <p:sp>
        <p:nvSpPr>
          <p:cNvPr id="3" name="Content Placeholder 2">
            <a:extLst>
              <a:ext uri="{FF2B5EF4-FFF2-40B4-BE49-F238E27FC236}">
                <a16:creationId xmlns:a16="http://schemas.microsoft.com/office/drawing/2014/main" id="{DE2BA8BC-5E34-8A14-3A7A-EF70657DE984}"/>
              </a:ext>
            </a:extLst>
          </p:cNvPr>
          <p:cNvSpPr>
            <a:spLocks noGrp="1"/>
          </p:cNvSpPr>
          <p:nvPr>
            <p:ph idx="1"/>
          </p:nvPr>
        </p:nvSpPr>
        <p:spPr/>
        <p:txBody>
          <a:bodyPr vert="horz" lIns="0" tIns="0" rIns="0" bIns="0" rtlCol="0" anchor="t">
            <a:noAutofit/>
          </a:bodyPr>
          <a:lstStyle/>
          <a:p>
            <a:pPr marL="233045" indent="-233045"/>
            <a:endParaRPr lang="en-US"/>
          </a:p>
          <a:p>
            <a:pPr marL="233045" indent="-233045"/>
            <a:endParaRPr lang="en-US"/>
          </a:p>
          <a:p>
            <a:pPr marL="233045" indent="-233045"/>
            <a:endParaRPr lang="en-US"/>
          </a:p>
        </p:txBody>
      </p:sp>
      <p:sp>
        <p:nvSpPr>
          <p:cNvPr id="4" name="Footer Placeholder 3">
            <a:extLst>
              <a:ext uri="{FF2B5EF4-FFF2-40B4-BE49-F238E27FC236}">
                <a16:creationId xmlns:a16="http://schemas.microsoft.com/office/drawing/2014/main" id="{797D2E78-3303-0350-81A5-FD3BD4075405}"/>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CB29E1C2-22C2-7846-F86E-122DD084108B}"/>
              </a:ext>
            </a:extLst>
          </p:cNvPr>
          <p:cNvSpPr>
            <a:spLocks noGrp="1"/>
          </p:cNvSpPr>
          <p:nvPr>
            <p:ph type="sldNum" sz="quarter" idx="12"/>
          </p:nvPr>
        </p:nvSpPr>
        <p:spPr/>
        <p:txBody>
          <a:bodyPr/>
          <a:lstStyle/>
          <a:p>
            <a:fld id="{F8F6B9CD-BE6B-498B-93B3-0FAD7ADE75E3}" type="slidenum">
              <a:rPr lang="en-US" smtClean="0"/>
              <a:t>10</a:t>
            </a:fld>
            <a:endParaRPr lang="en-US"/>
          </a:p>
        </p:txBody>
      </p:sp>
      <p:graphicFrame>
        <p:nvGraphicFramePr>
          <p:cNvPr id="11" name="Content Placeholder 10">
            <a:extLst>
              <a:ext uri="{FF2B5EF4-FFF2-40B4-BE49-F238E27FC236}">
                <a16:creationId xmlns:a16="http://schemas.microsoft.com/office/drawing/2014/main" id="{4C9034F0-9382-E7DB-D943-6DA5CFBB0F4A}"/>
              </a:ext>
            </a:extLst>
          </p:cNvPr>
          <p:cNvGraphicFramePr>
            <a:graphicFrameLocks noGrp="1"/>
          </p:cNvGraphicFramePr>
          <p:nvPr>
            <p:ph sz="quarter" idx="4294967295"/>
            <p:extLst>
              <p:ext uri="{D42A27DB-BD31-4B8C-83A1-F6EECF244321}">
                <p14:modId xmlns:p14="http://schemas.microsoft.com/office/powerpoint/2010/main" val="1053780890"/>
              </p:ext>
            </p:extLst>
          </p:nvPr>
        </p:nvGraphicFramePr>
        <p:xfrm>
          <a:off x="587828" y="1168400"/>
          <a:ext cx="11025223" cy="5937190"/>
        </p:xfrm>
        <a:graphic>
          <a:graphicData uri="http://schemas.openxmlformats.org/drawingml/2006/table">
            <a:tbl>
              <a:tblPr firstRow="1" bandRow="1">
                <a:tableStyleId>{5C22544A-7EE6-4342-B048-85BDC9FD1C3A}</a:tableStyleId>
              </a:tblPr>
              <a:tblGrid>
                <a:gridCol w="1461303">
                  <a:extLst>
                    <a:ext uri="{9D8B030D-6E8A-4147-A177-3AD203B41FA5}">
                      <a16:colId xmlns:a16="http://schemas.microsoft.com/office/drawing/2014/main" val="957739651"/>
                    </a:ext>
                  </a:extLst>
                </a:gridCol>
                <a:gridCol w="1388961">
                  <a:extLst>
                    <a:ext uri="{9D8B030D-6E8A-4147-A177-3AD203B41FA5}">
                      <a16:colId xmlns:a16="http://schemas.microsoft.com/office/drawing/2014/main" val="3082199612"/>
                    </a:ext>
                  </a:extLst>
                </a:gridCol>
                <a:gridCol w="2662015">
                  <a:extLst>
                    <a:ext uri="{9D8B030D-6E8A-4147-A177-3AD203B41FA5}">
                      <a16:colId xmlns:a16="http://schemas.microsoft.com/office/drawing/2014/main" val="613011870"/>
                    </a:ext>
                  </a:extLst>
                </a:gridCol>
                <a:gridCol w="2691113">
                  <a:extLst>
                    <a:ext uri="{9D8B030D-6E8A-4147-A177-3AD203B41FA5}">
                      <a16:colId xmlns:a16="http://schemas.microsoft.com/office/drawing/2014/main" val="182092073"/>
                    </a:ext>
                  </a:extLst>
                </a:gridCol>
                <a:gridCol w="2821831">
                  <a:extLst>
                    <a:ext uri="{9D8B030D-6E8A-4147-A177-3AD203B41FA5}">
                      <a16:colId xmlns:a16="http://schemas.microsoft.com/office/drawing/2014/main" val="2373816757"/>
                    </a:ext>
                  </a:extLst>
                </a:gridCol>
              </a:tblGrid>
              <a:tr h="789519">
                <a:tc>
                  <a:txBody>
                    <a:bodyPr/>
                    <a:lstStyle/>
                    <a:p>
                      <a:r>
                        <a:rPr lang="en-US"/>
                        <a:t>State</a:t>
                      </a:r>
                    </a:p>
                  </a:txBody>
                  <a:tcPr/>
                </a:tc>
                <a:tc>
                  <a:txBody>
                    <a:bodyPr/>
                    <a:lstStyle/>
                    <a:p>
                      <a:r>
                        <a:rPr lang="en-US"/>
                        <a:t>Market Status</a:t>
                      </a:r>
                    </a:p>
                  </a:txBody>
                  <a:tcPr/>
                </a:tc>
                <a:tc>
                  <a:txBody>
                    <a:bodyPr/>
                    <a:lstStyle/>
                    <a:p>
                      <a:r>
                        <a:rPr lang="en-US"/>
                        <a:t>Challenge</a:t>
                      </a:r>
                    </a:p>
                  </a:txBody>
                  <a:tcPr/>
                </a:tc>
                <a:tc>
                  <a:txBody>
                    <a:bodyPr/>
                    <a:lstStyle/>
                    <a:p>
                      <a:r>
                        <a:rPr lang="en-US"/>
                        <a:t>Opportunity</a:t>
                      </a:r>
                    </a:p>
                  </a:txBody>
                  <a:tcPr/>
                </a:tc>
                <a:tc>
                  <a:txBody>
                    <a:bodyPr/>
                    <a:lstStyle/>
                    <a:p>
                      <a:pPr lvl="0">
                        <a:buNone/>
                      </a:pPr>
                      <a:r>
                        <a:rPr lang="en-US"/>
                        <a:t>APTIM Role</a:t>
                      </a:r>
                    </a:p>
                  </a:txBody>
                  <a:tcPr/>
                </a:tc>
                <a:extLst>
                  <a:ext uri="{0D108BD9-81ED-4DB2-BD59-A6C34878D82A}">
                    <a16:rowId xmlns:a16="http://schemas.microsoft.com/office/drawing/2014/main" val="2062150352"/>
                  </a:ext>
                </a:extLst>
              </a:tr>
              <a:tr h="789519">
                <a:tc>
                  <a:txBody>
                    <a:bodyPr/>
                    <a:lstStyle/>
                    <a:p>
                      <a:pPr lvl="0">
                        <a:buNone/>
                      </a:pPr>
                      <a:r>
                        <a:rPr lang="en-US"/>
                        <a:t>California</a:t>
                      </a:r>
                    </a:p>
                  </a:txBody>
                  <a:tcPr/>
                </a:tc>
                <a:tc>
                  <a:txBody>
                    <a:bodyPr/>
                    <a:lstStyle/>
                    <a:p>
                      <a:pPr lvl="0">
                        <a:buNone/>
                      </a:pPr>
                      <a:r>
                        <a:rPr lang="en-US"/>
                        <a:t>Mature</a:t>
                      </a:r>
                    </a:p>
                  </a:txBody>
                  <a:tcPr/>
                </a:tc>
                <a:tc>
                  <a:txBody>
                    <a:bodyPr/>
                    <a:lstStyle/>
                    <a:p>
                      <a:pPr lvl="0">
                        <a:buNone/>
                      </a:pPr>
                      <a:endParaRPr lang="en-US"/>
                    </a:p>
                  </a:txBody>
                  <a:tcPr/>
                </a:tc>
                <a:tc>
                  <a:txBody>
                    <a:bodyPr/>
                    <a:lstStyle/>
                    <a:p>
                      <a:pPr lvl="0">
                        <a:buNone/>
                      </a:pPr>
                      <a:endParaRPr lang="en-US"/>
                    </a:p>
                  </a:txBody>
                  <a:tcPr/>
                </a:tc>
                <a:tc>
                  <a:txBody>
                    <a:bodyPr/>
                    <a:lstStyle/>
                    <a:p>
                      <a:pPr lvl="0">
                        <a:buNone/>
                      </a:pPr>
                      <a:endParaRPr lang="en-US"/>
                    </a:p>
                  </a:txBody>
                  <a:tcPr/>
                </a:tc>
                <a:extLst>
                  <a:ext uri="{0D108BD9-81ED-4DB2-BD59-A6C34878D82A}">
                    <a16:rowId xmlns:a16="http://schemas.microsoft.com/office/drawing/2014/main" val="3381376302"/>
                  </a:ext>
                </a:extLst>
              </a:tr>
              <a:tr h="1436927">
                <a:tc>
                  <a:txBody>
                    <a:bodyPr/>
                    <a:lstStyle/>
                    <a:p>
                      <a:r>
                        <a:rPr lang="en-US"/>
                        <a:t>North Carolina </a:t>
                      </a:r>
                    </a:p>
                  </a:txBody>
                  <a:tcPr>
                    <a:lnB w="12700">
                      <a:solidFill>
                        <a:schemeClr val="tx1"/>
                      </a:solidFill>
                    </a:lnB>
                  </a:tcPr>
                </a:tc>
                <a:tc>
                  <a:txBody>
                    <a:bodyPr/>
                    <a:lstStyle/>
                    <a:p>
                      <a:r>
                        <a:rPr lang="en-US"/>
                        <a:t>Growing </a:t>
                      </a:r>
                    </a:p>
                  </a:txBody>
                  <a:tcPr>
                    <a:lnB w="12700">
                      <a:solidFill>
                        <a:schemeClr val="tx1"/>
                      </a:solidFill>
                    </a:lnB>
                  </a:tcPr>
                </a:tc>
                <a:tc>
                  <a:txBody>
                    <a:bodyPr/>
                    <a:lstStyle/>
                    <a:p>
                      <a:r>
                        <a:rPr lang="en-US"/>
                        <a:t>Managing load growth and distributed resource integration</a:t>
                      </a:r>
                    </a:p>
                  </a:txBody>
                  <a:tcPr>
                    <a:lnB w="12700">
                      <a:solidFill>
                        <a:schemeClr val="tx1"/>
                      </a:solidFill>
                    </a:lnB>
                  </a:tcPr>
                </a:tc>
                <a:tc>
                  <a:txBody>
                    <a:bodyPr/>
                    <a:lstStyle/>
                    <a:p>
                      <a:r>
                        <a:rPr lang="en-US"/>
                        <a:t>Mature solar market with growing interest</a:t>
                      </a:r>
                    </a:p>
                  </a:txBody>
                  <a:tcPr>
                    <a:lnB w="12700" cap="flat" cmpd="sng" algn="ctr">
                      <a:solidFill>
                        <a:schemeClr val="tx1"/>
                      </a:solidFill>
                      <a:prstDash val="solid"/>
                      <a:round/>
                      <a:headEnd type="none" w="med" len="med"/>
                      <a:tailEnd type="none" w="med" len="med"/>
                    </a:lnB>
                  </a:tcPr>
                </a:tc>
                <a:tc>
                  <a:txBody>
                    <a:bodyPr/>
                    <a:lstStyle/>
                    <a:p>
                      <a:pPr lvl="0">
                        <a:buNone/>
                      </a:pPr>
                      <a:r>
                        <a:rPr lang="en-US"/>
                        <a:t>Program design and implementation</a:t>
                      </a:r>
                    </a:p>
                  </a:txBody>
                  <a:tcPr>
                    <a:lnB w="12700">
                      <a:solidFill>
                        <a:schemeClr val="tx1"/>
                      </a:solidFill>
                    </a:lnB>
                  </a:tcPr>
                </a:tc>
                <a:extLst>
                  <a:ext uri="{0D108BD9-81ED-4DB2-BD59-A6C34878D82A}">
                    <a16:rowId xmlns:a16="http://schemas.microsoft.com/office/drawing/2014/main" val="1662102389"/>
                  </a:ext>
                </a:extLst>
              </a:tr>
              <a:tr h="1436927">
                <a:tc>
                  <a:txBody>
                    <a:bodyPr/>
                    <a:lstStyle/>
                    <a:p>
                      <a:pPr lvl="0">
                        <a:buNone/>
                      </a:pPr>
                      <a:r>
                        <a:rPr lang="en-US"/>
                        <a:t>Michigan</a:t>
                      </a:r>
                    </a:p>
                  </a:txBody>
                  <a:tcPr>
                    <a:lnL w="12700">
                      <a:solidFill>
                        <a:schemeClr val="tx1"/>
                      </a:solidFill>
                    </a:lnL>
                    <a:lnT w="12700">
                      <a:solidFill>
                        <a:schemeClr val="tx1"/>
                      </a:solidFill>
                    </a:lnT>
                    <a:lnB w="12700">
                      <a:solidFill>
                        <a:schemeClr val="tx1"/>
                      </a:solidFill>
                    </a:lnB>
                    <a:solidFill>
                      <a:schemeClr val="accent2">
                        <a:lumMod val="20000"/>
                        <a:lumOff val="80000"/>
                      </a:schemeClr>
                    </a:solidFill>
                  </a:tcPr>
                </a:tc>
                <a:tc>
                  <a:txBody>
                    <a:bodyPr/>
                    <a:lstStyle/>
                    <a:p>
                      <a:pPr lvl="0">
                        <a:buNone/>
                      </a:pPr>
                      <a:r>
                        <a:rPr lang="en-US"/>
                        <a:t>Emerging (Pilot)</a:t>
                      </a:r>
                    </a:p>
                  </a:txBody>
                  <a:tcPr>
                    <a:lnT w="12700">
                      <a:solidFill>
                        <a:schemeClr val="tx1"/>
                      </a:solidFill>
                    </a:lnT>
                    <a:lnB w="12700">
                      <a:solidFill>
                        <a:schemeClr val="tx1"/>
                      </a:solidFill>
                    </a:lnB>
                    <a:solidFill>
                      <a:schemeClr val="accent2">
                        <a:lumMod val="20000"/>
                        <a:lumOff val="80000"/>
                      </a:schemeClr>
                    </a:solidFill>
                  </a:tcPr>
                </a:tc>
                <a:tc>
                  <a:txBody>
                    <a:bodyPr/>
                    <a:lstStyle/>
                    <a:p>
                      <a:pPr lvl="0">
                        <a:buNone/>
                      </a:pPr>
                      <a:r>
                        <a:rPr lang="en-US"/>
                        <a:t>Establishing regulatory and economic justification for programs</a:t>
                      </a:r>
                    </a:p>
                  </a:txBody>
                  <a:tcPr>
                    <a:lnT w="12700">
                      <a:solidFill>
                        <a:schemeClr val="tx1"/>
                      </a:solidFill>
                    </a:lnT>
                    <a:lnB w="12700">
                      <a:solidFill>
                        <a:schemeClr val="tx1"/>
                      </a:solidFill>
                    </a:lnB>
                    <a:solidFill>
                      <a:schemeClr val="accent2">
                        <a:lumMod val="20000"/>
                        <a:lumOff val="80000"/>
                      </a:schemeClr>
                    </a:solidFill>
                  </a:tcPr>
                </a:tc>
                <a:tc>
                  <a:txBody>
                    <a:bodyPr/>
                    <a:lstStyle/>
                    <a:p>
                      <a:pPr lvl="0">
                        <a:buNone/>
                      </a:pPr>
                      <a:r>
                        <a:rPr lang="en-US"/>
                        <a:t>Utility and regulatory interest in storage, DER aggregation, and VPPS</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vl="0">
                        <a:buNone/>
                      </a:pPr>
                      <a:r>
                        <a:rPr lang="en-US"/>
                        <a:t>Regulatory support, business case development, and pilot administration </a:t>
                      </a:r>
                    </a:p>
                  </a:txBody>
                  <a:tcPr>
                    <a:lnR w="12700">
                      <a:solidFill>
                        <a:schemeClr val="tx1"/>
                      </a:solidFill>
                    </a:lnR>
                    <a:lnT w="12700">
                      <a:solidFill>
                        <a:schemeClr val="tx1"/>
                      </a:solidFill>
                    </a:lnT>
                    <a:lnB w="12700">
                      <a:solidFill>
                        <a:schemeClr val="tx1"/>
                      </a:solidFill>
                    </a:lnB>
                    <a:solidFill>
                      <a:schemeClr val="accent2">
                        <a:lumMod val="20000"/>
                        <a:lumOff val="80000"/>
                      </a:schemeClr>
                    </a:solidFill>
                  </a:tcPr>
                </a:tc>
                <a:extLst>
                  <a:ext uri="{0D108BD9-81ED-4DB2-BD59-A6C34878D82A}">
                    <a16:rowId xmlns:a16="http://schemas.microsoft.com/office/drawing/2014/main" val="3893195930"/>
                  </a:ext>
                </a:extLst>
              </a:tr>
              <a:tr h="1484298">
                <a:tc>
                  <a:txBody>
                    <a:bodyPr/>
                    <a:lstStyle/>
                    <a:p>
                      <a:r>
                        <a:rPr lang="en-US"/>
                        <a:t>Wisconsin </a:t>
                      </a:r>
                    </a:p>
                  </a:txBody>
                  <a:tcPr>
                    <a:lnT w="12700">
                      <a:solidFill>
                        <a:schemeClr val="tx1"/>
                      </a:solidFill>
                    </a:lnT>
                  </a:tcPr>
                </a:tc>
                <a:tc>
                  <a:txBody>
                    <a:bodyPr/>
                    <a:lstStyle/>
                    <a:p>
                      <a:endParaRPr lang="en-US"/>
                    </a:p>
                  </a:txBody>
                  <a:tcPr>
                    <a:lnT w="12700">
                      <a:solidFill>
                        <a:schemeClr val="tx1"/>
                      </a:solidFill>
                    </a:lnT>
                  </a:tcPr>
                </a:tc>
                <a:tc>
                  <a:txBody>
                    <a:bodyPr/>
                    <a:lstStyle/>
                    <a:p>
                      <a:r>
                        <a:rPr lang="en-US"/>
                        <a:t>Lower customer awareness and early-stage market development</a:t>
                      </a:r>
                    </a:p>
                  </a:txBody>
                  <a:tcPr>
                    <a:lnT w="12700">
                      <a:solidFill>
                        <a:schemeClr val="tx1"/>
                      </a:solidFill>
                    </a:lnT>
                  </a:tcPr>
                </a:tc>
                <a:tc>
                  <a:txBody>
                    <a:bodyPr/>
                    <a:lstStyle/>
                    <a:p>
                      <a:r>
                        <a:rPr lang="en-US"/>
                        <a:t>Emerging opportunity for residential storage and grid flexibility programs. </a:t>
                      </a:r>
                    </a:p>
                  </a:txBody>
                  <a:tcPr>
                    <a:lnT w="12700" cap="flat" cmpd="sng" algn="ctr">
                      <a:solidFill>
                        <a:schemeClr val="tx1"/>
                      </a:solidFill>
                      <a:prstDash val="solid"/>
                      <a:round/>
                      <a:headEnd type="none" w="med" len="med"/>
                      <a:tailEnd type="none" w="med" len="med"/>
                    </a:lnT>
                  </a:tcPr>
                </a:tc>
                <a:tc>
                  <a:txBody>
                    <a:bodyPr/>
                    <a:lstStyle/>
                    <a:p>
                      <a:pPr lvl="0">
                        <a:buNone/>
                      </a:pPr>
                      <a:r>
                        <a:rPr lang="en-US"/>
                        <a:t>Customer recruitment, and program launch support</a:t>
                      </a:r>
                    </a:p>
                  </a:txBody>
                  <a:tcPr>
                    <a:lnT w="12700">
                      <a:solidFill>
                        <a:schemeClr val="tx1"/>
                      </a:solidFill>
                    </a:lnT>
                  </a:tcPr>
                </a:tc>
                <a:extLst>
                  <a:ext uri="{0D108BD9-81ED-4DB2-BD59-A6C34878D82A}">
                    <a16:rowId xmlns:a16="http://schemas.microsoft.com/office/drawing/2014/main" val="3743746382"/>
                  </a:ext>
                </a:extLst>
              </a:tr>
            </a:tbl>
          </a:graphicData>
        </a:graphic>
      </p:graphicFrame>
    </p:spTree>
    <p:extLst>
      <p:ext uri="{BB962C8B-B14F-4D97-AF65-F5344CB8AC3E}">
        <p14:creationId xmlns:p14="http://schemas.microsoft.com/office/powerpoint/2010/main" val="14570295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A28AF-E675-6286-20C9-FBF07F8488AC}"/>
              </a:ext>
            </a:extLst>
          </p:cNvPr>
          <p:cNvSpPr>
            <a:spLocks noGrp="1"/>
          </p:cNvSpPr>
          <p:nvPr>
            <p:ph type="title"/>
          </p:nvPr>
        </p:nvSpPr>
        <p:spPr/>
        <p:txBody>
          <a:bodyPr/>
          <a:lstStyle/>
          <a:p>
            <a:r>
              <a:rPr lang="en-US">
                <a:latin typeface="Arial Black"/>
                <a:cs typeface="Arial"/>
              </a:rPr>
              <a:t>Market Analysis: Market Size and APTIM's Goal</a:t>
            </a:r>
            <a:endParaRPr lang="en-US"/>
          </a:p>
        </p:txBody>
      </p:sp>
      <p:graphicFrame>
        <p:nvGraphicFramePr>
          <p:cNvPr id="2435" name="Content Placeholder 2434">
            <a:extLst>
              <a:ext uri="{FF2B5EF4-FFF2-40B4-BE49-F238E27FC236}">
                <a16:creationId xmlns:a16="http://schemas.microsoft.com/office/drawing/2014/main" id="{6D14276C-A3B0-4E40-DBD0-B18394AA12DC}"/>
              </a:ext>
            </a:extLst>
          </p:cNvPr>
          <p:cNvGraphicFramePr>
            <a:graphicFrameLocks noGrp="1"/>
          </p:cNvGraphicFramePr>
          <p:nvPr>
            <p:ph sz="half" idx="1"/>
            <p:extLst>
              <p:ext uri="{D42A27DB-BD31-4B8C-83A1-F6EECF244321}">
                <p14:modId xmlns:p14="http://schemas.microsoft.com/office/powerpoint/2010/main" val="2453689262"/>
              </p:ext>
            </p:extLst>
          </p:nvPr>
        </p:nvGraphicFramePr>
        <p:xfrm>
          <a:off x="438604" y="1259115"/>
          <a:ext cx="5544457" cy="490605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823" name="Content Placeholder 2822">
            <a:extLst>
              <a:ext uri="{FF2B5EF4-FFF2-40B4-BE49-F238E27FC236}">
                <a16:creationId xmlns:a16="http://schemas.microsoft.com/office/drawing/2014/main" id="{2F0B048E-CBFE-A567-E013-FE7F500CC153}"/>
              </a:ext>
            </a:extLst>
          </p:cNvPr>
          <p:cNvGraphicFramePr>
            <a:graphicFrameLocks noGrp="1"/>
          </p:cNvGraphicFramePr>
          <p:nvPr>
            <p:ph sz="half" idx="2"/>
            <p:extLst>
              <p:ext uri="{D42A27DB-BD31-4B8C-83A1-F6EECF244321}">
                <p14:modId xmlns:p14="http://schemas.microsoft.com/office/powerpoint/2010/main" val="3102658218"/>
              </p:ext>
            </p:extLst>
          </p:nvPr>
        </p:nvGraphicFramePr>
        <p:xfrm>
          <a:off x="6378575" y="1411515"/>
          <a:ext cx="5384800" cy="4746398"/>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
        <p:nvSpPr>
          <p:cNvPr id="7" name="Footer Placeholder 6">
            <a:extLst>
              <a:ext uri="{FF2B5EF4-FFF2-40B4-BE49-F238E27FC236}">
                <a16:creationId xmlns:a16="http://schemas.microsoft.com/office/drawing/2014/main" id="{A1298351-0804-63D7-AA4D-300CCB071AA5}"/>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4EFA6261-7106-B081-F1FA-CA434C399E9E}"/>
              </a:ext>
            </a:extLst>
          </p:cNvPr>
          <p:cNvSpPr>
            <a:spLocks noGrp="1"/>
          </p:cNvSpPr>
          <p:nvPr>
            <p:ph type="sldNum" sz="quarter" idx="12"/>
          </p:nvPr>
        </p:nvSpPr>
        <p:spPr/>
        <p:txBody>
          <a:bodyPr/>
          <a:lstStyle/>
          <a:p>
            <a:fld id="{F8F6B9CD-BE6B-498B-93B3-0FAD7ADE75E3}" type="slidenum">
              <a:rPr lang="en-US" smtClean="0"/>
              <a:t>11</a:t>
            </a:fld>
            <a:endParaRPr lang="en-US"/>
          </a:p>
        </p:txBody>
      </p:sp>
    </p:spTree>
    <p:extLst>
      <p:ext uri="{BB962C8B-B14F-4D97-AF65-F5344CB8AC3E}">
        <p14:creationId xmlns:p14="http://schemas.microsoft.com/office/powerpoint/2010/main" val="3717839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3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2" presetClass="entr" presetSubtype="4" fill="hold" grpId="0" nodeType="clickEffect">
                                  <p:stCondLst>
                                    <p:cond delay="0"/>
                                  </p:stCondLst>
                                  <p:childTnLst>
                                    <p:set>
                                      <p:cBhvr>
                                        <p:cTn id="10" dur="1" fill="hold">
                                          <p:stCondLst>
                                            <p:cond delay="0"/>
                                          </p:stCondLst>
                                        </p:cTn>
                                        <p:tgtEl>
                                          <p:spTgt spid="2823"/>
                                        </p:tgtEl>
                                        <p:attrNameLst>
                                          <p:attrName>style.visibility</p:attrName>
                                        </p:attrNameLst>
                                      </p:cBhvr>
                                      <p:to>
                                        <p:strVal val="visible"/>
                                      </p:to>
                                    </p:set>
                                    <p:anim calcmode="lin" valueType="num">
                                      <p:cBhvr additive="base">
                                        <p:cTn id="11" dur="500"/>
                                        <p:tgtEl>
                                          <p:spTgt spid="2823"/>
                                        </p:tgtEl>
                                        <p:attrNameLst>
                                          <p:attrName>ppt_y</p:attrName>
                                        </p:attrNameLst>
                                      </p:cBhvr>
                                      <p:tavLst>
                                        <p:tav tm="0">
                                          <p:val>
                                            <p:strVal val="#ppt_y+#ppt_h*1.125000"/>
                                          </p:val>
                                        </p:tav>
                                        <p:tav tm="100000">
                                          <p:val>
                                            <p:strVal val="#ppt_y"/>
                                          </p:val>
                                        </p:tav>
                                      </p:tavLst>
                                    </p:anim>
                                    <p:animEffect transition="in" filter="wipe(up)">
                                      <p:cBhvr>
                                        <p:cTn id="12" dur="500"/>
                                        <p:tgtEl>
                                          <p:spTgt spid="28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435" grpId="0">
        <p:bldAsOne/>
      </p:bldGraphic>
      <p:bldGraphic spid="2823" grpId="0">
        <p:bldAsOne/>
      </p:bldGraphic>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619780"/>
            <a:ext cx="11247120" cy="523220"/>
          </a:xfrm>
          <a:prstGeom prst="rect">
            <a:avLst/>
          </a:prstGeom>
          <a:noFill/>
        </p:spPr>
        <p:txBody>
          <a:bodyPr wrap="square">
            <a:spAutoFit/>
          </a:bodyPr>
          <a:lstStyle/>
          <a:p>
            <a:r>
              <a:rPr sz="2800" b="1">
                <a:solidFill>
                  <a:srgbClr val="002856"/>
                </a:solidFill>
                <a:latin typeface="Arial Black" panose="020B0A04020102020204" pitchFamily="34" charset="0"/>
              </a:rPr>
              <a:t>The Big Picture: How This Program Works</a:t>
            </a:r>
          </a:p>
        </p:txBody>
      </p:sp>
      <p:sp>
        <p:nvSpPr>
          <p:cNvPr id="4" name="Rectangle 3"/>
          <p:cNvSpPr/>
          <p:nvPr/>
        </p:nvSpPr>
        <p:spPr>
          <a:xfrm>
            <a:off x="365760" y="1463040"/>
            <a:ext cx="2555748" cy="2651760"/>
          </a:xfrm>
          <a:prstGeom prst="rect">
            <a:avLst/>
          </a:prstGeom>
          <a:solidFill>
            <a:srgbClr val="A32036"/>
          </a:solidFill>
          <a:ln>
            <a:noFill/>
          </a:ln>
        </p:spPr>
        <p:style>
          <a:lnRef idx="1">
            <a:schemeClr val="accent1"/>
          </a:lnRef>
          <a:fillRef idx="3">
            <a:schemeClr val="accent1"/>
          </a:fillRef>
          <a:effectRef idx="2">
            <a:schemeClr val="accent1"/>
          </a:effectRef>
          <a:fontRef idx="minor">
            <a:schemeClr val="lt1"/>
          </a:fontRef>
        </p:style>
        <p:txBody>
          <a:bodyPr wrap="square" lIns="137160" tIns="137160" rIns="137160" rtlCol="0" anchor="ctr"/>
          <a:lstStyle/>
          <a:p>
            <a:pPr algn="ctr"/>
            <a:r>
              <a:rPr sz="1500" b="1">
                <a:solidFill>
                  <a:srgbClr val="FFFFFF"/>
                </a:solidFill>
                <a:latin typeface="Arial"/>
              </a:rPr>
              <a:t>1. The Problem</a:t>
            </a:r>
          </a:p>
          <a:p>
            <a:pPr algn="ctr"/>
            <a:r>
              <a:rPr sz="1200">
                <a:solidFill>
                  <a:srgbClr val="FFFFFF"/>
                </a:solidFill>
                <a:latin typeface="Arial"/>
              </a:rPr>
              <a:t>Utilities must keep energy programs</a:t>
            </a:r>
            <a:r>
              <a:rPr lang="en-US" sz="1200">
                <a:solidFill>
                  <a:srgbClr val="FFFFFF"/>
                </a:solidFill>
                <a:latin typeface="Arial"/>
              </a:rPr>
              <a:t> </a:t>
            </a:r>
            <a:r>
              <a:rPr sz="1200">
                <a:solidFill>
                  <a:srgbClr val="FFFFFF"/>
                </a:solidFill>
                <a:latin typeface="Arial"/>
              </a:rPr>
              <a:t>running, but federal funding is</a:t>
            </a:r>
            <a:r>
              <a:rPr lang="en-US" sz="1200">
                <a:solidFill>
                  <a:srgbClr val="FFFFFF"/>
                </a:solidFill>
                <a:latin typeface="Arial"/>
              </a:rPr>
              <a:t> </a:t>
            </a:r>
            <a:r>
              <a:rPr sz="1200">
                <a:solidFill>
                  <a:srgbClr val="FFFFFF"/>
                </a:solidFill>
                <a:latin typeface="Arial"/>
              </a:rPr>
              <a:t>unreliable and mandates don't go away</a:t>
            </a:r>
          </a:p>
        </p:txBody>
      </p:sp>
      <p:sp>
        <p:nvSpPr>
          <p:cNvPr id="5" name="Rectangle 4"/>
          <p:cNvSpPr/>
          <p:nvPr/>
        </p:nvSpPr>
        <p:spPr>
          <a:xfrm>
            <a:off x="3332988" y="1463040"/>
            <a:ext cx="2555748" cy="265176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wrap="square" lIns="137160" tIns="137160" rIns="137160" rtlCol="0" anchor="ctr"/>
          <a:lstStyle/>
          <a:p>
            <a:pPr algn="ctr"/>
            <a:r>
              <a:rPr sz="1500" b="1">
                <a:solidFill>
                  <a:srgbClr val="FFFFFF"/>
                </a:solidFill>
                <a:latin typeface="Arial"/>
              </a:rPr>
              <a:t>2. The Fix</a:t>
            </a:r>
          </a:p>
          <a:p>
            <a:pPr algn="ctr"/>
            <a:r>
              <a:rPr sz="1200">
                <a:solidFill>
                  <a:srgbClr val="FFFFFF"/>
                </a:solidFill>
                <a:latin typeface="Arial"/>
              </a:rPr>
              <a:t>The UTILITY buys and owns a fleet</a:t>
            </a:r>
            <a:r>
              <a:rPr lang="en-US" sz="1200">
                <a:solidFill>
                  <a:srgbClr val="FFFFFF"/>
                </a:solidFill>
                <a:latin typeface="Arial"/>
              </a:rPr>
              <a:t> </a:t>
            </a:r>
            <a:r>
              <a:rPr sz="1200">
                <a:solidFill>
                  <a:srgbClr val="FFFFFF"/>
                </a:solidFill>
                <a:latin typeface="Arial"/>
              </a:rPr>
              <a:t>of home batteries + solar -</a:t>
            </a:r>
            <a:r>
              <a:rPr lang="en-US" sz="1200">
                <a:solidFill>
                  <a:srgbClr val="FFFFFF"/>
                </a:solidFill>
                <a:latin typeface="Arial"/>
              </a:rPr>
              <a:t>-</a:t>
            </a:r>
            <a:r>
              <a:rPr sz="1200">
                <a:solidFill>
                  <a:srgbClr val="FFFFFF"/>
                </a:solidFill>
                <a:latin typeface="Arial"/>
              </a:rPr>
              <a:t>financed like any grid</a:t>
            </a:r>
            <a:r>
              <a:rPr lang="en-US" sz="1200">
                <a:solidFill>
                  <a:srgbClr val="FFFFFF"/>
                </a:solidFill>
                <a:latin typeface="Arial"/>
              </a:rPr>
              <a:t> </a:t>
            </a:r>
            <a:r>
              <a:rPr sz="1200">
                <a:solidFill>
                  <a:srgbClr val="FFFFFF"/>
                </a:solidFill>
                <a:latin typeface="Arial"/>
              </a:rPr>
              <a:t>infrastructure,</a:t>
            </a:r>
            <a:r>
              <a:rPr lang="en-US" sz="1200">
                <a:solidFill>
                  <a:srgbClr val="FFFFFF"/>
                </a:solidFill>
                <a:latin typeface="Arial"/>
              </a:rPr>
              <a:t> </a:t>
            </a:r>
            <a:r>
              <a:rPr sz="1200">
                <a:solidFill>
                  <a:srgbClr val="FFFFFF"/>
                </a:solidFill>
                <a:latin typeface="Arial"/>
              </a:rPr>
              <a:t>not a grant</a:t>
            </a:r>
          </a:p>
        </p:txBody>
      </p:sp>
      <p:sp>
        <p:nvSpPr>
          <p:cNvPr id="6" name="Rectangle 5"/>
          <p:cNvSpPr/>
          <p:nvPr/>
        </p:nvSpPr>
        <p:spPr>
          <a:xfrm>
            <a:off x="6300216" y="1463040"/>
            <a:ext cx="2555748" cy="265176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wrap="square" lIns="137160" tIns="137160" rIns="137160" rtlCol="0" anchor="ctr"/>
          <a:lstStyle/>
          <a:p>
            <a:pPr algn="ctr"/>
            <a:r>
              <a:rPr sz="1500" b="1">
                <a:solidFill>
                  <a:srgbClr val="FFFFFF"/>
                </a:solidFill>
                <a:latin typeface="Arial"/>
              </a:rPr>
              <a:t>3. The Roles</a:t>
            </a:r>
          </a:p>
          <a:p>
            <a:pPr algn="ctr"/>
            <a:r>
              <a:rPr sz="1200">
                <a:solidFill>
                  <a:srgbClr val="FFFFFF"/>
                </a:solidFill>
                <a:latin typeface="Arial"/>
              </a:rPr>
              <a:t>APTIM administers the program.
The household just hosts the
equipment -- $0 cost to them</a:t>
            </a:r>
          </a:p>
        </p:txBody>
      </p:sp>
      <p:sp>
        <p:nvSpPr>
          <p:cNvPr id="7" name="Rectangle 6"/>
          <p:cNvSpPr/>
          <p:nvPr/>
        </p:nvSpPr>
        <p:spPr>
          <a:xfrm>
            <a:off x="9267444" y="1463040"/>
            <a:ext cx="2555748" cy="2651760"/>
          </a:xfrm>
          <a:prstGeom prst="rect">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wrap="square" lIns="137160" tIns="137160" rIns="137160" rtlCol="0" anchor="ctr"/>
          <a:lstStyle/>
          <a:p>
            <a:pPr algn="ctr"/>
            <a:r>
              <a:rPr sz="1500" b="1">
                <a:solidFill>
                  <a:srgbClr val="FFFFFF"/>
                </a:solidFill>
                <a:latin typeface="Arial"/>
              </a:rPr>
              <a:t>4. The Outcome</a:t>
            </a:r>
          </a:p>
          <a:p>
            <a:pPr algn="ctr"/>
            <a:r>
              <a:rPr sz="1200">
                <a:solidFill>
                  <a:srgbClr val="FFFFFF"/>
                </a:solidFill>
                <a:latin typeface="Arial"/>
              </a:rPr>
              <a:t>Utility meets its resilience mandate</a:t>
            </a:r>
            <a:r>
              <a:rPr lang="en-US" sz="1200">
                <a:solidFill>
                  <a:srgbClr val="FFFFFF"/>
                </a:solidFill>
                <a:latin typeface="Arial"/>
              </a:rPr>
              <a:t> </a:t>
            </a:r>
            <a:r>
              <a:rPr sz="1200">
                <a:solidFill>
                  <a:srgbClr val="FFFFFF"/>
                </a:solidFill>
                <a:latin typeface="Arial"/>
              </a:rPr>
              <a:t>and earns a return. APTIM gains a</a:t>
            </a:r>
            <a:r>
              <a:rPr lang="en-US" sz="1200">
                <a:solidFill>
                  <a:srgbClr val="FFFFFF"/>
                </a:solidFill>
                <a:latin typeface="Arial"/>
              </a:rPr>
              <a:t> </a:t>
            </a:r>
            <a:r>
              <a:rPr sz="1200">
                <a:solidFill>
                  <a:srgbClr val="FFFFFF"/>
                </a:solidFill>
                <a:latin typeface="Arial"/>
              </a:rPr>
              <a:t>new revenue line.</a:t>
            </a:r>
            <a:r>
              <a:rPr lang="en-US" sz="1200">
                <a:solidFill>
                  <a:srgbClr val="FFFFFF"/>
                </a:solidFill>
                <a:latin typeface="Arial"/>
              </a:rPr>
              <a:t> </a:t>
            </a:r>
            <a:r>
              <a:rPr sz="1200">
                <a:solidFill>
                  <a:srgbClr val="FFFFFF"/>
                </a:solidFill>
                <a:latin typeface="Arial"/>
              </a:rPr>
              <a:t>Household gets</a:t>
            </a:r>
            <a:r>
              <a:rPr lang="en-US" sz="1200">
                <a:solidFill>
                  <a:srgbClr val="FFFFFF"/>
                </a:solidFill>
                <a:latin typeface="Arial"/>
              </a:rPr>
              <a:t> </a:t>
            </a:r>
            <a:r>
              <a:rPr sz="1200">
                <a:solidFill>
                  <a:srgbClr val="FFFFFF"/>
                </a:solidFill>
                <a:latin typeface="Arial"/>
              </a:rPr>
              <a:t>free backup power</a:t>
            </a:r>
          </a:p>
        </p:txBody>
      </p:sp>
      <p:sp>
        <p:nvSpPr>
          <p:cNvPr id="8" name="TextBox 7"/>
          <p:cNvSpPr txBox="1"/>
          <p:nvPr/>
        </p:nvSpPr>
        <p:spPr>
          <a:xfrm>
            <a:off x="2967227" y="2560320"/>
            <a:ext cx="320040" cy="457200"/>
          </a:xfrm>
          <a:prstGeom prst="rect">
            <a:avLst/>
          </a:prstGeom>
          <a:noFill/>
        </p:spPr>
        <p:txBody>
          <a:bodyPr wrap="none">
            <a:spAutoFit/>
          </a:bodyPr>
          <a:lstStyle/>
          <a:p>
            <a:pPr algn="ctr"/>
            <a:r>
              <a:rPr sz="2200" b="1">
                <a:solidFill>
                  <a:srgbClr val="002856"/>
                </a:solidFill>
              </a:rPr>
              <a:t>→</a:t>
            </a:r>
          </a:p>
        </p:txBody>
      </p:sp>
      <p:sp>
        <p:nvSpPr>
          <p:cNvPr id="9" name="TextBox 8"/>
          <p:cNvSpPr txBox="1"/>
          <p:nvPr/>
        </p:nvSpPr>
        <p:spPr>
          <a:xfrm>
            <a:off x="5934456" y="2560320"/>
            <a:ext cx="320040" cy="457200"/>
          </a:xfrm>
          <a:prstGeom prst="rect">
            <a:avLst/>
          </a:prstGeom>
          <a:noFill/>
        </p:spPr>
        <p:txBody>
          <a:bodyPr wrap="none">
            <a:spAutoFit/>
          </a:bodyPr>
          <a:lstStyle/>
          <a:p>
            <a:pPr algn="ctr"/>
            <a:r>
              <a:rPr sz="2200" b="1">
                <a:solidFill>
                  <a:srgbClr val="002856"/>
                </a:solidFill>
              </a:rPr>
              <a:t>→</a:t>
            </a:r>
          </a:p>
        </p:txBody>
      </p:sp>
      <p:sp>
        <p:nvSpPr>
          <p:cNvPr id="10" name="TextBox 9"/>
          <p:cNvSpPr txBox="1"/>
          <p:nvPr/>
        </p:nvSpPr>
        <p:spPr>
          <a:xfrm>
            <a:off x="8901684" y="2560320"/>
            <a:ext cx="320040" cy="457200"/>
          </a:xfrm>
          <a:prstGeom prst="rect">
            <a:avLst/>
          </a:prstGeom>
          <a:noFill/>
        </p:spPr>
        <p:txBody>
          <a:bodyPr wrap="none">
            <a:spAutoFit/>
          </a:bodyPr>
          <a:lstStyle/>
          <a:p>
            <a:pPr algn="ctr"/>
            <a:r>
              <a:rPr sz="2200" b="1">
                <a:solidFill>
                  <a:srgbClr val="002856"/>
                </a:solidFill>
              </a:rPr>
              <a:t>→</a:t>
            </a:r>
          </a:p>
        </p:txBody>
      </p:sp>
      <p:sp>
        <p:nvSpPr>
          <p:cNvPr id="11" name="Rectangle 10"/>
          <p:cNvSpPr/>
          <p:nvPr/>
        </p:nvSpPr>
        <p:spPr>
          <a:xfrm>
            <a:off x="365760" y="4434840"/>
            <a:ext cx="11430000" cy="822960"/>
          </a:xfrm>
          <a:prstGeom prst="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wrap="square" lIns="182880" tIns="91440" rtlCol="0" anchor="ctr"/>
          <a:lstStyle/>
          <a:p>
            <a:pPr algn="ctr"/>
            <a:r>
              <a:rPr sz="1400" b="1">
                <a:solidFill>
                  <a:srgbClr val="002856"/>
                </a:solidFill>
                <a:latin typeface="Arial"/>
              </a:rPr>
              <a:t>In one sentence: </a:t>
            </a:r>
            <a:r>
              <a:rPr sz="1400">
                <a:solidFill>
                  <a:srgbClr val="002856"/>
                </a:solidFill>
                <a:latin typeface="Arial"/>
              </a:rPr>
              <a:t>APTIM administers a utility-owned battery + solar fleet -- the utility finances it, APTIM runs it, the household hosts it for free.</a:t>
            </a:r>
          </a:p>
        </p:txBody>
      </p:sp>
      <p:sp>
        <p:nvSpPr>
          <p:cNvPr id="13" name="TextBox 12"/>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4" name="TextBox 13"/>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9</a:t>
            </a:r>
          </a:p>
        </p:txBody>
      </p:sp>
    </p:spTree>
    <p:extLst>
      <p:ext uri="{BB962C8B-B14F-4D97-AF65-F5344CB8AC3E}">
        <p14:creationId xmlns:p14="http://schemas.microsoft.com/office/powerpoint/2010/main" val="4903242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84DC992-5EDA-83F7-3535-28BDF8D6544E}"/>
              </a:ext>
            </a:extLst>
          </p:cNvPr>
          <p:cNvSpPr>
            <a:spLocks noGrp="1"/>
          </p:cNvSpPr>
          <p:nvPr>
            <p:ph type="title"/>
          </p:nvPr>
        </p:nvSpPr>
        <p:spPr/>
        <p:txBody>
          <a:bodyPr/>
          <a:lstStyle/>
          <a:p>
            <a:r>
              <a:rPr lang="en-US"/>
              <a:t>Michigan specific</a:t>
            </a:r>
          </a:p>
        </p:txBody>
      </p:sp>
      <p:sp>
        <p:nvSpPr>
          <p:cNvPr id="5" name="Content Placeholder 4">
            <a:extLst>
              <a:ext uri="{FF2B5EF4-FFF2-40B4-BE49-F238E27FC236}">
                <a16:creationId xmlns:a16="http://schemas.microsoft.com/office/drawing/2014/main" id="{6B27E51D-D8C4-0854-166B-159524DD7E5A}"/>
              </a:ext>
            </a:extLst>
          </p:cNvPr>
          <p:cNvSpPr>
            <a:spLocks noGrp="1"/>
          </p:cNvSpPr>
          <p:nvPr>
            <p:ph idx="1"/>
          </p:nvPr>
        </p:nvSpPr>
        <p:spPr/>
        <p:txBody>
          <a:bodyPr/>
          <a:lstStyle/>
          <a:p>
            <a:r>
              <a:rPr lang="en-US"/>
              <a:t>DTE </a:t>
            </a:r>
          </a:p>
          <a:p>
            <a:r>
              <a:rPr lang="en-US"/>
              <a:t>Other one</a:t>
            </a:r>
          </a:p>
        </p:txBody>
      </p:sp>
      <p:sp>
        <p:nvSpPr>
          <p:cNvPr id="2" name="Footer Placeholder 1">
            <a:extLst>
              <a:ext uri="{FF2B5EF4-FFF2-40B4-BE49-F238E27FC236}">
                <a16:creationId xmlns:a16="http://schemas.microsoft.com/office/drawing/2014/main" id="{74FB00AA-6700-5B52-93EC-FC7D4A0DE61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5AC91A70-5251-34D0-3463-F320B34366BC}"/>
              </a:ext>
            </a:extLst>
          </p:cNvPr>
          <p:cNvSpPr>
            <a:spLocks noGrp="1"/>
          </p:cNvSpPr>
          <p:nvPr>
            <p:ph type="sldNum" sz="quarter" idx="12"/>
          </p:nvPr>
        </p:nvSpPr>
        <p:spPr/>
        <p:txBody>
          <a:bodyPr/>
          <a:lstStyle/>
          <a:p>
            <a:fld id="{F8F6B9CD-BE6B-498B-93B3-0FAD7ADE75E3}" type="slidenum">
              <a:rPr lang="en-US" smtClean="0"/>
              <a:t>13</a:t>
            </a:fld>
            <a:endParaRPr lang="en-US"/>
          </a:p>
        </p:txBody>
      </p:sp>
    </p:spTree>
    <p:extLst>
      <p:ext uri="{BB962C8B-B14F-4D97-AF65-F5344CB8AC3E}">
        <p14:creationId xmlns:p14="http://schemas.microsoft.com/office/powerpoint/2010/main" val="36500097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D8EF4-5EAB-4023-0568-77C0063DB0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30FDFA-04BC-BAFE-3177-E20862F86F1C}"/>
              </a:ext>
            </a:extLst>
          </p:cNvPr>
          <p:cNvSpPr>
            <a:spLocks noGrp="1"/>
          </p:cNvSpPr>
          <p:nvPr>
            <p:ph type="title"/>
          </p:nvPr>
        </p:nvSpPr>
        <p:spPr/>
        <p:txBody>
          <a:bodyPr/>
          <a:lstStyle/>
          <a:p>
            <a:r>
              <a:rPr lang="en-US">
                <a:latin typeface="Arial Black"/>
                <a:cs typeface="Arial"/>
              </a:rPr>
              <a:t>How APTIM Wins</a:t>
            </a:r>
            <a:endParaRPr lang="en-US"/>
          </a:p>
        </p:txBody>
      </p:sp>
      <p:sp>
        <p:nvSpPr>
          <p:cNvPr id="4" name="Footer Placeholder 3">
            <a:extLst>
              <a:ext uri="{FF2B5EF4-FFF2-40B4-BE49-F238E27FC236}">
                <a16:creationId xmlns:a16="http://schemas.microsoft.com/office/drawing/2014/main" id="{027B9ABC-0F7E-D81C-3CEC-92EC59BD66BA}"/>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8309818-9792-1286-3A9C-088C82A3F3AB}"/>
              </a:ext>
            </a:extLst>
          </p:cNvPr>
          <p:cNvSpPr>
            <a:spLocks noGrp="1"/>
          </p:cNvSpPr>
          <p:nvPr>
            <p:ph type="sldNum" sz="quarter" idx="12"/>
          </p:nvPr>
        </p:nvSpPr>
        <p:spPr/>
        <p:txBody>
          <a:bodyPr/>
          <a:lstStyle/>
          <a:p>
            <a:fld id="{F8F6B9CD-BE6B-498B-93B3-0FAD7ADE75E3}" type="slidenum">
              <a:rPr lang="en-US" smtClean="0"/>
              <a:t>14</a:t>
            </a:fld>
            <a:endParaRPr lang="en-US"/>
          </a:p>
        </p:txBody>
      </p:sp>
      <p:sp>
        <p:nvSpPr>
          <p:cNvPr id="11" name="TextBox 10">
            <a:extLst>
              <a:ext uri="{FF2B5EF4-FFF2-40B4-BE49-F238E27FC236}">
                <a16:creationId xmlns:a16="http://schemas.microsoft.com/office/drawing/2014/main" id="{F1EEF561-8855-7215-01EC-51D188B2E042}"/>
              </a:ext>
            </a:extLst>
          </p:cNvPr>
          <p:cNvSpPr txBox="1"/>
          <p:nvPr/>
        </p:nvSpPr>
        <p:spPr>
          <a:xfrm>
            <a:off x="533110" y="1788161"/>
            <a:ext cx="4715546" cy="193899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42900" indent="-342900">
              <a:buFont typeface="Arial" panose="020B0604020202020204" pitchFamily="34" charset="0"/>
              <a:buChar char="•"/>
            </a:pPr>
            <a:r>
              <a:rPr lang="en-US" sz="2000">
                <a:latin typeface="Arial" panose="020B0604020202020204" pitchFamily="34" charset="0"/>
                <a:cs typeface="Arial" panose="020B0604020202020204" pitchFamily="34" charset="0"/>
              </a:rPr>
              <a:t>Proven Large-Scale Delivery</a:t>
            </a:r>
          </a:p>
          <a:p>
            <a:pPr marL="342900" indent="-342900">
              <a:buFont typeface="Arial" panose="020B0604020202020204" pitchFamily="34" charset="0"/>
              <a:buChar char="•"/>
            </a:pPr>
            <a:r>
              <a:rPr lang="en-US" sz="2000">
                <a:latin typeface="Arial" panose="020B0604020202020204" pitchFamily="34" charset="0"/>
                <a:cs typeface="Arial" panose="020B0604020202020204" pitchFamily="34" charset="0"/>
              </a:rPr>
              <a:t>Combines Implementation, Analytics, and Infrastructure Expertise</a:t>
            </a:r>
          </a:p>
          <a:p>
            <a:pPr marL="342900" indent="-342900">
              <a:buFont typeface="Arial" panose="020B0604020202020204" pitchFamily="34" charset="0"/>
              <a:buChar char="•"/>
            </a:pPr>
            <a:r>
              <a:rPr lang="en-US" sz="2000">
                <a:latin typeface="Arial" panose="020B0604020202020204" pitchFamily="34" charset="0"/>
                <a:cs typeface="Arial" panose="020B0604020202020204" pitchFamily="34" charset="0"/>
              </a:rPr>
              <a:t>Proven Success in Resilience, Compliance, and Public-Sector Programs</a:t>
            </a:r>
          </a:p>
        </p:txBody>
      </p:sp>
      <p:pic>
        <p:nvPicPr>
          <p:cNvPr id="16" name="Picture 15">
            <a:extLst>
              <a:ext uri="{FF2B5EF4-FFF2-40B4-BE49-F238E27FC236}">
                <a16:creationId xmlns:a16="http://schemas.microsoft.com/office/drawing/2014/main" id="{B7221E20-18C8-00EE-9CB3-C5086A960485}"/>
              </a:ext>
            </a:extLst>
          </p:cNvPr>
          <p:cNvPicPr>
            <a:picLocks noChangeAspect="1"/>
          </p:cNvPicPr>
          <p:nvPr/>
        </p:nvPicPr>
        <p:blipFill>
          <a:blip r:embed="rId3"/>
          <a:srcRect l="5009" r="1949" b="-227"/>
          <a:stretch>
            <a:fillRect/>
          </a:stretch>
        </p:blipFill>
        <p:spPr>
          <a:xfrm>
            <a:off x="4997449" y="1170442"/>
            <a:ext cx="6447843" cy="5337182"/>
          </a:xfrm>
          <a:prstGeom prst="rect">
            <a:avLst/>
          </a:prstGeom>
        </p:spPr>
      </p:pic>
    </p:spTree>
    <p:extLst>
      <p:ext uri="{BB962C8B-B14F-4D97-AF65-F5344CB8AC3E}">
        <p14:creationId xmlns:p14="http://schemas.microsoft.com/office/powerpoint/2010/main" val="38799359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700AB-5518-DEAE-C384-787352C836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92087F-8433-6B3E-26CE-FC4EBDE89385}"/>
              </a:ext>
            </a:extLst>
          </p:cNvPr>
          <p:cNvSpPr>
            <a:spLocks noGrp="1"/>
          </p:cNvSpPr>
          <p:nvPr>
            <p:ph type="title"/>
          </p:nvPr>
        </p:nvSpPr>
        <p:spPr/>
        <p:txBody>
          <a:bodyPr/>
          <a:lstStyle/>
          <a:p>
            <a:r>
              <a:rPr>
                <a:solidFill>
                  <a:srgbClr val="002856"/>
                </a:solidFill>
              </a:rPr>
              <a:t>Why Michigan?</a:t>
            </a:r>
          </a:p>
        </p:txBody>
      </p:sp>
      <p:sp>
        <p:nvSpPr>
          <p:cNvPr id="6" name="Rounded Rectangle 5">
            <a:extLst>
              <a:ext uri="{FF2B5EF4-FFF2-40B4-BE49-F238E27FC236}">
                <a16:creationId xmlns:a16="http://schemas.microsoft.com/office/drawing/2014/main" id="{F82E2E83-BBBC-A445-CB0C-7692E7318F5E}"/>
              </a:ext>
            </a:extLst>
          </p:cNvPr>
          <p:cNvSpPr/>
          <p:nvPr/>
        </p:nvSpPr>
        <p:spPr>
          <a:xfrm>
            <a:off x="457200" y="5623560"/>
            <a:ext cx="11247120" cy="777240"/>
          </a:xfrm>
          <a:prstGeom prst="roundRect">
            <a:avLst>
              <a:gd name="adj" fmla="val 6000"/>
            </a:avLst>
          </a:prstGeom>
          <a:solidFill>
            <a:srgbClr val="FF8200"/>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ctr"/>
            <a:r>
              <a:rPr lang="en-US" sz="1400" b="1">
                <a:solidFill>
                  <a:srgbClr val="FFFFFF"/>
                </a:solidFill>
                <a:latin typeface="Arial"/>
              </a:rPr>
              <a:t>Ann Arbor was selected to maximize pilot success, generate operational data, and reduce deployment risk before broader expansion</a:t>
            </a:r>
            <a:endParaRPr sz="1400" b="1">
              <a:solidFill>
                <a:srgbClr val="FFFFFF"/>
              </a:solidFill>
              <a:latin typeface="Arial"/>
            </a:endParaRPr>
          </a:p>
        </p:txBody>
      </p:sp>
      <p:sp>
        <p:nvSpPr>
          <p:cNvPr id="7" name="TextBox 6">
            <a:extLst>
              <a:ext uri="{FF2B5EF4-FFF2-40B4-BE49-F238E27FC236}">
                <a16:creationId xmlns:a16="http://schemas.microsoft.com/office/drawing/2014/main" id="{24393B27-99EA-09FB-134F-10CE16A4E6D3}"/>
              </a:ext>
            </a:extLst>
          </p:cNvPr>
          <p:cNvSpPr txBox="1"/>
          <p:nvPr/>
        </p:nvSpPr>
        <p:spPr>
          <a:xfrm>
            <a:off x="3657600" y="6583680"/>
            <a:ext cx="5760720"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8" name="TextBox 7">
            <a:extLst>
              <a:ext uri="{FF2B5EF4-FFF2-40B4-BE49-F238E27FC236}">
                <a16:creationId xmlns:a16="http://schemas.microsoft.com/office/drawing/2014/main" id="{7FF61D92-E000-E14B-3370-685876C64803}"/>
              </a:ext>
            </a:extLst>
          </p:cNvPr>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15</a:t>
            </a:r>
          </a:p>
        </p:txBody>
      </p:sp>
      <p:pic>
        <p:nvPicPr>
          <p:cNvPr id="13" name="Picture 12" descr="E-book available: Ann Arbor @ Work (Acquiring Talent in the Greater Ann ...">
            <a:extLst>
              <a:ext uri="{FF2B5EF4-FFF2-40B4-BE49-F238E27FC236}">
                <a16:creationId xmlns:a16="http://schemas.microsoft.com/office/drawing/2014/main" id="{19000AEE-5102-3EC6-45FD-997341239897}"/>
              </a:ext>
            </a:extLst>
          </p:cNvPr>
          <p:cNvPicPr>
            <a:picLocks noChangeAspect="1"/>
          </p:cNvPicPr>
          <p:nvPr/>
        </p:nvPicPr>
        <p:blipFill>
          <a:blip r:embed="rId3"/>
          <a:stretch>
            <a:fillRect/>
          </a:stretch>
        </p:blipFill>
        <p:spPr>
          <a:xfrm>
            <a:off x="4318944" y="1352741"/>
            <a:ext cx="3554108" cy="3580434"/>
          </a:xfrm>
          <a:prstGeom prst="rect">
            <a:avLst/>
          </a:prstGeom>
        </p:spPr>
      </p:pic>
      <p:sp>
        <p:nvSpPr>
          <p:cNvPr id="17" name="Rounded Rectangle 3">
            <a:extLst>
              <a:ext uri="{FF2B5EF4-FFF2-40B4-BE49-F238E27FC236}">
                <a16:creationId xmlns:a16="http://schemas.microsoft.com/office/drawing/2014/main" id="{52B32613-EC13-1D66-4789-F53D2F9A0BF7}"/>
              </a:ext>
            </a:extLst>
          </p:cNvPr>
          <p:cNvSpPr/>
          <p:nvPr/>
        </p:nvSpPr>
        <p:spPr>
          <a:xfrm>
            <a:off x="609599" y="1661643"/>
            <a:ext cx="3328416" cy="315468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tIns="228600" rIns="228600" rtlCol="0" anchor="ctr"/>
          <a:lstStyle/>
          <a:p>
            <a:pPr algn="ctr">
              <a:spcAft>
                <a:spcPts val="1000"/>
              </a:spcAft>
            </a:pPr>
            <a:r>
              <a:rPr sz="1800" b="1">
                <a:solidFill>
                  <a:srgbClr val="FFB71B"/>
                </a:solidFill>
                <a:latin typeface="Arial"/>
              </a:rPr>
              <a:t>Why Michigan?</a:t>
            </a:r>
            <a:endParaRPr lang="en-US" b="1">
              <a:solidFill>
                <a:srgbClr val="FFB71B"/>
              </a:solidFill>
              <a:latin typeface="Arial"/>
            </a:endParaRPr>
          </a:p>
          <a:p>
            <a:pPr>
              <a:spcAft>
                <a:spcPts val="1000"/>
              </a:spcAft>
            </a:pPr>
            <a:r>
              <a:rPr sz="1400" b="1">
                <a:solidFill>
                  <a:srgbClr val="FFB71B"/>
                </a:solidFill>
                <a:latin typeface="Arial"/>
              </a:rPr>
              <a:t>✓  </a:t>
            </a:r>
            <a:r>
              <a:rPr sz="1400">
                <a:solidFill>
                  <a:srgbClr val="FFFFFF"/>
                </a:solidFill>
                <a:latin typeface="Arial"/>
              </a:rPr>
              <a:t>2,500 MW statewide storage target</a:t>
            </a:r>
          </a:p>
          <a:p>
            <a:pPr>
              <a:spcAft>
                <a:spcPts val="1000"/>
              </a:spcAft>
            </a:pPr>
            <a:r>
              <a:rPr sz="1400" b="1">
                <a:solidFill>
                  <a:srgbClr val="FFB71B"/>
                </a:solidFill>
                <a:latin typeface="Arial"/>
              </a:rPr>
              <a:t>✓  </a:t>
            </a:r>
            <a:r>
              <a:rPr sz="1400">
                <a:solidFill>
                  <a:srgbClr val="FFFFFF"/>
                </a:solidFill>
                <a:latin typeface="Arial"/>
              </a:rPr>
              <a:t>DTE identified storage need</a:t>
            </a:r>
          </a:p>
          <a:p>
            <a:pPr>
              <a:spcAft>
                <a:spcPts val="1000"/>
              </a:spcAft>
            </a:pPr>
            <a:r>
              <a:rPr sz="1400" b="1">
                <a:solidFill>
                  <a:srgbClr val="FFB71B"/>
                </a:solidFill>
                <a:latin typeface="Arial"/>
              </a:rPr>
              <a:t>✓  </a:t>
            </a:r>
            <a:r>
              <a:rPr sz="1400">
                <a:solidFill>
                  <a:srgbClr val="FFFFFF"/>
                </a:solidFill>
                <a:latin typeface="Arial"/>
              </a:rPr>
              <a:t>Growing demand from electrification and data centers</a:t>
            </a:r>
          </a:p>
          <a:p>
            <a:pPr>
              <a:spcAft>
                <a:spcPts val="1000"/>
              </a:spcAft>
            </a:pPr>
            <a:r>
              <a:rPr sz="1400" b="1">
                <a:solidFill>
                  <a:srgbClr val="FFB71B"/>
                </a:solidFill>
                <a:latin typeface="Arial"/>
              </a:rPr>
              <a:t>✓  </a:t>
            </a:r>
            <a:r>
              <a:rPr sz="1400">
                <a:solidFill>
                  <a:srgbClr val="FFFFFF"/>
                </a:solidFill>
                <a:latin typeface="Arial"/>
              </a:rPr>
              <a:t>Utility-scale battery deployment already underway</a:t>
            </a:r>
          </a:p>
        </p:txBody>
      </p:sp>
      <p:sp>
        <p:nvSpPr>
          <p:cNvPr id="21" name="Rounded Rectangle 4">
            <a:extLst>
              <a:ext uri="{FF2B5EF4-FFF2-40B4-BE49-F238E27FC236}">
                <a16:creationId xmlns:a16="http://schemas.microsoft.com/office/drawing/2014/main" id="{FFE63B24-9097-EF93-54A3-D4B31C9D6DFC}"/>
              </a:ext>
            </a:extLst>
          </p:cNvPr>
          <p:cNvSpPr/>
          <p:nvPr/>
        </p:nvSpPr>
        <p:spPr>
          <a:xfrm>
            <a:off x="8253981" y="1565618"/>
            <a:ext cx="3387778" cy="3154680"/>
          </a:xfrm>
          <a:prstGeom prst="roundRect">
            <a:avLst>
              <a:gd name="adj" fmla="val 6000"/>
            </a:avLst>
          </a:prstGeom>
          <a:solidFill>
            <a:srgbClr val="00A19B"/>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tIns="228600" rIns="228600" rtlCol="0" anchor="ctr"/>
          <a:lstStyle/>
          <a:p>
            <a:pPr algn="ctr">
              <a:spcAft>
                <a:spcPts val="1000"/>
              </a:spcAft>
            </a:pPr>
            <a:r>
              <a:rPr sz="1800" b="1">
                <a:solidFill>
                  <a:schemeClr val="bg1"/>
                </a:solidFill>
                <a:latin typeface="Arial"/>
              </a:rPr>
              <a:t>Why Ann Arbor?</a:t>
            </a:r>
            <a:endParaRPr lang="en-US" sz="1800" b="1">
              <a:solidFill>
                <a:schemeClr val="bg1"/>
              </a:solidFill>
              <a:latin typeface="Arial"/>
            </a:endParaRPr>
          </a:p>
          <a:p>
            <a:pPr>
              <a:spcAft>
                <a:spcPts val="1000"/>
              </a:spcAft>
            </a:pPr>
            <a:r>
              <a:rPr sz="1400" b="1">
                <a:solidFill>
                  <a:srgbClr val="E8FFFC"/>
                </a:solidFill>
                <a:latin typeface="Arial"/>
              </a:rPr>
              <a:t>✓  </a:t>
            </a:r>
            <a:r>
              <a:rPr sz="1400">
                <a:solidFill>
                  <a:srgbClr val="FFFFFF"/>
                </a:solidFill>
                <a:latin typeface="Arial"/>
              </a:rPr>
              <a:t>DTE service territory</a:t>
            </a:r>
          </a:p>
          <a:p>
            <a:pPr>
              <a:spcAft>
                <a:spcPts val="1000"/>
              </a:spcAft>
            </a:pPr>
            <a:r>
              <a:rPr sz="1400" b="1">
                <a:solidFill>
                  <a:srgbClr val="E8FFFC"/>
                </a:solidFill>
                <a:latin typeface="Arial"/>
              </a:rPr>
              <a:t>✓  </a:t>
            </a:r>
            <a:r>
              <a:rPr sz="1400">
                <a:solidFill>
                  <a:srgbClr val="FFFFFF"/>
                </a:solidFill>
                <a:latin typeface="Arial"/>
              </a:rPr>
              <a:t>50,000+ households</a:t>
            </a:r>
          </a:p>
          <a:p>
            <a:pPr>
              <a:spcAft>
                <a:spcPts val="1000"/>
              </a:spcAft>
            </a:pPr>
            <a:r>
              <a:rPr sz="1400" b="1">
                <a:solidFill>
                  <a:srgbClr val="E8FFFC"/>
                </a:solidFill>
                <a:latin typeface="Arial"/>
              </a:rPr>
              <a:t>✓  </a:t>
            </a:r>
            <a:r>
              <a:rPr sz="1400">
                <a:solidFill>
                  <a:srgbClr val="FFFFFF"/>
                </a:solidFill>
                <a:latin typeface="Arial"/>
              </a:rPr>
              <a:t>Strong sustainability culture</a:t>
            </a:r>
          </a:p>
          <a:p>
            <a:pPr>
              <a:spcAft>
                <a:spcPts val="1000"/>
              </a:spcAft>
            </a:pPr>
            <a:r>
              <a:rPr sz="1400" b="1">
                <a:solidFill>
                  <a:srgbClr val="E8FFFC"/>
                </a:solidFill>
                <a:latin typeface="Arial"/>
              </a:rPr>
              <a:t>✓  </a:t>
            </a:r>
            <a:r>
              <a:rPr sz="1400">
                <a:solidFill>
                  <a:srgbClr val="FFFFFF"/>
                </a:solidFill>
                <a:latin typeface="Arial"/>
              </a:rPr>
              <a:t>High solar adoption potential</a:t>
            </a:r>
          </a:p>
          <a:p>
            <a:pPr>
              <a:spcAft>
                <a:spcPts val="1000"/>
              </a:spcAft>
            </a:pPr>
            <a:r>
              <a:rPr sz="1400" b="1">
                <a:solidFill>
                  <a:srgbClr val="E8FFFC"/>
                </a:solidFill>
                <a:latin typeface="Arial"/>
              </a:rPr>
              <a:t>✓  </a:t>
            </a:r>
            <a:r>
              <a:rPr sz="1400">
                <a:solidFill>
                  <a:srgbClr val="FFFFFF"/>
                </a:solidFill>
                <a:latin typeface="Arial"/>
              </a:rPr>
              <a:t>Pilot participation target = ~1% of households</a:t>
            </a:r>
          </a:p>
        </p:txBody>
      </p:sp>
    </p:spTree>
    <p:extLst>
      <p:ext uri="{BB962C8B-B14F-4D97-AF65-F5344CB8AC3E}">
        <p14:creationId xmlns:p14="http://schemas.microsoft.com/office/powerpoint/2010/main" val="40408307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449610"/>
            <a:ext cx="5632439" cy="523220"/>
          </a:xfrm>
          <a:prstGeom prst="rect">
            <a:avLst/>
          </a:prstGeom>
          <a:noFill/>
        </p:spPr>
        <p:txBody>
          <a:bodyPr wrap="none" lIns="91440" tIns="45720" rIns="91440" bIns="45720" anchor="t">
            <a:spAutoFit/>
          </a:bodyPr>
          <a:lstStyle/>
          <a:p>
            <a:r>
              <a:rPr lang="en-US" sz="2800" b="1">
                <a:solidFill>
                  <a:srgbClr val="002856"/>
                </a:solidFill>
                <a:latin typeface="Arial Black" panose="020B0A04020102020204" pitchFamily="34" charset="0"/>
              </a:rPr>
              <a:t>Client Use Case: Michigan</a:t>
            </a:r>
          </a:p>
        </p:txBody>
      </p:sp>
      <p:sp>
        <p:nvSpPr>
          <p:cNvPr id="4" name="TextBox 3"/>
          <p:cNvSpPr txBox="1"/>
          <p:nvPr/>
        </p:nvSpPr>
        <p:spPr>
          <a:xfrm>
            <a:off x="365760" y="1143000"/>
            <a:ext cx="5486400" cy="274320"/>
          </a:xfrm>
          <a:prstGeom prst="rect">
            <a:avLst/>
          </a:prstGeom>
          <a:noFill/>
        </p:spPr>
        <p:txBody>
          <a:bodyPr wrap="none">
            <a:spAutoFit/>
          </a:bodyPr>
          <a:lstStyle/>
          <a:p>
            <a:r>
              <a:rPr sz="1500" b="1">
                <a:solidFill>
                  <a:srgbClr val="FF8200"/>
                </a:solidFill>
                <a:latin typeface="Arial"/>
              </a:rPr>
              <a:t>Legal Pathway</a:t>
            </a:r>
          </a:p>
        </p:txBody>
      </p:sp>
      <p:sp>
        <p:nvSpPr>
          <p:cNvPr id="5" name="TextBox 4"/>
          <p:cNvSpPr txBox="1"/>
          <p:nvPr/>
        </p:nvSpPr>
        <p:spPr>
          <a:xfrm>
            <a:off x="365760" y="1508760"/>
            <a:ext cx="5486400" cy="1828800"/>
          </a:xfrm>
          <a:prstGeom prst="rect">
            <a:avLst/>
          </a:prstGeom>
          <a:noFill/>
        </p:spPr>
        <p:txBody>
          <a:bodyPr wrap="square">
            <a:spAutoFit/>
          </a:bodyPr>
          <a:lstStyle/>
          <a:p>
            <a:pPr>
              <a:spcAft>
                <a:spcPts val="800"/>
              </a:spcAft>
            </a:pPr>
            <a:r>
              <a:rPr sz="1300">
                <a:solidFill>
                  <a:srgbClr val="002856"/>
                </a:solidFill>
                <a:latin typeface="Arial"/>
              </a:rPr>
              <a:t>✓  MPSC precedent: 1,332 MW utility-owned storage approved (Mar 2026)</a:t>
            </a:r>
          </a:p>
          <a:p>
            <a:pPr>
              <a:spcAft>
                <a:spcPts val="800"/>
              </a:spcAft>
            </a:pPr>
            <a:r>
              <a:rPr sz="1300">
                <a:solidFill>
                  <a:srgbClr val="002856"/>
                </a:solidFill>
                <a:latin typeface="Arial"/>
              </a:rPr>
              <a:t>✓  PA 235 mandate: 2,500 MW statewide storage target by 2029</a:t>
            </a:r>
          </a:p>
          <a:p>
            <a:pPr>
              <a:spcAft>
                <a:spcPts val="800"/>
              </a:spcAft>
            </a:pPr>
            <a:r>
              <a:rPr sz="1300">
                <a:solidFill>
                  <a:srgbClr val="002856"/>
                </a:solidFill>
                <a:latin typeface="Arial"/>
              </a:rPr>
              <a:t>✓  Filing route: expedited DER pilot pathway (Case U-21653)</a:t>
            </a:r>
          </a:p>
        </p:txBody>
      </p:sp>
      <p:sp>
        <p:nvSpPr>
          <p:cNvPr id="6" name="TextBox 5"/>
          <p:cNvSpPr txBox="1"/>
          <p:nvPr/>
        </p:nvSpPr>
        <p:spPr>
          <a:xfrm>
            <a:off x="365760" y="3429000"/>
            <a:ext cx="5486400" cy="822960"/>
          </a:xfrm>
          <a:prstGeom prst="rect">
            <a:avLst/>
          </a:prstGeom>
          <a:noFill/>
        </p:spPr>
        <p:txBody>
          <a:bodyPr wrap="square">
            <a:spAutoFit/>
          </a:bodyPr>
          <a:lstStyle/>
          <a:p>
            <a:r>
              <a:rPr b="1" sz="1200">
                <a:solidFill>
                  <a:srgbClr val="00A19B"/>
                </a:solidFill>
              </a:rPr>
              <a:t>De-risked: </a:t>
            </a:r>
            <a:r>
              <a:rPr sz="1200">
                <a:solidFill>
                  <a:srgbClr val="002856"/>
                </a:solidFill>
              </a:rPr>
              <a:t>DTE's 2022 pilot rejection (Case U-20836) was about venue, not batteries -- the Commission encouraged refiling outside rate cases with deferred accounting. That refiling route now exists: U-21653.</a:t>
            </a:r>
          </a:p>
        </p:txBody>
      </p:sp>
      <p:sp>
        <p:nvSpPr>
          <p:cNvPr id="9" name="TextBox 8"/>
          <p:cNvSpPr txBox="1"/>
          <p:nvPr/>
        </p:nvSpPr>
        <p:spPr>
          <a:xfrm>
            <a:off x="6172200" y="1143000"/>
            <a:ext cx="5577840" cy="274320"/>
          </a:xfrm>
          <a:prstGeom prst="rect">
            <a:avLst/>
          </a:prstGeom>
          <a:noFill/>
        </p:spPr>
        <p:txBody>
          <a:bodyPr wrap="none">
            <a:spAutoFit/>
          </a:bodyPr>
          <a:lstStyle/>
          <a:p>
            <a:r>
              <a:rPr sz="1500" b="1">
                <a:solidFill>
                  <a:srgbClr val="FF8200"/>
                </a:solidFill>
                <a:latin typeface="Arial"/>
              </a:rPr>
              <a:t>Legal Scorecard: Helps vs. Hurts</a:t>
            </a:r>
          </a:p>
        </p:txBody>
      </p:sp>
      <p:graphicFrame>
        <p:nvGraphicFramePr>
          <p:cNvPr id="10" name="Table 9"/>
          <p:cNvGraphicFramePr>
            <a:graphicFrameLocks noGrp="1"/>
          </p:cNvGraphicFramePr>
          <p:nvPr/>
        </p:nvGraphicFramePr>
        <p:xfrm>
          <a:off x="6172200" y="1508760"/>
          <a:ext cx="5577840" cy="1737360"/>
        </p:xfrm>
        <a:graphic>
          <a:graphicData uri="http://schemas.openxmlformats.org/drawingml/2006/table">
            <a:tbl>
              <a:tblPr firstRow="1" bandRow="1">
                <a:tableStyleId>{5C22544A-7EE6-4342-B048-85BDC9FD1C3A}</a:tableStyleId>
              </a:tblPr>
              <a:tblGrid>
                <a:gridCol w="278892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tblGrid>
              <a:tr h="434340">
                <a:tc>
                  <a:txBody>
                    <a:bodyPr/>
                    <a:lstStyle/>
                    <a:p>
                      <a:pPr>
                        <a:defRPr sz="1100" b="1">
                          <a:solidFill>
                            <a:srgbClr val="FFFFFF"/>
                          </a:solidFill>
                          <a:latin typeface="Arial"/>
                        </a:defRPr>
                      </a:pPr>
                      <a:r>
                        <a:rPr sz="1200" b="1">
                          <a:solidFill>
                            <a:srgbClr val="FFFFFF"/>
                          </a:solidFill>
                        </a:rPr>
                        <a:t>Helps our case</a:t>
                      </a:r>
                    </a:p>
                  </a:txBody>
                  <a:tcPr>
                    <a:solidFill>
                      <a:srgbClr val="002856"/>
                    </a:solidFill>
                  </a:tcPr>
                </a:tc>
                <a:tc>
                  <a:txBody>
                    <a:bodyPr/>
                    <a:lstStyle/>
                    <a:p>
                      <a:pPr>
                        <a:defRPr sz="1100" b="1">
                          <a:solidFill>
                            <a:srgbClr val="FFFFFF"/>
                          </a:solidFill>
                          <a:latin typeface="Arial"/>
                        </a:defRPr>
                      </a:pPr>
                      <a:r>
                        <a:rPr sz="1200" b="1">
                          <a:solidFill>
                            <a:srgbClr val="FFFFFF"/>
                          </a:solidFill>
                        </a:rPr>
                        <a:t>Cuts against us  →  our answer</a:t>
                      </a:r>
                    </a:p>
                  </a:txBody>
                  <a:tcPr>
                    <a:solidFill>
                      <a:srgbClr val="002856"/>
                    </a:solidFill>
                  </a:tcPr>
                </a:tc>
                <a:extLst>
                  <a:ext uri="{0D108BD9-81ED-4DB2-BD59-A6C34878D82A}">
                    <a16:rowId xmlns:a16="http://schemas.microsoft.com/office/drawing/2014/main" val="10000"/>
                  </a:ext>
                </a:extLst>
              </a:tr>
              <a:tr h="434340">
                <a:tc>
                  <a:txBody>
                    <a:bodyPr/>
                    <a:lstStyle/>
                    <a:p>
                      <a:pPr>
                        <a:defRPr sz="1100">
                          <a:solidFill>
                            <a:srgbClr val="002856"/>
                          </a:solidFill>
                          <a:latin typeface="Arial"/>
                        </a:defRPr>
                      </a:pPr>
                      <a:r>
                        <a:rPr sz="1100" b="0">
                          <a:solidFill>
                            <a:srgbClr val="002856"/>
                          </a:solidFill>
                        </a:rPr>
                        <a:t>PA 235 mandate: compliance demand exists regardless of federal funding -- the exact hedge the prompt asks for</a:t>
                      </a:r>
                    </a:p>
                  </a:txBody>
                  <a:tcPr>
                    <a:solidFill>
                      <a:srgbClr val="E9EEF5"/>
                    </a:solidFill>
                  </a:tcPr>
                </a:tc>
                <a:tc>
                  <a:txBody>
                    <a:bodyPr/>
                    <a:lstStyle/>
                    <a:p>
                      <a:pPr>
                        <a:defRPr sz="1100">
                          <a:solidFill>
                            <a:srgbClr val="002856"/>
                          </a:solidFill>
                          <a:latin typeface="Arial"/>
                        </a:defRPr>
                      </a:pPr>
                      <a:r>
                        <a:rPr sz="1100" b="0">
                          <a:solidFill>
                            <a:srgbClr val="002856"/>
                          </a:solidFill>
                        </a:rPr>
                        <a:t>1,332 MW precedent is GRID-SCALE, not residential  →  the capped pilot is how the residential template gets set</a:t>
                      </a:r>
                    </a:p>
                  </a:txBody>
                  <a:tcPr>
                    <a:solidFill>
                      <a:srgbClr val="E9EEF5"/>
                    </a:solidFill>
                  </a:tcPr>
                </a:tc>
                <a:extLst>
                  <a:ext uri="{0D108BD9-81ED-4DB2-BD59-A6C34878D82A}">
                    <a16:rowId xmlns:a16="http://schemas.microsoft.com/office/drawing/2014/main" val="10001"/>
                  </a:ext>
                </a:extLst>
              </a:tr>
              <a:tr h="434340">
                <a:tc>
                  <a:txBody>
                    <a:bodyPr/>
                    <a:lstStyle/>
                    <a:p>
                      <a:pPr>
                        <a:defRPr sz="1100">
                          <a:solidFill>
                            <a:srgbClr val="002856"/>
                          </a:solidFill>
                          <a:latin typeface="Arial"/>
                        </a:defRPr>
                      </a:pPr>
                      <a:r>
                        <a:rPr sz="1100" b="0">
                          <a:solidFill>
                            <a:srgbClr val="002856"/>
                          </a:solidFill>
                        </a:rPr>
                        <a:t>U-20836 rejection was venue, not batteries -- the Commission invited standalone refiling with deferred accounting</a:t>
                      </a:r>
                    </a:p>
                  </a:txBody>
                  <a:tcPr>
                    <a:solidFill>
                      <a:srgbClr val="FFFFFF"/>
                    </a:solidFill>
                  </a:tcPr>
                </a:tc>
                <a:tc>
                  <a:txBody>
                    <a:bodyPr/>
                    <a:lstStyle/>
                    <a:p>
                      <a:pPr>
                        <a:defRPr sz="1100">
                          <a:solidFill>
                            <a:srgbClr val="002856"/>
                          </a:solidFill>
                          <a:latin typeface="Arial"/>
                        </a:defRPr>
                      </a:pPr>
                      <a:r>
                        <a:rPr sz="1100" b="0">
                          <a:solidFill>
                            <a:srgbClr val="002856"/>
                          </a:solidFill>
                        </a:rPr>
                        <a:t>Rate-fatigue politics: DTE under reliability criticism  →  pilot adds no new tax; fee is performance-linked</a:t>
                      </a:r>
                    </a:p>
                  </a:txBody>
                  <a:tcPr>
                    <a:solidFill>
                      <a:srgbClr val="FFFFFF"/>
                    </a:solidFill>
                  </a:tcPr>
                </a:tc>
                <a:extLst>
                  <a:ext uri="{0D108BD9-81ED-4DB2-BD59-A6C34878D82A}">
                    <a16:rowId xmlns:a16="http://schemas.microsoft.com/office/drawing/2014/main" val="10002"/>
                  </a:ext>
                </a:extLst>
              </a:tr>
              <a:tr h="434340">
                <a:tc>
                  <a:txBody>
                    <a:bodyPr/>
                    <a:lstStyle/>
                    <a:p>
                      <a:pPr>
                        <a:defRPr sz="1100">
                          <a:solidFill>
                            <a:srgbClr val="002856"/>
                          </a:solidFill>
                          <a:latin typeface="Arial"/>
                        </a:defRPr>
                      </a:pPr>
                      <a:r>
                        <a:rPr sz="1100" b="0">
                          <a:solidFill>
                            <a:srgbClr val="002856"/>
                          </a:solidFill>
                        </a:rPr>
                        <a:t>U-21653 expedited 90-day route exists and covers DER integration -- the invited venue now has a door</a:t>
                      </a:r>
                    </a:p>
                  </a:txBody>
                  <a:tcPr>
                    <a:solidFill>
                      <a:srgbClr val="E9EEF5"/>
                    </a:solidFill>
                  </a:tcPr>
                </a:tc>
                <a:tc>
                  <a:txBody>
                    <a:bodyPr/>
                    <a:lstStyle/>
                    <a:p>
                      <a:pPr>
                        <a:defRPr sz="1100">
                          <a:solidFill>
                            <a:srgbClr val="002856"/>
                          </a:solidFill>
                          <a:latin typeface="Arial"/>
                        </a:defRPr>
                      </a:pPr>
                      <a:r>
                        <a:rPr sz="1100" b="0">
                          <a:solidFill>
                            <a:srgbClr val="002856"/>
                          </a:solidFill>
                        </a:rPr>
                        <a:t>No existing interconnection category for utility-owned in-home storage  →  addressed via case-specific MPSC review under the U-21653 pilot pathway, not a pre-existing rule</a:t>
                      </a:r>
                    </a:p>
                  </a:txBody>
                  <a:tcPr>
                    <a:solidFill>
                      <a:srgbClr val="E9EEF5"/>
                    </a:solidFill>
                  </a:tcPr>
                </a:tc>
                <a:extLst>
                  <a:ext uri="{0D108BD9-81ED-4DB2-BD59-A6C34878D82A}">
                    <a16:rowId xmlns:a16="http://schemas.microsoft.com/office/drawing/2014/main" val="10003"/>
                  </a:ext>
                </a:extLst>
              </a:tr>
            </a:tbl>
          </a:graphicData>
        </a:graphic>
      </p:graphicFrame>
      <p:sp>
        <p:nvSpPr>
          <p:cNvPr id="13" name="Rounded Rectangle 12"/>
          <p:cNvSpPr/>
          <p:nvPr/>
        </p:nvSpPr>
        <p:spPr>
          <a:xfrm>
            <a:off x="365760" y="5806440"/>
            <a:ext cx="11384280" cy="594360"/>
          </a:xfrm>
          <a:prstGeom prst="roundRect">
            <a:avLst/>
          </a:prstGeom>
          <a:solidFill>
            <a:srgbClr val="E0F2F1"/>
          </a:solidFill>
          <a:ln w="12700">
            <a:solidFill>
              <a:srgbClr val="00A19B"/>
            </a:solidFill>
          </a:ln>
        </p:spPr>
        <p:style>
          <a:lnRef idx="1">
            <a:schemeClr val="accent1"/>
          </a:lnRef>
          <a:fillRef idx="3">
            <a:schemeClr val="accent1"/>
          </a:fillRef>
          <a:effectRef idx="2">
            <a:schemeClr val="accent1"/>
          </a:effectRef>
          <a:fontRef idx="minor">
            <a:schemeClr val="lt1"/>
          </a:fontRef>
        </p:style>
        <p:txBody>
          <a:bodyPr wrap="square" lIns="182880" tIns="54864" rtlCol="0" anchor="ctr"/>
          <a:lstStyle/>
          <a:p>
            <a:pPr algn="ctr"/>
            <a:r>
              <a:rPr sz="1200" b="1">
                <a:solidFill>
                  <a:srgbClr val="002856"/>
                </a:solidFill>
                <a:latin typeface="Arial"/>
              </a:rPr>
              <a:t>Answers the prompt: </a:t>
            </a:r>
            <a:r>
              <a:rPr sz="1200">
                <a:solidFill>
                  <a:srgbClr val="002856"/>
                </a:solidFill>
                <a:latin typeface="Arial"/>
              </a:rPr>
              <a:t>no new technology | single client group | leverages APTIM capabilities | 1-3 year feasibility | scalable</a:t>
            </a:r>
          </a:p>
        </p:txBody>
      </p:sp>
      <p:sp>
        <p:nvSpPr>
          <p:cNvPr id="14" name="TextBox 13"/>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5" name="TextBox 14"/>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14</a:t>
            </a:r>
          </a:p>
        </p:txBody>
      </p:sp>
      <p:sp>
        <p:nvSpPr>
          <p:cNvPr id="16" name="Rectangle 15"/>
          <p:cNvSpPr/>
          <p:nvPr/>
        </p:nvSpPr>
        <p:spPr>
          <a:xfrm>
            <a:off x="457200" y="5074920"/>
            <a:ext cx="11247120" cy="64008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002856"/>
                </a:solidFill>
              </a:rPr>
              <a:t>Illustrative pilot sizing (Ann Arbor / DTE, team analysis): </a:t>
            </a:r>
            <a:r>
              <a:rPr sz="1100">
                <a:solidFill>
                  <a:srgbClr val="002856"/>
                </a:solidFill>
              </a:rPr>
              <a:t>500 homes  |  6 kW solar + 15 kWh battery per home  |  3 MW / 7.5 MWh fleet  |  ~$34,500/home ($17.25M CAPEX)  |  ~$700/yr customer savings, $0 upfront</a:t>
            </a:r>
          </a:p>
        </p:txBody>
      </p:sp>
      <p:sp>
        <p:nvSpPr>
          <p:cNvPr id="17" name="TextBox 5"/>
          <p:cNvSpPr txBox="1"/>
          <p:nvPr/>
        </p:nvSpPr>
        <p:spPr>
          <a:xfrm>
            <a:off x="365760" y="4251960"/>
            <a:ext cx="5486400" cy="822960"/>
          </a:xfrm>
          <a:prstGeom prst="rect">
            <a:avLst/>
          </a:prstGeom>
          <a:noFill/>
        </p:spPr>
        <p:txBody>
          <a:bodyPr wrap="square">
            <a:spAutoFit/>
          </a:bodyPr>
          <a:lstStyle/>
          <a:p>
            <a:r>
              <a:rPr sz="1100" b="1">
                <a:solidFill>
                  <a:srgbClr val="00A19B"/>
                </a:solidFill>
              </a:rPr>
              <a:t>Scope: </a:t>
            </a:r>
            <a:r>
              <a:rPr sz="1100">
                <a:solidFill>
                  <a:srgbClr val="002856"/>
                </a:solidFill>
              </a:rPr>
              <a:t>Distribution resilience, not generation replacement -- DTE's IRP storage buildout replaces Monroe Power Plant (a separate coal transition). Our program fits inside DTE's existing $1B/yr Distribution Grid Plan to “detect, prevent and manage outages” -- a new tool inside a commitment DTE already made, not a competing ask.</a:t>
            </a:r>
          </a:p>
        </p:txBody>
      </p:sp>
    </p:spTree>
    <p:extLst>
      <p:ext uri="{BB962C8B-B14F-4D97-AF65-F5344CB8AC3E}">
        <p14:creationId xmlns:p14="http://schemas.microsoft.com/office/powerpoint/2010/main" val="39263258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CD89B-02F0-8B4D-2F55-4665A4354C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DC9869-1AEF-88CF-C114-93FF95032D78}"/>
              </a:ext>
            </a:extLst>
          </p:cNvPr>
          <p:cNvSpPr>
            <a:spLocks noGrp="1"/>
          </p:cNvSpPr>
          <p:nvPr>
            <p:ph type="title"/>
          </p:nvPr>
        </p:nvSpPr>
        <p:spPr/>
        <p:txBody>
          <a:bodyPr/>
          <a:lstStyle/>
          <a:p>
            <a:r>
              <a:rPr lang="en-US">
                <a:solidFill>
                  <a:srgbClr val="002856"/>
                </a:solidFill>
              </a:rPr>
              <a:t>Ann Arbor </a:t>
            </a:r>
            <a:r>
              <a:rPr>
                <a:solidFill>
                  <a:srgbClr val="002856"/>
                </a:solidFill>
              </a:rPr>
              <a:t>Deployment Model</a:t>
            </a:r>
          </a:p>
        </p:txBody>
      </p:sp>
      <p:sp>
        <p:nvSpPr>
          <p:cNvPr id="10" name="Chevron 9">
            <a:extLst>
              <a:ext uri="{FF2B5EF4-FFF2-40B4-BE49-F238E27FC236}">
                <a16:creationId xmlns:a16="http://schemas.microsoft.com/office/drawing/2014/main" id="{4974FEF7-C00A-E565-8389-56DA6513F309}"/>
              </a:ext>
            </a:extLst>
          </p:cNvPr>
          <p:cNvSpPr/>
          <p:nvPr/>
        </p:nvSpPr>
        <p:spPr>
          <a:xfrm>
            <a:off x="7724708" y="2807208"/>
            <a:ext cx="2046941" cy="1261873"/>
          </a:xfrm>
          <a:prstGeom prst="chevron">
            <a:avLst>
              <a:gd name="adj" fmla="val 30000"/>
            </a:avLst>
          </a:prstGeom>
          <a:solidFill>
            <a:srgbClr val="00A19B"/>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lang="en-US" sz="1100" b="1">
                <a:solidFill>
                  <a:srgbClr val="FFFFFF"/>
                </a:solidFill>
                <a:latin typeface="Arial"/>
              </a:rPr>
              <a:t>Participating Homes</a:t>
            </a:r>
          </a:p>
          <a:p>
            <a:pPr algn="ctr"/>
            <a:r>
              <a:rPr lang="en-US" sz="900" i="1">
                <a:solidFill>
                  <a:srgbClr val="FFFFFF"/>
                </a:solidFill>
                <a:latin typeface="Arial"/>
              </a:rPr>
              <a:t>Hosts</a:t>
            </a:r>
            <a:endParaRPr sz="900" i="1">
              <a:solidFill>
                <a:srgbClr val="FFFFFF"/>
              </a:solidFill>
              <a:latin typeface="Arial"/>
            </a:endParaRPr>
          </a:p>
        </p:txBody>
      </p:sp>
      <p:sp>
        <p:nvSpPr>
          <p:cNvPr id="12" name="Rounded Rectangle 11">
            <a:extLst>
              <a:ext uri="{FF2B5EF4-FFF2-40B4-BE49-F238E27FC236}">
                <a16:creationId xmlns:a16="http://schemas.microsoft.com/office/drawing/2014/main" id="{72A6D886-8921-0C65-4CA6-1B64547B514D}"/>
              </a:ext>
            </a:extLst>
          </p:cNvPr>
          <p:cNvSpPr/>
          <p:nvPr/>
        </p:nvSpPr>
        <p:spPr>
          <a:xfrm>
            <a:off x="457200" y="5623560"/>
            <a:ext cx="11247120" cy="77724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ctr"/>
            <a:r>
              <a:rPr sz="1300" b="1">
                <a:solidFill>
                  <a:srgbClr val="FFFFFF"/>
                </a:solidFill>
                <a:latin typeface="Arial"/>
              </a:rPr>
              <a:t>APTIM leverages existing program administration, contractor management, inspection, and reporting capabilities to support DTE-owned distributed energy assets.</a:t>
            </a:r>
          </a:p>
        </p:txBody>
      </p:sp>
      <p:sp>
        <p:nvSpPr>
          <p:cNvPr id="13" name="TextBox 12">
            <a:extLst>
              <a:ext uri="{FF2B5EF4-FFF2-40B4-BE49-F238E27FC236}">
                <a16:creationId xmlns:a16="http://schemas.microsoft.com/office/drawing/2014/main" id="{354CC9E6-9962-AE84-F397-272AD79DBB58}"/>
              </a:ext>
            </a:extLst>
          </p:cNvPr>
          <p:cNvSpPr txBox="1"/>
          <p:nvPr/>
        </p:nvSpPr>
        <p:spPr>
          <a:xfrm>
            <a:off x="3360716" y="6537960"/>
            <a:ext cx="6057603"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14" name="TextBox 13">
            <a:extLst>
              <a:ext uri="{FF2B5EF4-FFF2-40B4-BE49-F238E27FC236}">
                <a16:creationId xmlns:a16="http://schemas.microsoft.com/office/drawing/2014/main" id="{FD6CF6DD-8D9A-CBA7-735E-9E1F6E2177C6}"/>
              </a:ext>
            </a:extLst>
          </p:cNvPr>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16</a:t>
            </a:r>
          </a:p>
        </p:txBody>
      </p:sp>
      <p:sp>
        <p:nvSpPr>
          <p:cNvPr id="15" name="Chevron 6">
            <a:extLst>
              <a:ext uri="{FF2B5EF4-FFF2-40B4-BE49-F238E27FC236}">
                <a16:creationId xmlns:a16="http://schemas.microsoft.com/office/drawing/2014/main" id="{76B10A63-4FEB-AA2A-13D6-DDEFC43C412A}"/>
              </a:ext>
            </a:extLst>
          </p:cNvPr>
          <p:cNvSpPr/>
          <p:nvPr/>
        </p:nvSpPr>
        <p:spPr>
          <a:xfrm>
            <a:off x="2420351" y="2807208"/>
            <a:ext cx="2046941" cy="1261873"/>
          </a:xfrm>
          <a:prstGeom prst="chevron">
            <a:avLst>
              <a:gd name="adj" fmla="val 30000"/>
            </a:avLst>
          </a:prstGeom>
          <a:solidFill>
            <a:srgbClr val="002856"/>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100" b="1">
                <a:solidFill>
                  <a:srgbClr val="FFFFFF"/>
                </a:solidFill>
                <a:latin typeface="Arial"/>
              </a:rPr>
              <a:t>DTE Energy</a:t>
            </a:r>
          </a:p>
          <a:p>
            <a:pPr algn="ctr"/>
            <a:r>
              <a:rPr sz="900" i="1">
                <a:solidFill>
                  <a:srgbClr val="FFFFFF"/>
                </a:solidFill>
                <a:latin typeface="Arial"/>
              </a:rPr>
              <a:t>Owns Assets</a:t>
            </a:r>
          </a:p>
        </p:txBody>
      </p:sp>
      <p:sp>
        <p:nvSpPr>
          <p:cNvPr id="16" name="Chevron 7">
            <a:extLst>
              <a:ext uri="{FF2B5EF4-FFF2-40B4-BE49-F238E27FC236}">
                <a16:creationId xmlns:a16="http://schemas.microsoft.com/office/drawing/2014/main" id="{B3629165-1DD9-DA8C-8DF2-825DAFA9C9BC}"/>
              </a:ext>
            </a:extLst>
          </p:cNvPr>
          <p:cNvSpPr/>
          <p:nvPr/>
        </p:nvSpPr>
        <p:spPr>
          <a:xfrm>
            <a:off x="4188589" y="2807208"/>
            <a:ext cx="2046941" cy="1261873"/>
          </a:xfrm>
          <a:prstGeom prst="chevron">
            <a:avLst>
              <a:gd name="adj" fmla="val 30000"/>
            </a:avLst>
          </a:prstGeom>
          <a:solidFill>
            <a:srgbClr val="FF82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100" b="1">
                <a:solidFill>
                  <a:srgbClr val="FFFFFF"/>
                </a:solidFill>
                <a:latin typeface="Arial"/>
              </a:rPr>
              <a:t>APTIM</a:t>
            </a:r>
          </a:p>
          <a:p>
            <a:pPr algn="ctr"/>
            <a:r>
              <a:rPr sz="900" i="1">
                <a:solidFill>
                  <a:srgbClr val="FFFFFF"/>
                </a:solidFill>
                <a:latin typeface="Arial"/>
              </a:rPr>
              <a:t>Administ</a:t>
            </a:r>
            <a:r>
              <a:rPr lang="en-US" sz="900" i="1">
                <a:solidFill>
                  <a:srgbClr val="FFFFFF"/>
                </a:solidFill>
                <a:latin typeface="Arial"/>
              </a:rPr>
              <a:t>er</a:t>
            </a:r>
            <a:r>
              <a:rPr sz="900" i="1">
                <a:solidFill>
                  <a:srgbClr val="FFFFFF"/>
                </a:solidFill>
                <a:latin typeface="Arial"/>
              </a:rPr>
              <a:t>s</a:t>
            </a:r>
          </a:p>
        </p:txBody>
      </p:sp>
      <p:sp>
        <p:nvSpPr>
          <p:cNvPr id="17" name="Chevron 8">
            <a:extLst>
              <a:ext uri="{FF2B5EF4-FFF2-40B4-BE49-F238E27FC236}">
                <a16:creationId xmlns:a16="http://schemas.microsoft.com/office/drawing/2014/main" id="{429840EC-4D94-324B-ECFE-70C1BE29D6A5}"/>
              </a:ext>
            </a:extLst>
          </p:cNvPr>
          <p:cNvSpPr/>
          <p:nvPr/>
        </p:nvSpPr>
        <p:spPr>
          <a:xfrm>
            <a:off x="5925141" y="2807208"/>
            <a:ext cx="2115323" cy="1261873"/>
          </a:xfrm>
          <a:prstGeom prst="chevron">
            <a:avLst>
              <a:gd name="adj" fmla="val 30000"/>
            </a:avLst>
          </a:prstGeom>
          <a:solidFill>
            <a:srgbClr val="3D7CC9"/>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lang="en-US" sz="1100" b="1">
                <a:solidFill>
                  <a:srgbClr val="FFFFFF"/>
                </a:solidFill>
                <a:latin typeface="Arial"/>
              </a:rPr>
              <a:t>Certified Subcontractors</a:t>
            </a:r>
          </a:p>
          <a:p>
            <a:pPr algn="ctr"/>
            <a:r>
              <a:rPr lang="en-US" sz="900" i="1">
                <a:solidFill>
                  <a:srgbClr val="FFFFFF"/>
                </a:solidFill>
                <a:latin typeface="Arial"/>
              </a:rPr>
              <a:t>Installs</a:t>
            </a:r>
            <a:endParaRPr sz="900" i="1">
              <a:solidFill>
                <a:srgbClr val="FFFFFF"/>
              </a:solidFill>
              <a:latin typeface="Arial"/>
            </a:endParaRPr>
          </a:p>
        </p:txBody>
      </p:sp>
      <p:graphicFrame>
        <p:nvGraphicFramePr>
          <p:cNvPr id="3" name="Table 2">
            <a:extLst>
              <a:ext uri="{FF2B5EF4-FFF2-40B4-BE49-F238E27FC236}">
                <a16:creationId xmlns:a16="http://schemas.microsoft.com/office/drawing/2014/main" id="{6923C9B5-5D1C-AE4E-E854-C6219BF50AAA}"/>
              </a:ext>
            </a:extLst>
          </p:cNvPr>
          <p:cNvGraphicFramePr>
            <a:graphicFrameLocks noGrp="1"/>
          </p:cNvGraphicFramePr>
          <p:nvPr>
            <p:extLst>
              <p:ext uri="{D42A27DB-BD31-4B8C-83A1-F6EECF244321}">
                <p14:modId xmlns:p14="http://schemas.microsoft.com/office/powerpoint/2010/main" val="1217044900"/>
              </p:ext>
            </p:extLst>
          </p:nvPr>
        </p:nvGraphicFramePr>
        <p:xfrm>
          <a:off x="9808702" y="2125813"/>
          <a:ext cx="1964046" cy="3165294"/>
        </p:xfrm>
        <a:graphic>
          <a:graphicData uri="http://schemas.openxmlformats.org/drawingml/2006/table">
            <a:tbl>
              <a:tblPr firstRow="1" bandRow="1">
                <a:tableStyleId>{69CF1AB2-1976-4502-BF36-3FF5EA218861}</a:tableStyleId>
              </a:tblPr>
              <a:tblGrid>
                <a:gridCol w="982023">
                  <a:extLst>
                    <a:ext uri="{9D8B030D-6E8A-4147-A177-3AD203B41FA5}">
                      <a16:colId xmlns:a16="http://schemas.microsoft.com/office/drawing/2014/main" val="4201315330"/>
                    </a:ext>
                  </a:extLst>
                </a:gridCol>
                <a:gridCol w="982023">
                  <a:extLst>
                    <a:ext uri="{9D8B030D-6E8A-4147-A177-3AD203B41FA5}">
                      <a16:colId xmlns:a16="http://schemas.microsoft.com/office/drawing/2014/main" val="3627878481"/>
                    </a:ext>
                  </a:extLst>
                </a:gridCol>
              </a:tblGrid>
              <a:tr h="365763">
                <a:tc>
                  <a:txBody>
                    <a:bodyPr/>
                    <a:lstStyle/>
                    <a:p>
                      <a:r>
                        <a:rPr lang="en-US" sz="1400" b="0">
                          <a:latin typeface="Arial" panose="020B0604020202020204" pitchFamily="34" charset="0"/>
                          <a:cs typeface="Arial" panose="020B0604020202020204" pitchFamily="34" charset="0"/>
                        </a:rPr>
                        <a:t>Homes</a:t>
                      </a:r>
                    </a:p>
                  </a:txBody>
                  <a:tcPr>
                    <a:solidFill>
                      <a:srgbClr val="F4F6F9"/>
                    </a:solidFill>
                  </a:tcPr>
                </a:tc>
                <a:tc>
                  <a:txBody>
                    <a:bodyPr/>
                    <a:lstStyle/>
                    <a:p>
                      <a:r>
                        <a:rPr lang="en-US" sz="1400" b="0">
                          <a:latin typeface="Arial" panose="020B0604020202020204" pitchFamily="34" charset="0"/>
                          <a:cs typeface="Arial" panose="020B0604020202020204" pitchFamily="34" charset="0"/>
                        </a:rPr>
                        <a:t>500</a:t>
                      </a:r>
                    </a:p>
                  </a:txBody>
                  <a:tcPr>
                    <a:solidFill>
                      <a:srgbClr val="F4F6F9"/>
                    </a:solidFill>
                  </a:tcPr>
                </a:tc>
                <a:extLst>
                  <a:ext uri="{0D108BD9-81ED-4DB2-BD59-A6C34878D82A}">
                    <a16:rowId xmlns:a16="http://schemas.microsoft.com/office/drawing/2014/main" val="2777178892"/>
                  </a:ext>
                </a:extLst>
              </a:tr>
              <a:tr h="608442">
                <a:tc>
                  <a:txBody>
                    <a:bodyPr/>
                    <a:lstStyle/>
                    <a:p>
                      <a:r>
                        <a:rPr lang="en-US" sz="1400" b="0">
                          <a:latin typeface="Arial" panose="020B0604020202020204" pitchFamily="34" charset="0"/>
                          <a:cs typeface="Arial" panose="020B0604020202020204" pitchFamily="34" charset="0"/>
                        </a:rPr>
                        <a:t>Solar – Home</a:t>
                      </a:r>
                    </a:p>
                  </a:txBody>
                  <a:tcPr>
                    <a:solidFill>
                      <a:srgbClr val="F4F6F9"/>
                    </a:solidFill>
                  </a:tcPr>
                </a:tc>
                <a:tc>
                  <a:txBody>
                    <a:bodyPr/>
                    <a:lstStyle/>
                    <a:p>
                      <a:r>
                        <a:rPr lang="en-US" sz="1400" b="0">
                          <a:latin typeface="Arial" panose="020B0604020202020204" pitchFamily="34" charset="0"/>
                          <a:cs typeface="Arial" panose="020B0604020202020204" pitchFamily="34" charset="0"/>
                        </a:rPr>
                        <a:t>6 kW</a:t>
                      </a:r>
                    </a:p>
                  </a:txBody>
                  <a:tcPr>
                    <a:solidFill>
                      <a:srgbClr val="F4F6F9"/>
                    </a:solidFill>
                  </a:tcPr>
                </a:tc>
                <a:extLst>
                  <a:ext uri="{0D108BD9-81ED-4DB2-BD59-A6C34878D82A}">
                    <a16:rowId xmlns:a16="http://schemas.microsoft.com/office/drawing/2014/main" val="1917675104"/>
                  </a:ext>
                </a:extLst>
              </a:tr>
              <a:tr h="608442">
                <a:tc>
                  <a:txBody>
                    <a:bodyPr/>
                    <a:lstStyle/>
                    <a:p>
                      <a:r>
                        <a:rPr lang="en-US" sz="1400" b="0">
                          <a:latin typeface="Arial" panose="020B0604020202020204" pitchFamily="34" charset="0"/>
                          <a:cs typeface="Arial" panose="020B0604020202020204" pitchFamily="34" charset="0"/>
                        </a:rPr>
                        <a:t>Battery – Home</a:t>
                      </a:r>
                    </a:p>
                  </a:txBody>
                  <a:tcPr>
                    <a:solidFill>
                      <a:srgbClr val="F4F6F9"/>
                    </a:solidFill>
                  </a:tcPr>
                </a:tc>
                <a:tc>
                  <a:txBody>
                    <a:bodyPr/>
                    <a:lstStyle/>
                    <a:p>
                      <a:r>
                        <a:rPr lang="en-US" sz="1400" b="0">
                          <a:latin typeface="Arial" panose="020B0604020202020204" pitchFamily="34" charset="0"/>
                          <a:cs typeface="Arial" panose="020B0604020202020204" pitchFamily="34" charset="0"/>
                        </a:rPr>
                        <a:t>15 kWh</a:t>
                      </a:r>
                    </a:p>
                  </a:txBody>
                  <a:tcPr>
                    <a:solidFill>
                      <a:srgbClr val="F4F6F9"/>
                    </a:solidFill>
                  </a:tcPr>
                </a:tc>
                <a:extLst>
                  <a:ext uri="{0D108BD9-81ED-4DB2-BD59-A6C34878D82A}">
                    <a16:rowId xmlns:a16="http://schemas.microsoft.com/office/drawing/2014/main" val="3696487784"/>
                  </a:ext>
                </a:extLst>
              </a:tr>
              <a:tr h="608442">
                <a:tc>
                  <a:txBody>
                    <a:bodyPr/>
                    <a:lstStyle/>
                    <a:p>
                      <a:r>
                        <a:rPr lang="en-US" sz="1400" b="0">
                          <a:latin typeface="Arial" panose="020B0604020202020204" pitchFamily="34" charset="0"/>
                          <a:cs typeface="Arial" panose="020B0604020202020204" pitchFamily="34" charset="0"/>
                        </a:rPr>
                        <a:t>Solar – Fleet</a:t>
                      </a:r>
                    </a:p>
                  </a:txBody>
                  <a:tcPr>
                    <a:solidFill>
                      <a:srgbClr val="F4F6F9"/>
                    </a:solidFill>
                  </a:tcPr>
                </a:tc>
                <a:tc>
                  <a:txBody>
                    <a:bodyPr/>
                    <a:lstStyle/>
                    <a:p>
                      <a:r>
                        <a:rPr lang="en-US" sz="1400" b="0">
                          <a:latin typeface="Arial" panose="020B0604020202020204" pitchFamily="34" charset="0"/>
                          <a:cs typeface="Arial" panose="020B0604020202020204" pitchFamily="34" charset="0"/>
                        </a:rPr>
                        <a:t>3 MW</a:t>
                      </a:r>
                    </a:p>
                  </a:txBody>
                  <a:tcPr>
                    <a:solidFill>
                      <a:srgbClr val="F4F6F9"/>
                    </a:solidFill>
                  </a:tcPr>
                </a:tc>
                <a:extLst>
                  <a:ext uri="{0D108BD9-81ED-4DB2-BD59-A6C34878D82A}">
                    <a16:rowId xmlns:a16="http://schemas.microsoft.com/office/drawing/2014/main" val="2893519264"/>
                  </a:ext>
                </a:extLst>
              </a:tr>
              <a:tr h="608442">
                <a:tc>
                  <a:txBody>
                    <a:bodyPr/>
                    <a:lstStyle/>
                    <a:p>
                      <a:r>
                        <a:rPr lang="en-US" sz="1400" b="0">
                          <a:latin typeface="Arial" panose="020B0604020202020204" pitchFamily="34" charset="0"/>
                          <a:cs typeface="Arial" panose="020B0604020202020204" pitchFamily="34" charset="0"/>
                        </a:rPr>
                        <a:t>Battery – Fleet</a:t>
                      </a:r>
                    </a:p>
                  </a:txBody>
                  <a:tcPr>
                    <a:solidFill>
                      <a:srgbClr val="F4F6F9"/>
                    </a:solidFill>
                  </a:tcPr>
                </a:tc>
                <a:tc>
                  <a:txBody>
                    <a:bodyPr/>
                    <a:lstStyle/>
                    <a:p>
                      <a:r>
                        <a:rPr lang="en-US" sz="1400" b="0">
                          <a:latin typeface="Arial" panose="020B0604020202020204" pitchFamily="34" charset="0"/>
                          <a:cs typeface="Arial" panose="020B0604020202020204" pitchFamily="34" charset="0"/>
                        </a:rPr>
                        <a:t>7.5 MWh</a:t>
                      </a:r>
                    </a:p>
                  </a:txBody>
                  <a:tcPr>
                    <a:solidFill>
                      <a:srgbClr val="F4F6F9"/>
                    </a:solidFill>
                  </a:tcPr>
                </a:tc>
                <a:extLst>
                  <a:ext uri="{0D108BD9-81ED-4DB2-BD59-A6C34878D82A}">
                    <a16:rowId xmlns:a16="http://schemas.microsoft.com/office/drawing/2014/main" val="664332646"/>
                  </a:ext>
                </a:extLst>
              </a:tr>
              <a:tr h="365763">
                <a:tc>
                  <a:txBody>
                    <a:bodyPr/>
                    <a:lstStyle/>
                    <a:p>
                      <a:r>
                        <a:rPr lang="en-US" sz="1400" b="0">
                          <a:latin typeface="Arial" panose="020B0604020202020204" pitchFamily="34" charset="0"/>
                          <a:cs typeface="Arial" panose="020B0604020202020204" pitchFamily="34" charset="0"/>
                        </a:rPr>
                        <a:t>Duration</a:t>
                      </a:r>
                    </a:p>
                  </a:txBody>
                  <a:tcPr>
                    <a:solidFill>
                      <a:srgbClr val="F4F6F9"/>
                    </a:solidFill>
                  </a:tcPr>
                </a:tc>
                <a:tc>
                  <a:txBody>
                    <a:bodyPr/>
                    <a:lstStyle/>
                    <a:p>
                      <a:r>
                        <a:rPr lang="en-US" sz="1400" b="0">
                          <a:latin typeface="Arial" panose="020B0604020202020204" pitchFamily="34" charset="0"/>
                          <a:cs typeface="Arial" panose="020B0604020202020204" pitchFamily="34" charset="0"/>
                        </a:rPr>
                        <a:t>3 Years</a:t>
                      </a:r>
                    </a:p>
                  </a:txBody>
                  <a:tcPr>
                    <a:solidFill>
                      <a:srgbClr val="F4F6F9"/>
                    </a:solidFill>
                  </a:tcPr>
                </a:tc>
                <a:extLst>
                  <a:ext uri="{0D108BD9-81ED-4DB2-BD59-A6C34878D82A}">
                    <a16:rowId xmlns:a16="http://schemas.microsoft.com/office/drawing/2014/main" val="1109986313"/>
                  </a:ext>
                </a:extLst>
              </a:tr>
            </a:tbl>
          </a:graphicData>
        </a:graphic>
      </p:graphicFrame>
      <p:sp>
        <p:nvSpPr>
          <p:cNvPr id="20" name="Rectangle: Rounded Corners 19">
            <a:extLst>
              <a:ext uri="{FF2B5EF4-FFF2-40B4-BE49-F238E27FC236}">
                <a16:creationId xmlns:a16="http://schemas.microsoft.com/office/drawing/2014/main" id="{09EB9930-1FA5-C3B8-3D6A-8D0B9A3505C1}"/>
              </a:ext>
            </a:extLst>
          </p:cNvPr>
          <p:cNvSpPr/>
          <p:nvPr/>
        </p:nvSpPr>
        <p:spPr>
          <a:xfrm>
            <a:off x="367674" y="2176676"/>
            <a:ext cx="1964046" cy="3063568"/>
          </a:xfrm>
          <a:prstGeom prst="roundRect">
            <a:avLst/>
          </a:prstGeom>
          <a:solidFill>
            <a:srgbClr val="F4F6F9"/>
          </a:solidFill>
          <a:ln>
            <a:solidFill>
              <a:srgbClr val="F4F6F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spcAft>
                <a:spcPts val="700"/>
              </a:spcAft>
            </a:pPr>
            <a:r>
              <a:rPr lang="en-US" sz="1400" b="1">
                <a:solidFill>
                  <a:srgbClr val="FF8200"/>
                </a:solidFill>
                <a:latin typeface="Arial"/>
              </a:rPr>
              <a:t>•  </a:t>
            </a:r>
            <a:r>
              <a:rPr lang="en-US" sz="1400">
                <a:solidFill>
                  <a:schemeClr val="tx1"/>
                </a:solidFill>
                <a:latin typeface="Arial"/>
              </a:rPr>
              <a:t>DTE customer</a:t>
            </a:r>
          </a:p>
          <a:p>
            <a:pPr>
              <a:spcAft>
                <a:spcPts val="700"/>
              </a:spcAft>
            </a:pPr>
            <a:r>
              <a:rPr lang="en-US" sz="1400" b="1">
                <a:solidFill>
                  <a:srgbClr val="FF8200"/>
                </a:solidFill>
                <a:latin typeface="Arial"/>
              </a:rPr>
              <a:t>•  </a:t>
            </a:r>
            <a:r>
              <a:rPr lang="en-US" sz="1400">
                <a:solidFill>
                  <a:schemeClr val="tx1"/>
                </a:solidFill>
                <a:latin typeface="Arial"/>
              </a:rPr>
              <a:t>Owner occupied</a:t>
            </a:r>
          </a:p>
          <a:p>
            <a:pPr>
              <a:spcAft>
                <a:spcPts val="700"/>
              </a:spcAft>
            </a:pPr>
            <a:r>
              <a:rPr lang="en-US" sz="1400" b="1">
                <a:solidFill>
                  <a:srgbClr val="FF8200"/>
                </a:solidFill>
                <a:latin typeface="Arial"/>
              </a:rPr>
              <a:t>•  </a:t>
            </a:r>
            <a:r>
              <a:rPr lang="en-US" sz="1400">
                <a:solidFill>
                  <a:schemeClr val="tx1"/>
                </a:solidFill>
                <a:latin typeface="Arial"/>
              </a:rPr>
              <a:t>Suitable roof condition</a:t>
            </a:r>
          </a:p>
          <a:p>
            <a:pPr>
              <a:spcAft>
                <a:spcPts val="700"/>
              </a:spcAft>
            </a:pPr>
            <a:r>
              <a:rPr lang="en-US" sz="1400" b="1">
                <a:solidFill>
                  <a:srgbClr val="FF8200"/>
                </a:solidFill>
                <a:latin typeface="Arial"/>
              </a:rPr>
              <a:t>•  </a:t>
            </a:r>
            <a:r>
              <a:rPr lang="en-US" sz="1400">
                <a:solidFill>
                  <a:schemeClr val="tx1"/>
                </a:solidFill>
                <a:latin typeface="Arial"/>
              </a:rPr>
              <a:t>Minimal shading</a:t>
            </a:r>
          </a:p>
          <a:p>
            <a:pPr>
              <a:spcAft>
                <a:spcPts val="700"/>
              </a:spcAft>
            </a:pPr>
            <a:r>
              <a:rPr lang="en-US" sz="1400" b="1">
                <a:solidFill>
                  <a:srgbClr val="FF8200"/>
                </a:solidFill>
                <a:latin typeface="Arial"/>
              </a:rPr>
              <a:t>•  </a:t>
            </a:r>
            <a:r>
              <a:rPr lang="en-US" sz="1400">
                <a:solidFill>
                  <a:schemeClr val="tx1"/>
                </a:solidFill>
                <a:latin typeface="Arial"/>
              </a:rPr>
              <a:t>South-facing roof preferred</a:t>
            </a:r>
          </a:p>
          <a:p>
            <a:pPr>
              <a:spcAft>
                <a:spcPts val="700"/>
              </a:spcAft>
            </a:pPr>
            <a:r>
              <a:rPr lang="en-US" sz="1400" b="1">
                <a:solidFill>
                  <a:srgbClr val="FF8200"/>
                </a:solidFill>
                <a:latin typeface="Arial"/>
              </a:rPr>
              <a:t>•  </a:t>
            </a:r>
            <a:r>
              <a:rPr lang="en-US" sz="1400">
                <a:solidFill>
                  <a:schemeClr val="tx1"/>
                </a:solidFill>
                <a:latin typeface="Arial"/>
              </a:rPr>
              <a:t>Long-term residency likelihood</a:t>
            </a:r>
          </a:p>
          <a:p>
            <a:pPr algn="ctr"/>
            <a:endParaRPr lang="en-US"/>
          </a:p>
        </p:txBody>
      </p:sp>
      <p:sp>
        <p:nvSpPr>
          <p:cNvPr id="23" name="Rectangle: Rounded Corners 22">
            <a:extLst>
              <a:ext uri="{FF2B5EF4-FFF2-40B4-BE49-F238E27FC236}">
                <a16:creationId xmlns:a16="http://schemas.microsoft.com/office/drawing/2014/main" id="{6E927714-82DE-4CC1-A9F0-BDC9152FEEE9}"/>
              </a:ext>
            </a:extLst>
          </p:cNvPr>
          <p:cNvSpPr/>
          <p:nvPr/>
        </p:nvSpPr>
        <p:spPr>
          <a:xfrm>
            <a:off x="365760" y="1435608"/>
            <a:ext cx="1964046" cy="567496"/>
          </a:xfrm>
          <a:prstGeom prst="roundRect">
            <a:avLst/>
          </a:prstGeom>
          <a:solidFill>
            <a:srgbClr val="F4F6F9"/>
          </a:solidFill>
          <a:ln>
            <a:solidFill>
              <a:srgbClr val="F4F6F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solidFill>
                  <a:schemeClr val="tx1"/>
                </a:solidFill>
                <a:latin typeface="Arial" panose="020B0604020202020204" pitchFamily="34" charset="0"/>
                <a:cs typeface="Arial" panose="020B0604020202020204" pitchFamily="34" charset="0"/>
              </a:rPr>
              <a:t>Requirements</a:t>
            </a:r>
          </a:p>
        </p:txBody>
      </p:sp>
      <p:sp>
        <p:nvSpPr>
          <p:cNvPr id="27" name="Rectangle: Rounded Corners 26">
            <a:extLst>
              <a:ext uri="{FF2B5EF4-FFF2-40B4-BE49-F238E27FC236}">
                <a16:creationId xmlns:a16="http://schemas.microsoft.com/office/drawing/2014/main" id="{A473D389-6B13-EB98-CF5C-77031F9A66CA}"/>
              </a:ext>
            </a:extLst>
          </p:cNvPr>
          <p:cNvSpPr/>
          <p:nvPr/>
        </p:nvSpPr>
        <p:spPr>
          <a:xfrm>
            <a:off x="9808702" y="1435608"/>
            <a:ext cx="1964046" cy="567496"/>
          </a:xfrm>
          <a:prstGeom prst="roundRect">
            <a:avLst/>
          </a:prstGeom>
          <a:solidFill>
            <a:srgbClr val="F4F6F9"/>
          </a:solidFill>
          <a:ln>
            <a:solidFill>
              <a:srgbClr val="F4F6F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solidFill>
                  <a:schemeClr val="tx1"/>
                </a:solidFill>
                <a:latin typeface="Arial" panose="020B0604020202020204" pitchFamily="34" charset="0"/>
                <a:cs typeface="Arial" panose="020B0604020202020204" pitchFamily="34" charset="0"/>
              </a:rPr>
              <a:t>Results</a:t>
            </a:r>
          </a:p>
        </p:txBody>
      </p:sp>
      <p:sp>
        <p:nvSpPr>
          <p:cNvPr id="29" name="Rectangle: Rounded Corners 28">
            <a:extLst>
              <a:ext uri="{FF2B5EF4-FFF2-40B4-BE49-F238E27FC236}">
                <a16:creationId xmlns:a16="http://schemas.microsoft.com/office/drawing/2014/main" id="{D335352E-6085-0779-1F3C-0E4DE697F269}"/>
              </a:ext>
            </a:extLst>
          </p:cNvPr>
          <p:cNvSpPr/>
          <p:nvPr/>
        </p:nvSpPr>
        <p:spPr>
          <a:xfrm>
            <a:off x="5087231" y="1435608"/>
            <a:ext cx="1964046" cy="567496"/>
          </a:xfrm>
          <a:prstGeom prst="roundRect">
            <a:avLst/>
          </a:prstGeom>
          <a:solidFill>
            <a:srgbClr val="F4F6F9"/>
          </a:solidFill>
          <a:ln>
            <a:solidFill>
              <a:srgbClr val="F4F6F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solidFill>
                  <a:schemeClr val="tx1"/>
                </a:solidFill>
                <a:latin typeface="Arial" panose="020B0604020202020204" pitchFamily="34" charset="0"/>
                <a:cs typeface="Arial" panose="020B0604020202020204" pitchFamily="34" charset="0"/>
              </a:rPr>
              <a:t>Deployment</a:t>
            </a:r>
          </a:p>
        </p:txBody>
      </p:sp>
    </p:spTree>
    <p:extLst>
      <p:ext uri="{BB962C8B-B14F-4D97-AF65-F5344CB8AC3E}">
        <p14:creationId xmlns:p14="http://schemas.microsoft.com/office/powerpoint/2010/main" val="22221270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8CE805-6574-3FD4-6CDF-B1FC9DADE6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18D9EE-D9B7-5C8F-D3D4-60B082E09A40}"/>
              </a:ext>
            </a:extLst>
          </p:cNvPr>
          <p:cNvSpPr>
            <a:spLocks noGrp="1"/>
          </p:cNvSpPr>
          <p:nvPr>
            <p:ph type="title"/>
          </p:nvPr>
        </p:nvSpPr>
        <p:spPr>
          <a:xfrm>
            <a:off x="365760" y="429705"/>
            <a:ext cx="10972799" cy="804735"/>
          </a:xfrm>
        </p:spPr>
        <p:txBody>
          <a:bodyPr/>
          <a:lstStyle/>
          <a:p>
            <a:r>
              <a:rPr lang="en-US">
                <a:solidFill>
                  <a:srgbClr val="002856"/>
                </a:solidFill>
              </a:rPr>
              <a:t>Business Case: Value Proposition  </a:t>
            </a:r>
            <a:endParaRPr>
              <a:solidFill>
                <a:srgbClr val="002856"/>
              </a:solidFill>
            </a:endParaRPr>
          </a:p>
        </p:txBody>
      </p:sp>
      <p:sp>
        <p:nvSpPr>
          <p:cNvPr id="4" name="Rounded Rectangle 3">
            <a:extLst>
              <a:ext uri="{FF2B5EF4-FFF2-40B4-BE49-F238E27FC236}">
                <a16:creationId xmlns:a16="http://schemas.microsoft.com/office/drawing/2014/main" id="{DD6788E0-2E29-EFCE-0F9D-C90A12DF0134}"/>
              </a:ext>
            </a:extLst>
          </p:cNvPr>
          <p:cNvSpPr/>
          <p:nvPr/>
        </p:nvSpPr>
        <p:spPr>
          <a:xfrm>
            <a:off x="365760" y="1463040"/>
            <a:ext cx="3637178" cy="3794760"/>
          </a:xfrm>
          <a:prstGeom prst="roundRect">
            <a:avLst>
              <a:gd name="adj" fmla="val 6000"/>
            </a:avLst>
          </a:prstGeom>
          <a:solidFill>
            <a:srgbClr val="FFFFFF"/>
          </a:solidFill>
          <a:ln w="19050">
            <a:solidFill>
              <a:srgbClr val="002856"/>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205746E8-974C-A3A2-FA58-47A224F051AC}"/>
              </a:ext>
            </a:extLst>
          </p:cNvPr>
          <p:cNvSpPr/>
          <p:nvPr/>
        </p:nvSpPr>
        <p:spPr>
          <a:xfrm>
            <a:off x="329184" y="1372234"/>
            <a:ext cx="3710330" cy="593726"/>
          </a:xfrm>
          <a:prstGeom prst="roundRect">
            <a:avLst>
              <a:gd name="adj" fmla="val 12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600" b="1">
                <a:solidFill>
                  <a:srgbClr val="FFFFFF"/>
                </a:solidFill>
                <a:latin typeface="Arial"/>
              </a:rPr>
              <a:t>DTE Benefits</a:t>
            </a:r>
            <a:endParaRPr sz="1600" b="1">
              <a:solidFill>
                <a:srgbClr val="FFFFFF"/>
              </a:solidFill>
              <a:latin typeface="Arial"/>
            </a:endParaRPr>
          </a:p>
        </p:txBody>
      </p:sp>
      <p:sp>
        <p:nvSpPr>
          <p:cNvPr id="6" name="TextBox 5">
            <a:extLst>
              <a:ext uri="{FF2B5EF4-FFF2-40B4-BE49-F238E27FC236}">
                <a16:creationId xmlns:a16="http://schemas.microsoft.com/office/drawing/2014/main" id="{7D208EC4-2235-5EDD-E30A-EB729580CF5B}"/>
              </a:ext>
            </a:extLst>
          </p:cNvPr>
          <p:cNvSpPr txBox="1"/>
          <p:nvPr/>
        </p:nvSpPr>
        <p:spPr>
          <a:xfrm>
            <a:off x="548640" y="2148840"/>
            <a:ext cx="3271418" cy="1169551"/>
          </a:xfrm>
          <a:prstGeom prst="rect">
            <a:avLst/>
          </a:prstGeom>
          <a:noFill/>
        </p:spPr>
        <p:txBody>
          <a:bodyPr wrap="square">
            <a:spAutoFit/>
          </a:bodyPr>
          <a:lstStyle/>
          <a:p>
            <a:pPr>
              <a:spcAft>
                <a:spcPts val="0"/>
              </a:spcAft>
            </a:pPr>
            <a:r>
              <a:rPr lang="en-US" sz="1000">
                <a:solidFill>
                  <a:srgbClr val="404040"/>
                </a:solidFill>
                <a:latin typeface="Arial"/>
              </a:rPr>
              <a:t>(This is what AI gave me for them lol – Maija)</a:t>
            </a:r>
          </a:p>
          <a:p>
            <a:pPr>
              <a:spcAft>
                <a:spcPts val="0"/>
              </a:spcAft>
            </a:pPr>
            <a:endParaRPr lang="en-US" sz="1000">
              <a:solidFill>
                <a:srgbClr val="404040"/>
              </a:solidFill>
              <a:latin typeface="Arial"/>
            </a:endParaRPr>
          </a:p>
          <a:p>
            <a:pPr>
              <a:spcAft>
                <a:spcPts val="0"/>
              </a:spcAft>
            </a:pPr>
            <a:endParaRPr lang="en-US" sz="1000">
              <a:solidFill>
                <a:srgbClr val="404040"/>
              </a:solidFill>
              <a:latin typeface="Arial"/>
            </a:endParaRPr>
          </a:p>
          <a:p>
            <a:pPr marL="171450" indent="-171450">
              <a:spcAft>
                <a:spcPts val="0"/>
              </a:spcAft>
              <a:buFontTx/>
              <a:buChar char="-"/>
            </a:pPr>
            <a:r>
              <a:rPr lang="en-US" sz="1000">
                <a:solidFill>
                  <a:srgbClr val="404040"/>
                </a:solidFill>
                <a:latin typeface="Arial"/>
              </a:rPr>
              <a:t>Supports PA 235 storage goals</a:t>
            </a:r>
          </a:p>
          <a:p>
            <a:pPr marL="171450" indent="-171450">
              <a:spcAft>
                <a:spcPts val="0"/>
              </a:spcAft>
              <a:buFontTx/>
              <a:buChar char="-"/>
            </a:pPr>
            <a:r>
              <a:rPr lang="en-US" sz="1000">
                <a:solidFill>
                  <a:srgbClr val="404040"/>
                </a:solidFill>
                <a:latin typeface="Arial"/>
              </a:rPr>
              <a:t>Improves grid resilience</a:t>
            </a:r>
          </a:p>
          <a:p>
            <a:pPr marL="171450" indent="-171450">
              <a:spcAft>
                <a:spcPts val="0"/>
              </a:spcAft>
              <a:buFontTx/>
              <a:buChar char="-"/>
            </a:pPr>
            <a:r>
              <a:rPr lang="en-US" sz="1000">
                <a:solidFill>
                  <a:srgbClr val="404040"/>
                </a:solidFill>
                <a:latin typeface="Arial"/>
              </a:rPr>
              <a:t>Generates operational fleet data</a:t>
            </a:r>
          </a:p>
          <a:p>
            <a:pPr marL="171450" indent="-171450">
              <a:spcAft>
                <a:spcPts val="0"/>
              </a:spcAft>
              <a:buFontTx/>
              <a:buChar char="-"/>
            </a:pPr>
            <a:r>
              <a:rPr lang="en-US" sz="1000">
                <a:solidFill>
                  <a:srgbClr val="404040"/>
                </a:solidFill>
                <a:latin typeface="Arial"/>
              </a:rPr>
              <a:t>Expands distributed energy resources</a:t>
            </a:r>
            <a:endParaRPr sz="1000">
              <a:solidFill>
                <a:srgbClr val="404040"/>
              </a:solidFill>
              <a:latin typeface="Arial"/>
            </a:endParaRPr>
          </a:p>
        </p:txBody>
      </p:sp>
      <p:sp>
        <p:nvSpPr>
          <p:cNvPr id="7" name="Rounded Rectangle 6">
            <a:extLst>
              <a:ext uri="{FF2B5EF4-FFF2-40B4-BE49-F238E27FC236}">
                <a16:creationId xmlns:a16="http://schemas.microsoft.com/office/drawing/2014/main" id="{D59A49D5-66B2-464D-EC72-09F8FC4A6F16}"/>
              </a:ext>
            </a:extLst>
          </p:cNvPr>
          <p:cNvSpPr/>
          <p:nvPr/>
        </p:nvSpPr>
        <p:spPr>
          <a:xfrm>
            <a:off x="4277258" y="1463040"/>
            <a:ext cx="3637178" cy="3794760"/>
          </a:xfrm>
          <a:prstGeom prst="roundRect">
            <a:avLst>
              <a:gd name="adj" fmla="val 6000"/>
            </a:avLst>
          </a:prstGeom>
          <a:solidFill>
            <a:srgbClr val="FFFFFF"/>
          </a:solidFill>
          <a:ln w="19050">
            <a:solidFill>
              <a:srgbClr val="FF8200"/>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a:extLst>
              <a:ext uri="{FF2B5EF4-FFF2-40B4-BE49-F238E27FC236}">
                <a16:creationId xmlns:a16="http://schemas.microsoft.com/office/drawing/2014/main" id="{0B142DC9-658B-344C-371F-36DE46CD81BD}"/>
              </a:ext>
            </a:extLst>
          </p:cNvPr>
          <p:cNvSpPr/>
          <p:nvPr/>
        </p:nvSpPr>
        <p:spPr>
          <a:xfrm>
            <a:off x="4240682" y="1372234"/>
            <a:ext cx="3710330" cy="593726"/>
          </a:xfrm>
          <a:prstGeom prst="roundRect">
            <a:avLst>
              <a:gd name="adj" fmla="val 12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APTIM </a:t>
            </a:r>
            <a:r>
              <a:rPr lang="en-US" sz="1600" b="1">
                <a:solidFill>
                  <a:srgbClr val="FFFFFF"/>
                </a:solidFill>
                <a:latin typeface="Arial"/>
              </a:rPr>
              <a:t>Benefits</a:t>
            </a:r>
            <a:endParaRPr sz="1600" b="1">
              <a:solidFill>
                <a:srgbClr val="FFFFFF"/>
              </a:solidFill>
              <a:latin typeface="Arial"/>
            </a:endParaRPr>
          </a:p>
        </p:txBody>
      </p:sp>
      <p:sp>
        <p:nvSpPr>
          <p:cNvPr id="9" name="TextBox 8">
            <a:extLst>
              <a:ext uri="{FF2B5EF4-FFF2-40B4-BE49-F238E27FC236}">
                <a16:creationId xmlns:a16="http://schemas.microsoft.com/office/drawing/2014/main" id="{3C93293B-3921-D370-09D8-C9DD59911760}"/>
              </a:ext>
            </a:extLst>
          </p:cNvPr>
          <p:cNvSpPr txBox="1"/>
          <p:nvPr/>
        </p:nvSpPr>
        <p:spPr>
          <a:xfrm>
            <a:off x="4460138" y="2148840"/>
            <a:ext cx="3271418" cy="707886"/>
          </a:xfrm>
          <a:prstGeom prst="rect">
            <a:avLst/>
          </a:prstGeom>
          <a:noFill/>
        </p:spPr>
        <p:txBody>
          <a:bodyPr wrap="square">
            <a:spAutoFit/>
          </a:bodyPr>
          <a:lstStyle/>
          <a:p>
            <a:pPr marL="171450" indent="-171450">
              <a:spcAft>
                <a:spcPts val="0"/>
              </a:spcAft>
              <a:buFontTx/>
              <a:buChar char="-"/>
            </a:pPr>
            <a:r>
              <a:rPr lang="en-US" sz="1000">
                <a:solidFill>
                  <a:srgbClr val="404040"/>
                </a:solidFill>
                <a:latin typeface="Arial"/>
              </a:rPr>
              <a:t>Michigan market entry</a:t>
            </a:r>
          </a:p>
          <a:p>
            <a:pPr marL="171450" indent="-171450">
              <a:spcAft>
                <a:spcPts val="0"/>
              </a:spcAft>
              <a:buFontTx/>
              <a:buChar char="-"/>
            </a:pPr>
            <a:r>
              <a:rPr lang="en-US" sz="1000">
                <a:solidFill>
                  <a:srgbClr val="404040"/>
                </a:solidFill>
                <a:latin typeface="Arial"/>
              </a:rPr>
              <a:t>Recurring contract revenue</a:t>
            </a:r>
          </a:p>
          <a:p>
            <a:pPr marL="171450" indent="-171450">
              <a:spcAft>
                <a:spcPts val="0"/>
              </a:spcAft>
              <a:buFontTx/>
              <a:buChar char="-"/>
            </a:pPr>
            <a:r>
              <a:rPr lang="en-US" sz="1000">
                <a:solidFill>
                  <a:srgbClr val="404040"/>
                </a:solidFill>
                <a:latin typeface="Arial"/>
              </a:rPr>
              <a:t>Leverages existing capabilities</a:t>
            </a:r>
          </a:p>
          <a:p>
            <a:pPr marL="171450" indent="-171450">
              <a:spcAft>
                <a:spcPts val="0"/>
              </a:spcAft>
              <a:buFontTx/>
              <a:buChar char="-"/>
            </a:pPr>
            <a:r>
              <a:rPr lang="en-US" sz="1000">
                <a:solidFill>
                  <a:srgbClr val="404040"/>
                </a:solidFill>
                <a:latin typeface="Arial"/>
              </a:rPr>
              <a:t>Scalable to future utility clients</a:t>
            </a:r>
            <a:endParaRPr sz="1000">
              <a:solidFill>
                <a:srgbClr val="404040"/>
              </a:solidFill>
              <a:latin typeface="Arial"/>
            </a:endParaRPr>
          </a:p>
        </p:txBody>
      </p:sp>
      <p:sp>
        <p:nvSpPr>
          <p:cNvPr id="10" name="Rounded Rectangle 9">
            <a:extLst>
              <a:ext uri="{FF2B5EF4-FFF2-40B4-BE49-F238E27FC236}">
                <a16:creationId xmlns:a16="http://schemas.microsoft.com/office/drawing/2014/main" id="{E8D189F7-284B-5D16-335E-F424C9B9A736}"/>
              </a:ext>
            </a:extLst>
          </p:cNvPr>
          <p:cNvSpPr/>
          <p:nvPr/>
        </p:nvSpPr>
        <p:spPr>
          <a:xfrm>
            <a:off x="8188756" y="1463040"/>
            <a:ext cx="3637178" cy="3794760"/>
          </a:xfrm>
          <a:prstGeom prst="roundRect">
            <a:avLst>
              <a:gd name="adj" fmla="val 6000"/>
            </a:avLst>
          </a:prstGeom>
          <a:solidFill>
            <a:srgbClr val="FFFFFF"/>
          </a:solidFill>
          <a:ln w="19050">
            <a:solidFill>
              <a:srgbClr val="00A19B"/>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a:extLst>
              <a:ext uri="{FF2B5EF4-FFF2-40B4-BE49-F238E27FC236}">
                <a16:creationId xmlns:a16="http://schemas.microsoft.com/office/drawing/2014/main" id="{A935BC41-F4D2-840E-BD87-2AC9C917EE97}"/>
              </a:ext>
            </a:extLst>
          </p:cNvPr>
          <p:cNvSpPr/>
          <p:nvPr/>
        </p:nvSpPr>
        <p:spPr>
          <a:xfrm>
            <a:off x="8154314" y="1372234"/>
            <a:ext cx="3710330" cy="593726"/>
          </a:xfrm>
          <a:prstGeom prst="roundRect">
            <a:avLst>
              <a:gd name="adj" fmla="val 12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Customer Benefits</a:t>
            </a:r>
          </a:p>
        </p:txBody>
      </p:sp>
      <p:sp>
        <p:nvSpPr>
          <p:cNvPr id="12" name="TextBox 11">
            <a:extLst>
              <a:ext uri="{FF2B5EF4-FFF2-40B4-BE49-F238E27FC236}">
                <a16:creationId xmlns:a16="http://schemas.microsoft.com/office/drawing/2014/main" id="{02A9D64A-06A2-2343-2694-5DDAF50FDC67}"/>
              </a:ext>
            </a:extLst>
          </p:cNvPr>
          <p:cNvSpPr txBox="1"/>
          <p:nvPr/>
        </p:nvSpPr>
        <p:spPr>
          <a:xfrm>
            <a:off x="8371636" y="2240280"/>
            <a:ext cx="3271418" cy="1123384"/>
          </a:xfrm>
          <a:prstGeom prst="rect">
            <a:avLst/>
          </a:prstGeom>
          <a:noFill/>
        </p:spPr>
        <p:txBody>
          <a:bodyPr wrap="square">
            <a:spAutoFit/>
          </a:bodyPr>
          <a:lstStyle/>
          <a:p>
            <a:pPr marL="285750" indent="-285750">
              <a:spcAft>
                <a:spcPts val="1000"/>
              </a:spcAft>
              <a:buFontTx/>
              <a:buChar char="-"/>
            </a:pPr>
            <a:r>
              <a:rPr lang="en-US" sz="1050">
                <a:solidFill>
                  <a:srgbClr val="404040"/>
                </a:solidFill>
                <a:latin typeface="Arial"/>
              </a:rPr>
              <a:t>~$700 annual savings</a:t>
            </a:r>
          </a:p>
          <a:p>
            <a:pPr marL="285750" indent="-285750">
              <a:spcAft>
                <a:spcPts val="1000"/>
              </a:spcAft>
              <a:buFontTx/>
              <a:buChar char="-"/>
            </a:pPr>
            <a:r>
              <a:rPr lang="en-US" sz="1050">
                <a:solidFill>
                  <a:srgbClr val="404040"/>
                </a:solidFill>
                <a:latin typeface="Arial"/>
              </a:rPr>
              <a:t>40–50% bill reduction</a:t>
            </a:r>
          </a:p>
          <a:p>
            <a:pPr marL="285750" indent="-285750">
              <a:spcAft>
                <a:spcPts val="1000"/>
              </a:spcAft>
              <a:buFontTx/>
              <a:buChar char="-"/>
            </a:pPr>
            <a:r>
              <a:rPr lang="en-US" sz="1050">
                <a:solidFill>
                  <a:srgbClr val="404040"/>
                </a:solidFill>
                <a:latin typeface="Arial"/>
              </a:rPr>
              <a:t>Backup power during outages</a:t>
            </a:r>
          </a:p>
          <a:p>
            <a:pPr marL="285750" indent="-285750">
              <a:spcAft>
                <a:spcPts val="1000"/>
              </a:spcAft>
              <a:buFontTx/>
              <a:buChar char="-"/>
            </a:pPr>
            <a:r>
              <a:rPr lang="en-US" sz="1050">
                <a:solidFill>
                  <a:srgbClr val="404040"/>
                </a:solidFill>
                <a:latin typeface="Arial"/>
              </a:rPr>
              <a:t>No upfront investment</a:t>
            </a:r>
          </a:p>
        </p:txBody>
      </p:sp>
      <p:sp>
        <p:nvSpPr>
          <p:cNvPr id="13" name="Rounded Rectangle 12">
            <a:extLst>
              <a:ext uri="{FF2B5EF4-FFF2-40B4-BE49-F238E27FC236}">
                <a16:creationId xmlns:a16="http://schemas.microsoft.com/office/drawing/2014/main" id="{BC0EBD76-5E22-C2BA-7438-70FD917F7B9C}"/>
              </a:ext>
            </a:extLst>
          </p:cNvPr>
          <p:cNvSpPr/>
          <p:nvPr/>
        </p:nvSpPr>
        <p:spPr>
          <a:xfrm>
            <a:off x="457200" y="5486400"/>
            <a:ext cx="11247120" cy="86868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ctr"/>
            <a:r>
              <a:rPr lang="en-US" sz="1500" b="1">
                <a:solidFill>
                  <a:srgbClr val="FFFFFF"/>
                </a:solidFill>
                <a:latin typeface="Arial"/>
              </a:rPr>
              <a:t>Creates value for DTE, participating homeowners, and APTIM while advancing Michigan's long-term storage goals.</a:t>
            </a:r>
            <a:endParaRPr sz="1500" b="1">
              <a:solidFill>
                <a:srgbClr val="FFFFFF"/>
              </a:solidFill>
              <a:latin typeface="Arial"/>
            </a:endParaRPr>
          </a:p>
        </p:txBody>
      </p:sp>
      <p:sp>
        <p:nvSpPr>
          <p:cNvPr id="14" name="TextBox 13">
            <a:extLst>
              <a:ext uri="{FF2B5EF4-FFF2-40B4-BE49-F238E27FC236}">
                <a16:creationId xmlns:a16="http://schemas.microsoft.com/office/drawing/2014/main" id="{69E28569-579C-7243-6739-326C0E800676}"/>
              </a:ext>
            </a:extLst>
          </p:cNvPr>
          <p:cNvSpPr txBox="1"/>
          <p:nvPr/>
        </p:nvSpPr>
        <p:spPr>
          <a:xfrm>
            <a:off x="3820058" y="6492874"/>
            <a:ext cx="5598262"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15" name="TextBox 14">
            <a:extLst>
              <a:ext uri="{FF2B5EF4-FFF2-40B4-BE49-F238E27FC236}">
                <a16:creationId xmlns:a16="http://schemas.microsoft.com/office/drawing/2014/main" id="{4347DFFA-EF6D-C91C-4F0A-607B89B0712E}"/>
              </a:ext>
            </a:extLst>
          </p:cNvPr>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17</a:t>
            </a:r>
          </a:p>
        </p:txBody>
      </p:sp>
    </p:spTree>
    <p:extLst>
      <p:ext uri="{BB962C8B-B14F-4D97-AF65-F5344CB8AC3E}">
        <p14:creationId xmlns:p14="http://schemas.microsoft.com/office/powerpoint/2010/main" val="34092208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A28408-D7B6-D257-E121-3E1E465DCD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B46E48-AEF8-2D49-D86D-08472E6F8BB5}"/>
              </a:ext>
            </a:extLst>
          </p:cNvPr>
          <p:cNvSpPr>
            <a:spLocks noGrp="1"/>
          </p:cNvSpPr>
          <p:nvPr>
            <p:ph type="title"/>
          </p:nvPr>
        </p:nvSpPr>
        <p:spPr>
          <a:xfrm>
            <a:off x="365760" y="429705"/>
            <a:ext cx="10972799" cy="804735"/>
          </a:xfrm>
        </p:spPr>
        <p:txBody>
          <a:bodyPr/>
          <a:lstStyle/>
          <a:p>
            <a:r>
              <a:rPr lang="en-US">
                <a:solidFill>
                  <a:srgbClr val="002856"/>
                </a:solidFill>
              </a:rPr>
              <a:t>Business Case: Financial Summary </a:t>
            </a:r>
            <a:endParaRPr>
              <a:solidFill>
                <a:srgbClr val="002856"/>
              </a:solidFill>
            </a:endParaRPr>
          </a:p>
        </p:txBody>
      </p:sp>
      <p:sp>
        <p:nvSpPr>
          <p:cNvPr id="4" name="Rounded Rectangle 3">
            <a:extLst>
              <a:ext uri="{FF2B5EF4-FFF2-40B4-BE49-F238E27FC236}">
                <a16:creationId xmlns:a16="http://schemas.microsoft.com/office/drawing/2014/main" id="{E6A058AC-DDB8-F9EB-0C62-CB553C336745}"/>
              </a:ext>
            </a:extLst>
          </p:cNvPr>
          <p:cNvSpPr/>
          <p:nvPr/>
        </p:nvSpPr>
        <p:spPr>
          <a:xfrm>
            <a:off x="365760" y="1463040"/>
            <a:ext cx="3637178" cy="3794760"/>
          </a:xfrm>
          <a:prstGeom prst="roundRect">
            <a:avLst>
              <a:gd name="adj" fmla="val 6000"/>
            </a:avLst>
          </a:prstGeom>
          <a:solidFill>
            <a:srgbClr val="FFFFFF"/>
          </a:solidFill>
          <a:ln w="19050">
            <a:solidFill>
              <a:srgbClr val="002856"/>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63C1BC85-80D2-7A93-9730-8A2206E34111}"/>
              </a:ext>
            </a:extLst>
          </p:cNvPr>
          <p:cNvSpPr/>
          <p:nvPr/>
        </p:nvSpPr>
        <p:spPr>
          <a:xfrm>
            <a:off x="329184" y="1372234"/>
            <a:ext cx="3710330" cy="593726"/>
          </a:xfrm>
          <a:prstGeom prst="roundRect">
            <a:avLst>
              <a:gd name="adj" fmla="val 12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600" b="1">
                <a:solidFill>
                  <a:srgbClr val="FFFFFF"/>
                </a:solidFill>
                <a:latin typeface="Arial"/>
              </a:rPr>
              <a:t>DTE Benefits</a:t>
            </a:r>
            <a:endParaRPr sz="1600" b="1">
              <a:solidFill>
                <a:srgbClr val="FFFFFF"/>
              </a:solidFill>
              <a:latin typeface="Arial"/>
            </a:endParaRPr>
          </a:p>
        </p:txBody>
      </p:sp>
      <p:sp>
        <p:nvSpPr>
          <p:cNvPr id="6" name="TextBox 5">
            <a:extLst>
              <a:ext uri="{FF2B5EF4-FFF2-40B4-BE49-F238E27FC236}">
                <a16:creationId xmlns:a16="http://schemas.microsoft.com/office/drawing/2014/main" id="{B4411DC8-9ECF-F4DA-E5A2-CB1F34425607}"/>
              </a:ext>
            </a:extLst>
          </p:cNvPr>
          <p:cNvSpPr txBox="1"/>
          <p:nvPr/>
        </p:nvSpPr>
        <p:spPr>
          <a:xfrm>
            <a:off x="518466" y="2056766"/>
            <a:ext cx="3271418" cy="3149580"/>
          </a:xfrm>
          <a:prstGeom prst="rect">
            <a:avLst/>
          </a:prstGeom>
          <a:noFill/>
        </p:spPr>
        <p:txBody>
          <a:bodyPr wrap="square">
            <a:spAutoFit/>
          </a:bodyPr>
          <a:lstStyle/>
          <a:p>
            <a:pPr marL="171450" indent="-171450">
              <a:spcAft>
                <a:spcPts val="200"/>
              </a:spcAft>
              <a:buFont typeface="Arial" panose="020B0604020202020204" pitchFamily="34" charset="0"/>
              <a:buChar char="•"/>
            </a:pPr>
            <a:r>
              <a:rPr lang="en-US" sz="1400">
                <a:solidFill>
                  <a:srgbClr val="404040"/>
                </a:solidFill>
                <a:latin typeface="Arial"/>
              </a:rPr>
              <a:t>$17.25M Gross CAPEX</a:t>
            </a:r>
          </a:p>
          <a:p>
            <a:pPr marL="628650" lvl="1" indent="-171450">
              <a:spcAft>
                <a:spcPts val="200"/>
              </a:spcAft>
              <a:buFont typeface="Arial" panose="020B0604020202020204" pitchFamily="34" charset="0"/>
              <a:buChar char="•"/>
            </a:pPr>
            <a:r>
              <a:rPr lang="en-US" sz="1400">
                <a:solidFill>
                  <a:srgbClr val="404040"/>
                </a:solidFill>
                <a:latin typeface="Arial"/>
              </a:rPr>
              <a:t>Solar Cost/Home = 6 kW × $3.50/W = $21,000</a:t>
            </a:r>
          </a:p>
          <a:p>
            <a:pPr marL="628650" lvl="1" indent="-171450">
              <a:spcAft>
                <a:spcPts val="200"/>
              </a:spcAft>
              <a:buFont typeface="Arial" panose="020B0604020202020204" pitchFamily="34" charset="0"/>
              <a:buChar char="•"/>
            </a:pPr>
            <a:r>
              <a:rPr lang="en-US" sz="1400">
                <a:solidFill>
                  <a:srgbClr val="404040"/>
                </a:solidFill>
                <a:latin typeface="Arial"/>
              </a:rPr>
              <a:t>Battery Cost/Home = $13,500</a:t>
            </a:r>
          </a:p>
          <a:p>
            <a:pPr marL="628650" lvl="1" indent="-171450">
              <a:spcAft>
                <a:spcPts val="200"/>
              </a:spcAft>
              <a:buFont typeface="Arial" panose="020B0604020202020204" pitchFamily="34" charset="0"/>
              <a:buChar char="•"/>
            </a:pPr>
            <a:r>
              <a:rPr lang="en-US" sz="1400">
                <a:solidFill>
                  <a:srgbClr val="404040"/>
                </a:solidFill>
                <a:latin typeface="Arial"/>
              </a:rPr>
              <a:t>Total Cost/Home = $34,500</a:t>
            </a:r>
          </a:p>
          <a:p>
            <a:pPr marL="628650" lvl="1" indent="-171450">
              <a:spcAft>
                <a:spcPts val="200"/>
              </a:spcAft>
              <a:buFont typeface="Arial" panose="020B0604020202020204" pitchFamily="34" charset="0"/>
              <a:buChar char="•"/>
            </a:pPr>
            <a:r>
              <a:rPr lang="en-US" sz="1400">
                <a:solidFill>
                  <a:srgbClr val="404040"/>
                </a:solidFill>
                <a:latin typeface="Arial"/>
              </a:rPr>
              <a:t>500 Homes × $34,500 = $17.25M</a:t>
            </a:r>
          </a:p>
          <a:p>
            <a:pPr marL="171450" indent="-171450">
              <a:spcAft>
                <a:spcPts val="200"/>
              </a:spcAft>
              <a:buFont typeface="Arial" panose="020B0604020202020204" pitchFamily="34" charset="0"/>
              <a:buChar char="•"/>
            </a:pPr>
            <a:r>
              <a:rPr lang="en-US" sz="1400">
                <a:solidFill>
                  <a:srgbClr val="404040"/>
                </a:solidFill>
                <a:latin typeface="Arial"/>
              </a:rPr>
              <a:t>3 MW Solar Capacity</a:t>
            </a:r>
          </a:p>
          <a:p>
            <a:pPr marL="628650" lvl="1" indent="-171450">
              <a:spcAft>
                <a:spcPts val="200"/>
              </a:spcAft>
              <a:buFont typeface="Arial" panose="020B0604020202020204" pitchFamily="34" charset="0"/>
              <a:buChar char="•"/>
            </a:pPr>
            <a:r>
              <a:rPr lang="en-US" sz="1400">
                <a:solidFill>
                  <a:srgbClr val="404040"/>
                </a:solidFill>
                <a:latin typeface="Arial"/>
              </a:rPr>
              <a:t>500 Homes × 6 kW/Home</a:t>
            </a:r>
          </a:p>
          <a:p>
            <a:pPr marL="628650" lvl="1" indent="-171450">
              <a:spcAft>
                <a:spcPts val="200"/>
              </a:spcAft>
              <a:buFont typeface="Arial" panose="020B0604020202020204" pitchFamily="34" charset="0"/>
              <a:buChar char="•"/>
            </a:pPr>
            <a:r>
              <a:rPr lang="en-US" sz="1400">
                <a:solidFill>
                  <a:srgbClr val="404040"/>
                </a:solidFill>
                <a:latin typeface="Arial"/>
              </a:rPr>
              <a:t>= 3,000 kW = 3 MW</a:t>
            </a:r>
          </a:p>
          <a:p>
            <a:pPr marL="171450" indent="-171450">
              <a:spcAft>
                <a:spcPts val="200"/>
              </a:spcAft>
              <a:buFont typeface="Arial" panose="020B0604020202020204" pitchFamily="34" charset="0"/>
              <a:buChar char="•"/>
            </a:pPr>
            <a:r>
              <a:rPr lang="en-US" sz="1400">
                <a:solidFill>
                  <a:srgbClr val="404040"/>
                </a:solidFill>
                <a:latin typeface="Arial"/>
              </a:rPr>
              <a:t>7.5 MWh Battery Capacity</a:t>
            </a:r>
          </a:p>
          <a:p>
            <a:pPr marL="628650" lvl="1" indent="-171450">
              <a:spcAft>
                <a:spcPts val="200"/>
              </a:spcAft>
              <a:buFont typeface="Arial" panose="020B0604020202020204" pitchFamily="34" charset="0"/>
              <a:buChar char="•"/>
            </a:pPr>
            <a:r>
              <a:rPr lang="en-US" sz="1400">
                <a:solidFill>
                  <a:srgbClr val="404040"/>
                </a:solidFill>
                <a:latin typeface="Arial"/>
              </a:rPr>
              <a:t>500 Homes × 15 kWh/Home</a:t>
            </a:r>
          </a:p>
          <a:p>
            <a:pPr marL="628650" lvl="1" indent="-171450">
              <a:spcAft>
                <a:spcPts val="200"/>
              </a:spcAft>
              <a:buFont typeface="Arial" panose="020B0604020202020204" pitchFamily="34" charset="0"/>
              <a:buChar char="•"/>
            </a:pPr>
            <a:r>
              <a:rPr lang="en-US" sz="1400">
                <a:solidFill>
                  <a:srgbClr val="404040"/>
                </a:solidFill>
                <a:latin typeface="Arial"/>
              </a:rPr>
              <a:t>= 7,500 kWh = 7.5 MWh</a:t>
            </a:r>
          </a:p>
        </p:txBody>
      </p:sp>
      <p:sp>
        <p:nvSpPr>
          <p:cNvPr id="7" name="Rounded Rectangle 6">
            <a:extLst>
              <a:ext uri="{FF2B5EF4-FFF2-40B4-BE49-F238E27FC236}">
                <a16:creationId xmlns:a16="http://schemas.microsoft.com/office/drawing/2014/main" id="{60401357-93E3-1D7F-3F55-5A48A609C2AA}"/>
              </a:ext>
            </a:extLst>
          </p:cNvPr>
          <p:cNvSpPr/>
          <p:nvPr/>
        </p:nvSpPr>
        <p:spPr>
          <a:xfrm>
            <a:off x="4277258" y="1463040"/>
            <a:ext cx="3637178" cy="3794760"/>
          </a:xfrm>
          <a:prstGeom prst="roundRect">
            <a:avLst>
              <a:gd name="adj" fmla="val 6000"/>
            </a:avLst>
          </a:prstGeom>
          <a:solidFill>
            <a:srgbClr val="FFFFFF"/>
          </a:solidFill>
          <a:ln w="19050">
            <a:solidFill>
              <a:srgbClr val="FF8200"/>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a:extLst>
              <a:ext uri="{FF2B5EF4-FFF2-40B4-BE49-F238E27FC236}">
                <a16:creationId xmlns:a16="http://schemas.microsoft.com/office/drawing/2014/main" id="{CAAE56D0-16D1-D1D1-583E-D96EFA6BFF71}"/>
              </a:ext>
            </a:extLst>
          </p:cNvPr>
          <p:cNvSpPr/>
          <p:nvPr/>
        </p:nvSpPr>
        <p:spPr>
          <a:xfrm>
            <a:off x="4240682" y="1372234"/>
            <a:ext cx="3710330" cy="593726"/>
          </a:xfrm>
          <a:prstGeom prst="roundRect">
            <a:avLst>
              <a:gd name="adj" fmla="val 12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APTIM </a:t>
            </a:r>
            <a:r>
              <a:rPr lang="en-US" sz="1600" b="1">
                <a:solidFill>
                  <a:srgbClr val="FFFFFF"/>
                </a:solidFill>
                <a:latin typeface="Arial"/>
              </a:rPr>
              <a:t>Benefits</a:t>
            </a:r>
            <a:endParaRPr sz="1600" b="1">
              <a:solidFill>
                <a:srgbClr val="FFFFFF"/>
              </a:solidFill>
              <a:latin typeface="Arial"/>
            </a:endParaRPr>
          </a:p>
        </p:txBody>
      </p:sp>
      <p:sp>
        <p:nvSpPr>
          <p:cNvPr id="9" name="TextBox 8">
            <a:extLst>
              <a:ext uri="{FF2B5EF4-FFF2-40B4-BE49-F238E27FC236}">
                <a16:creationId xmlns:a16="http://schemas.microsoft.com/office/drawing/2014/main" id="{F93820BD-AF34-E37C-682E-7EBF8526D231}"/>
              </a:ext>
            </a:extLst>
          </p:cNvPr>
          <p:cNvSpPr txBox="1"/>
          <p:nvPr/>
        </p:nvSpPr>
        <p:spPr>
          <a:xfrm>
            <a:off x="4429964" y="2056766"/>
            <a:ext cx="3271418" cy="2641749"/>
          </a:xfrm>
          <a:prstGeom prst="rect">
            <a:avLst/>
          </a:prstGeom>
          <a:noFill/>
        </p:spPr>
        <p:txBody>
          <a:bodyPr wrap="square">
            <a:spAutoFit/>
          </a:bodyPr>
          <a:lstStyle/>
          <a:p>
            <a:pPr marL="171450" indent="-171450">
              <a:spcAft>
                <a:spcPts val="200"/>
              </a:spcAft>
              <a:buFont typeface="Arial" panose="020B0604020202020204" pitchFamily="34" charset="0"/>
              <a:buChar char="•"/>
            </a:pPr>
            <a:r>
              <a:rPr lang="en-US" sz="1400">
                <a:solidFill>
                  <a:srgbClr val="404040"/>
                </a:solidFill>
                <a:latin typeface="Arial"/>
              </a:rPr>
              <a:t>$1.25M Estimated Annual Program Cost</a:t>
            </a:r>
          </a:p>
          <a:p>
            <a:pPr marL="628650" lvl="1" indent="-171450">
              <a:spcAft>
                <a:spcPts val="200"/>
              </a:spcAft>
              <a:buFont typeface="Arial" panose="020B0604020202020204" pitchFamily="34" charset="0"/>
              <a:buChar char="•"/>
            </a:pPr>
            <a:r>
              <a:rPr lang="en-US" sz="1400">
                <a:solidFill>
                  <a:srgbClr val="404040"/>
                </a:solidFill>
                <a:latin typeface="Arial"/>
              </a:rPr>
              <a:t>Staffing ~ $ 950K</a:t>
            </a:r>
          </a:p>
          <a:p>
            <a:pPr marL="628650" lvl="1" indent="-171450">
              <a:spcAft>
                <a:spcPts val="200"/>
              </a:spcAft>
              <a:buFont typeface="Arial" panose="020B0604020202020204" pitchFamily="34" charset="0"/>
              <a:buChar char="•"/>
            </a:pPr>
            <a:r>
              <a:rPr lang="en-US" sz="1400">
                <a:solidFill>
                  <a:srgbClr val="404040"/>
                </a:solidFill>
                <a:latin typeface="Arial"/>
              </a:rPr>
              <a:t>Overhead/Admin ~ $300K</a:t>
            </a:r>
          </a:p>
          <a:p>
            <a:pPr marL="628650" lvl="1" indent="-171450">
              <a:spcAft>
                <a:spcPts val="200"/>
              </a:spcAft>
              <a:buFont typeface="Arial" panose="020B0604020202020204" pitchFamily="34" charset="0"/>
              <a:buChar char="•"/>
            </a:pPr>
            <a:r>
              <a:rPr lang="en-US" sz="1400">
                <a:solidFill>
                  <a:srgbClr val="404040"/>
                </a:solidFill>
                <a:latin typeface="Arial"/>
              </a:rPr>
              <a:t>Internal Hiring</a:t>
            </a:r>
          </a:p>
          <a:p>
            <a:pPr marL="171450" indent="-171450">
              <a:spcAft>
                <a:spcPts val="200"/>
              </a:spcAft>
              <a:buFont typeface="Arial" panose="020B0604020202020204" pitchFamily="34" charset="0"/>
              <a:buChar char="•"/>
            </a:pPr>
            <a:r>
              <a:rPr lang="en-US" sz="1400">
                <a:solidFill>
                  <a:srgbClr val="404040"/>
                </a:solidFill>
                <a:latin typeface="Arial"/>
              </a:rPr>
              <a:t>$1.47M - $1.67M Suggested DTE Contract Ranges</a:t>
            </a:r>
          </a:p>
          <a:p>
            <a:pPr marL="628650" lvl="1" indent="-171450">
              <a:spcAft>
                <a:spcPts val="200"/>
              </a:spcAft>
              <a:buFont typeface="Arial" panose="020B0604020202020204" pitchFamily="34" charset="0"/>
              <a:buChar char="•"/>
            </a:pPr>
            <a:r>
              <a:rPr lang="en-US" sz="1400">
                <a:solidFill>
                  <a:srgbClr val="404040"/>
                </a:solidFill>
                <a:latin typeface="Arial"/>
              </a:rPr>
              <a:t>15-25% Target Profit Margin</a:t>
            </a:r>
          </a:p>
          <a:p>
            <a:pPr marL="171450" indent="-171450">
              <a:spcAft>
                <a:spcPts val="200"/>
              </a:spcAft>
              <a:buFont typeface="Arial" panose="020B0604020202020204" pitchFamily="34" charset="0"/>
              <a:buChar char="•"/>
            </a:pPr>
            <a:r>
              <a:rPr lang="en-US" sz="1400">
                <a:solidFill>
                  <a:srgbClr val="404040"/>
                </a:solidFill>
                <a:latin typeface="Arial"/>
              </a:rPr>
              <a:t>$220K – $417K Estimated Annual APTIM Profit </a:t>
            </a:r>
          </a:p>
          <a:p>
            <a:pPr marL="628650" lvl="1" indent="-171450">
              <a:spcAft>
                <a:spcPts val="200"/>
              </a:spcAft>
              <a:buFont typeface="Arial" panose="020B0604020202020204" pitchFamily="34" charset="0"/>
              <a:buChar char="•"/>
            </a:pPr>
            <a:r>
              <a:rPr lang="en-US" sz="1400">
                <a:solidFill>
                  <a:srgbClr val="404040"/>
                </a:solidFill>
                <a:latin typeface="Arial"/>
              </a:rPr>
              <a:t>Based on negotiated contract </a:t>
            </a:r>
          </a:p>
        </p:txBody>
      </p:sp>
      <p:sp>
        <p:nvSpPr>
          <p:cNvPr id="10" name="Rounded Rectangle 9">
            <a:extLst>
              <a:ext uri="{FF2B5EF4-FFF2-40B4-BE49-F238E27FC236}">
                <a16:creationId xmlns:a16="http://schemas.microsoft.com/office/drawing/2014/main" id="{0D9FF997-11C2-B6B0-3E8C-9245B546BEC3}"/>
              </a:ext>
            </a:extLst>
          </p:cNvPr>
          <p:cNvSpPr/>
          <p:nvPr/>
        </p:nvSpPr>
        <p:spPr>
          <a:xfrm>
            <a:off x="8188756" y="1463040"/>
            <a:ext cx="3637178" cy="3794760"/>
          </a:xfrm>
          <a:prstGeom prst="roundRect">
            <a:avLst>
              <a:gd name="adj" fmla="val 6000"/>
            </a:avLst>
          </a:prstGeom>
          <a:solidFill>
            <a:srgbClr val="FFFFFF"/>
          </a:solidFill>
          <a:ln w="19050">
            <a:solidFill>
              <a:srgbClr val="00A19B"/>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a:extLst>
              <a:ext uri="{FF2B5EF4-FFF2-40B4-BE49-F238E27FC236}">
                <a16:creationId xmlns:a16="http://schemas.microsoft.com/office/drawing/2014/main" id="{118D8600-A8B2-7C30-BCE6-8BC6266D5F8C}"/>
              </a:ext>
            </a:extLst>
          </p:cNvPr>
          <p:cNvSpPr/>
          <p:nvPr/>
        </p:nvSpPr>
        <p:spPr>
          <a:xfrm>
            <a:off x="8152180" y="1372234"/>
            <a:ext cx="3710330" cy="593726"/>
          </a:xfrm>
          <a:prstGeom prst="roundRect">
            <a:avLst>
              <a:gd name="adj" fmla="val 12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Customer Benefits</a:t>
            </a:r>
          </a:p>
        </p:txBody>
      </p:sp>
      <p:sp>
        <p:nvSpPr>
          <p:cNvPr id="12" name="TextBox 11">
            <a:extLst>
              <a:ext uri="{FF2B5EF4-FFF2-40B4-BE49-F238E27FC236}">
                <a16:creationId xmlns:a16="http://schemas.microsoft.com/office/drawing/2014/main" id="{94E06F27-4AB5-1B9E-C07D-71912ADDBE22}"/>
              </a:ext>
            </a:extLst>
          </p:cNvPr>
          <p:cNvSpPr txBox="1"/>
          <p:nvPr/>
        </p:nvSpPr>
        <p:spPr>
          <a:xfrm>
            <a:off x="8341462" y="2056766"/>
            <a:ext cx="3271418" cy="2667397"/>
          </a:xfrm>
          <a:prstGeom prst="rect">
            <a:avLst/>
          </a:prstGeom>
          <a:noFill/>
        </p:spPr>
        <p:txBody>
          <a:bodyPr wrap="square">
            <a:spAutoFit/>
          </a:bodyPr>
          <a:lstStyle/>
          <a:p>
            <a:pPr marL="171450" indent="-171450">
              <a:spcAft>
                <a:spcPts val="200"/>
              </a:spcAft>
              <a:buFont typeface="Arial" panose="020B0604020202020204" pitchFamily="34" charset="0"/>
              <a:buChar char="•"/>
            </a:pPr>
            <a:r>
              <a:rPr lang="en-US" sz="1400">
                <a:solidFill>
                  <a:srgbClr val="404040"/>
                </a:solidFill>
                <a:latin typeface="Arial"/>
              </a:rPr>
              <a:t>~$700 Annual Savings</a:t>
            </a:r>
          </a:p>
          <a:p>
            <a:pPr marL="628650" lvl="1" indent="-171450">
              <a:spcAft>
                <a:spcPts val="200"/>
              </a:spcAft>
              <a:buFont typeface="Arial" panose="020B0604020202020204" pitchFamily="34" charset="0"/>
              <a:buChar char="•"/>
            </a:pPr>
            <a:r>
              <a:rPr lang="en-US" sz="1400">
                <a:solidFill>
                  <a:srgbClr val="404040"/>
                </a:solidFill>
                <a:latin typeface="Arial"/>
              </a:rPr>
              <a:t>Electricity Cost = $0.1932/kWh</a:t>
            </a:r>
          </a:p>
          <a:p>
            <a:pPr marL="628650" lvl="1" indent="-171450">
              <a:spcAft>
                <a:spcPts val="200"/>
              </a:spcAft>
              <a:buFont typeface="Arial" panose="020B0604020202020204" pitchFamily="34" charset="0"/>
              <a:buChar char="•"/>
            </a:pPr>
            <a:r>
              <a:rPr lang="en-US" sz="1400">
                <a:solidFill>
                  <a:srgbClr val="404040"/>
                </a:solidFill>
                <a:latin typeface="Arial"/>
              </a:rPr>
              <a:t>~ 10 kWh/day Solar Offset</a:t>
            </a:r>
          </a:p>
          <a:p>
            <a:pPr marL="171450" indent="-171450">
              <a:spcAft>
                <a:spcPts val="200"/>
              </a:spcAft>
              <a:buFont typeface="Arial" panose="020B0604020202020204" pitchFamily="34" charset="0"/>
              <a:buChar char="•"/>
            </a:pPr>
            <a:r>
              <a:rPr lang="en-US" sz="1400">
                <a:solidFill>
                  <a:srgbClr val="404040"/>
                </a:solidFill>
                <a:latin typeface="Arial"/>
              </a:rPr>
              <a:t>Up to 50% Bill Reduction</a:t>
            </a:r>
          </a:p>
          <a:p>
            <a:pPr marL="628650" lvl="1" indent="-171450">
              <a:spcAft>
                <a:spcPts val="200"/>
              </a:spcAft>
              <a:buFont typeface="Arial" panose="020B0604020202020204" pitchFamily="34" charset="0"/>
              <a:buChar char="•"/>
            </a:pPr>
            <a:r>
              <a:rPr lang="en-US" sz="1400">
                <a:solidFill>
                  <a:srgbClr val="404040"/>
                </a:solidFill>
                <a:latin typeface="Arial"/>
              </a:rPr>
              <a:t>Solar + Battery Reduces Grid Dependence</a:t>
            </a:r>
          </a:p>
          <a:p>
            <a:pPr marL="628650" lvl="1" indent="-171450">
              <a:spcAft>
                <a:spcPts val="200"/>
              </a:spcAft>
              <a:buFont typeface="Arial" panose="020B0604020202020204" pitchFamily="34" charset="0"/>
              <a:buChar char="•"/>
            </a:pPr>
            <a:r>
              <a:rPr lang="en-US" sz="1400">
                <a:solidFill>
                  <a:srgbClr val="404040"/>
                </a:solidFill>
                <a:latin typeface="Arial"/>
              </a:rPr>
              <a:t>Assume ~ 22.5 kWh/day Household Use</a:t>
            </a:r>
          </a:p>
          <a:p>
            <a:pPr marL="171450" indent="-171450">
              <a:spcAft>
                <a:spcPts val="200"/>
              </a:spcAft>
              <a:buFont typeface="Arial" panose="020B0604020202020204" pitchFamily="34" charset="0"/>
              <a:buChar char="•"/>
            </a:pPr>
            <a:r>
              <a:rPr lang="en-US" sz="1400">
                <a:solidFill>
                  <a:srgbClr val="404040"/>
                </a:solidFill>
                <a:latin typeface="Arial"/>
              </a:rPr>
              <a:t>$0 Upfront Investment</a:t>
            </a:r>
          </a:p>
          <a:p>
            <a:pPr marL="628650" lvl="1" indent="-171450">
              <a:spcAft>
                <a:spcPts val="200"/>
              </a:spcAft>
              <a:buFont typeface="Arial" panose="020B0604020202020204" pitchFamily="34" charset="0"/>
              <a:buChar char="•"/>
            </a:pPr>
            <a:r>
              <a:rPr lang="en-US" sz="1400">
                <a:solidFill>
                  <a:srgbClr val="404040"/>
                </a:solidFill>
                <a:latin typeface="Arial"/>
              </a:rPr>
              <a:t>DTE Owns Assets</a:t>
            </a:r>
          </a:p>
          <a:p>
            <a:pPr marL="628650" lvl="1" indent="-171450">
              <a:spcAft>
                <a:spcPts val="200"/>
              </a:spcAft>
              <a:buFont typeface="Arial" panose="020B0604020202020204" pitchFamily="34" charset="0"/>
              <a:buChar char="•"/>
            </a:pPr>
            <a:r>
              <a:rPr lang="en-US" sz="1400">
                <a:solidFill>
                  <a:srgbClr val="404040"/>
                </a:solidFill>
                <a:latin typeface="Arial"/>
              </a:rPr>
              <a:t>DTE Covers Installation Costs</a:t>
            </a:r>
          </a:p>
        </p:txBody>
      </p:sp>
      <p:sp>
        <p:nvSpPr>
          <p:cNvPr id="13" name="Rounded Rectangle 12">
            <a:extLst>
              <a:ext uri="{FF2B5EF4-FFF2-40B4-BE49-F238E27FC236}">
                <a16:creationId xmlns:a16="http://schemas.microsoft.com/office/drawing/2014/main" id="{B19E97C0-84F2-8627-D88B-05570BB9676C}"/>
              </a:ext>
            </a:extLst>
          </p:cNvPr>
          <p:cNvSpPr/>
          <p:nvPr/>
        </p:nvSpPr>
        <p:spPr>
          <a:xfrm>
            <a:off x="472440" y="5608279"/>
            <a:ext cx="11247120" cy="804736"/>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ctr"/>
            <a:r>
              <a:rPr sz="1500" b="1">
                <a:solidFill>
                  <a:srgbClr val="FFFFFF"/>
                </a:solidFill>
                <a:latin typeface="Arial"/>
              </a:rPr>
              <a:t>Launch a 500-home Ann Arbor pilot to demonstrate a scalable utility-owned solar and battery fleet model while supporting Michigan's long-term storage objectives.</a:t>
            </a:r>
          </a:p>
        </p:txBody>
      </p:sp>
      <p:sp>
        <p:nvSpPr>
          <p:cNvPr id="14" name="TextBox 13">
            <a:extLst>
              <a:ext uri="{FF2B5EF4-FFF2-40B4-BE49-F238E27FC236}">
                <a16:creationId xmlns:a16="http://schemas.microsoft.com/office/drawing/2014/main" id="{32F0A9D8-F27A-EC38-C56D-509CF784C930}"/>
              </a:ext>
            </a:extLst>
          </p:cNvPr>
          <p:cNvSpPr txBox="1"/>
          <p:nvPr/>
        </p:nvSpPr>
        <p:spPr>
          <a:xfrm>
            <a:off x="3820058" y="6492874"/>
            <a:ext cx="5598262"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15" name="TextBox 14">
            <a:extLst>
              <a:ext uri="{FF2B5EF4-FFF2-40B4-BE49-F238E27FC236}">
                <a16:creationId xmlns:a16="http://schemas.microsoft.com/office/drawing/2014/main" id="{A6C6D23B-FB23-9A2F-4F46-718CF3E99F5F}"/>
              </a:ext>
            </a:extLst>
          </p:cNvPr>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17</a:t>
            </a:r>
          </a:p>
        </p:txBody>
      </p:sp>
      <p:sp>
        <p:nvSpPr>
          <p:cNvPr id="17" name="TextBox 16">
            <a:extLst>
              <a:ext uri="{FF2B5EF4-FFF2-40B4-BE49-F238E27FC236}">
                <a16:creationId xmlns:a16="http://schemas.microsoft.com/office/drawing/2014/main" id="{E48BDDFD-7DD6-285B-1C2E-B3A7B57E0321}"/>
              </a:ext>
            </a:extLst>
          </p:cNvPr>
          <p:cNvSpPr txBox="1"/>
          <p:nvPr/>
        </p:nvSpPr>
        <p:spPr>
          <a:xfrm>
            <a:off x="9207396" y="5310227"/>
            <a:ext cx="2685288" cy="261610"/>
          </a:xfrm>
          <a:prstGeom prst="rect">
            <a:avLst/>
          </a:prstGeom>
          <a:noFill/>
        </p:spPr>
        <p:txBody>
          <a:bodyPr wrap="square" rtlCol="0">
            <a:spAutoFit/>
          </a:bodyPr>
          <a:lstStyle/>
          <a:p>
            <a:r>
              <a:rPr lang="en-US" sz="1100">
                <a:solidFill>
                  <a:schemeClr val="bg2">
                    <a:lumMod val="50000"/>
                  </a:schemeClr>
                </a:solidFill>
              </a:rPr>
              <a:t>Source: </a:t>
            </a:r>
            <a:r>
              <a:rPr lang="en-US" sz="1100" err="1">
                <a:solidFill>
                  <a:schemeClr val="bg2">
                    <a:lumMod val="50000"/>
                  </a:schemeClr>
                </a:solidFill>
              </a:rPr>
              <a:t>EcoWatch</a:t>
            </a:r>
            <a:r>
              <a:rPr lang="en-US" sz="1100">
                <a:solidFill>
                  <a:schemeClr val="bg2">
                    <a:lumMod val="50000"/>
                  </a:schemeClr>
                </a:solidFill>
              </a:rPr>
              <a:t> Michigan Solar Guide</a:t>
            </a:r>
          </a:p>
        </p:txBody>
      </p:sp>
    </p:spTree>
    <p:extLst>
      <p:ext uri="{BB962C8B-B14F-4D97-AF65-F5344CB8AC3E}">
        <p14:creationId xmlns:p14="http://schemas.microsoft.com/office/powerpoint/2010/main" val="23136756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CBB8E-0210-7681-A04F-5FA1D6C77E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1E3825-42A2-BB61-3E09-696CB0B714AD}"/>
              </a:ext>
            </a:extLst>
          </p:cNvPr>
          <p:cNvSpPr>
            <a:spLocks noGrp="1"/>
          </p:cNvSpPr>
          <p:nvPr>
            <p:ph type="title"/>
          </p:nvPr>
        </p:nvSpPr>
        <p:spPr/>
        <p:txBody>
          <a:bodyPr/>
          <a:lstStyle/>
          <a:p>
            <a:r>
              <a:rPr lang="en-US">
                <a:latin typeface="Arial Black"/>
                <a:cs typeface="Arial"/>
              </a:rPr>
              <a:t>Strategic Fit </a:t>
            </a:r>
            <a:endParaRPr lang="en-US"/>
          </a:p>
        </p:txBody>
      </p:sp>
      <p:sp>
        <p:nvSpPr>
          <p:cNvPr id="4" name="Footer Placeholder 3">
            <a:extLst>
              <a:ext uri="{FF2B5EF4-FFF2-40B4-BE49-F238E27FC236}">
                <a16:creationId xmlns:a16="http://schemas.microsoft.com/office/drawing/2014/main" id="{F45FB31A-C0EE-EFF1-62DA-5E4B30F7BA2F}"/>
              </a:ext>
            </a:extLst>
          </p:cNvPr>
          <p:cNvSpPr>
            <a:spLocks noGrp="1"/>
          </p:cNvSpPr>
          <p:nvPr>
            <p:ph type="ftr" sz="quarter" idx="11"/>
          </p:nvPr>
        </p:nvSpPr>
        <p:spPr>
          <a:xfrm>
            <a:off x="2430435" y="6439532"/>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D2F6F7C-79A1-D4E3-4372-322365F4C2F3}"/>
              </a:ext>
            </a:extLst>
          </p:cNvPr>
          <p:cNvSpPr>
            <a:spLocks noGrp="1"/>
          </p:cNvSpPr>
          <p:nvPr>
            <p:ph type="sldNum" sz="quarter" idx="12"/>
          </p:nvPr>
        </p:nvSpPr>
        <p:spPr>
          <a:xfrm>
            <a:off x="11286341" y="6542211"/>
            <a:ext cx="285135" cy="251845"/>
          </a:xfrm>
        </p:spPr>
        <p:txBody>
          <a:bodyPr/>
          <a:lstStyle/>
          <a:p>
            <a:fld id="{F8F6B9CD-BE6B-498B-93B3-0FAD7ADE75E3}" type="slidenum">
              <a:rPr lang="en-US" smtClean="0"/>
              <a:t>20</a:t>
            </a:fld>
            <a:endParaRPr lang="en-US"/>
          </a:p>
        </p:txBody>
      </p:sp>
      <p:graphicFrame>
        <p:nvGraphicFramePr>
          <p:cNvPr id="3" name="Diagram 2">
            <a:extLst>
              <a:ext uri="{FF2B5EF4-FFF2-40B4-BE49-F238E27FC236}">
                <a16:creationId xmlns:a16="http://schemas.microsoft.com/office/drawing/2014/main" id="{04C95007-5CC2-35DF-7561-E04658A58393}"/>
              </a:ext>
            </a:extLst>
          </p:cNvPr>
          <p:cNvGraphicFramePr/>
          <p:nvPr>
            <p:extLst>
              <p:ext uri="{D42A27DB-BD31-4B8C-83A1-F6EECF244321}">
                <p14:modId xmlns:p14="http://schemas.microsoft.com/office/powerpoint/2010/main" val="1914515963"/>
              </p:ext>
            </p:extLst>
          </p:nvPr>
        </p:nvGraphicFramePr>
        <p:xfrm>
          <a:off x="1507300" y="1105714"/>
          <a:ext cx="8953754" cy="526967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9" name="Graphic 8" descr="Person with idea with solid fill">
            <a:extLst>
              <a:ext uri="{FF2B5EF4-FFF2-40B4-BE49-F238E27FC236}">
                <a16:creationId xmlns:a16="http://schemas.microsoft.com/office/drawing/2014/main" id="{94DAB289-C1DE-CB70-E36F-44D04AED135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2038" y="1950539"/>
            <a:ext cx="804735" cy="804735"/>
          </a:xfrm>
          <a:prstGeom prst="rect">
            <a:avLst/>
          </a:prstGeom>
        </p:spPr>
      </p:pic>
      <p:pic>
        <p:nvPicPr>
          <p:cNvPr id="11" name="Graphic 10" descr="Bar graph with upward trend with solid fill">
            <a:extLst>
              <a:ext uri="{FF2B5EF4-FFF2-40B4-BE49-F238E27FC236}">
                <a16:creationId xmlns:a16="http://schemas.microsoft.com/office/drawing/2014/main" id="{1172A044-3527-F7BB-C20C-999E34884F3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62038" y="4722688"/>
            <a:ext cx="804735" cy="804735"/>
          </a:xfrm>
          <a:prstGeom prst="rect">
            <a:avLst/>
          </a:prstGeom>
        </p:spPr>
      </p:pic>
      <p:pic>
        <p:nvPicPr>
          <p:cNvPr id="13" name="Graphic 12" descr="Hammer1 with solid fill">
            <a:extLst>
              <a:ext uri="{FF2B5EF4-FFF2-40B4-BE49-F238E27FC236}">
                <a16:creationId xmlns:a16="http://schemas.microsoft.com/office/drawing/2014/main" id="{D34F9CFB-B106-E126-96E0-034ADAC6732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788587" y="4722688"/>
            <a:ext cx="804736" cy="804736"/>
          </a:xfrm>
          <a:prstGeom prst="rect">
            <a:avLst/>
          </a:prstGeom>
        </p:spPr>
      </p:pic>
      <p:pic>
        <p:nvPicPr>
          <p:cNvPr id="19" name="Graphic 18" descr="Bullseye with solid fill">
            <a:extLst>
              <a:ext uri="{FF2B5EF4-FFF2-40B4-BE49-F238E27FC236}">
                <a16:creationId xmlns:a16="http://schemas.microsoft.com/office/drawing/2014/main" id="{BA057E1F-6917-68A5-1D1C-2DAD32C2D6D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0788587" y="2011928"/>
            <a:ext cx="804735" cy="804735"/>
          </a:xfrm>
          <a:prstGeom prst="rect">
            <a:avLst/>
          </a:prstGeom>
        </p:spPr>
      </p:pic>
      <p:pic>
        <p:nvPicPr>
          <p:cNvPr id="21" name="Graphic 20" descr="Empty battery with solid fill">
            <a:extLst>
              <a:ext uri="{FF2B5EF4-FFF2-40B4-BE49-F238E27FC236}">
                <a16:creationId xmlns:a16="http://schemas.microsoft.com/office/drawing/2014/main" id="{1B209809-C997-1623-E4DE-02DE4CF0043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78259" y="3033732"/>
            <a:ext cx="1413637" cy="1413637"/>
          </a:xfrm>
          <a:prstGeom prst="rect">
            <a:avLst/>
          </a:prstGeom>
        </p:spPr>
      </p:pic>
      <p:sp>
        <p:nvSpPr>
          <p:cNvPr id="22" name="Rectangle 21">
            <a:extLst>
              <a:ext uri="{FF2B5EF4-FFF2-40B4-BE49-F238E27FC236}">
                <a16:creationId xmlns:a16="http://schemas.microsoft.com/office/drawing/2014/main" id="{40CD30B9-4B76-D253-D68B-C86C94C1B68D}"/>
              </a:ext>
            </a:extLst>
          </p:cNvPr>
          <p:cNvSpPr/>
          <p:nvPr/>
        </p:nvSpPr>
        <p:spPr>
          <a:xfrm>
            <a:off x="5585206" y="3501581"/>
            <a:ext cx="192024" cy="436047"/>
          </a:xfrm>
          <a:prstGeom prst="rect">
            <a:avLst/>
          </a:prstGeom>
          <a:solidFill>
            <a:schemeClr val="accent1">
              <a:lumMod val="10000"/>
              <a:lumOff val="90000"/>
            </a:schemeClr>
          </a:solidFill>
          <a:ln>
            <a:solidFill>
              <a:schemeClr val="accent1">
                <a:lumMod val="10000"/>
                <a:lumOff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4B08A274-E3D0-0884-46B1-B2E56198FBB7}"/>
              </a:ext>
            </a:extLst>
          </p:cNvPr>
          <p:cNvSpPr/>
          <p:nvPr/>
        </p:nvSpPr>
        <p:spPr>
          <a:xfrm>
            <a:off x="5557513"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38B3012C-9223-956B-F18A-C08C36640C23}"/>
              </a:ext>
            </a:extLst>
          </p:cNvPr>
          <p:cNvSpPr/>
          <p:nvPr/>
        </p:nvSpPr>
        <p:spPr>
          <a:xfrm>
            <a:off x="5792153"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Rounded Corners 26">
            <a:extLst>
              <a:ext uri="{FF2B5EF4-FFF2-40B4-BE49-F238E27FC236}">
                <a16:creationId xmlns:a16="http://schemas.microsoft.com/office/drawing/2014/main" id="{3F20729A-1D10-A142-763C-B5741ADD508D}"/>
              </a:ext>
            </a:extLst>
          </p:cNvPr>
          <p:cNvSpPr/>
          <p:nvPr/>
        </p:nvSpPr>
        <p:spPr>
          <a:xfrm>
            <a:off x="6037579"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Rounded Corners 28">
            <a:extLst>
              <a:ext uri="{FF2B5EF4-FFF2-40B4-BE49-F238E27FC236}">
                <a16:creationId xmlns:a16="http://schemas.microsoft.com/office/drawing/2014/main" id="{9C8159F7-24EC-0B33-0A2D-E27E4FF49F15}"/>
              </a:ext>
            </a:extLst>
          </p:cNvPr>
          <p:cNvSpPr/>
          <p:nvPr/>
        </p:nvSpPr>
        <p:spPr>
          <a:xfrm>
            <a:off x="6276728"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5" name="Graphic 44" descr="Empty battery with solid fill">
            <a:extLst>
              <a:ext uri="{FF2B5EF4-FFF2-40B4-BE49-F238E27FC236}">
                <a16:creationId xmlns:a16="http://schemas.microsoft.com/office/drawing/2014/main" id="{F45D697A-B83F-8CBA-A883-6C9906F3428A}"/>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378259" y="3033732"/>
            <a:ext cx="1413637" cy="1413637"/>
          </a:xfrm>
          <a:prstGeom prst="rect">
            <a:avLst/>
          </a:prstGeom>
        </p:spPr>
      </p:pic>
      <p:sp>
        <p:nvSpPr>
          <p:cNvPr id="46" name="Rectangle: Rounded Corners 45">
            <a:extLst>
              <a:ext uri="{FF2B5EF4-FFF2-40B4-BE49-F238E27FC236}">
                <a16:creationId xmlns:a16="http://schemas.microsoft.com/office/drawing/2014/main" id="{1BF0C31E-45F1-11B8-82DF-FEB4CA027AAE}"/>
              </a:ext>
            </a:extLst>
          </p:cNvPr>
          <p:cNvSpPr/>
          <p:nvPr/>
        </p:nvSpPr>
        <p:spPr>
          <a:xfrm>
            <a:off x="5557513"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Rounded Corners 46">
            <a:extLst>
              <a:ext uri="{FF2B5EF4-FFF2-40B4-BE49-F238E27FC236}">
                <a16:creationId xmlns:a16="http://schemas.microsoft.com/office/drawing/2014/main" id="{C0C1EB17-0953-224A-3BD7-2850C1BB2D44}"/>
              </a:ext>
            </a:extLst>
          </p:cNvPr>
          <p:cNvSpPr/>
          <p:nvPr/>
        </p:nvSpPr>
        <p:spPr>
          <a:xfrm>
            <a:off x="5792153"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Rounded Corners 47">
            <a:extLst>
              <a:ext uri="{FF2B5EF4-FFF2-40B4-BE49-F238E27FC236}">
                <a16:creationId xmlns:a16="http://schemas.microsoft.com/office/drawing/2014/main" id="{801B8F2E-F917-A576-B0BC-2F847513E4D4}"/>
              </a:ext>
            </a:extLst>
          </p:cNvPr>
          <p:cNvSpPr/>
          <p:nvPr/>
        </p:nvSpPr>
        <p:spPr>
          <a:xfrm>
            <a:off x="6037579"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Rounded Corners 48">
            <a:extLst>
              <a:ext uri="{FF2B5EF4-FFF2-40B4-BE49-F238E27FC236}">
                <a16:creationId xmlns:a16="http://schemas.microsoft.com/office/drawing/2014/main" id="{93981EDE-1A87-9FC9-505B-AFE8639813D7}"/>
              </a:ext>
            </a:extLst>
          </p:cNvPr>
          <p:cNvSpPr/>
          <p:nvPr/>
        </p:nvSpPr>
        <p:spPr>
          <a:xfrm>
            <a:off x="6276728"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0" name="Graphic 49" descr="Person with idea with solid fill">
            <a:extLst>
              <a:ext uri="{FF2B5EF4-FFF2-40B4-BE49-F238E27FC236}">
                <a16:creationId xmlns:a16="http://schemas.microsoft.com/office/drawing/2014/main" id="{6866304D-5250-D141-791A-A103AAFA404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62037" y="1950538"/>
            <a:ext cx="804735" cy="804735"/>
          </a:xfrm>
          <a:prstGeom prst="rect">
            <a:avLst/>
          </a:prstGeom>
        </p:spPr>
      </p:pic>
      <p:pic>
        <p:nvPicPr>
          <p:cNvPr id="51" name="Graphic 50" descr="Bar graph with upward trend with solid fill">
            <a:extLst>
              <a:ext uri="{FF2B5EF4-FFF2-40B4-BE49-F238E27FC236}">
                <a16:creationId xmlns:a16="http://schemas.microsoft.com/office/drawing/2014/main" id="{3B977976-6888-49A7-1341-3B06508B9329}"/>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62037" y="4722687"/>
            <a:ext cx="804735" cy="804735"/>
          </a:xfrm>
          <a:prstGeom prst="rect">
            <a:avLst/>
          </a:prstGeom>
        </p:spPr>
      </p:pic>
      <p:pic>
        <p:nvPicPr>
          <p:cNvPr id="52" name="Graphic 51" descr="Hammer1 with solid fill">
            <a:extLst>
              <a:ext uri="{FF2B5EF4-FFF2-40B4-BE49-F238E27FC236}">
                <a16:creationId xmlns:a16="http://schemas.microsoft.com/office/drawing/2014/main" id="{A84E4DD5-7CD1-4BC4-A65D-7FC69516AD90}"/>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10784471" y="4722687"/>
            <a:ext cx="804736" cy="804736"/>
          </a:xfrm>
          <a:prstGeom prst="rect">
            <a:avLst/>
          </a:prstGeom>
        </p:spPr>
      </p:pic>
      <p:pic>
        <p:nvPicPr>
          <p:cNvPr id="53" name="Graphic 52" descr="Bullseye with solid fill">
            <a:extLst>
              <a:ext uri="{FF2B5EF4-FFF2-40B4-BE49-F238E27FC236}">
                <a16:creationId xmlns:a16="http://schemas.microsoft.com/office/drawing/2014/main" id="{DA3DB6D3-9EA3-8716-5DC7-091A4D225DDC}"/>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0788587" y="2011927"/>
            <a:ext cx="804735" cy="804735"/>
          </a:xfrm>
          <a:prstGeom prst="rect">
            <a:avLst/>
          </a:prstGeom>
        </p:spPr>
      </p:pic>
    </p:spTree>
    <p:extLst>
      <p:ext uri="{BB962C8B-B14F-4D97-AF65-F5344CB8AC3E}">
        <p14:creationId xmlns:p14="http://schemas.microsoft.com/office/powerpoint/2010/main" val="121817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25"/>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0"/>
                                          </p:stCondLst>
                                        </p:cTn>
                                        <p:tgtEl>
                                          <p:spTgt spid="27"/>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0"/>
                                          </p:stCondLst>
                                        </p:cTn>
                                        <p:tgtEl>
                                          <p:spTgt spid="29"/>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21"/>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9"/>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0"/>
                                          </p:stCondLst>
                                        </p:cTn>
                                        <p:tgtEl>
                                          <p:spTgt spid="19"/>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13"/>
                                        </p:tgtEl>
                                        <p:attrNameLst>
                                          <p:attrName>style.visibility</p:attrName>
                                        </p:attrNameLst>
                                      </p:cBhvr>
                                      <p:to>
                                        <p:strVal val="hidden"/>
                                      </p:to>
                                    </p:set>
                                  </p:childTnLst>
                                </p:cTn>
                              </p:par>
                              <p:par>
                                <p:cTn id="45" presetID="1" presetClass="exit" presetSubtype="0" fill="hold" nodeType="withEffect">
                                  <p:stCondLst>
                                    <p:cond delay="0"/>
                                  </p:stCondLst>
                                  <p:childTnLst>
                                    <p:set>
                                      <p:cBhvr>
                                        <p:cTn id="46" dur="1" fill="hold">
                                          <p:stCondLst>
                                            <p:cond delay="0"/>
                                          </p:stCondLst>
                                        </p:cTn>
                                        <p:tgtEl>
                                          <p:spTgt spid="11"/>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par>
                          <p:cTn id="65" fill="hold">
                            <p:stCondLst>
                              <p:cond delay="0"/>
                            </p:stCondLst>
                            <p:childTnLst>
                              <p:par>
                                <p:cTn id="66" presetID="26" presetClass="emph" presetSubtype="0" fill="hold" nodeType="afterEffect">
                                  <p:stCondLst>
                                    <p:cond delay="500"/>
                                  </p:stCondLst>
                                  <p:childTnLst>
                                    <p:animEffect transition="out" filter="fade">
                                      <p:cBhvr>
                                        <p:cTn id="67" dur="500" tmFilter="0, 0; .2, .5; .8, .5; 1, 0"/>
                                        <p:tgtEl>
                                          <p:spTgt spid="45"/>
                                        </p:tgtEl>
                                      </p:cBhvr>
                                    </p:animEffect>
                                    <p:animScale>
                                      <p:cBhvr>
                                        <p:cTn id="68" dur="250" autoRev="1" fill="hold"/>
                                        <p:tgtEl>
                                          <p:spTgt spid="45"/>
                                        </p:tgtEl>
                                      </p:cBhvr>
                                      <p:by x="105000" y="105000"/>
                                    </p:animScale>
                                  </p:childTnLst>
                                </p:cTn>
                              </p:par>
                              <p:par>
                                <p:cTn id="69" presetID="26" presetClass="emph" presetSubtype="0" fill="hold" nodeType="withEffect">
                                  <p:stCondLst>
                                    <p:cond delay="500"/>
                                  </p:stCondLst>
                                  <p:childTnLst>
                                    <p:animEffect transition="out" filter="fade">
                                      <p:cBhvr>
                                        <p:cTn id="70" dur="500" tmFilter="0, 0; .2, .5; .8, .5; 1, 0"/>
                                        <p:tgtEl>
                                          <p:spTgt spid="50"/>
                                        </p:tgtEl>
                                      </p:cBhvr>
                                    </p:animEffect>
                                    <p:animScale>
                                      <p:cBhvr>
                                        <p:cTn id="71" dur="250" autoRev="1" fill="hold"/>
                                        <p:tgtEl>
                                          <p:spTgt spid="50"/>
                                        </p:tgtEl>
                                      </p:cBhvr>
                                      <p:by x="105000" y="105000"/>
                                    </p:animScale>
                                  </p:childTnLst>
                                </p:cTn>
                              </p:par>
                              <p:par>
                                <p:cTn id="72" presetID="26" presetClass="emph" presetSubtype="0" fill="hold" nodeType="withEffect">
                                  <p:stCondLst>
                                    <p:cond delay="500"/>
                                  </p:stCondLst>
                                  <p:childTnLst>
                                    <p:animEffect transition="out" filter="fade">
                                      <p:cBhvr>
                                        <p:cTn id="73" dur="500" tmFilter="0, 0; .2, .5; .8, .5; 1, 0"/>
                                        <p:tgtEl>
                                          <p:spTgt spid="51"/>
                                        </p:tgtEl>
                                      </p:cBhvr>
                                    </p:animEffect>
                                    <p:animScale>
                                      <p:cBhvr>
                                        <p:cTn id="74" dur="250" autoRev="1" fill="hold"/>
                                        <p:tgtEl>
                                          <p:spTgt spid="51"/>
                                        </p:tgtEl>
                                      </p:cBhvr>
                                      <p:by x="105000" y="105000"/>
                                    </p:animScale>
                                  </p:childTnLst>
                                </p:cTn>
                              </p:par>
                              <p:par>
                                <p:cTn id="75" presetID="26" presetClass="emph" presetSubtype="0" fill="hold" nodeType="withEffect">
                                  <p:stCondLst>
                                    <p:cond delay="500"/>
                                  </p:stCondLst>
                                  <p:childTnLst>
                                    <p:animEffect transition="out" filter="fade">
                                      <p:cBhvr>
                                        <p:cTn id="76" dur="500" tmFilter="0, 0; .2, .5; .8, .5; 1, 0"/>
                                        <p:tgtEl>
                                          <p:spTgt spid="52"/>
                                        </p:tgtEl>
                                      </p:cBhvr>
                                    </p:animEffect>
                                    <p:animScale>
                                      <p:cBhvr>
                                        <p:cTn id="77" dur="250" autoRev="1" fill="hold"/>
                                        <p:tgtEl>
                                          <p:spTgt spid="52"/>
                                        </p:tgtEl>
                                      </p:cBhvr>
                                      <p:by x="105000" y="105000"/>
                                    </p:animScale>
                                  </p:childTnLst>
                                </p:cTn>
                              </p:par>
                              <p:par>
                                <p:cTn id="78" presetID="26" presetClass="emph" presetSubtype="0" fill="hold" nodeType="withEffect">
                                  <p:stCondLst>
                                    <p:cond delay="500"/>
                                  </p:stCondLst>
                                  <p:childTnLst>
                                    <p:animEffect transition="out" filter="fade">
                                      <p:cBhvr>
                                        <p:cTn id="79" dur="500" tmFilter="0, 0; .2, .5; .8, .5; 1, 0"/>
                                        <p:tgtEl>
                                          <p:spTgt spid="53"/>
                                        </p:tgtEl>
                                      </p:cBhvr>
                                    </p:animEffect>
                                    <p:animScale>
                                      <p:cBhvr>
                                        <p:cTn id="80" dur="250" autoRev="1" fill="hold"/>
                                        <p:tgtEl>
                                          <p:spTgt spid="5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5" grpId="0" animBg="1"/>
      <p:bldP spid="25" grpId="1" animBg="1"/>
      <p:bldP spid="27" grpId="0" animBg="1"/>
      <p:bldP spid="27" grpId="1" animBg="1"/>
      <p:bldP spid="29" grpId="0" animBg="1"/>
      <p:bldP spid="29" grpId="1" animBg="1"/>
      <p:bldP spid="46" grpId="0" animBg="1"/>
      <p:bldP spid="47" grpId="0" animBg="1"/>
      <p:bldP spid="48" grpId="0" animBg="1"/>
      <p:bldP spid="49"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E998A-3924-CBE9-20B9-69518C39C8B9}"/>
              </a:ext>
            </a:extLst>
          </p:cNvPr>
          <p:cNvSpPr>
            <a:spLocks noGrp="1"/>
          </p:cNvSpPr>
          <p:nvPr>
            <p:ph type="title"/>
          </p:nvPr>
        </p:nvSpPr>
        <p:spPr/>
        <p:txBody>
          <a:bodyPr/>
          <a:lstStyle/>
          <a:p>
            <a:r>
              <a:rPr lang="en-US"/>
              <a:t> Growth Timeline (Re format)</a:t>
            </a:r>
          </a:p>
        </p:txBody>
      </p:sp>
      <p:graphicFrame>
        <p:nvGraphicFramePr>
          <p:cNvPr id="7" name="Content Placeholder 6">
            <a:extLst>
              <a:ext uri="{FF2B5EF4-FFF2-40B4-BE49-F238E27FC236}">
                <a16:creationId xmlns:a16="http://schemas.microsoft.com/office/drawing/2014/main" id="{91FA3FC4-9324-758A-FBE9-BAFCABE203B3}"/>
              </a:ext>
            </a:extLst>
          </p:cNvPr>
          <p:cNvGraphicFramePr>
            <a:graphicFrameLocks noGrp="1"/>
          </p:cNvGraphicFramePr>
          <p:nvPr>
            <p:ph idx="1"/>
            <p:extLst>
              <p:ext uri="{D42A27DB-BD31-4B8C-83A1-F6EECF244321}">
                <p14:modId xmlns:p14="http://schemas.microsoft.com/office/powerpoint/2010/main" val="1422145008"/>
              </p:ext>
            </p:extLst>
          </p:nvPr>
        </p:nvGraphicFramePr>
        <p:xfrm>
          <a:off x="609600" y="1600200"/>
          <a:ext cx="10972800" cy="46863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Footer Placeholder 3">
            <a:extLst>
              <a:ext uri="{FF2B5EF4-FFF2-40B4-BE49-F238E27FC236}">
                <a16:creationId xmlns:a16="http://schemas.microsoft.com/office/drawing/2014/main" id="{203608F2-BA07-F550-1B74-EFF1D6EEB36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90F9017-357B-5A42-792C-75670CF4665E}"/>
              </a:ext>
            </a:extLst>
          </p:cNvPr>
          <p:cNvSpPr>
            <a:spLocks noGrp="1"/>
          </p:cNvSpPr>
          <p:nvPr>
            <p:ph type="sldNum" sz="quarter" idx="12"/>
          </p:nvPr>
        </p:nvSpPr>
        <p:spPr/>
        <p:txBody>
          <a:bodyPr/>
          <a:lstStyle/>
          <a:p>
            <a:fld id="{F8F6B9CD-BE6B-498B-93B3-0FAD7ADE75E3}" type="slidenum">
              <a:rPr lang="en-US" smtClean="0"/>
              <a:t>21</a:t>
            </a:fld>
            <a:endParaRPr lang="en-US"/>
          </a:p>
        </p:txBody>
      </p:sp>
    </p:spTree>
    <p:extLst>
      <p:ext uri="{BB962C8B-B14F-4D97-AF65-F5344CB8AC3E}">
        <p14:creationId xmlns:p14="http://schemas.microsoft.com/office/powerpoint/2010/main" val="11282495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7000"/>
            <a:lum/>
          </a:blip>
          <a:srcRect/>
          <a:stretch>
            <a:fillRect t="-3000" b="-3000"/>
          </a:stretch>
        </a:blipFill>
        <a:effectLst/>
      </p:bgPr>
    </p:bg>
    <p:spTree>
      <p:nvGrpSpPr>
        <p:cNvPr id="1" name="">
          <a:extLst>
            <a:ext uri="{FF2B5EF4-FFF2-40B4-BE49-F238E27FC236}">
              <a16:creationId xmlns:a16="http://schemas.microsoft.com/office/drawing/2014/main" id="{D659E1B3-E51D-4D37-7000-7F328E4300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4DAD35-9BE8-CB0D-76AF-F0441AF57513}"/>
              </a:ext>
            </a:extLst>
          </p:cNvPr>
          <p:cNvSpPr>
            <a:spLocks noGrp="1"/>
          </p:cNvSpPr>
          <p:nvPr>
            <p:ph type="ctrTitle"/>
          </p:nvPr>
        </p:nvSpPr>
        <p:spPr/>
        <p:txBody>
          <a:bodyPr/>
          <a:lstStyle/>
          <a:p>
            <a:r>
              <a:rPr lang="en-US">
                <a:solidFill>
                  <a:schemeClr val="tx1"/>
                </a:solidFill>
              </a:rPr>
              <a:t>Thank you!</a:t>
            </a:r>
          </a:p>
        </p:txBody>
      </p:sp>
      <p:sp>
        <p:nvSpPr>
          <p:cNvPr id="3" name="Subtitle 2">
            <a:extLst>
              <a:ext uri="{FF2B5EF4-FFF2-40B4-BE49-F238E27FC236}">
                <a16:creationId xmlns:a16="http://schemas.microsoft.com/office/drawing/2014/main" id="{99A45562-B1D7-EC2D-CF82-A12A86772DA0}"/>
              </a:ext>
            </a:extLst>
          </p:cNvPr>
          <p:cNvSpPr>
            <a:spLocks noGrp="1"/>
          </p:cNvSpPr>
          <p:nvPr>
            <p:ph type="subTitle" idx="1"/>
          </p:nvPr>
        </p:nvSpPr>
        <p:spPr/>
        <p:txBody>
          <a:bodyPr/>
          <a:lstStyle/>
          <a:p>
            <a:r>
              <a:rPr lang="en-US">
                <a:solidFill>
                  <a:schemeClr val="tx1"/>
                </a:solidFill>
              </a:rPr>
              <a:t>Any questions? </a:t>
            </a:r>
          </a:p>
        </p:txBody>
      </p:sp>
      <p:sp>
        <p:nvSpPr>
          <p:cNvPr id="4" name="Footer Placeholder 3">
            <a:extLst>
              <a:ext uri="{FF2B5EF4-FFF2-40B4-BE49-F238E27FC236}">
                <a16:creationId xmlns:a16="http://schemas.microsoft.com/office/drawing/2014/main" id="{305B84F3-DCB0-3B3D-F8FF-A06E88037467}"/>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51A1C40-1A46-DFAB-ACB6-DD2534341309}"/>
              </a:ext>
            </a:extLst>
          </p:cNvPr>
          <p:cNvSpPr>
            <a:spLocks noGrp="1"/>
          </p:cNvSpPr>
          <p:nvPr>
            <p:ph type="sldNum" sz="quarter" idx="12"/>
          </p:nvPr>
        </p:nvSpPr>
        <p:spPr/>
        <p:txBody>
          <a:bodyPr/>
          <a:lstStyle/>
          <a:p>
            <a:fld id="{F8F6B9CD-BE6B-498B-93B3-0FAD7ADE75E3}" type="slidenum">
              <a:rPr lang="en-US" smtClean="0"/>
              <a:t>22</a:t>
            </a:fld>
            <a:endParaRPr lang="en-US"/>
          </a:p>
        </p:txBody>
      </p:sp>
    </p:spTree>
    <p:extLst>
      <p:ext uri="{BB962C8B-B14F-4D97-AF65-F5344CB8AC3E}">
        <p14:creationId xmlns:p14="http://schemas.microsoft.com/office/powerpoint/2010/main" val="9433245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8407AFE-A633-546A-9488-924FB6B3102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DB602459-8DDE-74C5-6059-06136E5EFE29}"/>
              </a:ext>
            </a:extLst>
          </p:cNvPr>
          <p:cNvSpPr>
            <a:spLocks noGrp="1"/>
          </p:cNvSpPr>
          <p:nvPr>
            <p:ph type="sldNum" sz="quarter" idx="12"/>
          </p:nvPr>
        </p:nvSpPr>
        <p:spPr/>
        <p:txBody>
          <a:bodyPr/>
          <a:lstStyle/>
          <a:p>
            <a:fld id="{F8F6B9CD-BE6B-498B-93B3-0FAD7ADE75E3}" type="slidenum">
              <a:rPr lang="en-US" smtClean="0"/>
              <a:pPr/>
              <a:t>23</a:t>
            </a:fld>
            <a:endParaRPr lang="en-US"/>
          </a:p>
        </p:txBody>
      </p:sp>
    </p:spTree>
    <p:extLst>
      <p:ext uri="{BB962C8B-B14F-4D97-AF65-F5344CB8AC3E}">
        <p14:creationId xmlns:p14="http://schemas.microsoft.com/office/powerpoint/2010/main" val="9479916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bg>
      <p:bgPr>
        <a:blipFill dpi="0" rotWithShape="1">
          <a:blip r:embed="rId3">
            <a:alphaModFix amt="77000"/>
            <a:lum/>
          </a:blip>
          <a:srcRect/>
          <a:stretch>
            <a:fillRect t="-3000" b="-3000"/>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42580-621B-84DC-179E-3ACB50F4E391}"/>
              </a:ext>
            </a:extLst>
          </p:cNvPr>
          <p:cNvSpPr>
            <a:spLocks noGrp="1"/>
          </p:cNvSpPr>
          <p:nvPr>
            <p:ph type="ctrTitle"/>
          </p:nvPr>
        </p:nvSpPr>
        <p:spPr/>
        <p:txBody>
          <a:bodyPr/>
          <a:lstStyle/>
          <a:p>
            <a:r>
              <a:rPr lang="en-US"/>
              <a:t>Thank you!</a:t>
            </a:r>
          </a:p>
        </p:txBody>
      </p:sp>
      <p:sp>
        <p:nvSpPr>
          <p:cNvPr id="3" name="Subtitle 2">
            <a:extLst>
              <a:ext uri="{FF2B5EF4-FFF2-40B4-BE49-F238E27FC236}">
                <a16:creationId xmlns:a16="http://schemas.microsoft.com/office/drawing/2014/main" id="{4C8383CF-FB71-ACA0-C993-E7D5AA4487A8}"/>
              </a:ext>
            </a:extLst>
          </p:cNvPr>
          <p:cNvSpPr>
            <a:spLocks noGrp="1"/>
          </p:cNvSpPr>
          <p:nvPr>
            <p:ph type="subTitle" idx="1"/>
          </p:nvPr>
        </p:nvSpPr>
        <p:spPr/>
        <p:txBody>
          <a:bodyPr/>
          <a:lstStyle/>
          <a:p>
            <a:r>
              <a:rPr lang="en-US"/>
              <a:t>Any questions? </a:t>
            </a:r>
          </a:p>
        </p:txBody>
      </p:sp>
      <p:sp>
        <p:nvSpPr>
          <p:cNvPr id="4" name="Footer Placeholder 3">
            <a:extLst>
              <a:ext uri="{FF2B5EF4-FFF2-40B4-BE49-F238E27FC236}">
                <a16:creationId xmlns:a16="http://schemas.microsoft.com/office/drawing/2014/main" id="{21040B46-EDA1-89DA-A37D-B38B831A084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19C1C7-80E4-A147-1864-0296D9F5B6E7}"/>
              </a:ext>
            </a:extLst>
          </p:cNvPr>
          <p:cNvSpPr>
            <a:spLocks noGrp="1"/>
          </p:cNvSpPr>
          <p:nvPr>
            <p:ph type="sldNum" sz="quarter" idx="12"/>
          </p:nvPr>
        </p:nvSpPr>
        <p:spPr/>
        <p:txBody>
          <a:bodyPr/>
          <a:lstStyle/>
          <a:p>
            <a:fld id="{F8F6B9CD-BE6B-498B-93B3-0FAD7ADE75E3}" type="slidenum">
              <a:rPr lang="en-US" smtClean="0"/>
              <a:t>24</a:t>
            </a:fld>
            <a:endParaRPr lang="en-US"/>
          </a:p>
        </p:txBody>
      </p:sp>
      <p:pic>
        <p:nvPicPr>
          <p:cNvPr id="9" name="Picture 8" descr="Cow in pasture">
            <a:extLst>
              <a:ext uri="{FF2B5EF4-FFF2-40B4-BE49-F238E27FC236}">
                <a16:creationId xmlns:a16="http://schemas.microsoft.com/office/drawing/2014/main" id="{F3476969-A05E-184C-BE8E-219CBFDD489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07662" y="842968"/>
            <a:ext cx="3132168" cy="4306311"/>
          </a:xfrm>
          <a:prstGeom prst="rect">
            <a:avLst/>
          </a:prstGeom>
        </p:spPr>
      </p:pic>
    </p:spTree>
    <p:extLst>
      <p:ext uri="{BB962C8B-B14F-4D97-AF65-F5344CB8AC3E}">
        <p14:creationId xmlns:p14="http://schemas.microsoft.com/office/powerpoint/2010/main" val="24153850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405A8E4-5510-BACE-E91E-E24FA1E45B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97BD04-2722-784A-9B23-0DB40EDF512C}"/>
              </a:ext>
            </a:extLst>
          </p:cNvPr>
          <p:cNvSpPr>
            <a:spLocks noGrp="1"/>
          </p:cNvSpPr>
          <p:nvPr>
            <p:ph type="title"/>
          </p:nvPr>
        </p:nvSpPr>
        <p:spPr>
          <a:xfrm>
            <a:off x="365760" y="429705"/>
            <a:ext cx="10972799" cy="804735"/>
          </a:xfrm>
        </p:spPr>
        <p:txBody>
          <a:bodyPr/>
          <a:lstStyle/>
          <a:p>
            <a:r>
              <a:rPr lang="en-US">
                <a:solidFill>
                  <a:srgbClr val="002856"/>
                </a:solidFill>
              </a:rPr>
              <a:t>Business Case: Financial Summary </a:t>
            </a:r>
            <a:endParaRPr>
              <a:solidFill>
                <a:srgbClr val="002856"/>
              </a:solidFill>
            </a:endParaRPr>
          </a:p>
        </p:txBody>
      </p:sp>
      <p:sp>
        <p:nvSpPr>
          <p:cNvPr id="4" name="Rounded Rectangle 3">
            <a:extLst>
              <a:ext uri="{FF2B5EF4-FFF2-40B4-BE49-F238E27FC236}">
                <a16:creationId xmlns:a16="http://schemas.microsoft.com/office/drawing/2014/main" id="{2E071690-8639-7287-E20D-6F32D40155DE}"/>
              </a:ext>
            </a:extLst>
          </p:cNvPr>
          <p:cNvSpPr/>
          <p:nvPr/>
        </p:nvSpPr>
        <p:spPr>
          <a:xfrm>
            <a:off x="365760" y="1463040"/>
            <a:ext cx="3637178" cy="3794760"/>
          </a:xfrm>
          <a:prstGeom prst="roundRect">
            <a:avLst>
              <a:gd name="adj" fmla="val 6000"/>
            </a:avLst>
          </a:prstGeom>
          <a:solidFill>
            <a:srgbClr val="FFFFFF"/>
          </a:solidFill>
          <a:ln w="19050">
            <a:solidFill>
              <a:srgbClr val="002856"/>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903DCB5B-ECEE-62BF-71E4-6E431989CA55}"/>
              </a:ext>
            </a:extLst>
          </p:cNvPr>
          <p:cNvSpPr/>
          <p:nvPr/>
        </p:nvSpPr>
        <p:spPr>
          <a:xfrm>
            <a:off x="365760" y="1463040"/>
            <a:ext cx="3637178" cy="502920"/>
          </a:xfrm>
          <a:prstGeom prst="roundRect">
            <a:avLst>
              <a:gd name="adj" fmla="val 12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a:solidFill>
                  <a:srgbClr val="FFFFFF"/>
                </a:solidFill>
                <a:latin typeface="Arial"/>
              </a:rPr>
              <a:t>DTE Benefits</a:t>
            </a:r>
            <a:endParaRPr sz="1400" b="1">
              <a:solidFill>
                <a:srgbClr val="FFFFFF"/>
              </a:solidFill>
              <a:latin typeface="Arial"/>
            </a:endParaRPr>
          </a:p>
        </p:txBody>
      </p:sp>
      <p:sp>
        <p:nvSpPr>
          <p:cNvPr id="6" name="TextBox 5">
            <a:extLst>
              <a:ext uri="{FF2B5EF4-FFF2-40B4-BE49-F238E27FC236}">
                <a16:creationId xmlns:a16="http://schemas.microsoft.com/office/drawing/2014/main" id="{439345A5-E0BE-B659-9DBF-F167A02938CC}"/>
              </a:ext>
            </a:extLst>
          </p:cNvPr>
          <p:cNvSpPr txBox="1"/>
          <p:nvPr/>
        </p:nvSpPr>
        <p:spPr>
          <a:xfrm>
            <a:off x="548640" y="2148840"/>
            <a:ext cx="3271418" cy="2926080"/>
          </a:xfrm>
          <a:prstGeom prst="rect">
            <a:avLst/>
          </a:prstGeom>
          <a:noFill/>
        </p:spPr>
        <p:txBody>
          <a:bodyPr wrap="square">
            <a:spAutoFit/>
          </a:bodyPr>
          <a:lstStyle/>
          <a:p>
            <a:pPr>
              <a:spcAft>
                <a:spcPts val="0"/>
              </a:spcAft>
            </a:pPr>
            <a:r>
              <a:rPr sz="1700" b="1">
                <a:solidFill>
                  <a:srgbClr val="002856"/>
                </a:solidFill>
                <a:latin typeface="Arial"/>
              </a:rPr>
              <a:t>500</a:t>
            </a:r>
          </a:p>
          <a:p>
            <a:pPr>
              <a:spcAft>
                <a:spcPts val="900"/>
              </a:spcAft>
            </a:pPr>
            <a:r>
              <a:rPr sz="1000">
                <a:solidFill>
                  <a:srgbClr val="404040"/>
                </a:solidFill>
                <a:latin typeface="Arial"/>
              </a:rPr>
              <a:t>Homes</a:t>
            </a:r>
          </a:p>
          <a:p>
            <a:pPr>
              <a:spcAft>
                <a:spcPts val="0"/>
              </a:spcAft>
            </a:pPr>
            <a:r>
              <a:rPr sz="1700" b="1">
                <a:solidFill>
                  <a:srgbClr val="002856"/>
                </a:solidFill>
                <a:latin typeface="Arial"/>
              </a:rPr>
              <a:t>3 MW</a:t>
            </a:r>
          </a:p>
          <a:p>
            <a:pPr>
              <a:spcAft>
                <a:spcPts val="900"/>
              </a:spcAft>
            </a:pPr>
            <a:r>
              <a:rPr sz="1000">
                <a:solidFill>
                  <a:srgbClr val="404040"/>
                </a:solidFill>
                <a:latin typeface="Arial"/>
              </a:rPr>
              <a:t>Solar Capacity</a:t>
            </a:r>
          </a:p>
          <a:p>
            <a:pPr>
              <a:spcAft>
                <a:spcPts val="0"/>
              </a:spcAft>
            </a:pPr>
            <a:r>
              <a:rPr sz="1700" b="1">
                <a:solidFill>
                  <a:srgbClr val="002856"/>
                </a:solidFill>
                <a:latin typeface="Arial"/>
              </a:rPr>
              <a:t>7.5 MWh</a:t>
            </a:r>
          </a:p>
          <a:p>
            <a:pPr>
              <a:spcAft>
                <a:spcPts val="900"/>
              </a:spcAft>
            </a:pPr>
            <a:r>
              <a:rPr sz="1000">
                <a:solidFill>
                  <a:srgbClr val="404040"/>
                </a:solidFill>
                <a:latin typeface="Arial"/>
              </a:rPr>
              <a:t>Battery Capacity</a:t>
            </a:r>
          </a:p>
          <a:p>
            <a:pPr>
              <a:spcAft>
                <a:spcPts val="0"/>
              </a:spcAft>
            </a:pPr>
            <a:r>
              <a:rPr sz="1700" b="1">
                <a:solidFill>
                  <a:srgbClr val="002856"/>
                </a:solidFill>
                <a:latin typeface="Arial"/>
              </a:rPr>
              <a:t>$34,500</a:t>
            </a:r>
          </a:p>
          <a:p>
            <a:pPr>
              <a:spcAft>
                <a:spcPts val="900"/>
              </a:spcAft>
            </a:pPr>
            <a:r>
              <a:rPr sz="1000">
                <a:solidFill>
                  <a:srgbClr val="404040"/>
                </a:solidFill>
                <a:latin typeface="Arial"/>
              </a:rPr>
              <a:t>Cost per Home</a:t>
            </a:r>
          </a:p>
          <a:p>
            <a:pPr>
              <a:spcAft>
                <a:spcPts val="0"/>
              </a:spcAft>
            </a:pPr>
            <a:r>
              <a:rPr sz="1700" b="1">
                <a:solidFill>
                  <a:srgbClr val="002856"/>
                </a:solidFill>
                <a:latin typeface="Arial"/>
              </a:rPr>
              <a:t>$17.25M</a:t>
            </a:r>
          </a:p>
          <a:p>
            <a:pPr>
              <a:spcAft>
                <a:spcPts val="900"/>
              </a:spcAft>
            </a:pPr>
            <a:r>
              <a:rPr sz="1000">
                <a:solidFill>
                  <a:srgbClr val="404040"/>
                </a:solidFill>
                <a:latin typeface="Arial"/>
              </a:rPr>
              <a:t>Gross CAPEX</a:t>
            </a:r>
          </a:p>
        </p:txBody>
      </p:sp>
      <p:sp>
        <p:nvSpPr>
          <p:cNvPr id="7" name="Rounded Rectangle 6">
            <a:extLst>
              <a:ext uri="{FF2B5EF4-FFF2-40B4-BE49-F238E27FC236}">
                <a16:creationId xmlns:a16="http://schemas.microsoft.com/office/drawing/2014/main" id="{FFB2CAB2-0578-385E-1460-F745947358DA}"/>
              </a:ext>
            </a:extLst>
          </p:cNvPr>
          <p:cNvSpPr/>
          <p:nvPr/>
        </p:nvSpPr>
        <p:spPr>
          <a:xfrm>
            <a:off x="4277258" y="1463040"/>
            <a:ext cx="3637178" cy="3794760"/>
          </a:xfrm>
          <a:prstGeom prst="roundRect">
            <a:avLst>
              <a:gd name="adj" fmla="val 6000"/>
            </a:avLst>
          </a:prstGeom>
          <a:solidFill>
            <a:srgbClr val="FFFFFF"/>
          </a:solidFill>
          <a:ln w="19050">
            <a:solidFill>
              <a:srgbClr val="FF8200"/>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a:extLst>
              <a:ext uri="{FF2B5EF4-FFF2-40B4-BE49-F238E27FC236}">
                <a16:creationId xmlns:a16="http://schemas.microsoft.com/office/drawing/2014/main" id="{ED9BB94C-8892-94A7-F468-4545BA8E87CE}"/>
              </a:ext>
            </a:extLst>
          </p:cNvPr>
          <p:cNvSpPr/>
          <p:nvPr/>
        </p:nvSpPr>
        <p:spPr>
          <a:xfrm>
            <a:off x="4277258" y="1463040"/>
            <a:ext cx="3637178" cy="502920"/>
          </a:xfrm>
          <a:prstGeom prst="roundRect">
            <a:avLst>
              <a:gd name="adj" fmla="val 12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APTIM </a:t>
            </a:r>
            <a:r>
              <a:rPr lang="en-US" sz="1400" b="1">
                <a:solidFill>
                  <a:srgbClr val="FFFFFF"/>
                </a:solidFill>
                <a:latin typeface="Arial"/>
              </a:rPr>
              <a:t>Benefits</a:t>
            </a:r>
            <a:endParaRPr sz="1400" b="1">
              <a:solidFill>
                <a:srgbClr val="FFFFFF"/>
              </a:solidFill>
              <a:latin typeface="Arial"/>
            </a:endParaRPr>
          </a:p>
        </p:txBody>
      </p:sp>
      <p:sp>
        <p:nvSpPr>
          <p:cNvPr id="9" name="TextBox 8">
            <a:extLst>
              <a:ext uri="{FF2B5EF4-FFF2-40B4-BE49-F238E27FC236}">
                <a16:creationId xmlns:a16="http://schemas.microsoft.com/office/drawing/2014/main" id="{C6CE4761-B2C1-5BCD-6585-A1AE633B80BF}"/>
              </a:ext>
            </a:extLst>
          </p:cNvPr>
          <p:cNvSpPr txBox="1"/>
          <p:nvPr/>
        </p:nvSpPr>
        <p:spPr>
          <a:xfrm>
            <a:off x="4460138" y="2148840"/>
            <a:ext cx="3271418" cy="2926080"/>
          </a:xfrm>
          <a:prstGeom prst="rect">
            <a:avLst/>
          </a:prstGeom>
          <a:noFill/>
        </p:spPr>
        <p:txBody>
          <a:bodyPr wrap="square">
            <a:spAutoFit/>
          </a:bodyPr>
          <a:lstStyle/>
          <a:p>
            <a:pPr>
              <a:spcAft>
                <a:spcPts val="0"/>
              </a:spcAft>
            </a:pPr>
            <a:r>
              <a:rPr sz="1700" b="1">
                <a:solidFill>
                  <a:srgbClr val="FF8200"/>
                </a:solidFill>
                <a:latin typeface="Arial"/>
              </a:rPr>
              <a:t>$1.5M</a:t>
            </a:r>
          </a:p>
          <a:p>
            <a:pPr>
              <a:spcAft>
                <a:spcPts val="900"/>
              </a:spcAft>
            </a:pPr>
            <a:r>
              <a:rPr sz="1000">
                <a:solidFill>
                  <a:srgbClr val="404040"/>
                </a:solidFill>
                <a:latin typeface="Arial"/>
              </a:rPr>
              <a:t>Annual Contract</a:t>
            </a:r>
          </a:p>
          <a:p>
            <a:pPr>
              <a:spcAft>
                <a:spcPts val="0"/>
              </a:spcAft>
            </a:pPr>
            <a:r>
              <a:rPr sz="1700" b="1">
                <a:solidFill>
                  <a:srgbClr val="FF8200"/>
                </a:solidFill>
                <a:latin typeface="Arial"/>
              </a:rPr>
              <a:t>3 Years</a:t>
            </a:r>
          </a:p>
          <a:p>
            <a:pPr>
              <a:spcAft>
                <a:spcPts val="900"/>
              </a:spcAft>
            </a:pPr>
            <a:r>
              <a:rPr sz="1000">
                <a:solidFill>
                  <a:srgbClr val="404040"/>
                </a:solidFill>
                <a:latin typeface="Arial"/>
              </a:rPr>
              <a:t>Pilot Length</a:t>
            </a:r>
          </a:p>
          <a:p>
            <a:pPr>
              <a:spcAft>
                <a:spcPts val="0"/>
              </a:spcAft>
            </a:pPr>
            <a:r>
              <a:rPr sz="1700" b="1">
                <a:solidFill>
                  <a:srgbClr val="FF8200"/>
                </a:solidFill>
                <a:latin typeface="Arial"/>
              </a:rPr>
              <a:t>$4.5M</a:t>
            </a:r>
          </a:p>
          <a:p>
            <a:pPr>
              <a:spcAft>
                <a:spcPts val="900"/>
              </a:spcAft>
            </a:pPr>
            <a:r>
              <a:rPr sz="1000">
                <a:solidFill>
                  <a:srgbClr val="404040"/>
                </a:solidFill>
                <a:latin typeface="Arial"/>
              </a:rPr>
              <a:t>Total Revenue</a:t>
            </a:r>
          </a:p>
        </p:txBody>
      </p:sp>
      <p:sp>
        <p:nvSpPr>
          <p:cNvPr id="10" name="Rounded Rectangle 9">
            <a:extLst>
              <a:ext uri="{FF2B5EF4-FFF2-40B4-BE49-F238E27FC236}">
                <a16:creationId xmlns:a16="http://schemas.microsoft.com/office/drawing/2014/main" id="{0421D296-1E9C-AA6F-0149-B901CC11EBFF}"/>
              </a:ext>
            </a:extLst>
          </p:cNvPr>
          <p:cNvSpPr/>
          <p:nvPr/>
        </p:nvSpPr>
        <p:spPr>
          <a:xfrm>
            <a:off x="8188756" y="1463040"/>
            <a:ext cx="3637178" cy="3794760"/>
          </a:xfrm>
          <a:prstGeom prst="roundRect">
            <a:avLst>
              <a:gd name="adj" fmla="val 6000"/>
            </a:avLst>
          </a:prstGeom>
          <a:solidFill>
            <a:srgbClr val="FFFFFF"/>
          </a:solidFill>
          <a:ln w="19050">
            <a:solidFill>
              <a:srgbClr val="00A19B"/>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a:extLst>
              <a:ext uri="{FF2B5EF4-FFF2-40B4-BE49-F238E27FC236}">
                <a16:creationId xmlns:a16="http://schemas.microsoft.com/office/drawing/2014/main" id="{D3285091-B454-DFE5-9A92-36D091A0CBA6}"/>
              </a:ext>
            </a:extLst>
          </p:cNvPr>
          <p:cNvSpPr/>
          <p:nvPr/>
        </p:nvSpPr>
        <p:spPr>
          <a:xfrm>
            <a:off x="8188756" y="1463040"/>
            <a:ext cx="3637178" cy="502920"/>
          </a:xfrm>
          <a:prstGeom prst="roundRect">
            <a:avLst>
              <a:gd name="adj" fmla="val 12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Customer Benefits</a:t>
            </a:r>
          </a:p>
        </p:txBody>
      </p:sp>
      <p:sp>
        <p:nvSpPr>
          <p:cNvPr id="12" name="TextBox 11">
            <a:extLst>
              <a:ext uri="{FF2B5EF4-FFF2-40B4-BE49-F238E27FC236}">
                <a16:creationId xmlns:a16="http://schemas.microsoft.com/office/drawing/2014/main" id="{D99F80E0-8F65-B6A6-A402-D703CC6B2C96}"/>
              </a:ext>
            </a:extLst>
          </p:cNvPr>
          <p:cNvSpPr txBox="1"/>
          <p:nvPr/>
        </p:nvSpPr>
        <p:spPr>
          <a:xfrm>
            <a:off x="8371636" y="2240280"/>
            <a:ext cx="3271418" cy="2834640"/>
          </a:xfrm>
          <a:prstGeom prst="rect">
            <a:avLst/>
          </a:prstGeom>
          <a:noFill/>
        </p:spPr>
        <p:txBody>
          <a:bodyPr wrap="square">
            <a:spAutoFit/>
          </a:bodyPr>
          <a:lstStyle/>
          <a:p>
            <a:pPr>
              <a:spcAft>
                <a:spcPts val="1000"/>
              </a:spcAft>
            </a:pPr>
            <a:r>
              <a:rPr sz="1300" b="1">
                <a:solidFill>
                  <a:srgbClr val="00A19B"/>
                </a:solidFill>
                <a:latin typeface="Arial"/>
              </a:rPr>
              <a:t>✓  </a:t>
            </a:r>
            <a:r>
              <a:rPr sz="1300">
                <a:solidFill>
                  <a:srgbClr val="404040"/>
                </a:solidFill>
                <a:latin typeface="Arial"/>
              </a:rPr>
              <a:t>~$700 annual savings</a:t>
            </a:r>
          </a:p>
          <a:p>
            <a:pPr>
              <a:spcAft>
                <a:spcPts val="1000"/>
              </a:spcAft>
            </a:pPr>
            <a:r>
              <a:rPr sz="1300" b="1">
                <a:solidFill>
                  <a:srgbClr val="00A19B"/>
                </a:solidFill>
                <a:latin typeface="Arial"/>
              </a:rPr>
              <a:t>✓  </a:t>
            </a:r>
            <a:r>
              <a:rPr sz="1300">
                <a:solidFill>
                  <a:srgbClr val="404040"/>
                </a:solidFill>
                <a:latin typeface="Arial"/>
              </a:rPr>
              <a:t>40-50% bill reduction</a:t>
            </a:r>
          </a:p>
          <a:p>
            <a:pPr>
              <a:spcAft>
                <a:spcPts val="1000"/>
              </a:spcAft>
            </a:pPr>
            <a:r>
              <a:rPr sz="1300" b="1">
                <a:solidFill>
                  <a:srgbClr val="00A19B"/>
                </a:solidFill>
                <a:latin typeface="Arial"/>
              </a:rPr>
              <a:t>✓  </a:t>
            </a:r>
            <a:r>
              <a:rPr sz="1300">
                <a:solidFill>
                  <a:srgbClr val="404040"/>
                </a:solidFill>
                <a:latin typeface="Arial"/>
              </a:rPr>
              <a:t>Backup power</a:t>
            </a:r>
          </a:p>
          <a:p>
            <a:pPr>
              <a:spcAft>
                <a:spcPts val="1000"/>
              </a:spcAft>
            </a:pPr>
            <a:r>
              <a:rPr sz="1300" b="1">
                <a:solidFill>
                  <a:srgbClr val="00A19B"/>
                </a:solidFill>
                <a:latin typeface="Arial"/>
              </a:rPr>
              <a:t>✓  </a:t>
            </a:r>
            <a:r>
              <a:rPr sz="1300">
                <a:solidFill>
                  <a:srgbClr val="404040"/>
                </a:solidFill>
                <a:latin typeface="Arial"/>
              </a:rPr>
              <a:t>No upfront investment</a:t>
            </a:r>
          </a:p>
        </p:txBody>
      </p:sp>
      <p:sp>
        <p:nvSpPr>
          <p:cNvPr id="13" name="Rounded Rectangle 12">
            <a:extLst>
              <a:ext uri="{FF2B5EF4-FFF2-40B4-BE49-F238E27FC236}">
                <a16:creationId xmlns:a16="http://schemas.microsoft.com/office/drawing/2014/main" id="{4E720CAD-20D2-9021-F18F-40A53CAF20D9}"/>
              </a:ext>
            </a:extLst>
          </p:cNvPr>
          <p:cNvSpPr/>
          <p:nvPr/>
        </p:nvSpPr>
        <p:spPr>
          <a:xfrm>
            <a:off x="457200" y="5486400"/>
            <a:ext cx="11247120" cy="86868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ctr"/>
            <a:r>
              <a:rPr sz="1500" b="1">
                <a:solidFill>
                  <a:srgbClr val="FFFFFF"/>
                </a:solidFill>
                <a:latin typeface="Arial"/>
              </a:rPr>
              <a:t>Launch a 500-home Ann Arbor pilot to demonstrate a scalable utility-owned solar and battery fleet model while supporting Michigan's long-term storage objectives.</a:t>
            </a:r>
          </a:p>
        </p:txBody>
      </p:sp>
      <p:sp>
        <p:nvSpPr>
          <p:cNvPr id="14" name="TextBox 13">
            <a:extLst>
              <a:ext uri="{FF2B5EF4-FFF2-40B4-BE49-F238E27FC236}">
                <a16:creationId xmlns:a16="http://schemas.microsoft.com/office/drawing/2014/main" id="{74662F29-E35F-B243-95E5-9FA207620AC4}"/>
              </a:ext>
            </a:extLst>
          </p:cNvPr>
          <p:cNvSpPr txBox="1"/>
          <p:nvPr/>
        </p:nvSpPr>
        <p:spPr>
          <a:xfrm>
            <a:off x="3820058" y="6492874"/>
            <a:ext cx="5598262"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15" name="TextBox 14">
            <a:extLst>
              <a:ext uri="{FF2B5EF4-FFF2-40B4-BE49-F238E27FC236}">
                <a16:creationId xmlns:a16="http://schemas.microsoft.com/office/drawing/2014/main" id="{BE3A2027-9813-8F0E-725C-E07C533BD16B}"/>
              </a:ext>
            </a:extLst>
          </p:cNvPr>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17</a:t>
            </a:r>
          </a:p>
        </p:txBody>
      </p:sp>
    </p:spTree>
    <p:extLst>
      <p:ext uri="{BB962C8B-B14F-4D97-AF65-F5344CB8AC3E}">
        <p14:creationId xmlns:p14="http://schemas.microsoft.com/office/powerpoint/2010/main" val="36675311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89D8EF4-5EAB-4023-0568-77C0063DB05E}"/>
            </a:ext>
          </a:extLst>
        </p:cNvPr>
        <p:cNvGrpSpPr/>
        <p:nvPr/>
      </p:nvGrpSpPr>
      <p:grpSpPr>
        <a:xfrm>
          <a:off x="0" y="0"/>
          <a:ext cx="0" cy="0"/>
          <a:chOff x="0" y="0"/>
          <a:chExt cx="0" cy="0"/>
        </a:xfrm>
      </p:grpSpPr>
      <p:sp>
        <p:nvSpPr>
          <p:cNvPr id="2" name="TextBox 1"/>
          <p:cNvSpPr txBox="1"/>
          <p:nvPr/>
        </p:nvSpPr>
        <p:spPr>
          <a:xfrm>
            <a:off x="457200" y="436900"/>
            <a:ext cx="10099881" cy="523220"/>
          </a:xfrm>
          <a:prstGeom prst="rect">
            <a:avLst/>
          </a:prstGeom>
          <a:noFill/>
        </p:spPr>
        <p:txBody>
          <a:bodyPr wrap="none" lIns="91440" tIns="45720" rIns="91440" bIns="45720" anchor="t">
            <a:spAutoFit/>
          </a:bodyPr>
          <a:lstStyle/>
          <a:p>
            <a:r>
              <a:rPr sz="2800" b="1">
                <a:solidFill>
                  <a:srgbClr val="002856"/>
                </a:solidFill>
                <a:latin typeface="Arial Black" panose="020B0A04020102020204" pitchFamily="34" charset="0"/>
              </a:rPr>
              <a:t>How APTIM Wins</a:t>
            </a:r>
            <a:r>
              <a:rPr lang="en-US" sz="2800" b="1">
                <a:solidFill>
                  <a:srgbClr val="002856"/>
                </a:solidFill>
                <a:latin typeface="Arial Black" panose="020B0A04020102020204" pitchFamily="34" charset="0"/>
              </a:rPr>
              <a:t> (Christian Slide delete if needed)</a:t>
            </a:r>
            <a:endParaRPr sz="2800" b="1">
              <a:solidFill>
                <a:srgbClr val="002856"/>
              </a:solidFill>
              <a:latin typeface="Arial Black" panose="020B0A04020102020204" pitchFamily="34" charset="0"/>
            </a:endParaRPr>
          </a:p>
        </p:txBody>
      </p:sp>
      <p:sp>
        <p:nvSpPr>
          <p:cNvPr id="4" name="Rounded Rectangle 3"/>
          <p:cNvSpPr/>
          <p:nvPr/>
        </p:nvSpPr>
        <p:spPr>
          <a:xfrm>
            <a:off x="457200" y="1463040"/>
            <a:ext cx="5394960" cy="210312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ctr">
              <a:spcAft>
                <a:spcPts val="800"/>
              </a:spcAft>
            </a:pPr>
            <a:r>
              <a:rPr sz="1800" b="1">
                <a:solidFill>
                  <a:srgbClr val="FFFFFF"/>
                </a:solidFill>
                <a:latin typeface="Arial"/>
              </a:rPr>
              <a:t>Proven Large-Scale Delivery</a:t>
            </a:r>
          </a:p>
          <a:p>
            <a:r>
              <a:rPr sz="1200">
                <a:solidFill>
                  <a:srgbClr val="FFFFFF"/>
                </a:solidFill>
                <a:latin typeface="Arial"/>
              </a:rPr>
              <a:t>$3B+ in rebates delivered, $75M+ in annual incentives administered across multiple states</a:t>
            </a:r>
          </a:p>
        </p:txBody>
      </p:sp>
      <p:sp>
        <p:nvSpPr>
          <p:cNvPr id="5" name="Rounded Rectangle 4"/>
          <p:cNvSpPr/>
          <p:nvPr/>
        </p:nvSpPr>
        <p:spPr>
          <a:xfrm>
            <a:off x="6309360" y="1463040"/>
            <a:ext cx="5394960" cy="210312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ctr">
              <a:spcAft>
                <a:spcPts val="800"/>
              </a:spcAft>
            </a:pPr>
            <a:r>
              <a:rPr sz="1800" b="1">
                <a:solidFill>
                  <a:srgbClr val="FFFFFF"/>
                </a:solidFill>
                <a:latin typeface="Arial"/>
              </a:rPr>
              <a:t>Integrated Capability</a:t>
            </a:r>
          </a:p>
          <a:p>
            <a:r>
              <a:rPr sz="1200">
                <a:solidFill>
                  <a:srgbClr val="FFFFFF"/>
                </a:solidFill>
                <a:latin typeface="Arial"/>
              </a:rPr>
              <a:t>Combines program implementation, analytics, and infrastructure expertise no single competitor offers together</a:t>
            </a:r>
          </a:p>
        </p:txBody>
      </p:sp>
      <p:sp>
        <p:nvSpPr>
          <p:cNvPr id="6" name="Rounded Rectangle 5"/>
          <p:cNvSpPr/>
          <p:nvPr/>
        </p:nvSpPr>
        <p:spPr>
          <a:xfrm>
            <a:off x="457200" y="3794760"/>
            <a:ext cx="5394960" cy="2103120"/>
          </a:xfrm>
          <a:prstGeom prst="roundRect">
            <a:avLst>
              <a:gd name="adj" fmla="val 6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ctr">
              <a:spcAft>
                <a:spcPts val="800"/>
              </a:spcAft>
            </a:pPr>
            <a:r>
              <a:rPr sz="1800" b="1">
                <a:solidFill>
                  <a:srgbClr val="FFFFFF"/>
                </a:solidFill>
                <a:latin typeface="Arial"/>
              </a:rPr>
              <a:t>Track Record That Matters</a:t>
            </a:r>
          </a:p>
          <a:p>
            <a:r>
              <a:rPr sz="1200">
                <a:solidFill>
                  <a:srgbClr val="FFFFFF"/>
                </a:solidFill>
                <a:latin typeface="Arial"/>
              </a:rPr>
              <a:t>Focus on Energy (Wisconsin) since 2010, Energy Smart (Louisiana) since 2017 -- proven resilience and compliance delivery</a:t>
            </a:r>
          </a:p>
        </p:txBody>
      </p:sp>
      <p:sp>
        <p:nvSpPr>
          <p:cNvPr id="7" name="Rounded Rectangle 6"/>
          <p:cNvSpPr/>
          <p:nvPr/>
        </p:nvSpPr>
        <p:spPr>
          <a:xfrm>
            <a:off x="6309360" y="3794760"/>
            <a:ext cx="5394960" cy="2103120"/>
          </a:xfrm>
          <a:prstGeom prst="roundRect">
            <a:avLst>
              <a:gd name="adj" fmla="val 6000"/>
            </a:avLst>
          </a:prstGeom>
          <a:solidFill>
            <a:srgbClr val="A32036"/>
          </a:solidFill>
          <a:ln>
            <a:noFill/>
          </a:ln>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ctr">
              <a:spcAft>
                <a:spcPts val="800"/>
              </a:spcAft>
            </a:pPr>
            <a:r>
              <a:rPr sz="1800" b="1">
                <a:solidFill>
                  <a:srgbClr val="FFFFFF"/>
                </a:solidFill>
                <a:latin typeface="Arial"/>
              </a:rPr>
              <a:t>First Mover, Empty Market</a:t>
            </a:r>
          </a:p>
          <a:p>
            <a:r>
              <a:rPr sz="1200">
                <a:solidFill>
                  <a:srgbClr val="FFFFFF"/>
                </a:solidFill>
                <a:latin typeface="Arial"/>
              </a:rPr>
              <a:t>No company today administers utility-owned residential battery fleets end-to-end -- APTIM would be first</a:t>
            </a:r>
          </a:p>
        </p:txBody>
      </p:sp>
      <p:sp>
        <p:nvSpPr>
          <p:cNvPr id="8" name="TextBox 7"/>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9" name="TextBox 8"/>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16</a:t>
            </a:r>
          </a:p>
        </p:txBody>
      </p:sp>
    </p:spTree>
    <p:extLst>
      <p:ext uri="{BB962C8B-B14F-4D97-AF65-F5344CB8AC3E}">
        <p14:creationId xmlns:p14="http://schemas.microsoft.com/office/powerpoint/2010/main" val="32998071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BADE1B-285C-3ABA-06EA-02BD882B95F4}"/>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Market Analysis (Christian Quick Market slide, delete if needed)</a:t>
            </a:r>
            <a:endParaRPr lang="en-US" sz="2600" b="1">
              <a:latin typeface="Arial"/>
            </a:endParaRPr>
          </a:p>
        </p:txBody>
      </p:sp>
      <p:sp>
        <p:nvSpPr>
          <p:cNvPr id="9" name="Text Placeholder 8">
            <a:extLst>
              <a:ext uri="{FF2B5EF4-FFF2-40B4-BE49-F238E27FC236}">
                <a16:creationId xmlns:a16="http://schemas.microsoft.com/office/drawing/2014/main" id="{892846F0-890B-EB31-149B-374234B03834}"/>
              </a:ext>
            </a:extLst>
          </p:cNvPr>
          <p:cNvSpPr>
            <a:spLocks noGrp="1"/>
          </p:cNvSpPr>
          <p:nvPr>
            <p:ph type="body" idx="1"/>
          </p:nvPr>
        </p:nvSpPr>
        <p:spPr>
          <a:xfrm>
            <a:off x="460248" y="1234440"/>
            <a:ext cx="5310187" cy="301752"/>
          </a:xfrm>
        </p:spPr>
        <p:txBody>
          <a:bodyPr/>
          <a:lstStyle/>
          <a:p>
            <a:r>
              <a:rPr lang="en-US">
                <a:latin typeface="Arial"/>
                <a:cs typeface="Arial"/>
              </a:rPr>
              <a:t>APTIM's role</a:t>
            </a:r>
            <a:endParaRPr lang="en-US"/>
          </a:p>
        </p:txBody>
      </p:sp>
      <p:sp>
        <p:nvSpPr>
          <p:cNvPr id="3" name="Content Placeholder 2">
            <a:extLst>
              <a:ext uri="{FF2B5EF4-FFF2-40B4-BE49-F238E27FC236}">
                <a16:creationId xmlns:a16="http://schemas.microsoft.com/office/drawing/2014/main" id="{DE2BA8BC-5E34-8A14-3A7A-EF70657DE984}"/>
              </a:ext>
            </a:extLst>
          </p:cNvPr>
          <p:cNvSpPr>
            <a:spLocks noGrp="1"/>
          </p:cNvSpPr>
          <p:nvPr>
            <p:ph sz="half" idx="2"/>
          </p:nvPr>
        </p:nvSpPr>
        <p:spPr>
          <a:xfrm>
            <a:off x="460248" y="1592943"/>
            <a:ext cx="5310187" cy="4588782"/>
          </a:xfrm>
        </p:spPr>
        <p:txBody>
          <a:bodyPr vert="horz" lIns="0" tIns="0" rIns="0" bIns="0" rtlCol="0" anchor="t">
            <a:noAutofit/>
          </a:bodyPr>
          <a:lstStyle/>
          <a:p>
            <a:pPr>
              <a:spcAft>
                <a:spcPts val="300"/>
              </a:spcAft>
              <a:buNone/>
            </a:pPr>
            <a:r>
              <a:rPr sz="1300" b="1">
                <a:solidFill>
                  <a:srgbClr val="002856"/>
                </a:solidFill>
              </a:rPr>
              <a:t>The funding gap is real and current:</a:t>
            </a:r>
          </a:p>
          <a:p>
            <a:pPr marL="233045" indent="-233045">
              <a:spcAft>
                <a:spcPts val="400"/>
              </a:spcAft>
              <a:buNone/>
            </a:pPr>
            <a:r>
              <a:rPr sz="1200">
                <a:solidFill>
                  <a:srgbClr val="002856"/>
                </a:solidFill>
              </a:rPr>
              <a:t>•  $8.8B IRA HOMES/HEAR rebates frozen Jan 2025 -- only 23 states live by Feb 2026</a:t>
            </a:r>
          </a:p>
          <a:p>
            <a:pPr>
              <a:spcAft>
                <a:spcPts val="400"/>
              </a:spcAft>
              <a:buNone/>
            </a:pPr>
            <a:r>
              <a:rPr sz="1200">
                <a:solidFill>
                  <a:srgbClr val="002856"/>
                </a:solidFill>
              </a:rPr>
              <a:t>•  25C/25D consumer tax credits eliminated Dec 31, 2025</a:t>
            </a:r>
          </a:p>
          <a:p>
            <a:pPr marL="233045" indent="-233045">
              <a:spcAft>
                <a:spcPts val="1000"/>
              </a:spcAft>
              <a:buNone/>
            </a:pPr>
            <a:r>
              <a:rPr sz="1200">
                <a:solidFill>
                  <a:srgbClr val="002856"/>
                </a:solidFill>
              </a:rPr>
              <a:t>•  26 states + DC still have legal savings mandates utilities must hit regardless</a:t>
            </a:r>
          </a:p>
          <a:p>
            <a:pPr>
              <a:spcAft>
                <a:spcPts val="300"/>
              </a:spcAft>
              <a:buNone/>
            </a:pPr>
            <a:r>
              <a:rPr sz="1300" b="1">
                <a:solidFill>
                  <a:srgbClr val="002856"/>
                </a:solidFill>
              </a:rPr>
              <a:t>Utilities are already reacting:</a:t>
            </a:r>
          </a:p>
          <a:p>
            <a:pPr>
              <a:spcAft>
                <a:spcPts val="400"/>
              </a:spcAft>
              <a:buNone/>
            </a:pPr>
            <a:r>
              <a:rPr sz="1200">
                <a:solidFill>
                  <a:srgbClr val="002856"/>
                </a:solidFill>
              </a:rPr>
              <a:t>•  Duke Energy (NC) withdrew 3 residential programs in 2025</a:t>
            </a:r>
          </a:p>
          <a:p>
            <a:pPr>
              <a:spcAft>
                <a:spcPts val="400"/>
              </a:spcAft>
              <a:buNone/>
            </a:pPr>
            <a:r>
              <a:rPr sz="1200">
                <a:solidFill>
                  <a:srgbClr val="002856"/>
                </a:solidFill>
              </a:rPr>
              <a:t>•  Louisiana ended its entire 2026 efficiency program</a:t>
            </a:r>
          </a:p>
          <a:p>
            <a:pPr>
              <a:spcAft>
                <a:spcPts val="1000"/>
              </a:spcAft>
              <a:buNone/>
            </a:pPr>
            <a:r>
              <a:rPr sz="1200">
                <a:solidFill>
                  <a:srgbClr val="002856"/>
                </a:solidFill>
              </a:rPr>
              <a:t>•  California paused a $290M rebate program citing uncertainty</a:t>
            </a:r>
          </a:p>
        </p:txBody>
      </p:sp>
      <p:sp>
        <p:nvSpPr>
          <p:cNvPr id="10" name="Text Placeholder 9">
            <a:extLst>
              <a:ext uri="{FF2B5EF4-FFF2-40B4-BE49-F238E27FC236}">
                <a16:creationId xmlns:a16="http://schemas.microsoft.com/office/drawing/2014/main" id="{091C5262-D700-F529-7241-16B94B968863}"/>
              </a:ext>
            </a:extLst>
          </p:cNvPr>
          <p:cNvSpPr>
            <a:spLocks noGrp="1"/>
          </p:cNvSpPr>
          <p:nvPr>
            <p:ph type="body" sz="quarter" idx="3"/>
          </p:nvPr>
        </p:nvSpPr>
        <p:spPr>
          <a:xfrm>
            <a:off x="6025242" y="1234440"/>
            <a:ext cx="5553302" cy="301752"/>
          </a:xfrm>
        </p:spPr>
        <p:txBody>
          <a:bodyPr/>
          <a:lstStyle/>
          <a:p>
            <a:r>
              <a:rPr lang="en-US">
                <a:latin typeface="Arial"/>
                <a:cs typeface="Arial"/>
              </a:rPr>
              <a:t>Market Comparisons </a:t>
            </a:r>
          </a:p>
        </p:txBody>
      </p:sp>
      <p:graphicFrame>
        <p:nvGraphicFramePr>
          <p:cNvPr id="11" name="Content Placeholder 10">
            <a:extLst>
              <a:ext uri="{FF2B5EF4-FFF2-40B4-BE49-F238E27FC236}">
                <a16:creationId xmlns:a16="http://schemas.microsoft.com/office/drawing/2014/main" id="{4C9034F0-9382-E7DB-D943-6DA5CFBB0F4A}"/>
              </a:ext>
            </a:extLst>
          </p:cNvPr>
          <p:cNvGraphicFramePr>
            <a:graphicFrameLocks noGrp="1"/>
          </p:cNvGraphicFramePr>
          <p:nvPr>
            <p:ph sz="quarter" idx="4"/>
            <p:extLst>
              <p:ext uri="{D42A27DB-BD31-4B8C-83A1-F6EECF244321}">
                <p14:modId xmlns:p14="http://schemas.microsoft.com/office/powerpoint/2010/main" val="3533164398"/>
              </p:ext>
            </p:extLst>
          </p:nvPr>
        </p:nvGraphicFramePr>
        <p:xfrm>
          <a:off x="6023428" y="1596571"/>
          <a:ext cx="5906174" cy="4556832"/>
        </p:xfrm>
        <a:graphic>
          <a:graphicData uri="http://schemas.openxmlformats.org/drawingml/2006/table">
            <a:tbl>
              <a:tblPr firstRow="1" bandRow="1">
                <a:tableStyleId>{5C22544A-7EE6-4342-B048-85BDC9FD1C3A}</a:tableStyleId>
              </a:tblPr>
              <a:tblGrid>
                <a:gridCol w="1289538">
                  <a:extLst>
                    <a:ext uri="{9D8B030D-6E8A-4147-A177-3AD203B41FA5}">
                      <a16:colId xmlns:a16="http://schemas.microsoft.com/office/drawing/2014/main" val="957739651"/>
                    </a:ext>
                  </a:extLst>
                </a:gridCol>
                <a:gridCol w="1158239">
                  <a:extLst>
                    <a:ext uri="{9D8B030D-6E8A-4147-A177-3AD203B41FA5}">
                      <a16:colId xmlns:a16="http://schemas.microsoft.com/office/drawing/2014/main" val="3082199612"/>
                    </a:ext>
                  </a:extLst>
                </a:gridCol>
                <a:gridCol w="1346032">
                  <a:extLst>
                    <a:ext uri="{9D8B030D-6E8A-4147-A177-3AD203B41FA5}">
                      <a16:colId xmlns:a16="http://schemas.microsoft.com/office/drawing/2014/main" val="613011870"/>
                    </a:ext>
                  </a:extLst>
                </a:gridCol>
                <a:gridCol w="2112365">
                  <a:extLst>
                    <a:ext uri="{9D8B030D-6E8A-4147-A177-3AD203B41FA5}">
                      <a16:colId xmlns:a16="http://schemas.microsoft.com/office/drawing/2014/main" val="182092073"/>
                    </a:ext>
                  </a:extLst>
                </a:gridCol>
              </a:tblGrid>
              <a:tr h="591796">
                <a:tc>
                  <a:txBody>
                    <a:bodyPr/>
                    <a:lstStyle/>
                    <a:p>
                      <a:r>
                        <a:rPr sz="1200" b="1"/>
                        <a:t>State</a:t>
                      </a:r>
                    </a:p>
                  </a:txBody>
                  <a:tcPr/>
                </a:tc>
                <a:tc>
                  <a:txBody>
                    <a:bodyPr/>
                    <a:lstStyle/>
                    <a:p>
                      <a:r>
                        <a:rPr sz="1200" b="1"/>
                        <a:t>Market Status</a:t>
                      </a:r>
                    </a:p>
                  </a:txBody>
                  <a:tcPr/>
                </a:tc>
                <a:tc>
                  <a:txBody>
                    <a:bodyPr/>
                    <a:lstStyle/>
                    <a:p>
                      <a:r>
                        <a:rPr sz="1200" b="1"/>
                        <a:t>Challenge</a:t>
                      </a:r>
                    </a:p>
                  </a:txBody>
                  <a:tcPr/>
                </a:tc>
                <a:tc>
                  <a:txBody>
                    <a:bodyPr/>
                    <a:lstStyle/>
                    <a:p>
                      <a:r>
                        <a:rPr sz="1200" b="1"/>
                        <a:t>Opportunity</a:t>
                      </a:r>
                    </a:p>
                  </a:txBody>
                  <a:tcPr/>
                </a:tc>
                <a:extLst>
                  <a:ext uri="{0D108BD9-81ED-4DB2-BD59-A6C34878D82A}">
                    <a16:rowId xmlns:a16="http://schemas.microsoft.com/office/drawing/2014/main" val="2062150352"/>
                  </a:ext>
                </a:extLst>
              </a:tr>
              <a:tr h="858107">
                <a:tc>
                  <a:txBody>
                    <a:bodyPr/>
                    <a:lstStyle/>
                    <a:p>
                      <a:r>
                        <a:rPr sz="1200"/>
                        <a:t>California</a:t>
                      </a:r>
                    </a:p>
                  </a:txBody>
                  <a:tcPr/>
                </a:tc>
                <a:tc>
                  <a:txBody>
                    <a:bodyPr/>
                    <a:lstStyle/>
                    <a:p>
                      <a:r>
                        <a:rPr sz="1200"/>
                        <a:t>Mature</a:t>
                      </a:r>
                    </a:p>
                  </a:txBody>
                  <a:tcPr/>
                </a:tc>
                <a:tc>
                  <a:txBody>
                    <a:bodyPr/>
                    <a:lstStyle/>
                    <a:p>
                      <a:r>
                        <a:rPr sz="1200"/>
                        <a:t>Highly saturated -- competitors entrenched</a:t>
                      </a:r>
                    </a:p>
                  </a:txBody>
                  <a:tcPr/>
                </a:tc>
                <a:tc>
                  <a:txBody>
                    <a:bodyPr/>
                    <a:lstStyle/>
                    <a:p>
                      <a:r>
                        <a:rPr sz="1200"/>
                        <a:t>Reference case proving the model works</a:t>
                      </a:r>
                    </a:p>
                  </a:txBody>
                  <a:tcPr/>
                </a:tc>
                <a:extLst>
                  <a:ext uri="{0D108BD9-81ED-4DB2-BD59-A6C34878D82A}">
                    <a16:rowId xmlns:a16="http://schemas.microsoft.com/office/drawing/2014/main" val="4077176013"/>
                  </a:ext>
                </a:extLst>
              </a:tr>
              <a:tr h="858107">
                <a:tc>
                  <a:txBody>
                    <a:bodyPr/>
                    <a:lstStyle/>
                    <a:p>
                      <a:r>
                        <a:rPr sz="1200"/>
                        <a:t>North Carolina</a:t>
                      </a:r>
                    </a:p>
                  </a:txBody>
                  <a:tcPr/>
                </a:tc>
                <a:tc>
                  <a:txBody>
                    <a:bodyPr/>
                    <a:lstStyle/>
                    <a:p>
                      <a:r>
                        <a:rPr sz="1200"/>
                        <a:t>Growing</a:t>
                      </a:r>
                    </a:p>
                  </a:txBody>
                  <a:tcPr/>
                </a:tc>
                <a:tc>
                  <a:txBody>
                    <a:bodyPr/>
                    <a:lstStyle/>
                    <a:p>
                      <a:r>
                        <a:rPr sz="1200"/>
                        <a:t>Solar adoption straining the grid</a:t>
                      </a:r>
                    </a:p>
                  </a:txBody>
                  <a:tcPr/>
                </a:tc>
                <a:tc>
                  <a:txBody>
                    <a:bodyPr/>
                    <a:lstStyle/>
                    <a:p>
                      <a:r>
                        <a:rPr sz="1200"/>
                        <a:t>Duke </a:t>
                      </a:r>
                      <a:r>
                        <a:rPr sz="1200" err="1"/>
                        <a:t>PowerPair</a:t>
                      </a:r>
                      <a:r>
                        <a:rPr sz="1200"/>
                        <a:t> fully subscribed -- proves demand exists</a:t>
                      </a:r>
                    </a:p>
                  </a:txBody>
                  <a:tcPr/>
                </a:tc>
                <a:extLst>
                  <a:ext uri="{0D108BD9-81ED-4DB2-BD59-A6C34878D82A}">
                    <a16:rowId xmlns:a16="http://schemas.microsoft.com/office/drawing/2014/main" val="1662102389"/>
                  </a:ext>
                </a:extLst>
              </a:tr>
              <a:tr h="1124411">
                <a:tc>
                  <a:txBody>
                    <a:bodyPr/>
                    <a:lstStyle/>
                    <a:p>
                      <a:r>
                        <a:rPr sz="1200"/>
                        <a:t>Michigan</a:t>
                      </a:r>
                    </a:p>
                  </a:txBody>
                  <a:tcPr/>
                </a:tc>
                <a:tc>
                  <a:txBody>
                    <a:bodyPr/>
                    <a:lstStyle/>
                    <a:p>
                      <a:r>
                        <a:rPr sz="1200"/>
                        <a:t>Emerging (pilot)</a:t>
                      </a:r>
                    </a:p>
                  </a:txBody>
                  <a:tcPr/>
                </a:tc>
                <a:tc>
                  <a:txBody>
                    <a:bodyPr/>
                    <a:lstStyle/>
                    <a:p>
                      <a:r>
                        <a:rPr sz="1200"/>
                        <a:t>No residential storage program exists yet</a:t>
                      </a:r>
                    </a:p>
                  </a:txBody>
                  <a:tcPr/>
                </a:tc>
                <a:tc>
                  <a:txBody>
                    <a:bodyPr/>
                    <a:lstStyle/>
                    <a:p>
                      <a:r>
                        <a:rPr sz="1200"/>
                        <a:t>Worst outages in the nation + statutory storage mandate</a:t>
                      </a:r>
                    </a:p>
                  </a:txBody>
                  <a:tcPr/>
                </a:tc>
                <a:extLst>
                  <a:ext uri="{0D108BD9-81ED-4DB2-BD59-A6C34878D82A}">
                    <a16:rowId xmlns:a16="http://schemas.microsoft.com/office/drawing/2014/main" val="3893195930"/>
                  </a:ext>
                </a:extLst>
              </a:tr>
              <a:tr h="1124411">
                <a:tc>
                  <a:txBody>
                    <a:bodyPr/>
                    <a:lstStyle/>
                    <a:p>
                      <a:r>
                        <a:rPr sz="1200">
                          <a:solidFill>
                            <a:schemeClr val="tx1"/>
                          </a:solidFill>
                        </a:rPr>
                        <a:t>Wisconsin</a:t>
                      </a:r>
                    </a:p>
                  </a:txBody>
                  <a:tcPr/>
                </a:tc>
                <a:tc>
                  <a:txBody>
                    <a:bodyPr/>
                    <a:lstStyle/>
                    <a:p>
                      <a:r>
                        <a:rPr sz="1200">
                          <a:solidFill>
                            <a:schemeClr val="tx1"/>
                          </a:solidFill>
                        </a:rPr>
                        <a:t>Incumbent base</a:t>
                      </a:r>
                    </a:p>
                  </a:txBody>
                  <a:tcPr/>
                </a:tc>
                <a:tc>
                  <a:txBody>
                    <a:bodyPr/>
                    <a:lstStyle/>
                    <a:p>
                      <a:r>
                        <a:rPr sz="1200">
                          <a:solidFill>
                            <a:schemeClr val="tx1"/>
                          </a:solidFill>
                        </a:rPr>
                        <a:t>Focus on Energy budget already strained by demand</a:t>
                      </a:r>
                    </a:p>
                  </a:txBody>
                  <a:tcPr/>
                </a:tc>
                <a:tc>
                  <a:txBody>
                    <a:bodyPr/>
                    <a:lstStyle/>
                    <a:p>
                      <a:r>
                        <a:rPr sz="1200">
                          <a:solidFill>
                            <a:schemeClr val="tx1"/>
                          </a:solidFill>
                        </a:rPr>
                        <a:t>APTIM holds the administrator seat -- fastest expansion path</a:t>
                      </a:r>
                    </a:p>
                  </a:txBody>
                  <a:tcPr/>
                </a:tc>
                <a:extLst>
                  <a:ext uri="{0D108BD9-81ED-4DB2-BD59-A6C34878D82A}">
                    <a16:rowId xmlns:a16="http://schemas.microsoft.com/office/drawing/2014/main" val="3664841019"/>
                  </a:ext>
                </a:extLst>
              </a:tr>
            </a:tbl>
          </a:graphicData>
        </a:graphic>
      </p:graphicFrame>
      <p:sp>
        <p:nvSpPr>
          <p:cNvPr id="4" name="Footer Placeholder 3">
            <a:extLst>
              <a:ext uri="{FF2B5EF4-FFF2-40B4-BE49-F238E27FC236}">
                <a16:creationId xmlns:a16="http://schemas.microsoft.com/office/drawing/2014/main" id="{797D2E78-3303-0350-81A5-FD3BD4075405}"/>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CB29E1C2-22C2-7846-F86E-122DD084108B}"/>
              </a:ext>
            </a:extLst>
          </p:cNvPr>
          <p:cNvSpPr>
            <a:spLocks noGrp="1"/>
          </p:cNvSpPr>
          <p:nvPr>
            <p:ph type="sldNum" sz="quarter" idx="12"/>
          </p:nvPr>
        </p:nvSpPr>
        <p:spPr>
          <a:xfrm>
            <a:off x="11297412" y="6469380"/>
            <a:ext cx="285292" cy="251460"/>
          </a:xfrm>
        </p:spPr>
        <p:txBody>
          <a:bodyPr/>
          <a:lstStyle/>
          <a:p>
            <a:r>
              <a:rPr sz="1000">
                <a:solidFill>
                  <a:srgbClr val="595959"/>
                </a:solidFill>
                <a:latin typeface="Arial"/>
              </a:rPr>
              <a:t>7</a:t>
            </a:r>
            <a:endParaRPr lang="en-US"/>
          </a:p>
        </p:txBody>
      </p:sp>
      <p:sp>
        <p:nvSpPr>
          <p:cNvPr id="12" name="TextBox 11"/>
          <p:cNvSpPr txBox="1"/>
          <p:nvPr/>
        </p:nvSpPr>
        <p:spPr>
          <a:xfrm>
            <a:off x="457200" y="822960"/>
            <a:ext cx="11472091" cy="292388"/>
          </a:xfrm>
          <a:prstGeom prst="rect">
            <a:avLst/>
          </a:prstGeom>
          <a:noFill/>
        </p:spPr>
        <p:txBody>
          <a:bodyPr wrap="square">
            <a:spAutoFit/>
          </a:bodyPr>
          <a:lstStyle/>
          <a:p>
            <a:r>
              <a:rPr sz="1300" i="1">
                <a:solidFill>
                  <a:srgbClr val="595959"/>
                </a:solidFill>
                <a:latin typeface="Arial"/>
              </a:rPr>
              <a:t>Where APTIM already operates, and where the opportunity is emerging</a:t>
            </a:r>
          </a:p>
        </p:txBody>
      </p:sp>
    </p:spTree>
    <p:extLst>
      <p:ext uri="{BB962C8B-B14F-4D97-AF65-F5344CB8AC3E}">
        <p14:creationId xmlns:p14="http://schemas.microsoft.com/office/powerpoint/2010/main" val="18541184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97FA5F-5ED6-4CCD-0B0A-314902B7F1E6}"/>
              </a:ext>
            </a:extLst>
          </p:cNvPr>
          <p:cNvSpPr>
            <a:spLocks noGrp="1"/>
          </p:cNvSpPr>
          <p:nvPr>
            <p:ph type="title"/>
          </p:nvPr>
        </p:nvSpPr>
        <p:spPr/>
        <p:txBody>
          <a:bodyPr/>
          <a:lstStyle/>
          <a:p>
            <a:r>
              <a:rPr lang="en-US">
                <a:latin typeface="Arial Black"/>
                <a:cs typeface="Arial"/>
              </a:rPr>
              <a:t>Appendix</a:t>
            </a:r>
            <a:endParaRPr lang="en-US"/>
          </a:p>
        </p:txBody>
      </p:sp>
      <p:sp>
        <p:nvSpPr>
          <p:cNvPr id="3" name="Content Placeholder 2">
            <a:extLst>
              <a:ext uri="{FF2B5EF4-FFF2-40B4-BE49-F238E27FC236}">
                <a16:creationId xmlns:a16="http://schemas.microsoft.com/office/drawing/2014/main" id="{21716690-59FD-F1C2-11AD-5A32C5AF705C}"/>
              </a:ext>
            </a:extLst>
          </p:cNvPr>
          <p:cNvSpPr>
            <a:spLocks noGrp="1"/>
          </p:cNvSpPr>
          <p:nvPr>
            <p:ph idx="1"/>
          </p:nvPr>
        </p:nvSpPr>
        <p:spPr/>
        <p:txBody>
          <a:bodyPr vert="horz" lIns="0" tIns="0" rIns="0" bIns="0" rtlCol="0" anchor="t">
            <a:noAutofit/>
          </a:bodyPr>
          <a:lstStyle/>
          <a:p>
            <a:pPr marL="233045" indent="-233045"/>
            <a:r>
              <a:rPr lang="en-US">
                <a:latin typeface="Arial"/>
                <a:cs typeface="Arial"/>
              </a:rPr>
              <a:t>Don’t delete stuff just add it to appendix</a:t>
            </a:r>
            <a:endParaRPr lang="en-US"/>
          </a:p>
        </p:txBody>
      </p:sp>
      <p:sp>
        <p:nvSpPr>
          <p:cNvPr id="4" name="Footer Placeholder 3">
            <a:extLst>
              <a:ext uri="{FF2B5EF4-FFF2-40B4-BE49-F238E27FC236}">
                <a16:creationId xmlns:a16="http://schemas.microsoft.com/office/drawing/2014/main" id="{87A0E524-1D12-63DA-EB1A-DC86BE99DC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505D3F1-5E1F-EDBB-CAD6-938CAB67CA38}"/>
              </a:ext>
            </a:extLst>
          </p:cNvPr>
          <p:cNvSpPr>
            <a:spLocks noGrp="1"/>
          </p:cNvSpPr>
          <p:nvPr>
            <p:ph type="sldNum" sz="quarter" idx="12"/>
          </p:nvPr>
        </p:nvSpPr>
        <p:spPr/>
        <p:txBody>
          <a:bodyPr/>
          <a:lstStyle/>
          <a:p>
            <a:fld id="{F8F6B9CD-BE6B-498B-93B3-0FAD7ADE75E3}" type="slidenum">
              <a:rPr lang="en-US" smtClean="0"/>
              <a:t>28</a:t>
            </a:fld>
            <a:endParaRPr lang="en-US"/>
          </a:p>
        </p:txBody>
      </p:sp>
    </p:spTree>
    <p:extLst>
      <p:ext uri="{BB962C8B-B14F-4D97-AF65-F5344CB8AC3E}">
        <p14:creationId xmlns:p14="http://schemas.microsoft.com/office/powerpoint/2010/main" val="326500493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E40CE-36FF-4C58-01BD-BC36B81C558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DA57B56-BD8B-50CC-3313-7C6350014775}"/>
              </a:ext>
            </a:extLst>
          </p:cNvPr>
          <p:cNvSpPr>
            <a:spLocks noGrp="1"/>
          </p:cNvSpPr>
          <p:nvPr>
            <p:ph idx="1"/>
          </p:nvPr>
        </p:nvSpPr>
        <p:spPr/>
        <p:txBody>
          <a:bodyPr vert="horz" lIns="0" tIns="0" rIns="0" bIns="0" rtlCol="0" anchor="t">
            <a:noAutofit/>
          </a:bodyPr>
          <a:lstStyle/>
          <a:p>
            <a:pPr marL="233045" indent="-233045"/>
            <a:r>
              <a:rPr lang="en-US">
                <a:latin typeface="Arial"/>
                <a:cs typeface="Arial"/>
              </a:rPr>
              <a:t>Find some way to quantify how important each factor is (decision matrix?)</a:t>
            </a:r>
          </a:p>
          <a:p>
            <a:pPr lvl="1">
              <a:buFont typeface="Courier New" panose="020B0604020202020204" pitchFamily="34" charset="0"/>
              <a:buChar char="o"/>
            </a:pPr>
            <a:r>
              <a:rPr lang="en-US">
                <a:latin typeface="Arial"/>
                <a:cs typeface="Arial"/>
              </a:rPr>
              <a:t>This will help the best concept be chosen and provide a concrete reason as too why</a:t>
            </a:r>
          </a:p>
          <a:p>
            <a:pPr lvl="1">
              <a:buFont typeface="Courier New" panose="020B0604020202020204" pitchFamily="34" charset="0"/>
              <a:buChar char="o"/>
            </a:pPr>
            <a:r>
              <a:rPr lang="en-US">
                <a:latin typeface="Arial"/>
                <a:cs typeface="Arial"/>
              </a:rPr>
              <a:t>Make a list of factors: cost, ease, implementation timeframe, impact</a:t>
            </a:r>
          </a:p>
          <a:p>
            <a:pPr lvl="1">
              <a:buFont typeface="Courier New" panose="020B0604020202020204" pitchFamily="34" charset="0"/>
              <a:buChar char="o"/>
            </a:pPr>
            <a:r>
              <a:rPr lang="en-US">
                <a:latin typeface="Arial"/>
                <a:cs typeface="Arial"/>
              </a:rPr>
              <a:t>Give each one a weight based on how import it is </a:t>
            </a:r>
          </a:p>
          <a:p>
            <a:pPr lvl="2">
              <a:buFont typeface="Wingdings" panose="020B0604020202020204" pitchFamily="34" charset="0"/>
              <a:buChar char="§"/>
            </a:pPr>
            <a:r>
              <a:rPr lang="en-US">
                <a:latin typeface="Arial"/>
                <a:cs typeface="Arial"/>
              </a:rPr>
              <a:t>Maybe interview APTIM people who make financial/program decisions to see what they find the be the most important thing </a:t>
            </a:r>
          </a:p>
          <a:p>
            <a:pPr lvl="1">
              <a:buFont typeface="Courier New" panose="020B0604020202020204" pitchFamily="34" charset="0"/>
              <a:buChar char="o"/>
            </a:pPr>
            <a:r>
              <a:rPr lang="en-US">
                <a:latin typeface="Arial"/>
                <a:cs typeface="Arial"/>
              </a:rPr>
              <a:t>Rate each </a:t>
            </a:r>
            <a:r>
              <a:rPr lang="en-US" err="1">
                <a:latin typeface="Arial"/>
                <a:cs typeface="Arial"/>
              </a:rPr>
              <a:t>conce</a:t>
            </a:r>
            <a:r>
              <a:rPr lang="en-US">
                <a:latin typeface="Arial"/>
                <a:cs typeface="Arial"/>
              </a:rPr>
              <a:t>pt on each factor, include the weights, highest score wins</a:t>
            </a:r>
          </a:p>
        </p:txBody>
      </p:sp>
      <p:sp>
        <p:nvSpPr>
          <p:cNvPr id="4" name="Footer Placeholder 3">
            <a:extLst>
              <a:ext uri="{FF2B5EF4-FFF2-40B4-BE49-F238E27FC236}">
                <a16:creationId xmlns:a16="http://schemas.microsoft.com/office/drawing/2014/main" id="{EEAC4552-094D-E846-0855-E0EC80371B6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88B43AE-F1EA-494D-3EC8-60EF3D6DC188}"/>
              </a:ext>
            </a:extLst>
          </p:cNvPr>
          <p:cNvSpPr>
            <a:spLocks noGrp="1"/>
          </p:cNvSpPr>
          <p:nvPr>
            <p:ph type="sldNum" sz="quarter" idx="12"/>
          </p:nvPr>
        </p:nvSpPr>
        <p:spPr/>
        <p:txBody>
          <a:bodyPr/>
          <a:lstStyle/>
          <a:p>
            <a:fld id="{F8F6B9CD-BE6B-498B-93B3-0FAD7ADE75E3}" type="slidenum">
              <a:rPr lang="en-US" smtClean="0"/>
              <a:t>29</a:t>
            </a:fld>
            <a:endParaRPr lang="en-US"/>
          </a:p>
        </p:txBody>
      </p:sp>
    </p:spTree>
    <p:extLst>
      <p:ext uri="{BB962C8B-B14F-4D97-AF65-F5344CB8AC3E}">
        <p14:creationId xmlns:p14="http://schemas.microsoft.com/office/powerpoint/2010/main" val="17188323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0604226-3838-8214-635C-4D541F98305F}"/>
              </a:ext>
            </a:extLst>
          </p:cNvPr>
          <p:cNvSpPr>
            <a:spLocks noGrp="1"/>
          </p:cNvSpPr>
          <p:nvPr>
            <p:ph type="title"/>
          </p:nvPr>
        </p:nvSpPr>
        <p:spPr/>
        <p:txBody>
          <a:bodyPr/>
          <a:lstStyle/>
          <a:p>
            <a:r>
              <a:rPr lang="en-US"/>
              <a:t>Competitive Landscape (update with research)</a:t>
            </a:r>
          </a:p>
        </p:txBody>
      </p:sp>
      <p:sp>
        <p:nvSpPr>
          <p:cNvPr id="10" name="Text Placeholder 9">
            <a:extLst>
              <a:ext uri="{FF2B5EF4-FFF2-40B4-BE49-F238E27FC236}">
                <a16:creationId xmlns:a16="http://schemas.microsoft.com/office/drawing/2014/main" id="{3B81970E-7CCA-B370-F4F1-C22F5396A9E7}"/>
              </a:ext>
            </a:extLst>
          </p:cNvPr>
          <p:cNvSpPr>
            <a:spLocks noGrp="1"/>
          </p:cNvSpPr>
          <p:nvPr>
            <p:ph type="body" idx="1"/>
          </p:nvPr>
        </p:nvSpPr>
        <p:spPr>
          <a:xfrm>
            <a:off x="612649" y="1329243"/>
            <a:ext cx="3424834" cy="301752"/>
          </a:xfrm>
        </p:spPr>
        <p:txBody>
          <a:bodyPr/>
          <a:lstStyle/>
          <a:p>
            <a:r>
              <a:rPr lang="en-US"/>
              <a:t>CLEAResult</a:t>
            </a:r>
          </a:p>
        </p:txBody>
      </p:sp>
      <p:sp>
        <p:nvSpPr>
          <p:cNvPr id="11" name="Content Placeholder 10">
            <a:extLst>
              <a:ext uri="{FF2B5EF4-FFF2-40B4-BE49-F238E27FC236}">
                <a16:creationId xmlns:a16="http://schemas.microsoft.com/office/drawing/2014/main" id="{D7796DE7-8AE6-E692-6745-F22B0A5340D6}"/>
              </a:ext>
            </a:extLst>
          </p:cNvPr>
          <p:cNvSpPr>
            <a:spLocks noGrp="1"/>
          </p:cNvSpPr>
          <p:nvPr>
            <p:ph sz="half" idx="2"/>
          </p:nvPr>
        </p:nvSpPr>
        <p:spPr>
          <a:xfrm>
            <a:off x="612649" y="1695003"/>
            <a:ext cx="3424834" cy="4581525"/>
          </a:xfrm>
        </p:spPr>
        <p:txBody>
          <a:bodyPr/>
          <a:lstStyle/>
          <a:p>
            <a:pPr marL="0" indent="0">
              <a:buNone/>
            </a:pPr>
            <a:r>
              <a:rPr lang="en-US" sz="1600" b="1"/>
              <a:t>Energy Efficiency &amp; Sustainability Program Consultant </a:t>
            </a:r>
          </a:p>
          <a:p>
            <a:pPr>
              <a:buFont typeface="Wingdings" panose="05000000000000000000" pitchFamily="2" charset="2"/>
              <a:buChar char="§"/>
            </a:pPr>
            <a:r>
              <a:rPr lang="en-US" sz="1600"/>
              <a:t>Largest energy efficiency implementer in North America</a:t>
            </a:r>
          </a:p>
          <a:p>
            <a:pPr>
              <a:buFont typeface="Wingdings" panose="05000000000000000000" pitchFamily="2" charset="2"/>
              <a:buChar char="§"/>
            </a:pPr>
            <a:r>
              <a:rPr lang="en-US" sz="1600"/>
              <a:t>1,650 + active programs across the U.S and Canada</a:t>
            </a:r>
          </a:p>
          <a:p>
            <a:pPr>
              <a:buFont typeface="Wingdings" panose="05000000000000000000" pitchFamily="2" charset="2"/>
              <a:buChar char="§"/>
            </a:pPr>
            <a:r>
              <a:rPr lang="en-US" sz="1600"/>
              <a:t>Utility, government, commercial, contractor, residential </a:t>
            </a:r>
          </a:p>
          <a:p>
            <a:pPr>
              <a:buFont typeface="Wingdings" panose="05000000000000000000" pitchFamily="2" charset="2"/>
              <a:buChar char="§"/>
            </a:pPr>
            <a:r>
              <a:rPr lang="en-US" sz="1600"/>
              <a:t>Assessments, rebate, customer engagement, contractor networks, installations</a:t>
            </a:r>
          </a:p>
        </p:txBody>
      </p:sp>
      <p:sp>
        <p:nvSpPr>
          <p:cNvPr id="12" name="Text Placeholder 11">
            <a:extLst>
              <a:ext uri="{FF2B5EF4-FFF2-40B4-BE49-F238E27FC236}">
                <a16:creationId xmlns:a16="http://schemas.microsoft.com/office/drawing/2014/main" id="{F8F48C21-3E92-396A-F0AC-A06B184A2774}"/>
              </a:ext>
            </a:extLst>
          </p:cNvPr>
          <p:cNvSpPr>
            <a:spLocks noGrp="1"/>
          </p:cNvSpPr>
          <p:nvPr>
            <p:ph type="body" sz="quarter" idx="3"/>
          </p:nvPr>
        </p:nvSpPr>
        <p:spPr>
          <a:xfrm>
            <a:off x="4184395" y="1329243"/>
            <a:ext cx="3441701" cy="301752"/>
          </a:xfrm>
        </p:spPr>
        <p:txBody>
          <a:bodyPr/>
          <a:lstStyle/>
          <a:p>
            <a:r>
              <a:rPr lang="en-US"/>
              <a:t>APTIM</a:t>
            </a:r>
          </a:p>
        </p:txBody>
      </p:sp>
      <p:sp>
        <p:nvSpPr>
          <p:cNvPr id="13" name="Content Placeholder 12">
            <a:extLst>
              <a:ext uri="{FF2B5EF4-FFF2-40B4-BE49-F238E27FC236}">
                <a16:creationId xmlns:a16="http://schemas.microsoft.com/office/drawing/2014/main" id="{DB545E8E-0263-9C9C-90BF-32646B6A834D}"/>
              </a:ext>
            </a:extLst>
          </p:cNvPr>
          <p:cNvSpPr>
            <a:spLocks noGrp="1"/>
          </p:cNvSpPr>
          <p:nvPr>
            <p:ph sz="quarter" idx="4"/>
          </p:nvPr>
        </p:nvSpPr>
        <p:spPr>
          <a:xfrm>
            <a:off x="4184395" y="1695003"/>
            <a:ext cx="3441701" cy="4581525"/>
          </a:xfrm>
        </p:spPr>
        <p:txBody>
          <a:bodyPr/>
          <a:lstStyle/>
          <a:p>
            <a:pPr marL="0" indent="0">
              <a:buNone/>
            </a:pPr>
            <a:r>
              <a:rPr lang="en-US" sz="1600" b="1"/>
              <a:t>Environmental, Sustainability, Resilience, &amp; Infrastructure Solutions Firm </a:t>
            </a:r>
          </a:p>
          <a:p>
            <a:pPr>
              <a:buFont typeface="Wingdings" panose="05000000000000000000" pitchFamily="2" charset="2"/>
              <a:buChar char="§"/>
            </a:pPr>
            <a:r>
              <a:rPr lang="en-US" sz="1600"/>
              <a:t>End-to-end consulting, implementation, and program administration </a:t>
            </a:r>
          </a:p>
          <a:p>
            <a:pPr>
              <a:buFont typeface="Wingdings" panose="05000000000000000000" pitchFamily="2" charset="2"/>
              <a:buChar char="§"/>
            </a:pPr>
            <a:r>
              <a:rPr lang="en-US" sz="1600"/>
              <a:t>Utility, government, commercial, industrial and residential</a:t>
            </a:r>
          </a:p>
          <a:p>
            <a:pPr>
              <a:buFont typeface="Wingdings" panose="05000000000000000000" pitchFamily="2" charset="2"/>
              <a:buChar char="§"/>
            </a:pPr>
            <a:r>
              <a:rPr lang="en-US" sz="1600"/>
              <a:t>Energy-efficiency, electrification, demand-side management, EV, storage, solar, and grid modernization programs</a:t>
            </a:r>
          </a:p>
        </p:txBody>
      </p:sp>
      <p:sp>
        <p:nvSpPr>
          <p:cNvPr id="7" name="Footer Placeholder 6">
            <a:extLst>
              <a:ext uri="{FF2B5EF4-FFF2-40B4-BE49-F238E27FC236}">
                <a16:creationId xmlns:a16="http://schemas.microsoft.com/office/drawing/2014/main" id="{723EB8E1-1FE9-AF58-5D51-F2EF04F60FE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1D7BD579-A7AF-7BE9-8493-9EE8384618F9}"/>
              </a:ext>
            </a:extLst>
          </p:cNvPr>
          <p:cNvSpPr>
            <a:spLocks noGrp="1"/>
          </p:cNvSpPr>
          <p:nvPr>
            <p:ph type="sldNum" sz="quarter" idx="12"/>
          </p:nvPr>
        </p:nvSpPr>
        <p:spPr/>
        <p:txBody>
          <a:bodyPr/>
          <a:lstStyle/>
          <a:p>
            <a:fld id="{F8F6B9CD-BE6B-498B-93B3-0FAD7ADE75E3}" type="slidenum">
              <a:rPr lang="en-US" smtClean="0"/>
              <a:t>30</a:t>
            </a:fld>
            <a:endParaRPr lang="en-US"/>
          </a:p>
        </p:txBody>
      </p:sp>
      <p:sp>
        <p:nvSpPr>
          <p:cNvPr id="17" name="Text Placeholder 11">
            <a:extLst>
              <a:ext uri="{FF2B5EF4-FFF2-40B4-BE49-F238E27FC236}">
                <a16:creationId xmlns:a16="http://schemas.microsoft.com/office/drawing/2014/main" id="{C590D4CF-A9EE-DFBD-76AC-57BFEFF812D8}"/>
              </a:ext>
            </a:extLst>
          </p:cNvPr>
          <p:cNvSpPr txBox="1">
            <a:spLocks/>
          </p:cNvSpPr>
          <p:nvPr/>
        </p:nvSpPr>
        <p:spPr>
          <a:xfrm>
            <a:off x="7773008" y="1329243"/>
            <a:ext cx="3441701" cy="301752"/>
          </a:xfrm>
          <a:prstGeom prst="rect">
            <a:avLst/>
          </a:prstGeom>
        </p:spPr>
        <p:txBody>
          <a:bodyPr vert="horz" lIns="0" tIns="0" rIns="0" bIns="0" rtlCol="0" anchor="t" anchorCtr="0">
            <a:noAutofit/>
          </a:bodyPr>
          <a:lstStyle>
            <a:lvl1pPr marL="0" indent="0" algn="l" defTabSz="914400" rtl="0" eaLnBrk="1" latinLnBrk="0" hangingPunct="1">
              <a:lnSpc>
                <a:spcPct val="100000"/>
              </a:lnSpc>
              <a:spcBef>
                <a:spcPts val="0"/>
              </a:spcBef>
              <a:spcAft>
                <a:spcPts val="500"/>
              </a:spcAft>
              <a:buFont typeface="Arial" panose="020B0604020202020204" pitchFamily="34" charset="0"/>
              <a:buNone/>
              <a:defRPr sz="2000" b="0" kern="1200">
                <a:solidFill>
                  <a:schemeClr val="accent3"/>
                </a:solidFill>
                <a:latin typeface="Arial" panose="020B0604020202020204" pitchFamily="34" charset="0"/>
                <a:ea typeface="+mn-ea"/>
                <a:cs typeface="Arial" panose="020B0604020202020204" pitchFamily="34" charset="0"/>
              </a:defRPr>
            </a:lvl1pPr>
            <a:lvl2pPr marL="457200" indent="0" algn="l" defTabSz="914400" rtl="0" eaLnBrk="1" latinLnBrk="0" hangingPunct="1">
              <a:lnSpc>
                <a:spcPct val="100000"/>
              </a:lnSpc>
              <a:spcBef>
                <a:spcPts val="0"/>
              </a:spcBef>
              <a:spcAft>
                <a:spcPts val="500"/>
              </a:spcAft>
              <a:buFont typeface="Arial" panose="020B0604020202020204" pitchFamily="34" charset="0"/>
              <a:buNone/>
              <a:defRPr sz="2000" b="1" kern="1200">
                <a:solidFill>
                  <a:schemeClr val="tx2"/>
                </a:solidFill>
                <a:latin typeface="Arial" panose="020B0604020202020204" pitchFamily="34" charset="0"/>
                <a:ea typeface="+mn-ea"/>
                <a:cs typeface="Arial" panose="020B0604020202020204" pitchFamily="34" charset="0"/>
              </a:defRPr>
            </a:lvl2pPr>
            <a:lvl3pPr marL="914400" indent="0" algn="l" defTabSz="914400" rtl="0" eaLnBrk="1" latinLnBrk="0" hangingPunct="1">
              <a:lnSpc>
                <a:spcPct val="100000"/>
              </a:lnSpc>
              <a:spcBef>
                <a:spcPts val="0"/>
              </a:spcBef>
              <a:spcAft>
                <a:spcPts val="500"/>
              </a:spcAft>
              <a:buFont typeface="Arial" panose="020B0604020202020204" pitchFamily="34" charset="0"/>
              <a:buNone/>
              <a:defRPr sz="1800" b="1" kern="1200">
                <a:solidFill>
                  <a:schemeClr val="tx2"/>
                </a:solidFill>
                <a:latin typeface="Arial" panose="020B0604020202020204" pitchFamily="34" charset="0"/>
                <a:ea typeface="+mn-ea"/>
                <a:cs typeface="Arial" panose="020B0604020202020204" pitchFamily="34" charset="0"/>
              </a:defRPr>
            </a:lvl3pPr>
            <a:lvl4pPr marL="1371600" indent="0" algn="l" defTabSz="914400" rtl="0" eaLnBrk="1" latinLnBrk="0" hangingPunct="1">
              <a:lnSpc>
                <a:spcPct val="100000"/>
              </a:lnSpc>
              <a:spcBef>
                <a:spcPts val="0"/>
              </a:spcBef>
              <a:spcAft>
                <a:spcPts val="500"/>
              </a:spcAft>
              <a:buFont typeface="Arial" panose="020B0604020202020204" pitchFamily="34" charset="0"/>
              <a:buNone/>
              <a:defRPr sz="1600" b="1" kern="1200">
                <a:solidFill>
                  <a:schemeClr val="tx2"/>
                </a:solidFill>
                <a:latin typeface="Arial" panose="020B0604020202020204" pitchFamily="34" charset="0"/>
                <a:ea typeface="+mn-ea"/>
                <a:cs typeface="Arial" panose="020B0604020202020204" pitchFamily="34" charset="0"/>
              </a:defRPr>
            </a:lvl4pPr>
            <a:lvl5pPr marL="1828800" indent="0" algn="l" defTabSz="914400" rtl="0" eaLnBrk="1" latinLnBrk="0" hangingPunct="1">
              <a:lnSpc>
                <a:spcPct val="100000"/>
              </a:lnSpc>
              <a:spcBef>
                <a:spcPts val="0"/>
              </a:spcBef>
              <a:spcAft>
                <a:spcPts val="500"/>
              </a:spcAft>
              <a:buFont typeface="Arial" panose="020B0604020202020204" pitchFamily="34" charset="0"/>
              <a:buNone/>
              <a:defRPr sz="1600" b="1" kern="1200">
                <a:solidFill>
                  <a:schemeClr val="tx2"/>
                </a:solidFill>
                <a:latin typeface="Arial" panose="020B0604020202020204" pitchFamily="34" charset="0"/>
                <a:ea typeface="+mn-ea"/>
                <a:cs typeface="Arial" panose="020B0604020202020204" pitchFamily="34" charset="0"/>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US"/>
              <a:t>Stantec</a:t>
            </a:r>
          </a:p>
        </p:txBody>
      </p:sp>
      <p:sp>
        <p:nvSpPr>
          <p:cNvPr id="18" name="Content Placeholder 12">
            <a:extLst>
              <a:ext uri="{FF2B5EF4-FFF2-40B4-BE49-F238E27FC236}">
                <a16:creationId xmlns:a16="http://schemas.microsoft.com/office/drawing/2014/main" id="{26341665-D57A-5E94-E777-CCC8CE5A0800}"/>
              </a:ext>
            </a:extLst>
          </p:cNvPr>
          <p:cNvSpPr txBox="1">
            <a:spLocks/>
          </p:cNvSpPr>
          <p:nvPr/>
        </p:nvSpPr>
        <p:spPr>
          <a:xfrm>
            <a:off x="7773008" y="1695003"/>
            <a:ext cx="3441701" cy="4581525"/>
          </a:xfrm>
          <a:prstGeom prst="rect">
            <a:avLst/>
          </a:prstGeom>
        </p:spPr>
        <p:txBody>
          <a:bodyPr vert="horz" lIns="0" tIns="0" rIns="0" bIns="0" rtlCol="0">
            <a:noAutofit/>
          </a:bodyPr>
          <a:lstStyle>
            <a:lvl1pPr marL="233363" indent="-233363" algn="l" defTabSz="914400" rtl="0" eaLnBrk="1" latinLnBrk="0" hangingPunct="1">
              <a:lnSpc>
                <a:spcPct val="100000"/>
              </a:lnSpc>
              <a:spcBef>
                <a:spcPts val="0"/>
              </a:spcBef>
              <a:spcAft>
                <a:spcPts val="500"/>
              </a:spcAft>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1pPr>
            <a:lvl2pPr marL="574675" indent="-336550" algn="l" defTabSz="914400" rtl="0" eaLnBrk="1" latinLnBrk="0" hangingPunct="1">
              <a:lnSpc>
                <a:spcPct val="100000"/>
              </a:lnSpc>
              <a:spcBef>
                <a:spcPts val="0"/>
              </a:spcBef>
              <a:spcAft>
                <a:spcPts val="500"/>
              </a:spcAft>
              <a:buFont typeface="Arial" panose="020B0604020202020204" pitchFamily="34" charset="0"/>
              <a:buChar char="—"/>
              <a:defRPr sz="1600" kern="1200">
                <a:solidFill>
                  <a:schemeClr val="tx2"/>
                </a:solidFill>
                <a:latin typeface="Arial" panose="020B0604020202020204" pitchFamily="34" charset="0"/>
                <a:ea typeface="+mn-ea"/>
                <a:cs typeface="Arial" panose="020B0604020202020204" pitchFamily="34" charset="0"/>
              </a:defRPr>
            </a:lvl2pPr>
            <a:lvl3pPr marL="796925" indent="-225425" algn="l" defTabSz="914400" rtl="0" eaLnBrk="1" latinLnBrk="0" hangingPunct="1">
              <a:lnSpc>
                <a:spcPct val="100000"/>
              </a:lnSpc>
              <a:spcBef>
                <a:spcPts val="0"/>
              </a:spcBef>
              <a:spcAft>
                <a:spcPts val="500"/>
              </a:spcAft>
              <a:buFont typeface="Arial" panose="020B0604020202020204" pitchFamily="34" charset="0"/>
              <a:buChar char="•"/>
              <a:defRPr sz="1400" kern="1200">
                <a:solidFill>
                  <a:schemeClr val="tx2"/>
                </a:solidFill>
                <a:latin typeface="Arial" panose="020B0604020202020204" pitchFamily="34" charset="0"/>
                <a:ea typeface="+mn-ea"/>
                <a:cs typeface="Arial" panose="020B0604020202020204" pitchFamily="34" charset="0"/>
              </a:defRPr>
            </a:lvl3pPr>
            <a:lvl4pPr marL="1031875" indent="-234950"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4pPr>
            <a:lvl5pPr marL="1254125" indent="-225425"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b="1"/>
              <a:t>Engineering, Architecture &amp; Environmental Consulting Firm</a:t>
            </a:r>
          </a:p>
          <a:p>
            <a:pPr>
              <a:buFont typeface="Wingdings" panose="05000000000000000000" pitchFamily="2" charset="2"/>
              <a:buChar char="§"/>
            </a:pPr>
            <a:r>
              <a:rPr lang="en-US" sz="1600"/>
              <a:t>Global consulting firm with 34,000+ employees</a:t>
            </a:r>
          </a:p>
          <a:p>
            <a:pPr>
              <a:buFont typeface="Wingdings" panose="05000000000000000000" pitchFamily="2" charset="2"/>
              <a:buChar char="§"/>
            </a:pPr>
            <a:r>
              <a:rPr lang="en-US" sz="1600"/>
              <a:t>Engineering, environmental consulting, infrastructure development, construction management, and sustainability services</a:t>
            </a:r>
          </a:p>
          <a:p>
            <a:pPr>
              <a:buFont typeface="Wingdings" panose="05000000000000000000" pitchFamily="2" charset="2"/>
              <a:buChar char="§"/>
            </a:pPr>
            <a:r>
              <a:rPr lang="en-US" sz="1600"/>
              <a:t>Utility planning, grid modernization, and asset management </a:t>
            </a:r>
          </a:p>
          <a:p>
            <a:pPr marL="0" indent="0">
              <a:buNone/>
            </a:pPr>
            <a:endParaRPr lang="en-US" sz="1600"/>
          </a:p>
          <a:p>
            <a:pPr>
              <a:buFont typeface="Wingdings" panose="05000000000000000000" pitchFamily="2" charset="2"/>
              <a:buChar char="v"/>
            </a:pPr>
            <a:endParaRPr lang="en-US" sz="1600"/>
          </a:p>
        </p:txBody>
      </p:sp>
      <p:pic>
        <p:nvPicPr>
          <p:cNvPr id="1026" name="Picture 2" descr="16 Rebates Clearesult">
            <a:extLst>
              <a:ext uri="{FF2B5EF4-FFF2-40B4-BE49-F238E27FC236}">
                <a16:creationId xmlns:a16="http://schemas.microsoft.com/office/drawing/2014/main" id="{AAFF081B-B0C0-708E-57B3-455F194355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2646" y="5508192"/>
            <a:ext cx="3255266" cy="42034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Who we serve - ehsAI">
            <a:extLst>
              <a:ext uri="{FF2B5EF4-FFF2-40B4-BE49-F238E27FC236}">
                <a16:creationId xmlns:a16="http://schemas.microsoft.com/office/drawing/2014/main" id="{8D17E3B9-30F1-3050-20F9-9B302A8B03C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34371"/>
          <a:stretch>
            <a:fillRect/>
          </a:stretch>
        </p:blipFill>
        <p:spPr bwMode="auto">
          <a:xfrm>
            <a:off x="4184395" y="5062720"/>
            <a:ext cx="3103373" cy="1298829"/>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Logo Stantec Architecture Design Brand, PNG, 696x392px, Logo ...">
            <a:extLst>
              <a:ext uri="{FF2B5EF4-FFF2-40B4-BE49-F238E27FC236}">
                <a16:creationId xmlns:a16="http://schemas.microsoft.com/office/drawing/2014/main" id="{A9F095F7-76AA-F602-7C3E-0E8128B2754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26096" y="5183253"/>
            <a:ext cx="3027350" cy="10702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7416689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B8EFE1B0-6F57-530D-9593-94BFBBD19E3E}"/>
              </a:ext>
            </a:extLst>
          </p:cNvPr>
          <p:cNvSpPr>
            <a:spLocks noGrp="1"/>
          </p:cNvSpPr>
          <p:nvPr>
            <p:ph type="title"/>
          </p:nvPr>
        </p:nvSpPr>
        <p:spPr>
          <a:xfrm>
            <a:off x="609599" y="326074"/>
            <a:ext cx="10972799" cy="804735"/>
          </a:xfrm>
        </p:spPr>
        <p:txBody>
          <a:bodyPr/>
          <a:lstStyle/>
          <a:p>
            <a:r>
              <a:rPr lang="en-US"/>
              <a:t>Competitive Landscape (update with new research) </a:t>
            </a:r>
          </a:p>
        </p:txBody>
      </p:sp>
      <p:sp>
        <p:nvSpPr>
          <p:cNvPr id="7" name="Footer Placeholder 6">
            <a:extLst>
              <a:ext uri="{FF2B5EF4-FFF2-40B4-BE49-F238E27FC236}">
                <a16:creationId xmlns:a16="http://schemas.microsoft.com/office/drawing/2014/main" id="{D13D0766-EB05-04E7-4692-0C8DFD5912A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301D12B0-53A1-D6A2-A416-7C627B02DC6A}"/>
              </a:ext>
            </a:extLst>
          </p:cNvPr>
          <p:cNvSpPr>
            <a:spLocks noGrp="1"/>
          </p:cNvSpPr>
          <p:nvPr>
            <p:ph type="sldNum" sz="quarter" idx="12"/>
          </p:nvPr>
        </p:nvSpPr>
        <p:spPr/>
        <p:txBody>
          <a:bodyPr/>
          <a:lstStyle/>
          <a:p>
            <a:fld id="{F8F6B9CD-BE6B-498B-93B3-0FAD7ADE75E3}" type="slidenum">
              <a:rPr lang="en-US" smtClean="0"/>
              <a:t>31</a:t>
            </a:fld>
            <a:endParaRPr lang="en-US"/>
          </a:p>
        </p:txBody>
      </p:sp>
      <p:graphicFrame>
        <p:nvGraphicFramePr>
          <p:cNvPr id="10" name="Table 9">
            <a:extLst>
              <a:ext uri="{FF2B5EF4-FFF2-40B4-BE49-F238E27FC236}">
                <a16:creationId xmlns:a16="http://schemas.microsoft.com/office/drawing/2014/main" id="{B87EBA81-0AD1-8A55-ECC6-4BC33E0D97A3}"/>
              </a:ext>
            </a:extLst>
          </p:cNvPr>
          <p:cNvGraphicFramePr>
            <a:graphicFrameLocks noGrp="1"/>
          </p:cNvGraphicFramePr>
          <p:nvPr>
            <p:extLst>
              <p:ext uri="{D42A27DB-BD31-4B8C-83A1-F6EECF244321}">
                <p14:modId xmlns:p14="http://schemas.microsoft.com/office/powerpoint/2010/main" val="2204395734"/>
              </p:ext>
            </p:extLst>
          </p:nvPr>
        </p:nvGraphicFramePr>
        <p:xfrm>
          <a:off x="3843498" y="1130809"/>
          <a:ext cx="8128000" cy="48514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485582818"/>
                    </a:ext>
                  </a:extLst>
                </a:gridCol>
                <a:gridCol w="2032000">
                  <a:extLst>
                    <a:ext uri="{9D8B030D-6E8A-4147-A177-3AD203B41FA5}">
                      <a16:colId xmlns:a16="http://schemas.microsoft.com/office/drawing/2014/main" val="1747859947"/>
                    </a:ext>
                  </a:extLst>
                </a:gridCol>
                <a:gridCol w="2032000">
                  <a:extLst>
                    <a:ext uri="{9D8B030D-6E8A-4147-A177-3AD203B41FA5}">
                      <a16:colId xmlns:a16="http://schemas.microsoft.com/office/drawing/2014/main" val="4232195191"/>
                    </a:ext>
                  </a:extLst>
                </a:gridCol>
                <a:gridCol w="2032000">
                  <a:extLst>
                    <a:ext uri="{9D8B030D-6E8A-4147-A177-3AD203B41FA5}">
                      <a16:colId xmlns:a16="http://schemas.microsoft.com/office/drawing/2014/main" val="2948462084"/>
                    </a:ext>
                  </a:extLst>
                </a:gridCol>
              </a:tblGrid>
              <a:tr h="370840">
                <a:tc>
                  <a:txBody>
                    <a:bodyPr/>
                    <a:lstStyle/>
                    <a:p>
                      <a:r>
                        <a:rPr lang="en-US"/>
                        <a:t>Capability</a:t>
                      </a:r>
                    </a:p>
                  </a:txBody>
                  <a:tcPr/>
                </a:tc>
                <a:tc>
                  <a:txBody>
                    <a:bodyPr/>
                    <a:lstStyle/>
                    <a:p>
                      <a:r>
                        <a:rPr lang="en-US"/>
                        <a:t>CLEAResult</a:t>
                      </a:r>
                    </a:p>
                  </a:txBody>
                  <a:tcPr/>
                </a:tc>
                <a:tc>
                  <a:txBody>
                    <a:bodyPr/>
                    <a:lstStyle/>
                    <a:p>
                      <a:r>
                        <a:rPr lang="en-US"/>
                        <a:t>APTIM</a:t>
                      </a:r>
                    </a:p>
                  </a:txBody>
                  <a:tcPr/>
                </a:tc>
                <a:tc>
                  <a:txBody>
                    <a:bodyPr/>
                    <a:lstStyle/>
                    <a:p>
                      <a:r>
                        <a:rPr lang="en-US"/>
                        <a:t>Stantec</a:t>
                      </a:r>
                    </a:p>
                  </a:txBody>
                  <a:tcPr/>
                </a:tc>
                <a:extLst>
                  <a:ext uri="{0D108BD9-81ED-4DB2-BD59-A6C34878D82A}">
                    <a16:rowId xmlns:a16="http://schemas.microsoft.com/office/drawing/2014/main" val="569480121"/>
                  </a:ext>
                </a:extLst>
              </a:tr>
              <a:tr h="370840">
                <a:tc>
                  <a:txBody>
                    <a:bodyPr/>
                    <a:lstStyle/>
                    <a:p>
                      <a:r>
                        <a:rPr lang="en-US"/>
                        <a:t>Energy Efficiency Programs</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147685195"/>
                  </a:ext>
                </a:extLst>
              </a:tr>
              <a:tr h="370840">
                <a:tc>
                  <a:txBody>
                    <a:bodyPr/>
                    <a:lstStyle/>
                    <a:p>
                      <a:r>
                        <a:rPr lang="en-US"/>
                        <a:t>Rebate Administration</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722445081"/>
                  </a:ext>
                </a:extLst>
              </a:tr>
              <a:tr h="370840">
                <a:tc>
                  <a:txBody>
                    <a:bodyPr/>
                    <a:lstStyle/>
                    <a:p>
                      <a:r>
                        <a:rPr lang="en-US"/>
                        <a:t>Government Programs</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951025814"/>
                  </a:ext>
                </a:extLst>
              </a:tr>
              <a:tr h="370840">
                <a:tc>
                  <a:txBody>
                    <a:bodyPr/>
                    <a:lstStyle/>
                    <a:p>
                      <a:r>
                        <a:rPr lang="en-US"/>
                        <a:t>Environmental Services</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105359184"/>
                  </a:ext>
                </a:extLst>
              </a:tr>
              <a:tr h="370840">
                <a:tc>
                  <a:txBody>
                    <a:bodyPr/>
                    <a:lstStyle/>
                    <a:p>
                      <a:r>
                        <a:rPr lang="en-US"/>
                        <a:t>Infrastructure Services</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721944683"/>
                  </a:ext>
                </a:extLst>
              </a:tr>
              <a:tr h="370840">
                <a:tc>
                  <a:txBody>
                    <a:bodyPr/>
                    <a:lstStyle/>
                    <a:p>
                      <a:r>
                        <a:rPr lang="en-US"/>
                        <a:t>Engineering &amp; Design</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524962677"/>
                  </a:ext>
                </a:extLst>
              </a:tr>
              <a:tr h="370840">
                <a:tc>
                  <a:txBody>
                    <a:bodyPr/>
                    <a:lstStyle/>
                    <a:p>
                      <a:r>
                        <a:rPr lang="en-US"/>
                        <a:t>Scale/Market Reach</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75820072"/>
                  </a:ext>
                </a:extLst>
              </a:tr>
            </a:tbl>
          </a:graphicData>
        </a:graphic>
      </p:graphicFrame>
      <p:pic>
        <p:nvPicPr>
          <p:cNvPr id="17" name="Graphic 16" descr="Checkbox Checked with solid fill">
            <a:extLst>
              <a:ext uri="{FF2B5EF4-FFF2-40B4-BE49-F238E27FC236}">
                <a16:creationId xmlns:a16="http://schemas.microsoft.com/office/drawing/2014/main" id="{25BBA70E-0DAF-BE7B-8045-FA70CE33EDB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0500" y="1275588"/>
            <a:ext cx="591312" cy="591312"/>
          </a:xfrm>
          <a:prstGeom prst="rect">
            <a:avLst/>
          </a:prstGeom>
        </p:spPr>
      </p:pic>
      <p:pic>
        <p:nvPicPr>
          <p:cNvPr id="19" name="Graphic 18" descr="Checkbox Crossed with solid fill">
            <a:extLst>
              <a:ext uri="{FF2B5EF4-FFF2-40B4-BE49-F238E27FC236}">
                <a16:creationId xmlns:a16="http://schemas.microsoft.com/office/drawing/2014/main" id="{ABEE9939-D8C6-83EA-1EAA-FDDF4800049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0500" y="2368391"/>
            <a:ext cx="591313" cy="591313"/>
          </a:xfrm>
          <a:prstGeom prst="rect">
            <a:avLst/>
          </a:prstGeom>
        </p:spPr>
      </p:pic>
      <p:pic>
        <p:nvPicPr>
          <p:cNvPr id="22" name="Graphic 21" descr="Badge Unfollow with solid fill">
            <a:extLst>
              <a:ext uri="{FF2B5EF4-FFF2-40B4-BE49-F238E27FC236}">
                <a16:creationId xmlns:a16="http://schemas.microsoft.com/office/drawing/2014/main" id="{FBF75704-72B1-89CE-488A-5B4C907B0F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9085" y="1914477"/>
            <a:ext cx="394145" cy="394145"/>
          </a:xfrm>
          <a:prstGeom prst="rect">
            <a:avLst/>
          </a:prstGeom>
        </p:spPr>
      </p:pic>
      <p:sp>
        <p:nvSpPr>
          <p:cNvPr id="23" name="TextBox 22">
            <a:extLst>
              <a:ext uri="{FF2B5EF4-FFF2-40B4-BE49-F238E27FC236}">
                <a16:creationId xmlns:a16="http://schemas.microsoft.com/office/drawing/2014/main" id="{29C7197C-7606-22DD-847E-561449D8154B}"/>
              </a:ext>
            </a:extLst>
          </p:cNvPr>
          <p:cNvSpPr txBox="1"/>
          <p:nvPr/>
        </p:nvSpPr>
        <p:spPr>
          <a:xfrm>
            <a:off x="811814" y="1387602"/>
            <a:ext cx="2370298" cy="369332"/>
          </a:xfrm>
          <a:prstGeom prst="rect">
            <a:avLst/>
          </a:prstGeom>
          <a:noFill/>
        </p:spPr>
        <p:txBody>
          <a:bodyPr wrap="square" rtlCol="0">
            <a:spAutoFit/>
          </a:bodyPr>
          <a:lstStyle/>
          <a:p>
            <a:r>
              <a:rPr lang="en-US"/>
              <a:t>Core/primary service</a:t>
            </a:r>
          </a:p>
        </p:txBody>
      </p:sp>
      <p:sp>
        <p:nvSpPr>
          <p:cNvPr id="24" name="TextBox 23">
            <a:extLst>
              <a:ext uri="{FF2B5EF4-FFF2-40B4-BE49-F238E27FC236}">
                <a16:creationId xmlns:a16="http://schemas.microsoft.com/office/drawing/2014/main" id="{0860BE8A-5CA9-B098-071C-0DCB349587FF}"/>
              </a:ext>
            </a:extLst>
          </p:cNvPr>
          <p:cNvSpPr txBox="1"/>
          <p:nvPr/>
        </p:nvSpPr>
        <p:spPr>
          <a:xfrm>
            <a:off x="811814" y="1926669"/>
            <a:ext cx="2306290" cy="369332"/>
          </a:xfrm>
          <a:prstGeom prst="rect">
            <a:avLst/>
          </a:prstGeom>
          <a:noFill/>
        </p:spPr>
        <p:txBody>
          <a:bodyPr wrap="square" rtlCol="0">
            <a:spAutoFit/>
          </a:bodyPr>
          <a:lstStyle/>
          <a:p>
            <a:r>
              <a:rPr lang="en-US"/>
              <a:t>Secondary service</a:t>
            </a:r>
          </a:p>
        </p:txBody>
      </p:sp>
      <p:sp>
        <p:nvSpPr>
          <p:cNvPr id="25" name="TextBox 24">
            <a:extLst>
              <a:ext uri="{FF2B5EF4-FFF2-40B4-BE49-F238E27FC236}">
                <a16:creationId xmlns:a16="http://schemas.microsoft.com/office/drawing/2014/main" id="{E6605090-D284-3C91-0756-9DA01CE6A520}"/>
              </a:ext>
            </a:extLst>
          </p:cNvPr>
          <p:cNvSpPr txBox="1"/>
          <p:nvPr/>
        </p:nvSpPr>
        <p:spPr>
          <a:xfrm>
            <a:off x="811813" y="2368391"/>
            <a:ext cx="1892808" cy="646331"/>
          </a:xfrm>
          <a:prstGeom prst="rect">
            <a:avLst/>
          </a:prstGeom>
          <a:noFill/>
        </p:spPr>
        <p:txBody>
          <a:bodyPr wrap="square" rtlCol="0">
            <a:spAutoFit/>
          </a:bodyPr>
          <a:lstStyle/>
          <a:p>
            <a:r>
              <a:rPr lang="en-US"/>
              <a:t>Not offered/ weak service</a:t>
            </a:r>
          </a:p>
        </p:txBody>
      </p:sp>
      <p:pic>
        <p:nvPicPr>
          <p:cNvPr id="26" name="Graphic 25" descr="Checkbox Checked with solid fill">
            <a:extLst>
              <a:ext uri="{FF2B5EF4-FFF2-40B4-BE49-F238E27FC236}">
                <a16:creationId xmlns:a16="http://schemas.microsoft.com/office/drawing/2014/main" id="{6ECB1DEB-7D97-06F5-7711-A8035A4ED52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32263" y="3456895"/>
            <a:ext cx="591312" cy="591312"/>
          </a:xfrm>
          <a:prstGeom prst="rect">
            <a:avLst/>
          </a:prstGeom>
        </p:spPr>
      </p:pic>
      <p:pic>
        <p:nvPicPr>
          <p:cNvPr id="27" name="Graphic 26" descr="Checkbox Checked with solid fill">
            <a:extLst>
              <a:ext uri="{FF2B5EF4-FFF2-40B4-BE49-F238E27FC236}">
                <a16:creationId xmlns:a16="http://schemas.microsoft.com/office/drawing/2014/main" id="{FBE69ED9-5B80-95F6-D968-6FD727BC4DF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69436" y="1520023"/>
            <a:ext cx="591312" cy="591312"/>
          </a:xfrm>
          <a:prstGeom prst="rect">
            <a:avLst/>
          </a:prstGeom>
        </p:spPr>
      </p:pic>
      <p:pic>
        <p:nvPicPr>
          <p:cNvPr id="28" name="Graphic 27" descr="Checkbox Checked with solid fill">
            <a:extLst>
              <a:ext uri="{FF2B5EF4-FFF2-40B4-BE49-F238E27FC236}">
                <a16:creationId xmlns:a16="http://schemas.microsoft.com/office/drawing/2014/main" id="{42BD89F5-0050-0DCC-72FE-72202FB4B98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571283" y="1520023"/>
            <a:ext cx="591312" cy="591312"/>
          </a:xfrm>
          <a:prstGeom prst="rect">
            <a:avLst/>
          </a:prstGeom>
        </p:spPr>
      </p:pic>
      <p:pic>
        <p:nvPicPr>
          <p:cNvPr id="29" name="Graphic 28" descr="Checkbox Checked with solid fill">
            <a:extLst>
              <a:ext uri="{FF2B5EF4-FFF2-40B4-BE49-F238E27FC236}">
                <a16:creationId xmlns:a16="http://schemas.microsoft.com/office/drawing/2014/main" id="{94B1BD17-7715-F4EB-2316-6D4833B5C7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571283" y="2179278"/>
            <a:ext cx="591312" cy="591312"/>
          </a:xfrm>
          <a:prstGeom prst="rect">
            <a:avLst/>
          </a:prstGeom>
        </p:spPr>
      </p:pic>
      <p:pic>
        <p:nvPicPr>
          <p:cNvPr id="30" name="Graphic 29" descr="Checkbox Checked with solid fill">
            <a:extLst>
              <a:ext uri="{FF2B5EF4-FFF2-40B4-BE49-F238E27FC236}">
                <a16:creationId xmlns:a16="http://schemas.microsoft.com/office/drawing/2014/main" id="{D83F7210-D804-FCB9-2ECB-79C1932118F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32263" y="4101562"/>
            <a:ext cx="591312" cy="591312"/>
          </a:xfrm>
          <a:prstGeom prst="rect">
            <a:avLst/>
          </a:prstGeom>
        </p:spPr>
      </p:pic>
      <p:pic>
        <p:nvPicPr>
          <p:cNvPr id="31" name="Graphic 30" descr="Checkbox Checked with solid fill">
            <a:extLst>
              <a:ext uri="{FF2B5EF4-FFF2-40B4-BE49-F238E27FC236}">
                <a16:creationId xmlns:a16="http://schemas.microsoft.com/office/drawing/2014/main" id="{C79782A8-121A-72C8-1647-4C374C80288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69436" y="2801915"/>
            <a:ext cx="591312" cy="591312"/>
          </a:xfrm>
          <a:prstGeom prst="rect">
            <a:avLst/>
          </a:prstGeom>
        </p:spPr>
      </p:pic>
      <p:pic>
        <p:nvPicPr>
          <p:cNvPr id="32" name="Graphic 31" descr="Checkbox Checked with solid fill">
            <a:extLst>
              <a:ext uri="{FF2B5EF4-FFF2-40B4-BE49-F238E27FC236}">
                <a16:creationId xmlns:a16="http://schemas.microsoft.com/office/drawing/2014/main" id="{E1BD3BF4-8D9B-2B17-795E-1073CCE270C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69436" y="4075300"/>
            <a:ext cx="591312" cy="591312"/>
          </a:xfrm>
          <a:prstGeom prst="rect">
            <a:avLst/>
          </a:prstGeom>
        </p:spPr>
      </p:pic>
      <p:pic>
        <p:nvPicPr>
          <p:cNvPr id="33" name="Graphic 32" descr="Checkbox Checked with solid fill">
            <a:extLst>
              <a:ext uri="{FF2B5EF4-FFF2-40B4-BE49-F238E27FC236}">
                <a16:creationId xmlns:a16="http://schemas.microsoft.com/office/drawing/2014/main" id="{0625FEA1-7F50-628C-55AC-B2DF4844A20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69436" y="2179278"/>
            <a:ext cx="591312" cy="591312"/>
          </a:xfrm>
          <a:prstGeom prst="rect">
            <a:avLst/>
          </a:prstGeom>
        </p:spPr>
      </p:pic>
      <p:pic>
        <p:nvPicPr>
          <p:cNvPr id="34" name="Graphic 33" descr="Checkbox Checked with solid fill">
            <a:extLst>
              <a:ext uri="{FF2B5EF4-FFF2-40B4-BE49-F238E27FC236}">
                <a16:creationId xmlns:a16="http://schemas.microsoft.com/office/drawing/2014/main" id="{1C6BEE9F-9CCF-8F5C-2500-4361FE83670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32263" y="4692874"/>
            <a:ext cx="591312" cy="591312"/>
          </a:xfrm>
          <a:prstGeom prst="rect">
            <a:avLst/>
          </a:prstGeom>
        </p:spPr>
      </p:pic>
      <p:pic>
        <p:nvPicPr>
          <p:cNvPr id="35" name="Graphic 34" descr="Checkbox Checked with solid fill">
            <a:extLst>
              <a:ext uri="{FF2B5EF4-FFF2-40B4-BE49-F238E27FC236}">
                <a16:creationId xmlns:a16="http://schemas.microsoft.com/office/drawing/2014/main" id="{3FF8126E-55D1-9A0D-8F87-54D9E299271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571283" y="5390897"/>
            <a:ext cx="591312" cy="591312"/>
          </a:xfrm>
          <a:prstGeom prst="rect">
            <a:avLst/>
          </a:prstGeom>
        </p:spPr>
      </p:pic>
      <p:pic>
        <p:nvPicPr>
          <p:cNvPr id="36" name="Graphic 35" descr="Checkbox Checked with solid fill">
            <a:extLst>
              <a:ext uri="{FF2B5EF4-FFF2-40B4-BE49-F238E27FC236}">
                <a16:creationId xmlns:a16="http://schemas.microsoft.com/office/drawing/2014/main" id="{12B4219B-30B7-E55B-89CB-5CA7B7977A6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32263" y="5390897"/>
            <a:ext cx="591312" cy="591312"/>
          </a:xfrm>
          <a:prstGeom prst="rect">
            <a:avLst/>
          </a:prstGeom>
        </p:spPr>
      </p:pic>
      <p:pic>
        <p:nvPicPr>
          <p:cNvPr id="37" name="Graphic 36" descr="Checkbox Checked with solid fill">
            <a:extLst>
              <a:ext uri="{FF2B5EF4-FFF2-40B4-BE49-F238E27FC236}">
                <a16:creationId xmlns:a16="http://schemas.microsoft.com/office/drawing/2014/main" id="{1FCAFEFA-5512-3E63-3A8D-3E6B12D6FAB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69436" y="3473769"/>
            <a:ext cx="591312" cy="591312"/>
          </a:xfrm>
          <a:prstGeom prst="rect">
            <a:avLst/>
          </a:prstGeom>
        </p:spPr>
      </p:pic>
      <p:pic>
        <p:nvPicPr>
          <p:cNvPr id="38" name="Graphic 37" descr="Badge Unfollow with solid fill">
            <a:extLst>
              <a:ext uri="{FF2B5EF4-FFF2-40B4-BE49-F238E27FC236}">
                <a16:creationId xmlns:a16="http://schemas.microsoft.com/office/drawing/2014/main" id="{57E0C906-168D-3EE2-7D42-C07778DEEDD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730846" y="2898584"/>
            <a:ext cx="394145" cy="394145"/>
          </a:xfrm>
          <a:prstGeom prst="rect">
            <a:avLst/>
          </a:prstGeom>
        </p:spPr>
      </p:pic>
      <p:pic>
        <p:nvPicPr>
          <p:cNvPr id="39" name="Graphic 38" descr="Badge Unfollow with solid fill">
            <a:extLst>
              <a:ext uri="{FF2B5EF4-FFF2-40B4-BE49-F238E27FC236}">
                <a16:creationId xmlns:a16="http://schemas.microsoft.com/office/drawing/2014/main" id="{6308A87B-9771-133D-BE5A-3449BB625DF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69866" y="2898585"/>
            <a:ext cx="394145" cy="394145"/>
          </a:xfrm>
          <a:prstGeom prst="rect">
            <a:avLst/>
          </a:prstGeom>
        </p:spPr>
      </p:pic>
      <p:pic>
        <p:nvPicPr>
          <p:cNvPr id="40" name="Graphic 39" descr="Badge Unfollow with solid fill">
            <a:extLst>
              <a:ext uri="{FF2B5EF4-FFF2-40B4-BE49-F238E27FC236}">
                <a16:creationId xmlns:a16="http://schemas.microsoft.com/office/drawing/2014/main" id="{C51767DF-E5B9-F002-73DB-4C85BD2F3ED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730845" y="1618606"/>
            <a:ext cx="394145" cy="394145"/>
          </a:xfrm>
          <a:prstGeom prst="rect">
            <a:avLst/>
          </a:prstGeom>
        </p:spPr>
      </p:pic>
      <p:pic>
        <p:nvPicPr>
          <p:cNvPr id="41" name="Graphic 40" descr="Badge Unfollow with solid fill">
            <a:extLst>
              <a:ext uri="{FF2B5EF4-FFF2-40B4-BE49-F238E27FC236}">
                <a16:creationId xmlns:a16="http://schemas.microsoft.com/office/drawing/2014/main" id="{210D2DAA-D0AC-3200-3955-A2743EAD82D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668019" y="4791457"/>
            <a:ext cx="394145" cy="394145"/>
          </a:xfrm>
          <a:prstGeom prst="rect">
            <a:avLst/>
          </a:prstGeom>
        </p:spPr>
      </p:pic>
      <p:pic>
        <p:nvPicPr>
          <p:cNvPr id="42" name="Graphic 41" descr="Badge Unfollow with solid fill">
            <a:extLst>
              <a:ext uri="{FF2B5EF4-FFF2-40B4-BE49-F238E27FC236}">
                <a16:creationId xmlns:a16="http://schemas.microsoft.com/office/drawing/2014/main" id="{CCF636FD-E4BF-2471-F114-5D138381C53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668018" y="5453414"/>
            <a:ext cx="394145" cy="394145"/>
          </a:xfrm>
          <a:prstGeom prst="rect">
            <a:avLst/>
          </a:prstGeom>
        </p:spPr>
      </p:pic>
      <p:pic>
        <p:nvPicPr>
          <p:cNvPr id="43" name="Graphic 42" descr="Checkbox Crossed with solid fill">
            <a:extLst>
              <a:ext uri="{FF2B5EF4-FFF2-40B4-BE49-F238E27FC236}">
                <a16:creationId xmlns:a16="http://schemas.microsoft.com/office/drawing/2014/main" id="{D51CCF7B-5740-3532-9019-E4AAA9D64C8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32263" y="2165125"/>
            <a:ext cx="591313" cy="591313"/>
          </a:xfrm>
          <a:prstGeom prst="rect">
            <a:avLst/>
          </a:prstGeom>
        </p:spPr>
      </p:pic>
      <p:pic>
        <p:nvPicPr>
          <p:cNvPr id="44" name="Graphic 43" descr="Checkbox Crossed with solid fill">
            <a:extLst>
              <a:ext uri="{FF2B5EF4-FFF2-40B4-BE49-F238E27FC236}">
                <a16:creationId xmlns:a16="http://schemas.microsoft.com/office/drawing/2014/main" id="{A4AC7E66-F58C-752D-181D-E2C8AB9D34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64041" y="3466611"/>
            <a:ext cx="591313" cy="591313"/>
          </a:xfrm>
          <a:prstGeom prst="rect">
            <a:avLst/>
          </a:prstGeom>
        </p:spPr>
      </p:pic>
      <p:pic>
        <p:nvPicPr>
          <p:cNvPr id="45" name="Graphic 44" descr="Checkbox Crossed with solid fill">
            <a:extLst>
              <a:ext uri="{FF2B5EF4-FFF2-40B4-BE49-F238E27FC236}">
                <a16:creationId xmlns:a16="http://schemas.microsoft.com/office/drawing/2014/main" id="{C57154DB-F2E6-E561-A1ED-BEA4B8CC82F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71283" y="4086208"/>
            <a:ext cx="591313" cy="591313"/>
          </a:xfrm>
          <a:prstGeom prst="rect">
            <a:avLst/>
          </a:prstGeom>
        </p:spPr>
      </p:pic>
      <p:pic>
        <p:nvPicPr>
          <p:cNvPr id="46" name="Graphic 45" descr="Checkbox Crossed with solid fill">
            <a:extLst>
              <a:ext uri="{FF2B5EF4-FFF2-40B4-BE49-F238E27FC236}">
                <a16:creationId xmlns:a16="http://schemas.microsoft.com/office/drawing/2014/main" id="{D07F2312-EA40-56D4-3D44-213DE7C0851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71283" y="4746666"/>
            <a:ext cx="591313" cy="591313"/>
          </a:xfrm>
          <a:prstGeom prst="rect">
            <a:avLst/>
          </a:prstGeom>
        </p:spPr>
      </p:pic>
      <p:sp>
        <p:nvSpPr>
          <p:cNvPr id="47" name="TextBox 46">
            <a:extLst>
              <a:ext uri="{FF2B5EF4-FFF2-40B4-BE49-F238E27FC236}">
                <a16:creationId xmlns:a16="http://schemas.microsoft.com/office/drawing/2014/main" id="{1D00F6B3-A58D-2E69-623F-6A9C22C50782}"/>
              </a:ext>
            </a:extLst>
          </p:cNvPr>
          <p:cNvSpPr txBox="1"/>
          <p:nvPr/>
        </p:nvSpPr>
        <p:spPr>
          <a:xfrm>
            <a:off x="319085" y="3334907"/>
            <a:ext cx="3219643" cy="2647302"/>
          </a:xfrm>
          <a:prstGeom prst="rect">
            <a:avLst/>
          </a:prstGeom>
          <a:noFill/>
        </p:spPr>
        <p:txBody>
          <a:bodyPr wrap="square" rtlCol="0">
            <a:spAutoFit/>
          </a:bodyPr>
          <a:lstStyle/>
          <a:p>
            <a:r>
              <a:rPr lang="en-US"/>
              <a:t>APTIM occupies a middle ground between specialized program implementers and large consulting firms, leveraging its broad capabilities to provide integrated solutions that neither competitor offers independently.</a:t>
            </a:r>
          </a:p>
        </p:txBody>
      </p:sp>
      <p:sp>
        <p:nvSpPr>
          <p:cNvPr id="49" name="Rectangle 48">
            <a:extLst>
              <a:ext uri="{FF2B5EF4-FFF2-40B4-BE49-F238E27FC236}">
                <a16:creationId xmlns:a16="http://schemas.microsoft.com/office/drawing/2014/main" id="{ED9EE712-5BE8-F4BB-99EE-C5898161F377}"/>
              </a:ext>
            </a:extLst>
          </p:cNvPr>
          <p:cNvSpPr/>
          <p:nvPr/>
        </p:nvSpPr>
        <p:spPr>
          <a:xfrm>
            <a:off x="7907498" y="1130809"/>
            <a:ext cx="2063379" cy="4851400"/>
          </a:xfrm>
          <a:prstGeom prst="rect">
            <a:avLst/>
          </a:prstGeom>
          <a:noFill/>
          <a:ln w="762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152878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mph" presetSubtype="0" fill="hold" grpId="0" nodeType="clickEffect">
                                  <p:stCondLst>
                                    <p:cond delay="0"/>
                                  </p:stCondLst>
                                  <p:childTnLst>
                                    <p:animEffect transition="out" filter="fade">
                                      <p:cBhvr>
                                        <p:cTn id="6" dur="500" tmFilter="0, 0; .2, .5; .8, .5; 1, 0"/>
                                        <p:tgtEl>
                                          <p:spTgt spid="49"/>
                                        </p:tgtEl>
                                      </p:cBhvr>
                                    </p:animEffect>
                                    <p:animScale>
                                      <p:cBhvr>
                                        <p:cTn id="7" dur="250" autoRev="1" fill="hold"/>
                                        <p:tgtEl>
                                          <p:spTgt spid="49"/>
                                        </p:tgtEl>
                                      </p:cBhvr>
                                      <p:by x="105000" y="105000"/>
                                    </p:animScale>
                                  </p:childTnLst>
                                </p:cTn>
                              </p:par>
                              <p:par>
                                <p:cTn id="8" presetID="26" presetClass="emph" presetSubtype="0" fill="hold" grpId="0" nodeType="withEffect">
                                  <p:stCondLst>
                                    <p:cond delay="0"/>
                                  </p:stCondLst>
                                  <p:childTnLst>
                                    <p:animEffect transition="out" filter="fade">
                                      <p:cBhvr>
                                        <p:cTn id="9" dur="500" tmFilter="0, 0; .2, .5; .8, .5; 1, 0"/>
                                        <p:tgtEl>
                                          <p:spTgt spid="47"/>
                                        </p:tgtEl>
                                      </p:cBhvr>
                                    </p:animEffect>
                                    <p:animScale>
                                      <p:cBhvr>
                                        <p:cTn id="10" dur="250" autoRev="1" fill="hold"/>
                                        <p:tgtEl>
                                          <p:spTgt spid="47"/>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p:bldP spid="4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B8BF6-FECC-2C0A-6612-5FE94A1B0DED}"/>
              </a:ext>
            </a:extLst>
          </p:cNvPr>
          <p:cNvSpPr>
            <a:spLocks noGrp="1"/>
          </p:cNvSpPr>
          <p:nvPr>
            <p:ph type="title"/>
          </p:nvPr>
        </p:nvSpPr>
        <p:spPr/>
        <p:txBody>
          <a:bodyPr/>
          <a:lstStyle/>
          <a:p>
            <a:r>
              <a:rPr lang="en-US">
                <a:latin typeface="Arial Black"/>
                <a:cs typeface="Arial"/>
              </a:rPr>
              <a:t>Goal of presentation </a:t>
            </a:r>
            <a:endParaRPr lang="en-US"/>
          </a:p>
        </p:txBody>
      </p:sp>
      <p:sp>
        <p:nvSpPr>
          <p:cNvPr id="3" name="Content Placeholder 2">
            <a:extLst>
              <a:ext uri="{FF2B5EF4-FFF2-40B4-BE49-F238E27FC236}">
                <a16:creationId xmlns:a16="http://schemas.microsoft.com/office/drawing/2014/main" id="{A29A4B8D-FD93-CF23-4C5D-E53B653AF492}"/>
              </a:ext>
            </a:extLst>
          </p:cNvPr>
          <p:cNvSpPr>
            <a:spLocks noGrp="1"/>
          </p:cNvSpPr>
          <p:nvPr>
            <p:ph idx="1"/>
          </p:nvPr>
        </p:nvSpPr>
        <p:spPr/>
        <p:txBody>
          <a:bodyPr vert="horz" lIns="0" tIns="0" rIns="0" bIns="0" rtlCol="0" anchor="t">
            <a:noAutofit/>
          </a:bodyPr>
          <a:lstStyle/>
          <a:p>
            <a:pPr marL="233045" indent="-233045">
              <a:buFont typeface="Calibri" panose="020B0604020202020204" pitchFamily="34" charset="0"/>
              <a:buChar char="-"/>
            </a:pPr>
            <a:r>
              <a:rPr lang="en-US">
                <a:latin typeface="Arial"/>
                <a:cs typeface="Arial"/>
              </a:rPr>
              <a:t>20 to 25 minutes </a:t>
            </a:r>
            <a:endParaRPr lang="en-US"/>
          </a:p>
          <a:p>
            <a:pPr marL="233045" indent="-233045">
              <a:buFont typeface="Calibri" panose="020B0604020202020204" pitchFamily="34" charset="0"/>
              <a:buChar char="-"/>
            </a:pPr>
            <a:r>
              <a:rPr lang="en-US">
                <a:latin typeface="Arial"/>
                <a:cs typeface="Arial"/>
              </a:rPr>
              <a:t>10 minutes Q&amp;A</a:t>
            </a:r>
            <a:endParaRPr lang="en-US"/>
          </a:p>
          <a:p>
            <a:pPr lvl="1">
              <a:buFont typeface="Courier New" panose="020B0604020202020204" pitchFamily="34" charset="0"/>
              <a:buChar char="o"/>
            </a:pPr>
            <a:r>
              <a:rPr lang="en-US">
                <a:latin typeface="Arial"/>
                <a:cs typeface="Arial"/>
              </a:rPr>
              <a:t>Could be people very knowledgeable about the subject so be </a:t>
            </a:r>
            <a:r>
              <a:rPr lang="en-US" err="1">
                <a:latin typeface="Arial"/>
                <a:cs typeface="Arial"/>
              </a:rPr>
              <a:t>prepaired</a:t>
            </a:r>
            <a:endParaRPr lang="en-US">
              <a:latin typeface="Arial"/>
              <a:cs typeface="Arial"/>
            </a:endParaRPr>
          </a:p>
          <a:p>
            <a:pPr marL="233045" indent="-233045">
              <a:buFont typeface="Calibri" panose="020B0604020202020204" pitchFamily="34" charset="0"/>
              <a:buChar char="-"/>
            </a:pPr>
            <a:r>
              <a:rPr lang="en-US">
                <a:latin typeface="Arial"/>
                <a:cs typeface="Arial"/>
              </a:rPr>
              <a:t>Audience: Various APTIM employees and leadership </a:t>
            </a:r>
            <a:endParaRPr lang="en-US"/>
          </a:p>
          <a:p>
            <a:pPr marL="233045" indent="-233045">
              <a:buFont typeface="Calibri" panose="020B0604020202020204" pitchFamily="34" charset="0"/>
              <a:buChar char="-"/>
            </a:pPr>
            <a:endParaRPr lang="en-US"/>
          </a:p>
          <a:p>
            <a:pPr marL="233045" indent="-233045">
              <a:buFont typeface="Calibri" panose="020B0604020202020204" pitchFamily="34" charset="0"/>
              <a:buChar char="-"/>
            </a:pPr>
            <a:r>
              <a:rPr lang="en-US">
                <a:latin typeface="Arial"/>
                <a:cs typeface="Arial"/>
              </a:rPr>
              <a:t>Use a lot of images/visual items rather than massive blocks of text</a:t>
            </a:r>
          </a:p>
          <a:p>
            <a:pPr marL="233045" indent="-233045">
              <a:buFont typeface="Calibri" panose="020B0604020202020204" pitchFamily="34" charset="0"/>
              <a:buChar char="-"/>
            </a:pPr>
            <a:r>
              <a:rPr lang="en-US">
                <a:latin typeface="Arial"/>
                <a:cs typeface="Arial"/>
              </a:rPr>
              <a:t>Keep the audience engaged, tell a story from start to finish </a:t>
            </a:r>
          </a:p>
          <a:p>
            <a:pPr lvl="1">
              <a:buFont typeface="Courier New" panose="020B0604020202020204" pitchFamily="34" charset="0"/>
              <a:buChar char="o"/>
            </a:pPr>
            <a:r>
              <a:rPr lang="en-US">
                <a:latin typeface="Arial"/>
                <a:cs typeface="Arial"/>
              </a:rPr>
              <a:t>Act as if the audience has no prior knowledge on your work/research (they don’t)</a:t>
            </a:r>
            <a:endParaRPr lang="en-US"/>
          </a:p>
          <a:p>
            <a:pPr lvl="1">
              <a:buFont typeface="Courier New" panose="020B0604020202020204" pitchFamily="34" charset="0"/>
              <a:buChar char="o"/>
            </a:pPr>
            <a:endParaRPr lang="en-US"/>
          </a:p>
        </p:txBody>
      </p:sp>
      <p:sp>
        <p:nvSpPr>
          <p:cNvPr id="4" name="Footer Placeholder 3">
            <a:extLst>
              <a:ext uri="{FF2B5EF4-FFF2-40B4-BE49-F238E27FC236}">
                <a16:creationId xmlns:a16="http://schemas.microsoft.com/office/drawing/2014/main" id="{9520CA0E-5D04-3BD1-766D-206A05B3ECB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DC6254A-47E9-6B7F-46ED-54B5363E35B1}"/>
              </a:ext>
            </a:extLst>
          </p:cNvPr>
          <p:cNvSpPr>
            <a:spLocks noGrp="1"/>
          </p:cNvSpPr>
          <p:nvPr>
            <p:ph type="sldNum" sz="quarter" idx="12"/>
          </p:nvPr>
        </p:nvSpPr>
        <p:spPr/>
        <p:txBody>
          <a:bodyPr/>
          <a:lstStyle/>
          <a:p>
            <a:fld id="{F8F6B9CD-BE6B-498B-93B3-0FAD7ADE75E3}" type="slidenum">
              <a:rPr lang="en-US" smtClean="0"/>
              <a:t>32</a:t>
            </a:fld>
            <a:endParaRPr lang="en-US"/>
          </a:p>
        </p:txBody>
      </p:sp>
    </p:spTree>
    <p:extLst>
      <p:ext uri="{BB962C8B-B14F-4D97-AF65-F5344CB8AC3E}">
        <p14:creationId xmlns:p14="http://schemas.microsoft.com/office/powerpoint/2010/main" val="250845290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5E4B58-894C-A9A8-5CDD-90256BF0F7E6}"/>
              </a:ext>
            </a:extLst>
          </p:cNvPr>
          <p:cNvSpPr>
            <a:spLocks noGrp="1"/>
          </p:cNvSpPr>
          <p:nvPr>
            <p:ph type="title"/>
          </p:nvPr>
        </p:nvSpPr>
        <p:spPr/>
        <p:txBody>
          <a:bodyPr/>
          <a:lstStyle/>
          <a:p>
            <a:r>
              <a:rPr lang="en-US">
                <a:latin typeface="Arial Black"/>
                <a:cs typeface="Arial"/>
              </a:rPr>
              <a:t>Given big blurb</a:t>
            </a:r>
            <a:endParaRPr lang="en-US"/>
          </a:p>
        </p:txBody>
      </p:sp>
      <p:sp>
        <p:nvSpPr>
          <p:cNvPr id="3" name="Content Placeholder 2">
            <a:extLst>
              <a:ext uri="{FF2B5EF4-FFF2-40B4-BE49-F238E27FC236}">
                <a16:creationId xmlns:a16="http://schemas.microsoft.com/office/drawing/2014/main" id="{397D538C-01EA-A82C-2282-AC4AD81F2D9F}"/>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p:txBody>
      </p:sp>
      <p:sp>
        <p:nvSpPr>
          <p:cNvPr id="4" name="Footer Placeholder 3">
            <a:extLst>
              <a:ext uri="{FF2B5EF4-FFF2-40B4-BE49-F238E27FC236}">
                <a16:creationId xmlns:a16="http://schemas.microsoft.com/office/drawing/2014/main" id="{871C8934-17E8-E45D-0C5F-28D26145E59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50051E5C-773B-65DD-DCFC-DCF645CF8A19}"/>
              </a:ext>
            </a:extLst>
          </p:cNvPr>
          <p:cNvSpPr>
            <a:spLocks noGrp="1"/>
          </p:cNvSpPr>
          <p:nvPr>
            <p:ph type="sldNum" sz="quarter" idx="12"/>
          </p:nvPr>
        </p:nvSpPr>
        <p:spPr/>
        <p:txBody>
          <a:bodyPr/>
          <a:lstStyle/>
          <a:p>
            <a:fld id="{F8F6B9CD-BE6B-498B-93B3-0FAD7ADE75E3}" type="slidenum">
              <a:rPr lang="en-US" smtClean="0"/>
              <a:t>33</a:t>
            </a:fld>
            <a:endParaRPr lang="en-US"/>
          </a:p>
        </p:txBody>
      </p:sp>
    </p:spTree>
    <p:extLst>
      <p:ext uri="{BB962C8B-B14F-4D97-AF65-F5344CB8AC3E}">
        <p14:creationId xmlns:p14="http://schemas.microsoft.com/office/powerpoint/2010/main" val="26657812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97F31-FDA5-0AEF-8DA0-0F3C028AD5BB}"/>
              </a:ext>
            </a:extLst>
          </p:cNvPr>
          <p:cNvSpPr>
            <a:spLocks noGrp="1"/>
          </p:cNvSpPr>
          <p:nvPr>
            <p:ph type="title"/>
          </p:nvPr>
        </p:nvSpPr>
        <p:spPr/>
        <p:txBody>
          <a:bodyPr/>
          <a:lstStyle/>
          <a:p>
            <a:r>
              <a:rPr lang="en-US">
                <a:latin typeface="Arial Black"/>
                <a:cs typeface="Arial"/>
              </a:rPr>
              <a:t>Given Scope Focus</a:t>
            </a:r>
          </a:p>
        </p:txBody>
      </p:sp>
      <p:sp>
        <p:nvSpPr>
          <p:cNvPr id="3" name="Content Placeholder 2">
            <a:extLst>
              <a:ext uri="{FF2B5EF4-FFF2-40B4-BE49-F238E27FC236}">
                <a16:creationId xmlns:a16="http://schemas.microsoft.com/office/drawing/2014/main" id="{5AD1C55C-03A3-D81A-E531-2596ABC2B6D2}"/>
              </a:ext>
            </a:extLst>
          </p:cNvPr>
          <p:cNvSpPr>
            <a:spLocks noGrp="1"/>
          </p:cNvSpPr>
          <p:nvPr>
            <p:ph idx="1"/>
          </p:nvPr>
        </p:nvSpPr>
        <p:spPr/>
        <p:txBody>
          <a:bodyPr vert="horz" lIns="0" tIns="0" rIns="0" bIns="0" rtlCol="0" anchor="t">
            <a:noAutofit/>
          </a:bodyPr>
          <a:lstStyle/>
          <a:p>
            <a:pPr marL="0" indent="0">
              <a:buNone/>
            </a:pPr>
            <a:r>
              <a:rPr lang="en-US"/>
              <a:t>Scope focus:</a:t>
            </a:r>
          </a:p>
          <a:p>
            <a:pPr marL="0" indent="0">
              <a:buNone/>
            </a:pPr>
            <a:r>
              <a:rPr lang="en-US">
                <a:latin typeface="Arial"/>
                <a:cs typeface="Arial"/>
              </a:rPr>
              <a:t>– Assume no invention of new technology!!</a:t>
            </a:r>
          </a:p>
          <a:p>
            <a:pPr marL="0" indent="0">
              <a:buNone/>
            </a:pPr>
            <a:r>
              <a:rPr lang="en-US">
                <a:latin typeface="Arial"/>
                <a:cs typeface="Arial"/>
              </a:rPr>
              <a:t> Us</a:t>
            </a:r>
          </a:p>
          <a:p>
            <a:pPr marL="0" indent="0">
              <a:buNone/>
            </a:pPr>
            <a:r>
              <a:rPr lang="en-US">
                <a:latin typeface="Arial"/>
                <a:cs typeface="Arial"/>
              </a:rPr>
              <a:t>– Focus on a single group (utility, state, county, city, or customer segment)</a:t>
            </a:r>
          </a:p>
          <a:p>
            <a:pPr marL="0" indent="0">
              <a:buNone/>
            </a:pPr>
            <a:endParaRPr lang="en-US">
              <a:latin typeface="Arial"/>
              <a:cs typeface="Arial"/>
            </a:endParaRPr>
          </a:p>
          <a:p>
            <a:pPr marL="0" indent="0">
              <a:buNone/>
            </a:pPr>
            <a:r>
              <a:rPr lang="en-US">
                <a:latin typeface="Arial"/>
                <a:cs typeface="Arial"/>
              </a:rPr>
              <a:t>– Consider solutions that leverage current or APTIM-adjacent capabilities</a:t>
            </a:r>
          </a:p>
          <a:p>
            <a:pPr marL="0" indent="0">
              <a:buNone/>
            </a:pPr>
            <a:endParaRPr lang="en-US">
              <a:latin typeface="Arial"/>
              <a:cs typeface="Arial"/>
            </a:endParaRPr>
          </a:p>
          <a:p>
            <a:pPr marL="0" indent="0">
              <a:buNone/>
            </a:pPr>
            <a:r>
              <a:rPr lang="en-US"/>
              <a:t>– Allow for scaling, and should be achievable within the next 1-3 years, accounting for market conditions that may shift.</a:t>
            </a:r>
          </a:p>
        </p:txBody>
      </p:sp>
      <p:sp>
        <p:nvSpPr>
          <p:cNvPr id="4" name="Footer Placeholder 3">
            <a:extLst>
              <a:ext uri="{FF2B5EF4-FFF2-40B4-BE49-F238E27FC236}">
                <a16:creationId xmlns:a16="http://schemas.microsoft.com/office/drawing/2014/main" id="{EA6E8373-79D3-5335-6756-B0DD9093B54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76708CF-1248-5294-5FCD-174FAE9529CD}"/>
              </a:ext>
            </a:extLst>
          </p:cNvPr>
          <p:cNvSpPr>
            <a:spLocks noGrp="1"/>
          </p:cNvSpPr>
          <p:nvPr>
            <p:ph type="sldNum" sz="quarter" idx="12"/>
          </p:nvPr>
        </p:nvSpPr>
        <p:spPr/>
        <p:txBody>
          <a:bodyPr/>
          <a:lstStyle/>
          <a:p>
            <a:fld id="{F8F6B9CD-BE6B-498B-93B3-0FAD7ADE75E3}" type="slidenum">
              <a:rPr lang="en-US" smtClean="0"/>
              <a:t>34</a:t>
            </a:fld>
            <a:endParaRPr lang="en-US"/>
          </a:p>
        </p:txBody>
      </p:sp>
    </p:spTree>
    <p:extLst>
      <p:ext uri="{BB962C8B-B14F-4D97-AF65-F5344CB8AC3E}">
        <p14:creationId xmlns:p14="http://schemas.microsoft.com/office/powerpoint/2010/main" val="4239608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2E0E2-2F66-EDDC-BAD8-1CF00241C51C}"/>
              </a:ext>
            </a:extLst>
          </p:cNvPr>
          <p:cNvSpPr>
            <a:spLocks noGrp="1"/>
          </p:cNvSpPr>
          <p:nvPr>
            <p:ph type="title"/>
          </p:nvPr>
        </p:nvSpPr>
        <p:spPr/>
        <p:txBody>
          <a:bodyPr/>
          <a:lstStyle/>
          <a:p>
            <a:r>
              <a:rPr lang="en-US">
                <a:latin typeface="Arial Black"/>
                <a:cs typeface="Arial"/>
              </a:rPr>
              <a:t>Given Output</a:t>
            </a:r>
            <a:endParaRPr lang="en-US"/>
          </a:p>
        </p:txBody>
      </p:sp>
      <p:sp>
        <p:nvSpPr>
          <p:cNvPr id="3" name="Content Placeholder 2">
            <a:extLst>
              <a:ext uri="{FF2B5EF4-FFF2-40B4-BE49-F238E27FC236}">
                <a16:creationId xmlns:a16="http://schemas.microsoft.com/office/drawing/2014/main" id="{191B82BD-C002-D9D4-706E-BF5E61D4FECA}"/>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Output:</a:t>
            </a:r>
            <a:endParaRPr lang="en-US"/>
          </a:p>
          <a:p>
            <a:pPr marL="233045" indent="-233045">
              <a:buNone/>
            </a:pPr>
            <a:r>
              <a:rPr lang="en-US">
                <a:highlight>
                  <a:srgbClr val="FFFF00"/>
                </a:highlight>
                <a:latin typeface="Arial"/>
                <a:cs typeface="Arial"/>
              </a:rPr>
              <a:t>– Problem Definition (Pain point)</a:t>
            </a:r>
          </a:p>
          <a:p>
            <a:pPr marL="233045" indent="-233045">
              <a:buNone/>
            </a:pPr>
            <a:r>
              <a:rPr lang="en-US">
                <a:highlight>
                  <a:srgbClr val="FFFF00"/>
                </a:highlight>
                <a:latin typeface="Arial"/>
                <a:cs typeface="Arial"/>
              </a:rPr>
              <a:t>– Market/Policy Analysis: (current state, changes impacting space)</a:t>
            </a:r>
          </a:p>
          <a:p>
            <a:pPr marL="233045" indent="-233045">
              <a:buNone/>
            </a:pPr>
            <a:r>
              <a:rPr lang="en-US">
                <a:highlight>
                  <a:srgbClr val="FFFF00"/>
                </a:highlight>
                <a:latin typeface="Arial"/>
                <a:cs typeface="Arial"/>
              </a:rPr>
              <a:t>– Competitive landscape: current providers of similar services, gaps in service, or inefficiencies of services.</a:t>
            </a:r>
          </a:p>
          <a:p>
            <a:pPr marL="233045" indent="-233045">
              <a:buNone/>
            </a:pPr>
            <a:r>
              <a:rPr lang="en-US">
                <a:latin typeface="Arial"/>
                <a:cs typeface="Arial"/>
              </a:rPr>
              <a:t>– Prioritization framework of where to focus based on cost, ease, implementation timeframe and impact</a:t>
            </a:r>
          </a:p>
          <a:p>
            <a:pPr marL="233045" indent="-233045">
              <a:buNone/>
            </a:pPr>
            <a:r>
              <a:rPr lang="en-US">
                <a:latin typeface="Arial"/>
                <a:cs typeface="Arial"/>
              </a:rPr>
              <a:t>– Strategic Fit (Why this works for APTIM)</a:t>
            </a:r>
          </a:p>
          <a:p>
            <a:pPr marL="233045" indent="-233045">
              <a:buNone/>
            </a:pPr>
            <a:r>
              <a:rPr lang="en-US">
                <a:latin typeface="Arial"/>
                <a:cs typeface="Arial"/>
              </a:rPr>
              <a:t>– Service Concept, including revenue model, delivery model, scalability, costs, implementation requirements, and</a:t>
            </a:r>
          </a:p>
          <a:p>
            <a:pPr marL="233045" indent="-233045">
              <a:buNone/>
            </a:pPr>
            <a:r>
              <a:rPr lang="en-US">
                <a:latin typeface="Arial"/>
                <a:cs typeface="Arial"/>
              </a:rPr>
              <a:t>operational risks.</a:t>
            </a:r>
          </a:p>
          <a:p>
            <a:pPr marL="233045" indent="-233045">
              <a:buNone/>
            </a:pPr>
            <a:r>
              <a:rPr lang="en-US">
                <a:latin typeface="Arial"/>
                <a:cs typeface="Arial"/>
              </a:rPr>
              <a:t>– Pilot a client use case or business case to support your idea, detailing value, constraints and risks.</a:t>
            </a:r>
          </a:p>
          <a:p>
            <a:pPr marL="233045" indent="-233045">
              <a:buNone/>
            </a:pPr>
            <a:r>
              <a:rPr lang="en-US">
                <a:latin typeface="Arial"/>
                <a:cs typeface="Arial"/>
              </a:rPr>
              <a:t>Intern gains: Evaluation of growth opportunities, market analysis skills, financial and service modeling, regulatory literacy,</a:t>
            </a:r>
          </a:p>
          <a:p>
            <a:pPr marL="0" indent="0">
              <a:buNone/>
            </a:pPr>
            <a:r>
              <a:rPr lang="en-US">
                <a:latin typeface="Arial"/>
                <a:cs typeface="Arial"/>
              </a:rPr>
              <a:t>energy business</a:t>
            </a:r>
          </a:p>
        </p:txBody>
      </p:sp>
      <p:sp>
        <p:nvSpPr>
          <p:cNvPr id="4" name="Footer Placeholder 3">
            <a:extLst>
              <a:ext uri="{FF2B5EF4-FFF2-40B4-BE49-F238E27FC236}">
                <a16:creationId xmlns:a16="http://schemas.microsoft.com/office/drawing/2014/main" id="{35199ECE-9922-81D5-E4DB-F8448D038A0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74BD898-07FA-C0CE-C69D-CF9B3FF91F41}"/>
              </a:ext>
            </a:extLst>
          </p:cNvPr>
          <p:cNvSpPr>
            <a:spLocks noGrp="1"/>
          </p:cNvSpPr>
          <p:nvPr>
            <p:ph type="sldNum" sz="quarter" idx="12"/>
          </p:nvPr>
        </p:nvSpPr>
        <p:spPr/>
        <p:txBody>
          <a:bodyPr/>
          <a:lstStyle/>
          <a:p>
            <a:fld id="{F8F6B9CD-BE6B-498B-93B3-0FAD7ADE75E3}" type="slidenum">
              <a:rPr lang="en-US" smtClean="0"/>
              <a:t>35</a:t>
            </a:fld>
            <a:endParaRPr lang="en-US"/>
          </a:p>
        </p:txBody>
      </p:sp>
    </p:spTree>
    <p:extLst>
      <p:ext uri="{BB962C8B-B14F-4D97-AF65-F5344CB8AC3E}">
        <p14:creationId xmlns:p14="http://schemas.microsoft.com/office/powerpoint/2010/main" val="6225911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7D1D9-0089-F069-D3BC-A2874382FC64}"/>
              </a:ext>
            </a:extLst>
          </p:cNvPr>
          <p:cNvSpPr>
            <a:spLocks noGrp="1"/>
          </p:cNvSpPr>
          <p:nvPr>
            <p:ph type="title"/>
          </p:nvPr>
        </p:nvSpPr>
        <p:spPr/>
        <p:txBody>
          <a:bodyPr/>
          <a:lstStyle/>
          <a:p>
            <a:r>
              <a:rPr lang="en-US"/>
              <a:t>Future/Scaling</a:t>
            </a:r>
          </a:p>
        </p:txBody>
      </p:sp>
      <p:sp>
        <p:nvSpPr>
          <p:cNvPr id="3" name="Content Placeholder 2">
            <a:extLst>
              <a:ext uri="{FF2B5EF4-FFF2-40B4-BE49-F238E27FC236}">
                <a16:creationId xmlns:a16="http://schemas.microsoft.com/office/drawing/2014/main" id="{4F32CF1A-84D7-4AA7-07D2-98446FE10F72}"/>
              </a:ext>
            </a:extLst>
          </p:cNvPr>
          <p:cNvSpPr>
            <a:spLocks noGrp="1"/>
          </p:cNvSpPr>
          <p:nvPr>
            <p:ph idx="1"/>
          </p:nvPr>
        </p:nvSpPr>
        <p:spPr/>
        <p:txBody>
          <a:bodyPr/>
          <a:lstStyle/>
          <a:p>
            <a:r>
              <a:rPr lang="en-US"/>
              <a:t>Program will expand to multiple states that we already have programs in once successful </a:t>
            </a:r>
          </a:p>
          <a:p>
            <a:pPr lvl="1"/>
            <a:r>
              <a:rPr lang="en-US"/>
              <a:t>Use Michigan as a pilot case then pitch its success internally to APTIM and approve it for the next state</a:t>
            </a:r>
          </a:p>
          <a:p>
            <a:pPr lvl="2"/>
            <a:r>
              <a:rPr lang="en-US"/>
              <a:t>Cali, Wisconsin, Louisiana, North Carolina</a:t>
            </a:r>
          </a:p>
          <a:p>
            <a:pPr lvl="2"/>
            <a:endParaRPr lang="en-US"/>
          </a:p>
          <a:p>
            <a:r>
              <a:rPr lang="en-US"/>
              <a:t>Possible updates</a:t>
            </a:r>
          </a:p>
        </p:txBody>
      </p:sp>
      <p:sp>
        <p:nvSpPr>
          <p:cNvPr id="4" name="Footer Placeholder 3">
            <a:extLst>
              <a:ext uri="{FF2B5EF4-FFF2-40B4-BE49-F238E27FC236}">
                <a16:creationId xmlns:a16="http://schemas.microsoft.com/office/drawing/2014/main" id="{0F398C98-03E6-94C1-75D5-49F5F8482AD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30E6C8E-5C79-218B-34A6-A5742B678C80}"/>
              </a:ext>
            </a:extLst>
          </p:cNvPr>
          <p:cNvSpPr>
            <a:spLocks noGrp="1"/>
          </p:cNvSpPr>
          <p:nvPr>
            <p:ph type="sldNum" sz="quarter" idx="12"/>
          </p:nvPr>
        </p:nvSpPr>
        <p:spPr/>
        <p:txBody>
          <a:bodyPr/>
          <a:lstStyle/>
          <a:p>
            <a:fld id="{F8F6B9CD-BE6B-498B-93B3-0FAD7ADE75E3}" type="slidenum">
              <a:rPr lang="en-US" smtClean="0"/>
              <a:t>36</a:t>
            </a:fld>
            <a:endParaRPr lang="en-US"/>
          </a:p>
        </p:txBody>
      </p:sp>
    </p:spTree>
    <p:extLst>
      <p:ext uri="{BB962C8B-B14F-4D97-AF65-F5344CB8AC3E}">
        <p14:creationId xmlns:p14="http://schemas.microsoft.com/office/powerpoint/2010/main" val="164740012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002856"/>
                </a:solidFill>
              </a:rPr>
              <a:t>Client Use Case: Why Michigan?</a:t>
            </a:r>
            <a:r>
              <a:rPr lang="en-US">
                <a:solidFill>
                  <a:srgbClr val="002856"/>
                </a:solidFill>
              </a:rPr>
              <a:t> (update/fix)</a:t>
            </a:r>
            <a:endParaRPr>
              <a:solidFill>
                <a:srgbClr val="002856"/>
              </a:solidFill>
            </a:endParaRPr>
          </a:p>
        </p:txBody>
      </p:sp>
      <p:sp>
        <p:nvSpPr>
          <p:cNvPr id="3" name="TextBox 2"/>
          <p:cNvSpPr txBox="1"/>
          <p:nvPr/>
        </p:nvSpPr>
        <p:spPr>
          <a:xfrm>
            <a:off x="457200" y="914400"/>
            <a:ext cx="11247120" cy="365760"/>
          </a:xfrm>
          <a:prstGeom prst="rect">
            <a:avLst/>
          </a:prstGeom>
          <a:noFill/>
        </p:spPr>
        <p:txBody>
          <a:bodyPr wrap="square">
            <a:spAutoFit/>
          </a:bodyPr>
          <a:lstStyle/>
          <a:p>
            <a:r>
              <a:rPr sz="1300" i="1">
                <a:solidFill>
                  <a:srgbClr val="404040"/>
                </a:solidFill>
                <a:latin typeface="Arial"/>
              </a:rPr>
              <a:t>Michigan presents the strongest combination of regulatory need, storage demand, and pilot feasibility.</a:t>
            </a:r>
          </a:p>
        </p:txBody>
      </p:sp>
      <p:sp>
        <p:nvSpPr>
          <p:cNvPr id="4" name="Rounded Rectangle 3"/>
          <p:cNvSpPr/>
          <p:nvPr/>
        </p:nvSpPr>
        <p:spPr>
          <a:xfrm>
            <a:off x="457200" y="1508760"/>
            <a:ext cx="5410047" cy="393192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tIns="228600" rIns="228600" rtlCol="0" anchor="ctr"/>
          <a:lstStyle/>
          <a:p>
            <a:pPr algn="ctr">
              <a:spcAft>
                <a:spcPts val="1000"/>
              </a:spcAft>
            </a:pPr>
            <a:r>
              <a:rPr sz="1800" b="1">
                <a:solidFill>
                  <a:srgbClr val="FFB71B"/>
                </a:solidFill>
                <a:latin typeface="Arial"/>
              </a:rPr>
              <a:t>Why Michigan?</a:t>
            </a:r>
            <a:endParaRPr lang="en-US" b="1">
              <a:solidFill>
                <a:srgbClr val="FFB71B"/>
              </a:solidFill>
              <a:latin typeface="Arial"/>
            </a:endParaRPr>
          </a:p>
          <a:p>
            <a:pPr>
              <a:spcAft>
                <a:spcPts val="1000"/>
              </a:spcAft>
            </a:pPr>
            <a:r>
              <a:rPr sz="1400" b="1">
                <a:solidFill>
                  <a:srgbClr val="FFB71B"/>
                </a:solidFill>
                <a:latin typeface="Arial"/>
              </a:rPr>
              <a:t>✓  </a:t>
            </a:r>
            <a:r>
              <a:rPr sz="1400">
                <a:solidFill>
                  <a:srgbClr val="FFFFFF"/>
                </a:solidFill>
                <a:latin typeface="Arial"/>
              </a:rPr>
              <a:t>2,500 MW statewide storage target</a:t>
            </a:r>
          </a:p>
          <a:p>
            <a:pPr>
              <a:spcAft>
                <a:spcPts val="1000"/>
              </a:spcAft>
            </a:pPr>
            <a:r>
              <a:rPr sz="1400" b="1">
                <a:solidFill>
                  <a:srgbClr val="FFB71B"/>
                </a:solidFill>
                <a:latin typeface="Arial"/>
              </a:rPr>
              <a:t>✓  </a:t>
            </a:r>
            <a:r>
              <a:rPr sz="1400">
                <a:solidFill>
                  <a:srgbClr val="FFFFFF"/>
                </a:solidFill>
                <a:latin typeface="Arial"/>
              </a:rPr>
              <a:t>DTE identified 850+ MW storage need</a:t>
            </a:r>
          </a:p>
          <a:p>
            <a:pPr>
              <a:spcAft>
                <a:spcPts val="1000"/>
              </a:spcAft>
            </a:pPr>
            <a:r>
              <a:rPr sz="1400" b="1">
                <a:solidFill>
                  <a:srgbClr val="FFB71B"/>
                </a:solidFill>
                <a:latin typeface="Arial"/>
              </a:rPr>
              <a:t>✓  </a:t>
            </a:r>
            <a:r>
              <a:rPr sz="1400">
                <a:solidFill>
                  <a:srgbClr val="FFFFFF"/>
                </a:solidFill>
                <a:latin typeface="Arial"/>
              </a:rPr>
              <a:t>Growing demand from electrification and data centers</a:t>
            </a:r>
          </a:p>
          <a:p>
            <a:pPr>
              <a:spcAft>
                <a:spcPts val="1000"/>
              </a:spcAft>
            </a:pPr>
            <a:r>
              <a:rPr sz="1400" b="1">
                <a:solidFill>
                  <a:srgbClr val="FFB71B"/>
                </a:solidFill>
                <a:latin typeface="Arial"/>
              </a:rPr>
              <a:t>✓  </a:t>
            </a:r>
            <a:r>
              <a:rPr sz="1400">
                <a:solidFill>
                  <a:srgbClr val="FFFFFF"/>
                </a:solidFill>
                <a:latin typeface="Arial"/>
              </a:rPr>
              <a:t>Utility-scale battery deployment already underway</a:t>
            </a:r>
          </a:p>
        </p:txBody>
      </p:sp>
      <p:sp>
        <p:nvSpPr>
          <p:cNvPr id="5" name="Rounded Rectangle 4"/>
          <p:cNvSpPr/>
          <p:nvPr/>
        </p:nvSpPr>
        <p:spPr>
          <a:xfrm>
            <a:off x="6324447" y="1508760"/>
            <a:ext cx="5410047" cy="3931920"/>
          </a:xfrm>
          <a:prstGeom prst="roundRect">
            <a:avLst>
              <a:gd name="adj" fmla="val 6000"/>
            </a:avLst>
          </a:prstGeom>
          <a:solidFill>
            <a:srgbClr val="00A19B"/>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tIns="228600" rIns="228600" rtlCol="0" anchor="ctr"/>
          <a:lstStyle/>
          <a:p>
            <a:pPr algn="ctr">
              <a:spcAft>
                <a:spcPts val="1000"/>
              </a:spcAft>
            </a:pPr>
            <a:r>
              <a:rPr sz="1800" b="1">
                <a:solidFill>
                  <a:srgbClr val="FFFFFF"/>
                </a:solidFill>
                <a:latin typeface="Arial"/>
              </a:rPr>
              <a:t>Why Ann Arbor?</a:t>
            </a:r>
            <a:endParaRPr lang="en-US" sz="1800" b="1">
              <a:solidFill>
                <a:srgbClr val="FFFFFF"/>
              </a:solidFill>
              <a:latin typeface="Arial"/>
            </a:endParaRPr>
          </a:p>
          <a:p>
            <a:pPr>
              <a:spcAft>
                <a:spcPts val="1000"/>
              </a:spcAft>
            </a:pPr>
            <a:r>
              <a:rPr sz="1400" b="1">
                <a:solidFill>
                  <a:srgbClr val="E8FFFC"/>
                </a:solidFill>
                <a:latin typeface="Arial"/>
              </a:rPr>
              <a:t>✓  </a:t>
            </a:r>
            <a:r>
              <a:rPr sz="1400">
                <a:solidFill>
                  <a:srgbClr val="FFFFFF"/>
                </a:solidFill>
                <a:latin typeface="Arial"/>
              </a:rPr>
              <a:t>DTE service territory</a:t>
            </a:r>
          </a:p>
          <a:p>
            <a:pPr>
              <a:spcAft>
                <a:spcPts val="1000"/>
              </a:spcAft>
            </a:pPr>
            <a:r>
              <a:rPr sz="1400" b="1">
                <a:solidFill>
                  <a:srgbClr val="E8FFFC"/>
                </a:solidFill>
                <a:latin typeface="Arial"/>
              </a:rPr>
              <a:t>✓  </a:t>
            </a:r>
            <a:r>
              <a:rPr sz="1400">
                <a:solidFill>
                  <a:srgbClr val="FFFFFF"/>
                </a:solidFill>
                <a:latin typeface="Arial"/>
              </a:rPr>
              <a:t>50,000+ households</a:t>
            </a:r>
          </a:p>
          <a:p>
            <a:pPr>
              <a:spcAft>
                <a:spcPts val="1000"/>
              </a:spcAft>
            </a:pPr>
            <a:r>
              <a:rPr sz="1400" b="1">
                <a:solidFill>
                  <a:srgbClr val="E8FFFC"/>
                </a:solidFill>
                <a:latin typeface="Arial"/>
              </a:rPr>
              <a:t>✓  </a:t>
            </a:r>
            <a:r>
              <a:rPr sz="1400">
                <a:solidFill>
                  <a:srgbClr val="FFFFFF"/>
                </a:solidFill>
                <a:latin typeface="Arial"/>
              </a:rPr>
              <a:t>Strong sustainability culture</a:t>
            </a:r>
          </a:p>
          <a:p>
            <a:pPr>
              <a:spcAft>
                <a:spcPts val="1000"/>
              </a:spcAft>
            </a:pPr>
            <a:r>
              <a:rPr sz="1400" b="1">
                <a:solidFill>
                  <a:srgbClr val="E8FFFC"/>
                </a:solidFill>
                <a:latin typeface="Arial"/>
              </a:rPr>
              <a:t>✓  </a:t>
            </a:r>
            <a:r>
              <a:rPr sz="1400">
                <a:solidFill>
                  <a:srgbClr val="FFFFFF"/>
                </a:solidFill>
                <a:latin typeface="Arial"/>
              </a:rPr>
              <a:t>High solar adoption potential</a:t>
            </a:r>
          </a:p>
          <a:p>
            <a:pPr>
              <a:spcAft>
                <a:spcPts val="1000"/>
              </a:spcAft>
            </a:pPr>
            <a:r>
              <a:rPr sz="1400" b="1">
                <a:solidFill>
                  <a:srgbClr val="E8FFFC"/>
                </a:solidFill>
                <a:latin typeface="Arial"/>
              </a:rPr>
              <a:t>✓  </a:t>
            </a:r>
            <a:r>
              <a:rPr sz="1400">
                <a:solidFill>
                  <a:srgbClr val="FFFFFF"/>
                </a:solidFill>
                <a:latin typeface="Arial"/>
              </a:rPr>
              <a:t>Pilot participation target = ~1% of households</a:t>
            </a:r>
          </a:p>
        </p:txBody>
      </p:sp>
      <p:sp>
        <p:nvSpPr>
          <p:cNvPr id="6" name="Rounded Rectangle 5"/>
          <p:cNvSpPr/>
          <p:nvPr/>
        </p:nvSpPr>
        <p:spPr>
          <a:xfrm>
            <a:off x="457200" y="5623560"/>
            <a:ext cx="11247120" cy="777240"/>
          </a:xfrm>
          <a:prstGeom prst="roundRect">
            <a:avLst>
              <a:gd name="adj" fmla="val 6000"/>
            </a:avLst>
          </a:prstGeom>
          <a:solidFill>
            <a:srgbClr val="FF8200"/>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ctr"/>
            <a:r>
              <a:rPr lang="en-US" sz="1400" b="1">
                <a:solidFill>
                  <a:srgbClr val="FFFFFF"/>
                </a:solidFill>
                <a:latin typeface="Arial"/>
              </a:rPr>
              <a:t>Ann Arbor was selected to maximize pilot success, generate operational data, and reduce deployment risk before broader expansion</a:t>
            </a:r>
            <a:endParaRPr sz="1400" b="1">
              <a:solidFill>
                <a:srgbClr val="FFFFFF"/>
              </a:solidFill>
              <a:latin typeface="Arial"/>
            </a:endParaRPr>
          </a:p>
        </p:txBody>
      </p:sp>
      <p:sp>
        <p:nvSpPr>
          <p:cNvPr id="7" name="TextBox 6"/>
          <p:cNvSpPr txBox="1"/>
          <p:nvPr/>
        </p:nvSpPr>
        <p:spPr>
          <a:xfrm>
            <a:off x="3657600" y="6583680"/>
            <a:ext cx="5760720"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8" name="TextBox 7"/>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15</a:t>
            </a:r>
          </a:p>
        </p:txBody>
      </p:sp>
    </p:spTree>
    <p:extLst>
      <p:ext uri="{BB962C8B-B14F-4D97-AF65-F5344CB8AC3E}">
        <p14:creationId xmlns:p14="http://schemas.microsoft.com/office/powerpoint/2010/main" val="20556234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002856"/>
                </a:solidFill>
              </a:rPr>
              <a:t>Michigan Pilot Deployment Model</a:t>
            </a:r>
            <a:r>
              <a:rPr lang="en-US">
                <a:solidFill>
                  <a:srgbClr val="002856"/>
                </a:solidFill>
              </a:rPr>
              <a:t> (update/fix)</a:t>
            </a:r>
            <a:endParaRPr>
              <a:solidFill>
                <a:srgbClr val="002856"/>
              </a:solidFill>
            </a:endParaRPr>
          </a:p>
        </p:txBody>
      </p:sp>
      <p:sp>
        <p:nvSpPr>
          <p:cNvPr id="4" name="Rounded Rectangle 3"/>
          <p:cNvSpPr/>
          <p:nvPr/>
        </p:nvSpPr>
        <p:spPr>
          <a:xfrm>
            <a:off x="365760" y="1417320"/>
            <a:ext cx="2514600" cy="4069080"/>
          </a:xfrm>
          <a:prstGeom prst="roundRect">
            <a:avLst>
              <a:gd name="adj" fmla="val 6000"/>
            </a:avLst>
          </a:prstGeom>
          <a:solidFill>
            <a:srgbClr val="F4F6F9"/>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164592" tIns="164592" rIns="109728" rtlCol="0" anchor="ctr"/>
          <a:lstStyle/>
          <a:p>
            <a:pPr algn="ctr">
              <a:spcAft>
                <a:spcPts val="700"/>
              </a:spcAft>
            </a:pPr>
            <a:r>
              <a:rPr sz="1600" b="1">
                <a:solidFill>
                  <a:srgbClr val="002856"/>
                </a:solidFill>
                <a:latin typeface="Arial"/>
              </a:rPr>
              <a:t>Participant
Requirements</a:t>
            </a:r>
            <a:endParaRPr lang="en-US" sz="1600" b="1">
              <a:solidFill>
                <a:srgbClr val="002856"/>
              </a:solidFill>
              <a:latin typeface="Arial"/>
            </a:endParaRPr>
          </a:p>
          <a:p>
            <a:pPr algn="ctr">
              <a:spcAft>
                <a:spcPts val="700"/>
              </a:spcAft>
            </a:pPr>
            <a:endParaRPr lang="en-US" sz="1300" b="1">
              <a:solidFill>
                <a:srgbClr val="002856"/>
              </a:solidFill>
              <a:latin typeface="Arial"/>
            </a:endParaRPr>
          </a:p>
          <a:p>
            <a:pPr>
              <a:spcAft>
                <a:spcPts val="700"/>
              </a:spcAft>
            </a:pPr>
            <a:r>
              <a:rPr sz="1100" b="1">
                <a:solidFill>
                  <a:srgbClr val="FF8200"/>
                </a:solidFill>
                <a:latin typeface="Arial"/>
              </a:rPr>
              <a:t>•  </a:t>
            </a:r>
            <a:r>
              <a:rPr sz="1100">
                <a:solidFill>
                  <a:srgbClr val="404040"/>
                </a:solidFill>
                <a:latin typeface="Arial"/>
              </a:rPr>
              <a:t>DTE customer</a:t>
            </a:r>
          </a:p>
          <a:p>
            <a:pPr>
              <a:spcAft>
                <a:spcPts val="700"/>
              </a:spcAft>
            </a:pPr>
            <a:r>
              <a:rPr sz="1100" b="1">
                <a:solidFill>
                  <a:srgbClr val="FF8200"/>
                </a:solidFill>
                <a:latin typeface="Arial"/>
              </a:rPr>
              <a:t>•  </a:t>
            </a:r>
            <a:r>
              <a:rPr sz="1100">
                <a:solidFill>
                  <a:srgbClr val="404040"/>
                </a:solidFill>
                <a:latin typeface="Arial"/>
              </a:rPr>
              <a:t>Owner occupied</a:t>
            </a:r>
          </a:p>
          <a:p>
            <a:pPr>
              <a:spcAft>
                <a:spcPts val="700"/>
              </a:spcAft>
            </a:pPr>
            <a:r>
              <a:rPr sz="1100" b="1">
                <a:solidFill>
                  <a:srgbClr val="FF8200"/>
                </a:solidFill>
                <a:latin typeface="Arial"/>
              </a:rPr>
              <a:t>•  </a:t>
            </a:r>
            <a:r>
              <a:rPr sz="1100">
                <a:solidFill>
                  <a:srgbClr val="404040"/>
                </a:solidFill>
                <a:latin typeface="Arial"/>
              </a:rPr>
              <a:t>Suitable roof condition</a:t>
            </a:r>
          </a:p>
          <a:p>
            <a:pPr>
              <a:spcAft>
                <a:spcPts val="700"/>
              </a:spcAft>
            </a:pPr>
            <a:r>
              <a:rPr sz="1100" b="1">
                <a:solidFill>
                  <a:srgbClr val="FF8200"/>
                </a:solidFill>
                <a:latin typeface="Arial"/>
              </a:rPr>
              <a:t>•  </a:t>
            </a:r>
            <a:r>
              <a:rPr sz="1100">
                <a:solidFill>
                  <a:srgbClr val="404040"/>
                </a:solidFill>
                <a:latin typeface="Arial"/>
              </a:rPr>
              <a:t>Minimal shading</a:t>
            </a:r>
          </a:p>
          <a:p>
            <a:pPr>
              <a:spcAft>
                <a:spcPts val="700"/>
              </a:spcAft>
            </a:pPr>
            <a:r>
              <a:rPr sz="1100" b="1">
                <a:solidFill>
                  <a:srgbClr val="FF8200"/>
                </a:solidFill>
                <a:latin typeface="Arial"/>
              </a:rPr>
              <a:t>•  </a:t>
            </a:r>
            <a:r>
              <a:rPr sz="1100">
                <a:solidFill>
                  <a:srgbClr val="404040"/>
                </a:solidFill>
                <a:latin typeface="Arial"/>
              </a:rPr>
              <a:t>South-facing roof preferred</a:t>
            </a:r>
          </a:p>
          <a:p>
            <a:pPr>
              <a:spcAft>
                <a:spcPts val="700"/>
              </a:spcAft>
            </a:pPr>
            <a:r>
              <a:rPr sz="1100" b="1">
                <a:solidFill>
                  <a:srgbClr val="FF8200"/>
                </a:solidFill>
                <a:latin typeface="Arial"/>
              </a:rPr>
              <a:t>•  </a:t>
            </a:r>
            <a:r>
              <a:rPr sz="1100">
                <a:solidFill>
                  <a:srgbClr val="404040"/>
                </a:solidFill>
                <a:latin typeface="Arial"/>
              </a:rPr>
              <a:t>Long-term residency likelihood</a:t>
            </a:r>
          </a:p>
        </p:txBody>
      </p:sp>
      <p:sp>
        <p:nvSpPr>
          <p:cNvPr id="5" name="Rounded Rectangle 4"/>
          <p:cNvSpPr/>
          <p:nvPr/>
        </p:nvSpPr>
        <p:spPr>
          <a:xfrm>
            <a:off x="9311335" y="1417320"/>
            <a:ext cx="2514600" cy="4069080"/>
          </a:xfrm>
          <a:prstGeom prst="roundRect">
            <a:avLst>
              <a:gd name="adj" fmla="val 6000"/>
            </a:avLst>
          </a:prstGeom>
          <a:solidFill>
            <a:srgbClr val="F4F6F9"/>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164592" tIns="164592" rIns="109728" rtlCol="0" anchor="ctr"/>
          <a:lstStyle/>
          <a:p>
            <a:pPr algn="ctr">
              <a:spcAft>
                <a:spcPts val="700"/>
              </a:spcAft>
            </a:pPr>
            <a:r>
              <a:rPr sz="1600" b="1">
                <a:solidFill>
                  <a:srgbClr val="002856"/>
                </a:solidFill>
                <a:latin typeface="Arial"/>
              </a:rPr>
              <a:t>Pilot
Specifications</a:t>
            </a:r>
            <a:endParaRPr lang="en-US" sz="1600" b="1">
              <a:solidFill>
                <a:srgbClr val="002856"/>
              </a:solidFill>
              <a:latin typeface="Arial"/>
            </a:endParaRPr>
          </a:p>
          <a:p>
            <a:pPr algn="ctr">
              <a:spcAft>
                <a:spcPts val="700"/>
              </a:spcAft>
            </a:pPr>
            <a:endParaRPr lang="en-US" sz="1300" b="1">
              <a:solidFill>
                <a:srgbClr val="002856"/>
              </a:solidFill>
              <a:latin typeface="Arial"/>
            </a:endParaRPr>
          </a:p>
          <a:p>
            <a:pPr>
              <a:spcAft>
                <a:spcPts val="700"/>
              </a:spcAft>
            </a:pPr>
            <a:r>
              <a:rPr sz="1100" b="1">
                <a:solidFill>
                  <a:srgbClr val="FF8200"/>
                </a:solidFill>
                <a:latin typeface="Arial"/>
              </a:rPr>
              <a:t>•  </a:t>
            </a:r>
            <a:r>
              <a:rPr sz="1100">
                <a:solidFill>
                  <a:srgbClr val="404040"/>
                </a:solidFill>
                <a:latin typeface="Arial"/>
              </a:rPr>
              <a:t>500 qualified homes</a:t>
            </a:r>
          </a:p>
          <a:p>
            <a:pPr>
              <a:spcAft>
                <a:spcPts val="700"/>
              </a:spcAft>
            </a:pPr>
            <a:r>
              <a:rPr sz="1100" b="1">
                <a:solidFill>
                  <a:srgbClr val="FF8200"/>
                </a:solidFill>
                <a:latin typeface="Arial"/>
              </a:rPr>
              <a:t>•  </a:t>
            </a:r>
            <a:r>
              <a:rPr sz="1100">
                <a:solidFill>
                  <a:srgbClr val="404040"/>
                </a:solidFill>
                <a:latin typeface="Arial"/>
              </a:rPr>
              <a:t>6 kW solar / home</a:t>
            </a:r>
          </a:p>
          <a:p>
            <a:pPr>
              <a:spcAft>
                <a:spcPts val="700"/>
              </a:spcAft>
            </a:pPr>
            <a:r>
              <a:rPr sz="1100" b="1">
                <a:solidFill>
                  <a:srgbClr val="FF8200"/>
                </a:solidFill>
                <a:latin typeface="Arial"/>
              </a:rPr>
              <a:t>•  </a:t>
            </a:r>
            <a:r>
              <a:rPr sz="1100">
                <a:solidFill>
                  <a:srgbClr val="404040"/>
                </a:solidFill>
                <a:latin typeface="Arial"/>
              </a:rPr>
              <a:t>15 kWh battery / home</a:t>
            </a:r>
          </a:p>
          <a:p>
            <a:pPr>
              <a:spcAft>
                <a:spcPts val="700"/>
              </a:spcAft>
            </a:pPr>
            <a:r>
              <a:rPr sz="1100" b="1">
                <a:solidFill>
                  <a:srgbClr val="FF8200"/>
                </a:solidFill>
                <a:latin typeface="Arial"/>
              </a:rPr>
              <a:t>•  </a:t>
            </a:r>
            <a:r>
              <a:rPr sz="1100">
                <a:solidFill>
                  <a:srgbClr val="404040"/>
                </a:solidFill>
                <a:latin typeface="Arial"/>
              </a:rPr>
              <a:t>3-year pilot</a:t>
            </a:r>
          </a:p>
          <a:p>
            <a:pPr>
              <a:spcAft>
                <a:spcPts val="700"/>
              </a:spcAft>
            </a:pPr>
            <a:r>
              <a:rPr sz="1100" b="1">
                <a:solidFill>
                  <a:srgbClr val="FF8200"/>
                </a:solidFill>
                <a:latin typeface="Arial"/>
              </a:rPr>
              <a:t>•  </a:t>
            </a:r>
            <a:r>
              <a:rPr sz="1100">
                <a:solidFill>
                  <a:srgbClr val="404040"/>
                </a:solidFill>
                <a:latin typeface="Arial"/>
              </a:rPr>
              <a:t>Utility-owned assets</a:t>
            </a:r>
          </a:p>
        </p:txBody>
      </p:sp>
      <p:sp>
        <p:nvSpPr>
          <p:cNvPr id="6" name="TextBox 5"/>
          <p:cNvSpPr txBox="1"/>
          <p:nvPr/>
        </p:nvSpPr>
        <p:spPr>
          <a:xfrm>
            <a:off x="3200400" y="2468880"/>
            <a:ext cx="5790895" cy="320040"/>
          </a:xfrm>
          <a:prstGeom prst="rect">
            <a:avLst/>
          </a:prstGeom>
          <a:noFill/>
        </p:spPr>
        <p:txBody>
          <a:bodyPr wrap="none">
            <a:spAutoFit/>
          </a:bodyPr>
          <a:lstStyle/>
          <a:p>
            <a:pPr algn="ctr"/>
            <a:r>
              <a:rPr sz="1100" b="1">
                <a:solidFill>
                  <a:srgbClr val="FF8200"/>
                </a:solidFill>
                <a:latin typeface="Arial"/>
              </a:rPr>
              <a:t>THE PILOT FLOW</a:t>
            </a:r>
          </a:p>
        </p:txBody>
      </p:sp>
      <p:sp>
        <p:nvSpPr>
          <p:cNvPr id="7" name="Chevron 6"/>
          <p:cNvSpPr/>
          <p:nvPr/>
        </p:nvSpPr>
        <p:spPr>
          <a:xfrm>
            <a:off x="3200400" y="2880360"/>
            <a:ext cx="1319113" cy="960120"/>
          </a:xfrm>
          <a:prstGeom prst="chevron">
            <a:avLst>
              <a:gd name="adj" fmla="val 30000"/>
            </a:avLst>
          </a:prstGeom>
          <a:solidFill>
            <a:srgbClr val="002856"/>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050" b="1">
                <a:solidFill>
                  <a:srgbClr val="FFFFFF"/>
                </a:solidFill>
                <a:latin typeface="Arial"/>
              </a:rPr>
              <a:t>DTE Energy</a:t>
            </a:r>
          </a:p>
          <a:p>
            <a:pPr algn="ctr"/>
            <a:r>
              <a:rPr sz="800" i="1">
                <a:solidFill>
                  <a:srgbClr val="FFFFFF"/>
                </a:solidFill>
                <a:latin typeface="Arial"/>
              </a:rPr>
              <a:t>Owns Assets</a:t>
            </a:r>
          </a:p>
        </p:txBody>
      </p:sp>
      <p:sp>
        <p:nvSpPr>
          <p:cNvPr id="8" name="Chevron 7"/>
          <p:cNvSpPr/>
          <p:nvPr/>
        </p:nvSpPr>
        <p:spPr>
          <a:xfrm>
            <a:off x="4318345" y="2880360"/>
            <a:ext cx="1319113" cy="960120"/>
          </a:xfrm>
          <a:prstGeom prst="chevron">
            <a:avLst>
              <a:gd name="adj" fmla="val 30000"/>
            </a:avLst>
          </a:prstGeom>
          <a:solidFill>
            <a:srgbClr val="FF82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050" b="1">
                <a:solidFill>
                  <a:srgbClr val="FFFFFF"/>
                </a:solidFill>
                <a:latin typeface="Arial"/>
              </a:rPr>
              <a:t>APTIM</a:t>
            </a:r>
          </a:p>
          <a:p>
            <a:pPr algn="ctr"/>
            <a:r>
              <a:rPr sz="800" i="1">
                <a:solidFill>
                  <a:srgbClr val="FFFFFF"/>
                </a:solidFill>
                <a:latin typeface="Arial"/>
              </a:rPr>
              <a:t>Administ</a:t>
            </a:r>
            <a:r>
              <a:rPr lang="en-US" sz="800" i="1">
                <a:solidFill>
                  <a:srgbClr val="FFFFFF"/>
                </a:solidFill>
                <a:latin typeface="Arial"/>
              </a:rPr>
              <a:t>er</a:t>
            </a:r>
            <a:r>
              <a:rPr sz="800" i="1">
                <a:solidFill>
                  <a:srgbClr val="FFFFFF"/>
                </a:solidFill>
                <a:latin typeface="Arial"/>
              </a:rPr>
              <a:t>s</a:t>
            </a:r>
          </a:p>
        </p:txBody>
      </p:sp>
      <p:sp>
        <p:nvSpPr>
          <p:cNvPr id="9" name="Chevron 8"/>
          <p:cNvSpPr/>
          <p:nvPr/>
        </p:nvSpPr>
        <p:spPr>
          <a:xfrm>
            <a:off x="5436290" y="2880360"/>
            <a:ext cx="1319113" cy="960120"/>
          </a:xfrm>
          <a:prstGeom prst="chevron">
            <a:avLst>
              <a:gd name="adj" fmla="val 30000"/>
            </a:avLst>
          </a:prstGeom>
          <a:solidFill>
            <a:srgbClr val="3D7CC9"/>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050" b="1">
                <a:solidFill>
                  <a:srgbClr val="FFFFFF"/>
                </a:solidFill>
                <a:latin typeface="Arial"/>
              </a:rPr>
              <a:t>Certified Installers</a:t>
            </a:r>
          </a:p>
        </p:txBody>
      </p:sp>
      <p:sp>
        <p:nvSpPr>
          <p:cNvPr id="10" name="Chevron 9"/>
          <p:cNvSpPr/>
          <p:nvPr/>
        </p:nvSpPr>
        <p:spPr>
          <a:xfrm>
            <a:off x="6322435" y="2880360"/>
            <a:ext cx="1550914" cy="960120"/>
          </a:xfrm>
          <a:prstGeom prst="chevron">
            <a:avLst>
              <a:gd name="adj" fmla="val 30000"/>
            </a:avLst>
          </a:prstGeom>
          <a:solidFill>
            <a:srgbClr val="00A19B"/>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050" b="1">
                <a:solidFill>
                  <a:srgbClr val="FFFFFF"/>
                </a:solidFill>
                <a:latin typeface="Arial"/>
              </a:rPr>
              <a:t>500</a:t>
            </a:r>
            <a:r>
              <a:rPr lang="en-US" sz="1050" b="1">
                <a:solidFill>
                  <a:srgbClr val="FFFFFF"/>
                </a:solidFill>
                <a:latin typeface="Arial"/>
              </a:rPr>
              <a:t> </a:t>
            </a:r>
            <a:r>
              <a:rPr sz="1050" b="1">
                <a:solidFill>
                  <a:srgbClr val="FFFFFF"/>
                </a:solidFill>
                <a:latin typeface="Arial"/>
              </a:rPr>
              <a:t>Homes</a:t>
            </a:r>
          </a:p>
        </p:txBody>
      </p:sp>
      <p:sp>
        <p:nvSpPr>
          <p:cNvPr id="11" name="Chevron 10"/>
          <p:cNvSpPr/>
          <p:nvPr/>
        </p:nvSpPr>
        <p:spPr>
          <a:xfrm>
            <a:off x="7440380" y="2880360"/>
            <a:ext cx="1550914" cy="960120"/>
          </a:xfrm>
          <a:prstGeom prst="chevron">
            <a:avLst>
              <a:gd name="adj" fmla="val 30000"/>
            </a:avLst>
          </a:prstGeom>
          <a:solidFill>
            <a:srgbClr val="A32036"/>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050" b="1">
                <a:solidFill>
                  <a:srgbClr val="FFFFFF"/>
                </a:solidFill>
                <a:latin typeface="Arial"/>
              </a:rPr>
              <a:t>3 MW Solar + 7.5 MWh</a:t>
            </a:r>
          </a:p>
        </p:txBody>
      </p:sp>
      <p:sp>
        <p:nvSpPr>
          <p:cNvPr id="12" name="Rounded Rectangle 11"/>
          <p:cNvSpPr/>
          <p:nvPr/>
        </p:nvSpPr>
        <p:spPr>
          <a:xfrm>
            <a:off x="457200" y="5623560"/>
            <a:ext cx="11247120" cy="77724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ctr"/>
            <a:r>
              <a:rPr sz="1300" b="1">
                <a:solidFill>
                  <a:srgbClr val="FFFFFF"/>
                </a:solidFill>
                <a:latin typeface="Arial"/>
              </a:rPr>
              <a:t>APTIM leverages existing program administration, contractor management, inspection, and reporting capabilities to support DTE-owned distributed energy assets.</a:t>
            </a:r>
          </a:p>
        </p:txBody>
      </p:sp>
      <p:sp>
        <p:nvSpPr>
          <p:cNvPr id="13" name="TextBox 12"/>
          <p:cNvSpPr txBox="1"/>
          <p:nvPr/>
        </p:nvSpPr>
        <p:spPr>
          <a:xfrm>
            <a:off x="3360716" y="6537960"/>
            <a:ext cx="6057603"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14" name="TextBox 13"/>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16</a:t>
            </a:r>
          </a:p>
        </p:txBody>
      </p:sp>
      <p:sp>
        <p:nvSpPr>
          <p:cNvPr id="15" name="Chevron 6">
            <a:extLst>
              <a:ext uri="{FF2B5EF4-FFF2-40B4-BE49-F238E27FC236}">
                <a16:creationId xmlns:a16="http://schemas.microsoft.com/office/drawing/2014/main" id="{FD940902-E366-166E-AA29-AC852237FA35}"/>
              </a:ext>
            </a:extLst>
          </p:cNvPr>
          <p:cNvSpPr/>
          <p:nvPr/>
        </p:nvSpPr>
        <p:spPr>
          <a:xfrm>
            <a:off x="2953513" y="2880360"/>
            <a:ext cx="1550914" cy="960120"/>
          </a:xfrm>
          <a:prstGeom prst="chevron">
            <a:avLst>
              <a:gd name="adj" fmla="val 30000"/>
            </a:avLst>
          </a:prstGeom>
          <a:solidFill>
            <a:srgbClr val="002856"/>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050" b="1">
                <a:solidFill>
                  <a:srgbClr val="FFFFFF"/>
                </a:solidFill>
                <a:latin typeface="Arial"/>
              </a:rPr>
              <a:t>DTE Energy</a:t>
            </a:r>
          </a:p>
          <a:p>
            <a:pPr algn="ctr"/>
            <a:r>
              <a:rPr sz="800" i="1">
                <a:solidFill>
                  <a:srgbClr val="FFFFFF"/>
                </a:solidFill>
                <a:latin typeface="Arial"/>
              </a:rPr>
              <a:t>Owns Assets</a:t>
            </a:r>
          </a:p>
        </p:txBody>
      </p:sp>
      <p:sp>
        <p:nvSpPr>
          <p:cNvPr id="16" name="Chevron 7">
            <a:extLst>
              <a:ext uri="{FF2B5EF4-FFF2-40B4-BE49-F238E27FC236}">
                <a16:creationId xmlns:a16="http://schemas.microsoft.com/office/drawing/2014/main" id="{356814F6-8896-C25C-6AE4-996AD36F2B8C}"/>
              </a:ext>
            </a:extLst>
          </p:cNvPr>
          <p:cNvSpPr/>
          <p:nvPr/>
        </p:nvSpPr>
        <p:spPr>
          <a:xfrm>
            <a:off x="4071458" y="2880360"/>
            <a:ext cx="1550914" cy="960120"/>
          </a:xfrm>
          <a:prstGeom prst="chevron">
            <a:avLst>
              <a:gd name="adj" fmla="val 30000"/>
            </a:avLst>
          </a:prstGeom>
          <a:solidFill>
            <a:srgbClr val="FF82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050" b="1">
                <a:solidFill>
                  <a:srgbClr val="FFFFFF"/>
                </a:solidFill>
                <a:latin typeface="Arial"/>
              </a:rPr>
              <a:t>APTIM</a:t>
            </a:r>
          </a:p>
          <a:p>
            <a:pPr algn="ctr"/>
            <a:r>
              <a:rPr sz="800" i="1">
                <a:solidFill>
                  <a:srgbClr val="FFFFFF"/>
                </a:solidFill>
                <a:latin typeface="Arial"/>
              </a:rPr>
              <a:t>Administ</a:t>
            </a:r>
            <a:r>
              <a:rPr lang="en-US" sz="800" i="1">
                <a:solidFill>
                  <a:srgbClr val="FFFFFF"/>
                </a:solidFill>
                <a:latin typeface="Arial"/>
              </a:rPr>
              <a:t>er</a:t>
            </a:r>
            <a:r>
              <a:rPr sz="800" i="1">
                <a:solidFill>
                  <a:srgbClr val="FFFFFF"/>
                </a:solidFill>
                <a:latin typeface="Arial"/>
              </a:rPr>
              <a:t>s</a:t>
            </a:r>
          </a:p>
        </p:txBody>
      </p:sp>
      <p:sp>
        <p:nvSpPr>
          <p:cNvPr id="17" name="Chevron 8">
            <a:extLst>
              <a:ext uri="{FF2B5EF4-FFF2-40B4-BE49-F238E27FC236}">
                <a16:creationId xmlns:a16="http://schemas.microsoft.com/office/drawing/2014/main" id="{C87636EF-B3A6-42E9-70A3-CD66801EA60B}"/>
              </a:ext>
            </a:extLst>
          </p:cNvPr>
          <p:cNvSpPr/>
          <p:nvPr/>
        </p:nvSpPr>
        <p:spPr>
          <a:xfrm>
            <a:off x="5189403" y="2880360"/>
            <a:ext cx="1550914" cy="960120"/>
          </a:xfrm>
          <a:prstGeom prst="chevron">
            <a:avLst>
              <a:gd name="adj" fmla="val 30000"/>
            </a:avLst>
          </a:prstGeom>
          <a:solidFill>
            <a:srgbClr val="3D7CC9"/>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lang="en-US" sz="1050" b="1">
                <a:solidFill>
                  <a:srgbClr val="FFFFFF"/>
                </a:solidFill>
                <a:latin typeface="Arial"/>
              </a:rPr>
              <a:t>3</a:t>
            </a:r>
            <a:r>
              <a:rPr lang="en-US" sz="1050" b="1" baseline="30000">
                <a:solidFill>
                  <a:srgbClr val="FFFFFF"/>
                </a:solidFill>
                <a:latin typeface="Arial"/>
              </a:rPr>
              <a:t>rd</a:t>
            </a:r>
            <a:r>
              <a:rPr lang="en-US" sz="1050" b="1">
                <a:solidFill>
                  <a:srgbClr val="FFFFFF"/>
                </a:solidFill>
                <a:latin typeface="Arial"/>
              </a:rPr>
              <a:t> Party</a:t>
            </a:r>
          </a:p>
          <a:p>
            <a:pPr algn="ctr"/>
            <a:r>
              <a:rPr sz="1050" b="1">
                <a:solidFill>
                  <a:srgbClr val="FFFFFF"/>
                </a:solidFill>
                <a:latin typeface="Arial"/>
              </a:rPr>
              <a:t>Certified Installers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3CA76-B55D-7C53-05EF-A2D84F2DC277}"/>
              </a:ext>
            </a:extLst>
          </p:cNvPr>
          <p:cNvSpPr>
            <a:spLocks noGrp="1"/>
          </p:cNvSpPr>
          <p:nvPr>
            <p:ph type="title"/>
          </p:nvPr>
        </p:nvSpPr>
        <p:spPr/>
        <p:txBody>
          <a:bodyPr/>
          <a:lstStyle/>
          <a:p>
            <a:r>
              <a:rPr lang="en-US"/>
              <a:t>The Problem </a:t>
            </a:r>
          </a:p>
        </p:txBody>
      </p:sp>
      <p:sp>
        <p:nvSpPr>
          <p:cNvPr id="3" name="Content Placeholder 2">
            <a:extLst>
              <a:ext uri="{FF2B5EF4-FFF2-40B4-BE49-F238E27FC236}">
                <a16:creationId xmlns:a16="http://schemas.microsoft.com/office/drawing/2014/main" id="{962A8EF5-735E-A1F2-4794-491CE0DA626D}"/>
              </a:ext>
            </a:extLst>
          </p:cNvPr>
          <p:cNvSpPr>
            <a:spLocks noGrp="1"/>
          </p:cNvSpPr>
          <p:nvPr>
            <p:ph idx="1"/>
          </p:nvPr>
        </p:nvSpPr>
        <p:spPr/>
        <p:txBody>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a:p>
            <a:endParaRPr lang="en-US"/>
          </a:p>
        </p:txBody>
      </p:sp>
      <p:sp>
        <p:nvSpPr>
          <p:cNvPr id="4" name="Footer Placeholder 3">
            <a:extLst>
              <a:ext uri="{FF2B5EF4-FFF2-40B4-BE49-F238E27FC236}">
                <a16:creationId xmlns:a16="http://schemas.microsoft.com/office/drawing/2014/main" id="{3D9850D2-EADD-C40D-5059-1B37B1B4C3DA}"/>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1C24CFE-0A65-6052-E5D7-4C1214ABE545}"/>
              </a:ext>
            </a:extLst>
          </p:cNvPr>
          <p:cNvSpPr>
            <a:spLocks noGrp="1"/>
          </p:cNvSpPr>
          <p:nvPr>
            <p:ph type="sldNum" sz="quarter" idx="12"/>
          </p:nvPr>
        </p:nvSpPr>
        <p:spPr/>
        <p:txBody>
          <a:bodyPr/>
          <a:lstStyle/>
          <a:p>
            <a:fld id="{F8F6B9CD-BE6B-498B-93B3-0FAD7ADE75E3}" type="slidenum">
              <a:rPr lang="en-US" smtClean="0"/>
              <a:t>39</a:t>
            </a:fld>
            <a:endParaRPr lang="en-US"/>
          </a:p>
        </p:txBody>
      </p:sp>
    </p:spTree>
    <p:extLst>
      <p:ext uri="{BB962C8B-B14F-4D97-AF65-F5344CB8AC3E}">
        <p14:creationId xmlns:p14="http://schemas.microsoft.com/office/powerpoint/2010/main" val="14523151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AD5710-52BA-CD25-A13E-B327218A400D}"/>
              </a:ext>
            </a:extLst>
          </p:cNvPr>
          <p:cNvSpPr>
            <a:spLocks noGrp="1"/>
          </p:cNvSpPr>
          <p:nvPr>
            <p:ph type="title"/>
          </p:nvPr>
        </p:nvSpPr>
        <p:spPr/>
        <p:txBody>
          <a:bodyPr/>
          <a:lstStyle/>
          <a:p>
            <a:r>
              <a:rPr lang="en-US"/>
              <a:t>The Problem </a:t>
            </a:r>
          </a:p>
        </p:txBody>
      </p:sp>
      <p:sp>
        <p:nvSpPr>
          <p:cNvPr id="3" name="Text Placeholder 2">
            <a:extLst>
              <a:ext uri="{FF2B5EF4-FFF2-40B4-BE49-F238E27FC236}">
                <a16:creationId xmlns:a16="http://schemas.microsoft.com/office/drawing/2014/main" id="{B90D45D4-3146-FFB8-54F9-BFE0FD6B2884}"/>
              </a:ext>
            </a:extLst>
          </p:cNvPr>
          <p:cNvSpPr>
            <a:spLocks noGrp="1"/>
          </p:cNvSpPr>
          <p:nvPr>
            <p:ph type="body" idx="1"/>
          </p:nvPr>
        </p:nvSpPr>
        <p:spPr>
          <a:xfrm>
            <a:off x="638049" y="1199342"/>
            <a:ext cx="5157787" cy="301752"/>
          </a:xfrm>
        </p:spPr>
        <p:txBody>
          <a:bodyPr/>
          <a:lstStyle/>
          <a:p>
            <a:r>
              <a:rPr lang="en-US"/>
              <a:t>Growing Expectations</a:t>
            </a:r>
          </a:p>
        </p:txBody>
      </p:sp>
      <p:sp>
        <p:nvSpPr>
          <p:cNvPr id="4" name="Content Placeholder 3">
            <a:extLst>
              <a:ext uri="{FF2B5EF4-FFF2-40B4-BE49-F238E27FC236}">
                <a16:creationId xmlns:a16="http://schemas.microsoft.com/office/drawing/2014/main" id="{245BF68E-8388-BE8E-0C68-932147BB7560}"/>
              </a:ext>
            </a:extLst>
          </p:cNvPr>
          <p:cNvSpPr>
            <a:spLocks noGrp="1"/>
          </p:cNvSpPr>
          <p:nvPr>
            <p:ph sz="half" idx="2"/>
          </p:nvPr>
        </p:nvSpPr>
        <p:spPr>
          <a:xfrm>
            <a:off x="612648" y="1600201"/>
            <a:ext cx="4270247" cy="2258566"/>
          </a:xfrm>
        </p:spPr>
        <p:txBody>
          <a:bodyPr/>
          <a:lstStyle/>
          <a:p>
            <a:r>
              <a:rPr lang="en-US"/>
              <a:t>Energy efficiency</a:t>
            </a:r>
          </a:p>
          <a:p>
            <a:r>
              <a:rPr lang="en-US"/>
              <a:t>Sustainability Initiatives</a:t>
            </a:r>
          </a:p>
          <a:p>
            <a:r>
              <a:rPr lang="en-US"/>
              <a:t>Grid Resilience </a:t>
            </a:r>
          </a:p>
          <a:p>
            <a:r>
              <a:rPr lang="en-US"/>
              <a:t>Electrification </a:t>
            </a:r>
          </a:p>
          <a:p>
            <a:r>
              <a:rPr lang="en-US"/>
              <a:t>Implementation Support</a:t>
            </a:r>
          </a:p>
          <a:p>
            <a:r>
              <a:rPr lang="en-US"/>
              <a:t>Cost Effective Solutions </a:t>
            </a:r>
          </a:p>
        </p:txBody>
      </p:sp>
      <p:sp>
        <p:nvSpPr>
          <p:cNvPr id="5" name="Text Placeholder 4">
            <a:extLst>
              <a:ext uri="{FF2B5EF4-FFF2-40B4-BE49-F238E27FC236}">
                <a16:creationId xmlns:a16="http://schemas.microsoft.com/office/drawing/2014/main" id="{04A2047A-A713-49BD-7AD4-43D2BA199A65}"/>
              </a:ext>
            </a:extLst>
          </p:cNvPr>
          <p:cNvSpPr>
            <a:spLocks noGrp="1"/>
          </p:cNvSpPr>
          <p:nvPr>
            <p:ph type="body" sz="quarter" idx="3"/>
          </p:nvPr>
        </p:nvSpPr>
        <p:spPr/>
        <p:txBody>
          <a:bodyPr/>
          <a:lstStyle/>
          <a:p>
            <a:r>
              <a:rPr lang="en-US"/>
              <a:t>Growing Constraints</a:t>
            </a:r>
          </a:p>
        </p:txBody>
      </p:sp>
      <p:sp>
        <p:nvSpPr>
          <p:cNvPr id="6" name="Content Placeholder 5">
            <a:extLst>
              <a:ext uri="{FF2B5EF4-FFF2-40B4-BE49-F238E27FC236}">
                <a16:creationId xmlns:a16="http://schemas.microsoft.com/office/drawing/2014/main" id="{5FFC6A64-68BF-9BED-55F5-3B106DAF8CE5}"/>
              </a:ext>
            </a:extLst>
          </p:cNvPr>
          <p:cNvSpPr>
            <a:spLocks noGrp="1"/>
          </p:cNvSpPr>
          <p:nvPr>
            <p:ph sz="quarter" idx="4"/>
          </p:nvPr>
        </p:nvSpPr>
        <p:spPr>
          <a:xfrm>
            <a:off x="6388099" y="1600201"/>
            <a:ext cx="4270247" cy="2258566"/>
          </a:xfrm>
        </p:spPr>
        <p:txBody>
          <a:bodyPr/>
          <a:lstStyle/>
          <a:p>
            <a:r>
              <a:rPr lang="en-US"/>
              <a:t>Federal Funding Uncertainty</a:t>
            </a:r>
          </a:p>
          <a:p>
            <a:r>
              <a:rPr lang="en-US"/>
              <a:t>Changing Incentive Structure </a:t>
            </a:r>
          </a:p>
          <a:p>
            <a:r>
              <a:rPr lang="en-US"/>
              <a:t>Operational Complexity </a:t>
            </a:r>
          </a:p>
          <a:p>
            <a:r>
              <a:rPr lang="en-US"/>
              <a:t>Aging Infrastructure </a:t>
            </a:r>
          </a:p>
        </p:txBody>
      </p:sp>
      <p:sp>
        <p:nvSpPr>
          <p:cNvPr id="7" name="Footer Placeholder 6">
            <a:extLst>
              <a:ext uri="{FF2B5EF4-FFF2-40B4-BE49-F238E27FC236}">
                <a16:creationId xmlns:a16="http://schemas.microsoft.com/office/drawing/2014/main" id="{65668E8F-2503-C5E9-2010-F59BE3EF2B69}"/>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894EA1E-021D-2089-CA60-1880278003FA}"/>
              </a:ext>
            </a:extLst>
          </p:cNvPr>
          <p:cNvSpPr>
            <a:spLocks noGrp="1"/>
          </p:cNvSpPr>
          <p:nvPr>
            <p:ph type="sldNum" sz="quarter" idx="12"/>
          </p:nvPr>
        </p:nvSpPr>
        <p:spPr/>
        <p:txBody>
          <a:bodyPr/>
          <a:lstStyle/>
          <a:p>
            <a:fld id="{F8F6B9CD-BE6B-498B-93B3-0FAD7ADE75E3}" type="slidenum">
              <a:rPr lang="en-US" smtClean="0"/>
              <a:t>40</a:t>
            </a:fld>
            <a:endParaRPr lang="en-US"/>
          </a:p>
        </p:txBody>
      </p:sp>
    </p:spTree>
    <p:extLst>
      <p:ext uri="{BB962C8B-B14F-4D97-AF65-F5344CB8AC3E}">
        <p14:creationId xmlns:p14="http://schemas.microsoft.com/office/powerpoint/2010/main" val="175431306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581285B-3A25-DB58-BF5A-E61B75E08621}"/>
              </a:ext>
            </a:extLst>
          </p:cNvPr>
          <p:cNvSpPr>
            <a:spLocks noGrp="1"/>
          </p:cNvSpPr>
          <p:nvPr>
            <p:ph type="title"/>
          </p:nvPr>
        </p:nvSpPr>
        <p:spPr/>
        <p:txBody>
          <a:bodyPr/>
          <a:lstStyle/>
          <a:p>
            <a:endParaRPr lang="en-US"/>
          </a:p>
        </p:txBody>
      </p:sp>
      <p:sp>
        <p:nvSpPr>
          <p:cNvPr id="7" name="Footer Placeholder 6">
            <a:extLst>
              <a:ext uri="{FF2B5EF4-FFF2-40B4-BE49-F238E27FC236}">
                <a16:creationId xmlns:a16="http://schemas.microsoft.com/office/drawing/2014/main" id="{472629F9-D267-B5BC-60C9-F5B0538CCC3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3DC21DB-0E36-5E68-87FD-F048B9D14873}"/>
              </a:ext>
            </a:extLst>
          </p:cNvPr>
          <p:cNvSpPr>
            <a:spLocks noGrp="1"/>
          </p:cNvSpPr>
          <p:nvPr>
            <p:ph type="sldNum" sz="quarter" idx="12"/>
          </p:nvPr>
        </p:nvSpPr>
        <p:spPr/>
        <p:txBody>
          <a:bodyPr/>
          <a:lstStyle/>
          <a:p>
            <a:fld id="{F8F6B9CD-BE6B-498B-93B3-0FAD7ADE75E3}" type="slidenum">
              <a:rPr lang="en-US" smtClean="0"/>
              <a:t>41</a:t>
            </a:fld>
            <a:endParaRPr lang="en-US"/>
          </a:p>
        </p:txBody>
      </p:sp>
      <p:graphicFrame>
        <p:nvGraphicFramePr>
          <p:cNvPr id="10" name="Diagram 9">
            <a:extLst>
              <a:ext uri="{FF2B5EF4-FFF2-40B4-BE49-F238E27FC236}">
                <a16:creationId xmlns:a16="http://schemas.microsoft.com/office/drawing/2014/main" id="{15026CBB-5CD8-DD46-C640-B3B8756D6CED}"/>
              </a:ext>
            </a:extLst>
          </p:cNvPr>
          <p:cNvGraphicFramePr/>
          <p:nvPr>
            <p:extLst>
              <p:ext uri="{D42A27DB-BD31-4B8C-83A1-F6EECF244321}">
                <p14:modId xmlns:p14="http://schemas.microsoft.com/office/powerpoint/2010/main" val="2986449711"/>
              </p:ext>
            </p:extLst>
          </p:nvPr>
        </p:nvGraphicFramePr>
        <p:xfrm>
          <a:off x="2032000" y="1444752"/>
          <a:ext cx="7806944" cy="46935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364047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D3ACE-088E-1AF7-0D95-E6381971A9DA}"/>
              </a:ext>
            </a:extLst>
          </p:cNvPr>
          <p:cNvSpPr>
            <a:spLocks noGrp="1"/>
          </p:cNvSpPr>
          <p:nvPr>
            <p:ph type="title"/>
          </p:nvPr>
        </p:nvSpPr>
        <p:spPr/>
        <p:txBody>
          <a:bodyPr/>
          <a:lstStyle/>
          <a:p>
            <a:r>
              <a:rPr lang="en-US"/>
              <a:t>Project Scope</a:t>
            </a:r>
          </a:p>
        </p:txBody>
      </p:sp>
      <p:sp>
        <p:nvSpPr>
          <p:cNvPr id="3" name="Content Placeholder 2">
            <a:extLst>
              <a:ext uri="{FF2B5EF4-FFF2-40B4-BE49-F238E27FC236}">
                <a16:creationId xmlns:a16="http://schemas.microsoft.com/office/drawing/2014/main" id="{7D8514F4-7669-43A3-2D8D-3BDABCD82F75}"/>
              </a:ext>
            </a:extLst>
          </p:cNvPr>
          <p:cNvSpPr>
            <a:spLocks noGrp="1"/>
          </p:cNvSpPr>
          <p:nvPr>
            <p:ph idx="1"/>
          </p:nvPr>
        </p:nvSpPr>
        <p:spPr>
          <a:xfrm>
            <a:off x="609600" y="1600200"/>
            <a:ext cx="3971544" cy="4686299"/>
          </a:xfrm>
        </p:spPr>
        <p:txBody>
          <a:bodyPr/>
          <a:lstStyle/>
          <a:p>
            <a:r>
              <a:rPr lang="en-US"/>
              <a:t>Scope focus:</a:t>
            </a:r>
          </a:p>
          <a:p>
            <a:pPr marL="0" indent="0">
              <a:buNone/>
            </a:pPr>
            <a:r>
              <a:rPr lang="en-US"/>
              <a:t>-  Assume no invention of new technology!!</a:t>
            </a:r>
          </a:p>
          <a:p>
            <a:r>
              <a:rPr lang="en-US"/>
              <a:t> Us</a:t>
            </a:r>
          </a:p>
          <a:p>
            <a:r>
              <a:rPr lang="en-US"/>
              <a:t>– Focus on a single group (utility, state, county, city, or customer segment)</a:t>
            </a:r>
          </a:p>
          <a:p>
            <a:endParaRPr lang="en-US"/>
          </a:p>
          <a:p>
            <a:r>
              <a:rPr lang="en-US"/>
              <a:t>– Consider solutions that leverage current or APTIM-adjacent capabilities</a:t>
            </a:r>
          </a:p>
          <a:p>
            <a:endParaRPr lang="en-US"/>
          </a:p>
          <a:p>
            <a:r>
              <a:rPr lang="en-US"/>
              <a:t>– Allow for scaling, and should be achievable within the next 1-3 years, accounting for market conditions that may shift.</a:t>
            </a:r>
          </a:p>
          <a:p>
            <a:endParaRPr lang="en-US"/>
          </a:p>
        </p:txBody>
      </p:sp>
      <p:sp>
        <p:nvSpPr>
          <p:cNvPr id="4" name="Footer Placeholder 3">
            <a:extLst>
              <a:ext uri="{FF2B5EF4-FFF2-40B4-BE49-F238E27FC236}">
                <a16:creationId xmlns:a16="http://schemas.microsoft.com/office/drawing/2014/main" id="{A08F9881-9EC2-2725-4516-2730222AE82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E4EE8B6-FE34-61EE-9235-1E7A117F1BF0}"/>
              </a:ext>
            </a:extLst>
          </p:cNvPr>
          <p:cNvSpPr>
            <a:spLocks noGrp="1"/>
          </p:cNvSpPr>
          <p:nvPr>
            <p:ph type="sldNum" sz="quarter" idx="12"/>
          </p:nvPr>
        </p:nvSpPr>
        <p:spPr/>
        <p:txBody>
          <a:bodyPr/>
          <a:lstStyle/>
          <a:p>
            <a:fld id="{F8F6B9CD-BE6B-498B-93B3-0FAD7ADE75E3}" type="slidenum">
              <a:rPr lang="en-US" smtClean="0"/>
              <a:t>42</a:t>
            </a:fld>
            <a:endParaRPr lang="en-US"/>
          </a:p>
        </p:txBody>
      </p:sp>
      <p:graphicFrame>
        <p:nvGraphicFramePr>
          <p:cNvPr id="7" name="Diagram 6">
            <a:extLst>
              <a:ext uri="{FF2B5EF4-FFF2-40B4-BE49-F238E27FC236}">
                <a16:creationId xmlns:a16="http://schemas.microsoft.com/office/drawing/2014/main" id="{998C88D0-1809-1D8C-99F4-8AC1233F43A7}"/>
              </a:ext>
            </a:extLst>
          </p:cNvPr>
          <p:cNvGraphicFramePr/>
          <p:nvPr>
            <p:extLst>
              <p:ext uri="{D42A27DB-BD31-4B8C-83A1-F6EECF244321}">
                <p14:modId xmlns:p14="http://schemas.microsoft.com/office/powerpoint/2010/main" val="2513964316"/>
              </p:ext>
            </p:extLst>
          </p:nvPr>
        </p:nvGraphicFramePr>
        <p:xfrm>
          <a:off x="5458968" y="813816"/>
          <a:ext cx="5376672" cy="532451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695363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3ACC363-0CB5-8DD9-EABF-BEB3A58152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847174-338B-8898-3409-D8B19D702B21}"/>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E01FD7CD-DE41-4FB2-5F6E-A248DAE46ABC}"/>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1E4C203-8212-439F-58BB-948201C573D0}"/>
              </a:ext>
            </a:extLst>
          </p:cNvPr>
          <p:cNvSpPr>
            <a:spLocks noGrp="1"/>
          </p:cNvSpPr>
          <p:nvPr>
            <p:ph type="sldNum" sz="quarter" idx="12"/>
          </p:nvPr>
        </p:nvSpPr>
        <p:spPr/>
        <p:txBody>
          <a:bodyPr/>
          <a:lstStyle/>
          <a:p>
            <a:fld id="{F8F6B9CD-BE6B-498B-93B3-0FAD7ADE75E3}" type="slidenum">
              <a:rPr lang="en-US" smtClean="0"/>
              <a:t>43</a:t>
            </a:fld>
            <a:endParaRPr lang="en-US"/>
          </a:p>
        </p:txBody>
      </p:sp>
      <p:sp>
        <p:nvSpPr>
          <p:cNvPr id="7" name="Rectangle: Rounded Corners 6">
            <a:extLst>
              <a:ext uri="{FF2B5EF4-FFF2-40B4-BE49-F238E27FC236}">
                <a16:creationId xmlns:a16="http://schemas.microsoft.com/office/drawing/2014/main" id="{DF4E33A7-E745-C0CB-B8ED-CB26EF47359A}"/>
              </a:ext>
            </a:extLst>
          </p:cNvPr>
          <p:cNvSpPr/>
          <p:nvPr/>
        </p:nvSpPr>
        <p:spPr>
          <a:xfrm>
            <a:off x="5575137" y="3477291"/>
            <a:ext cx="1041726" cy="80473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52E9A809-1696-990E-7AE5-8C53E529A271}"/>
              </a:ext>
            </a:extLst>
          </p:cNvPr>
          <p:cNvSpPr/>
          <p:nvPr/>
        </p:nvSpPr>
        <p:spPr>
          <a:xfrm>
            <a:off x="7074702"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Expands Into New Markets</a:t>
            </a:r>
          </a:p>
          <a:p>
            <a:pPr algn="r"/>
            <a:r>
              <a:rPr lang="en-US" sz="1600"/>
              <a:t>There is little direct competition providing end-to-end administration of utility-owned residential battery fleets. This positions APTIM to establish a </a:t>
            </a:r>
            <a:r>
              <a:rPr lang="en-US"/>
              <a:t>differentiated</a:t>
            </a:r>
            <a:r>
              <a:rPr lang="en-US" sz="1600"/>
              <a:t> offering within the growing demand response and distributed energy resources market.</a:t>
            </a:r>
          </a:p>
        </p:txBody>
      </p:sp>
      <p:sp>
        <p:nvSpPr>
          <p:cNvPr id="15" name="Rectangle: Rounded Corners 14">
            <a:extLst>
              <a:ext uri="{FF2B5EF4-FFF2-40B4-BE49-F238E27FC236}">
                <a16:creationId xmlns:a16="http://schemas.microsoft.com/office/drawing/2014/main" id="{3EEB4CF0-B6A9-B01C-4975-270D1A8462A0}"/>
              </a:ext>
            </a:extLst>
          </p:cNvPr>
          <p:cNvSpPr/>
          <p:nvPr/>
        </p:nvSpPr>
        <p:spPr>
          <a:xfrm>
            <a:off x="449728"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en-US" sz="2000" b="1"/>
              <a:t>Leverages Existing Capabilities</a:t>
            </a:r>
          </a:p>
          <a:p>
            <a:pPr lvl="0"/>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p:txBody>
      </p:sp>
      <p:sp>
        <p:nvSpPr>
          <p:cNvPr id="16" name="Rectangle: Rounded Corners 15">
            <a:extLst>
              <a:ext uri="{FF2B5EF4-FFF2-40B4-BE49-F238E27FC236}">
                <a16:creationId xmlns:a16="http://schemas.microsoft.com/office/drawing/2014/main" id="{EC30C8C7-F71E-3C7E-B606-E4B9888C3C97}"/>
              </a:ext>
            </a:extLst>
          </p:cNvPr>
          <p:cNvSpPr/>
          <p:nvPr/>
        </p:nvSpPr>
        <p:spPr>
          <a:xfrm>
            <a:off x="7074702"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Creates More Resilient Revenue Streams</a:t>
            </a:r>
          </a:p>
          <a:p>
            <a:pPr algn="r"/>
            <a:r>
              <a:rPr lang="en-US" sz="1600"/>
              <a:t>This program shifts funding away from grants and incentives toward utility infrastructure investments. Reducing reliance on uncertain federal funding creates a more stable revenue source while supporting grid resilience goals.</a:t>
            </a:r>
          </a:p>
        </p:txBody>
      </p:sp>
      <p:sp>
        <p:nvSpPr>
          <p:cNvPr id="17" name="Rectangle: Rounded Corners 16">
            <a:extLst>
              <a:ext uri="{FF2B5EF4-FFF2-40B4-BE49-F238E27FC236}">
                <a16:creationId xmlns:a16="http://schemas.microsoft.com/office/drawing/2014/main" id="{946D30D6-F083-AC84-F938-3626CDA86348}"/>
              </a:ext>
            </a:extLst>
          </p:cNvPr>
          <p:cNvSpPr/>
          <p:nvPr/>
        </p:nvSpPr>
        <p:spPr>
          <a:xfrm>
            <a:off x="449728"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a:t>Scales Through Existing Relationships </a:t>
            </a:r>
          </a:p>
          <a:p>
            <a:r>
              <a:rPr lang="en-US" sz="16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p:txBody>
      </p:sp>
    </p:spTree>
    <p:extLst>
      <p:ext uri="{BB962C8B-B14F-4D97-AF65-F5344CB8AC3E}">
        <p14:creationId xmlns:p14="http://schemas.microsoft.com/office/powerpoint/2010/main" val="213063232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7FC4E-5EB1-9B4A-A64B-43E13F4822BB}"/>
              </a:ext>
            </a:extLst>
          </p:cNvPr>
          <p:cNvSpPr>
            <a:spLocks noGrp="1"/>
          </p:cNvSpPr>
          <p:nvPr>
            <p:ph type="title"/>
          </p:nvPr>
        </p:nvSpPr>
        <p:spPr/>
        <p:txBody>
          <a:bodyPr/>
          <a:lstStyle/>
          <a:p>
            <a:r>
              <a:rPr lang="en-US">
                <a:latin typeface="Arial Black"/>
                <a:cs typeface="Arial"/>
              </a:rPr>
              <a:t>Client Use Case: Michigan </a:t>
            </a:r>
            <a:endParaRPr lang="en-US"/>
          </a:p>
        </p:txBody>
      </p:sp>
      <p:sp>
        <p:nvSpPr>
          <p:cNvPr id="3" name="Content Placeholder 2">
            <a:extLst>
              <a:ext uri="{FF2B5EF4-FFF2-40B4-BE49-F238E27FC236}">
                <a16:creationId xmlns:a16="http://schemas.microsoft.com/office/drawing/2014/main" id="{4807D548-9562-720A-B58C-2EAAF354AACD}"/>
              </a:ext>
            </a:extLst>
          </p:cNvPr>
          <p:cNvSpPr>
            <a:spLocks noGrp="1"/>
          </p:cNvSpPr>
          <p:nvPr>
            <p:ph idx="1"/>
          </p:nvPr>
        </p:nvSpPr>
        <p:spPr/>
        <p:txBody>
          <a:bodyPr vert="horz" lIns="0" tIns="0" rIns="0" bIns="0" rtlCol="0" anchor="t">
            <a:noAutofit/>
          </a:bodyPr>
          <a:lstStyle/>
          <a:p>
            <a:pPr marL="233045" indent="-233045"/>
            <a:r>
              <a:rPr lang="en-US">
                <a:latin typeface="Arial"/>
                <a:cs typeface="Arial"/>
              </a:rPr>
              <a:t>Walk through program implementation in Michigan </a:t>
            </a:r>
          </a:p>
          <a:p>
            <a:pPr marL="233045" indent="-233045"/>
            <a:r>
              <a:rPr lang="en-US">
                <a:latin typeface="Arial"/>
                <a:cs typeface="Arial"/>
              </a:rPr>
              <a:t>1-2 slides</a:t>
            </a:r>
          </a:p>
          <a:p>
            <a:pPr marL="233045" indent="-233045"/>
            <a:r>
              <a:rPr lang="en-US">
                <a:latin typeface="Arial"/>
                <a:cs typeface="Arial"/>
              </a:rPr>
              <a:t>Laws/utility workings, how we would pitch/win the bid</a:t>
            </a:r>
          </a:p>
          <a:p>
            <a:pPr marL="233045" indent="-233045"/>
            <a:r>
              <a:rPr lang="en-US">
                <a:latin typeface="Arial"/>
                <a:cs typeface="Arial"/>
              </a:rPr>
              <a:t>Implementation: third party installers, where the </a:t>
            </a:r>
            <a:r>
              <a:rPr lang="en-US" err="1">
                <a:latin typeface="Arial"/>
                <a:cs typeface="Arial"/>
              </a:rPr>
              <a:t>reseources</a:t>
            </a:r>
            <a:r>
              <a:rPr lang="en-US">
                <a:latin typeface="Arial"/>
                <a:cs typeface="Arial"/>
              </a:rPr>
              <a:t> come from/are paid for</a:t>
            </a:r>
          </a:p>
          <a:p>
            <a:pPr marL="233045" indent="-233045"/>
            <a:r>
              <a:rPr lang="en-US">
                <a:latin typeface="Arial"/>
                <a:cs typeface="Arial"/>
              </a:rPr>
              <a:t>Operation and maintenance: who operates, how often are replacements/duration of program</a:t>
            </a:r>
          </a:p>
          <a:p>
            <a:pPr marL="233045" indent="-233045"/>
            <a:r>
              <a:rPr lang="en-US">
                <a:latin typeface="Arial"/>
                <a:cs typeface="Arial"/>
              </a:rPr>
              <a:t>Cost: money, time, resources, manpower (how many </a:t>
            </a:r>
            <a:r>
              <a:rPr lang="en-US" err="1">
                <a:latin typeface="Arial"/>
                <a:cs typeface="Arial"/>
              </a:rPr>
              <a:t>aptim</a:t>
            </a:r>
            <a:r>
              <a:rPr lang="en-US">
                <a:latin typeface="Arial"/>
                <a:cs typeface="Arial"/>
              </a:rPr>
              <a:t> employees need to be hired?) </a:t>
            </a:r>
          </a:p>
          <a:p>
            <a:pPr marL="233045" indent="-233045"/>
            <a:endParaRPr lang="en-US">
              <a:latin typeface="Arial"/>
              <a:cs typeface="Arial"/>
            </a:endParaRPr>
          </a:p>
          <a:p>
            <a:pPr marL="233045" indent="-233045"/>
            <a:r>
              <a:rPr lang="en-US">
                <a:latin typeface="Arial"/>
                <a:cs typeface="Arial"/>
              </a:rPr>
              <a:t>Example of our service concept in "action"</a:t>
            </a:r>
          </a:p>
          <a:p>
            <a:pPr marL="233045" indent="-233045"/>
            <a:r>
              <a:rPr lang="en-US">
                <a:latin typeface="Arial"/>
                <a:cs typeface="Arial"/>
              </a:rPr>
              <a:t>Interview APTIM people in the same sector/scope of work our idea would be useful for</a:t>
            </a:r>
          </a:p>
          <a:p>
            <a:pPr marL="233045" indent="-233045"/>
            <a:r>
              <a:rPr lang="en-US">
                <a:latin typeface="Arial"/>
                <a:cs typeface="Arial"/>
              </a:rPr>
              <a:t>Maybe get an old case study and apply our idea to it, see how much it would have benefited in the moment</a:t>
            </a:r>
          </a:p>
          <a:p>
            <a:pPr marL="233045" indent="-233045"/>
            <a:endParaRPr lang="en-US"/>
          </a:p>
          <a:p>
            <a:pPr marL="233045" indent="-233045"/>
            <a:r>
              <a:rPr lang="en-US">
                <a:latin typeface="Arial"/>
                <a:cs typeface="Arial"/>
              </a:rPr>
              <a:t>Put example maybe of </a:t>
            </a:r>
            <a:r>
              <a:rPr lang="en-US" err="1">
                <a:latin typeface="Arial"/>
                <a:cs typeface="Arial"/>
              </a:rPr>
              <a:t>california</a:t>
            </a:r>
            <a:r>
              <a:rPr lang="en-US">
                <a:latin typeface="Arial"/>
                <a:cs typeface="Arial"/>
              </a:rPr>
              <a:t> </a:t>
            </a:r>
            <a:endParaRPr lang="en-US"/>
          </a:p>
        </p:txBody>
      </p:sp>
      <p:sp>
        <p:nvSpPr>
          <p:cNvPr id="4" name="Footer Placeholder 3">
            <a:extLst>
              <a:ext uri="{FF2B5EF4-FFF2-40B4-BE49-F238E27FC236}">
                <a16:creationId xmlns:a16="http://schemas.microsoft.com/office/drawing/2014/main" id="{BFB8D1B4-B6F4-79EF-AC5D-0C98DAB17697}"/>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64D3582-8F73-C210-7E9B-C0C156A34FCB}"/>
              </a:ext>
            </a:extLst>
          </p:cNvPr>
          <p:cNvSpPr>
            <a:spLocks noGrp="1"/>
          </p:cNvSpPr>
          <p:nvPr>
            <p:ph type="sldNum" sz="quarter" idx="12"/>
          </p:nvPr>
        </p:nvSpPr>
        <p:spPr/>
        <p:txBody>
          <a:bodyPr/>
          <a:lstStyle/>
          <a:p>
            <a:fld id="{F8F6B9CD-BE6B-498B-93B3-0FAD7ADE75E3}" type="slidenum">
              <a:rPr lang="en-US" smtClean="0"/>
              <a:t>44</a:t>
            </a:fld>
            <a:endParaRPr lang="en-US"/>
          </a:p>
        </p:txBody>
      </p:sp>
    </p:spTree>
    <p:extLst>
      <p:ext uri="{BB962C8B-B14F-4D97-AF65-F5344CB8AC3E}">
        <p14:creationId xmlns:p14="http://schemas.microsoft.com/office/powerpoint/2010/main" val="12628144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24466B-3D64-B88E-EDCF-A21EE2B7CFB7}"/>
              </a:ext>
            </a:extLst>
          </p:cNvPr>
          <p:cNvSpPr>
            <a:spLocks noGrp="1"/>
          </p:cNvSpPr>
          <p:nvPr>
            <p:ph type="title"/>
          </p:nvPr>
        </p:nvSpPr>
        <p:spPr/>
        <p:txBody>
          <a:bodyPr/>
          <a:lstStyle/>
          <a:p>
            <a:r>
              <a:rPr lang="en-US"/>
              <a:t>Client Use – Why Michigan</a:t>
            </a:r>
          </a:p>
        </p:txBody>
      </p:sp>
      <p:sp>
        <p:nvSpPr>
          <p:cNvPr id="3" name="Content Placeholder 2">
            <a:extLst>
              <a:ext uri="{FF2B5EF4-FFF2-40B4-BE49-F238E27FC236}">
                <a16:creationId xmlns:a16="http://schemas.microsoft.com/office/drawing/2014/main" id="{483014B8-B971-64FE-F714-32050272825B}"/>
              </a:ext>
            </a:extLst>
          </p:cNvPr>
          <p:cNvSpPr>
            <a:spLocks noGrp="1"/>
          </p:cNvSpPr>
          <p:nvPr>
            <p:ph idx="1"/>
          </p:nvPr>
        </p:nvSpPr>
        <p:spPr/>
        <p:txBody>
          <a:bodyPr/>
          <a:lstStyle/>
          <a:p>
            <a:pPr fontAlgn="t">
              <a:lnSpc>
                <a:spcPts val="1500"/>
              </a:lnSpc>
              <a:buNone/>
            </a:pPr>
            <a:r>
              <a:rPr lang="en-US" sz="1050" b="1">
                <a:latin typeface="Segoe UI" panose="020B0502040204020203" pitchFamily="34" charset="0"/>
              </a:rPr>
              <a:t>Slide 15</a:t>
            </a:r>
          </a:p>
          <a:p>
            <a:pPr fontAlgn="t">
              <a:lnSpc>
                <a:spcPts val="1500"/>
              </a:lnSpc>
              <a:buNone/>
            </a:pPr>
            <a:r>
              <a:rPr lang="en-US" sz="1050">
                <a:latin typeface="Segoe UI" panose="020B0502040204020203" pitchFamily="34" charset="0"/>
              </a:rPr>
              <a:t>Operational Story</a:t>
            </a:r>
          </a:p>
          <a:p>
            <a:pPr fontAlgn="t">
              <a:lnSpc>
                <a:spcPts val="1500"/>
              </a:lnSpc>
              <a:buNone/>
            </a:pPr>
            <a:r>
              <a:rPr lang="en-US" sz="1050">
                <a:latin typeface="Segoe UI" panose="020B0502040204020203" pitchFamily="34" charset="0"/>
              </a:rPr>
              <a:t>Answer:</a:t>
            </a:r>
          </a:p>
          <a:p>
            <a:pPr fontAlgn="t">
              <a:lnSpc>
                <a:spcPts val="1500"/>
              </a:lnSpc>
              <a:buFont typeface="Arial" panose="020B0604020202020204" pitchFamily="34" charset="0"/>
              <a:buChar char="•"/>
            </a:pPr>
            <a:r>
              <a:rPr lang="en-US" sz="1050">
                <a:latin typeface="Segoe UI" panose="020B0502040204020203" pitchFamily="34" charset="0"/>
              </a:rPr>
              <a:t>Why Michigan?</a:t>
            </a:r>
          </a:p>
          <a:p>
            <a:pPr fontAlgn="t">
              <a:lnSpc>
                <a:spcPts val="1500"/>
              </a:lnSpc>
              <a:buFont typeface="Arial" panose="020B0604020202020204" pitchFamily="34" charset="0"/>
              <a:buChar char="•"/>
            </a:pPr>
            <a:r>
              <a:rPr lang="en-US" sz="1050">
                <a:latin typeface="Segoe UI" panose="020B0502040204020203" pitchFamily="34" charset="0"/>
              </a:rPr>
              <a:t>Why DTE?</a:t>
            </a:r>
          </a:p>
          <a:p>
            <a:pPr fontAlgn="t">
              <a:lnSpc>
                <a:spcPts val="1500"/>
              </a:lnSpc>
              <a:buFont typeface="Arial" panose="020B0604020202020204" pitchFamily="34" charset="0"/>
              <a:buChar char="•"/>
            </a:pPr>
            <a:r>
              <a:rPr lang="en-US" sz="1050">
                <a:latin typeface="Segoe UI" panose="020B0502040204020203" pitchFamily="34" charset="0"/>
              </a:rPr>
              <a:t>Why Ann Arbor?</a:t>
            </a:r>
          </a:p>
          <a:p>
            <a:pPr fontAlgn="t">
              <a:lnSpc>
                <a:spcPts val="1500"/>
              </a:lnSpc>
              <a:buFont typeface="Arial" panose="020B0604020202020204" pitchFamily="34" charset="0"/>
              <a:buChar char="•"/>
            </a:pPr>
            <a:r>
              <a:rPr lang="en-US" sz="1050">
                <a:latin typeface="Segoe UI" panose="020B0502040204020203" pitchFamily="34" charset="0"/>
              </a:rPr>
              <a:t>Who owns the assets?</a:t>
            </a:r>
          </a:p>
          <a:p>
            <a:pPr fontAlgn="t">
              <a:lnSpc>
                <a:spcPts val="1500"/>
              </a:lnSpc>
              <a:buFont typeface="Arial" panose="020B0604020202020204" pitchFamily="34" charset="0"/>
              <a:buChar char="•"/>
            </a:pPr>
            <a:r>
              <a:rPr lang="en-US" sz="1050">
                <a:latin typeface="Segoe UI" panose="020B0502040204020203" pitchFamily="34" charset="0"/>
              </a:rPr>
              <a:t>How many homes?</a:t>
            </a:r>
          </a:p>
          <a:p>
            <a:pPr fontAlgn="t">
              <a:lnSpc>
                <a:spcPts val="1500"/>
              </a:lnSpc>
              <a:buFont typeface="Arial" panose="020B0604020202020204" pitchFamily="34" charset="0"/>
              <a:buChar char="•"/>
            </a:pPr>
            <a:r>
              <a:rPr lang="en-US" sz="1050">
                <a:latin typeface="Segoe UI" panose="020B0502040204020203" pitchFamily="34" charset="0"/>
              </a:rPr>
              <a:t>How does implementation work?</a:t>
            </a:r>
          </a:p>
          <a:p>
            <a:endParaRPr lang="en-US"/>
          </a:p>
        </p:txBody>
      </p:sp>
      <p:sp>
        <p:nvSpPr>
          <p:cNvPr id="4" name="Footer Placeholder 3">
            <a:extLst>
              <a:ext uri="{FF2B5EF4-FFF2-40B4-BE49-F238E27FC236}">
                <a16:creationId xmlns:a16="http://schemas.microsoft.com/office/drawing/2014/main" id="{BF5A6703-102F-DF1B-0850-4CA271F46905}"/>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51BE9309-F5A6-B247-CA67-F31E493E8F9B}"/>
              </a:ext>
            </a:extLst>
          </p:cNvPr>
          <p:cNvSpPr>
            <a:spLocks noGrp="1"/>
          </p:cNvSpPr>
          <p:nvPr>
            <p:ph type="sldNum" sz="quarter" idx="12"/>
          </p:nvPr>
        </p:nvSpPr>
        <p:spPr/>
        <p:txBody>
          <a:bodyPr/>
          <a:lstStyle/>
          <a:p>
            <a:fld id="{F8F6B9CD-BE6B-498B-93B3-0FAD7ADE75E3}" type="slidenum">
              <a:rPr lang="en-US" smtClean="0"/>
              <a:t>45</a:t>
            </a:fld>
            <a:endParaRPr lang="en-US"/>
          </a:p>
        </p:txBody>
      </p:sp>
    </p:spTree>
    <p:extLst>
      <p:ext uri="{BB962C8B-B14F-4D97-AF65-F5344CB8AC3E}">
        <p14:creationId xmlns:p14="http://schemas.microsoft.com/office/powerpoint/2010/main" val="210376804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37904D-EFA7-31D6-0D96-B35D4AAF8C8A}"/>
              </a:ext>
            </a:extLst>
          </p:cNvPr>
          <p:cNvSpPr>
            <a:spLocks noGrp="1"/>
          </p:cNvSpPr>
          <p:nvPr>
            <p:ph type="title"/>
          </p:nvPr>
        </p:nvSpPr>
        <p:spPr/>
        <p:txBody>
          <a:bodyPr/>
          <a:lstStyle/>
          <a:p>
            <a:r>
              <a:rPr lang="en-US"/>
              <a:t>Client Use – The Nitty Gritty </a:t>
            </a:r>
          </a:p>
        </p:txBody>
      </p:sp>
      <p:sp>
        <p:nvSpPr>
          <p:cNvPr id="3" name="Content Placeholder 2">
            <a:extLst>
              <a:ext uri="{FF2B5EF4-FFF2-40B4-BE49-F238E27FC236}">
                <a16:creationId xmlns:a16="http://schemas.microsoft.com/office/drawing/2014/main" id="{A3AA03B0-14CF-4C94-0EDE-43712E5356A5}"/>
              </a:ext>
            </a:extLst>
          </p:cNvPr>
          <p:cNvSpPr>
            <a:spLocks noGrp="1"/>
          </p:cNvSpPr>
          <p:nvPr>
            <p:ph idx="1"/>
          </p:nvPr>
        </p:nvSpPr>
        <p:spPr/>
        <p:txBody>
          <a:bodyPr/>
          <a:lstStyle/>
          <a:p>
            <a:pPr fontAlgn="t">
              <a:lnSpc>
                <a:spcPts val="1500"/>
              </a:lnSpc>
              <a:buFont typeface="Arial" panose="020B0604020202020204" pitchFamily="34" charset="0"/>
              <a:buChar char="•"/>
            </a:pPr>
            <a:r>
              <a:rPr lang="en-US" sz="1050">
                <a:latin typeface="Segoe UI" panose="020B0502040204020203" pitchFamily="34" charset="0"/>
              </a:rPr>
              <a:t>Capital cost</a:t>
            </a:r>
          </a:p>
          <a:p>
            <a:pPr fontAlgn="t">
              <a:lnSpc>
                <a:spcPts val="1500"/>
              </a:lnSpc>
              <a:buFont typeface="Arial" panose="020B0604020202020204" pitchFamily="34" charset="0"/>
              <a:buChar char="•"/>
            </a:pPr>
            <a:r>
              <a:rPr lang="en-US" sz="1050">
                <a:latin typeface="Segoe UI" panose="020B0502040204020203" pitchFamily="34" charset="0"/>
              </a:rPr>
              <a:t>Administrative cost</a:t>
            </a:r>
          </a:p>
          <a:p>
            <a:pPr fontAlgn="t">
              <a:lnSpc>
                <a:spcPts val="1500"/>
              </a:lnSpc>
              <a:buFont typeface="Arial" panose="020B0604020202020204" pitchFamily="34" charset="0"/>
              <a:buChar char="•"/>
            </a:pPr>
            <a:r>
              <a:rPr lang="en-US" sz="1050">
                <a:latin typeface="Segoe UI" panose="020B0502040204020203" pitchFamily="34" charset="0"/>
              </a:rPr>
              <a:t>APTIM revenue</a:t>
            </a:r>
          </a:p>
          <a:p>
            <a:pPr fontAlgn="t">
              <a:lnSpc>
                <a:spcPts val="1500"/>
              </a:lnSpc>
              <a:buFont typeface="Arial" panose="020B0604020202020204" pitchFamily="34" charset="0"/>
              <a:buChar char="•"/>
            </a:pPr>
            <a:r>
              <a:rPr lang="en-US" sz="1050">
                <a:latin typeface="Segoe UI" panose="020B0502040204020203" pitchFamily="34" charset="0"/>
              </a:rPr>
              <a:t>Utility benefits</a:t>
            </a:r>
          </a:p>
          <a:p>
            <a:pPr fontAlgn="t">
              <a:lnSpc>
                <a:spcPts val="1500"/>
              </a:lnSpc>
              <a:buFont typeface="Arial" panose="020B0604020202020204" pitchFamily="34" charset="0"/>
              <a:buChar char="•"/>
            </a:pPr>
            <a:r>
              <a:rPr lang="en-US" sz="1050">
                <a:latin typeface="Segoe UI" panose="020B0502040204020203" pitchFamily="34" charset="0"/>
              </a:rPr>
              <a:t>ROI</a:t>
            </a:r>
          </a:p>
          <a:p>
            <a:pPr fontAlgn="t">
              <a:lnSpc>
                <a:spcPts val="1500"/>
              </a:lnSpc>
              <a:buFont typeface="Arial" panose="020B0604020202020204" pitchFamily="34" charset="0"/>
              <a:buChar char="•"/>
            </a:pPr>
            <a:r>
              <a:rPr lang="en-US" sz="1050">
                <a:latin typeface="Segoe UI" panose="020B0502040204020203" pitchFamily="34" charset="0"/>
              </a:rPr>
              <a:t>Success metrics</a:t>
            </a:r>
          </a:p>
          <a:p>
            <a:pPr fontAlgn="t">
              <a:lnSpc>
                <a:spcPts val="1500"/>
              </a:lnSpc>
              <a:buNone/>
            </a:pPr>
            <a:r>
              <a:rPr lang="en-US" sz="1050">
                <a:latin typeface="Segoe UI" panose="020B0502040204020203" pitchFamily="34" charset="0"/>
              </a:rPr>
              <a:t>Honestly, the financial slide is likely where leadership will spend most of their questions.</a:t>
            </a:r>
          </a:p>
          <a:p>
            <a:endParaRPr lang="en-US"/>
          </a:p>
        </p:txBody>
      </p:sp>
      <p:sp>
        <p:nvSpPr>
          <p:cNvPr id="4" name="Footer Placeholder 3">
            <a:extLst>
              <a:ext uri="{FF2B5EF4-FFF2-40B4-BE49-F238E27FC236}">
                <a16:creationId xmlns:a16="http://schemas.microsoft.com/office/drawing/2014/main" id="{177FD5CE-65FE-3B63-D05D-23F5E31D5C6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B53356C-F443-724D-AF57-2DEA1AA60D26}"/>
              </a:ext>
            </a:extLst>
          </p:cNvPr>
          <p:cNvSpPr>
            <a:spLocks noGrp="1"/>
          </p:cNvSpPr>
          <p:nvPr>
            <p:ph type="sldNum" sz="quarter" idx="12"/>
          </p:nvPr>
        </p:nvSpPr>
        <p:spPr/>
        <p:txBody>
          <a:bodyPr/>
          <a:lstStyle/>
          <a:p>
            <a:fld id="{F8F6B9CD-BE6B-498B-93B3-0FAD7ADE75E3}" type="slidenum">
              <a:rPr lang="en-US" smtClean="0"/>
              <a:t>46</a:t>
            </a:fld>
            <a:endParaRPr lang="en-US"/>
          </a:p>
        </p:txBody>
      </p:sp>
    </p:spTree>
    <p:extLst>
      <p:ext uri="{BB962C8B-B14F-4D97-AF65-F5344CB8AC3E}">
        <p14:creationId xmlns:p14="http://schemas.microsoft.com/office/powerpoint/2010/main" val="206547014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D626C83-D865-5ADB-A5CA-A06D91A678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B034BF-5D27-05A2-A814-9D080042C13B}"/>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0E4E21FD-5434-C8A9-A426-8BE301BAEC25}"/>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818380D7-A65F-58A1-3F02-9E570E969C23}"/>
              </a:ext>
            </a:extLst>
          </p:cNvPr>
          <p:cNvSpPr>
            <a:spLocks noGrp="1"/>
          </p:cNvSpPr>
          <p:nvPr>
            <p:ph type="sldNum" sz="quarter" idx="12"/>
          </p:nvPr>
        </p:nvSpPr>
        <p:spPr/>
        <p:txBody>
          <a:bodyPr/>
          <a:lstStyle/>
          <a:p>
            <a:fld id="{F8F6B9CD-BE6B-498B-93B3-0FAD7ADE75E3}" type="slidenum">
              <a:rPr lang="en-US" smtClean="0"/>
              <a:t>47</a:t>
            </a:fld>
            <a:endParaRPr lang="en-US"/>
          </a:p>
        </p:txBody>
      </p:sp>
      <p:graphicFrame>
        <p:nvGraphicFramePr>
          <p:cNvPr id="6" name="Diagram 5">
            <a:extLst>
              <a:ext uri="{FF2B5EF4-FFF2-40B4-BE49-F238E27FC236}">
                <a16:creationId xmlns:a16="http://schemas.microsoft.com/office/drawing/2014/main" id="{F8C039D1-02F6-4E1E-B1E9-F6D3CD8F33A6}"/>
              </a:ext>
            </a:extLst>
          </p:cNvPr>
          <p:cNvGraphicFramePr/>
          <p:nvPr>
            <p:extLst>
              <p:ext uri="{D42A27DB-BD31-4B8C-83A1-F6EECF244321}">
                <p14:modId xmlns:p14="http://schemas.microsoft.com/office/powerpoint/2010/main" val="1744580376"/>
              </p:ext>
            </p:extLst>
          </p:nvPr>
        </p:nvGraphicFramePr>
        <p:xfrm>
          <a:off x="115821" y="1095612"/>
          <a:ext cx="11960353" cy="53455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035446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F3C5BF-1CE3-5E00-9A6C-61575109B464}"/>
              </a:ext>
            </a:extLst>
          </p:cNvPr>
          <p:cNvSpPr>
            <a:spLocks noGrp="1"/>
          </p:cNvSpPr>
          <p:nvPr>
            <p:ph type="title"/>
          </p:nvPr>
        </p:nvSpPr>
        <p:spPr/>
        <p:txBody>
          <a:bodyPr/>
          <a:lstStyle/>
          <a:p>
            <a:r>
              <a:rPr lang="en-US">
                <a:latin typeface="Arial Black"/>
                <a:cs typeface="Arial"/>
              </a:rPr>
              <a:t>Strategic Fit (fix wording/choose format) </a:t>
            </a:r>
            <a:endParaRPr lang="en-US"/>
          </a:p>
        </p:txBody>
      </p:sp>
      <p:sp>
        <p:nvSpPr>
          <p:cNvPr id="3" name="Content Placeholder 2">
            <a:extLst>
              <a:ext uri="{FF2B5EF4-FFF2-40B4-BE49-F238E27FC236}">
                <a16:creationId xmlns:a16="http://schemas.microsoft.com/office/drawing/2014/main" id="{632696D0-A287-073E-977C-2F77E5DC7769}"/>
              </a:ext>
            </a:extLst>
          </p:cNvPr>
          <p:cNvSpPr>
            <a:spLocks noGrp="1"/>
          </p:cNvSpPr>
          <p:nvPr>
            <p:ph idx="1"/>
          </p:nvPr>
        </p:nvSpPr>
        <p:spPr>
          <a:xfrm>
            <a:off x="609600" y="1169862"/>
            <a:ext cx="10972800" cy="5116638"/>
          </a:xfrm>
        </p:spPr>
        <p:txBody>
          <a:bodyPr vert="horz" lIns="0" tIns="0" rIns="0" bIns="0" rtlCol="0" anchor="t">
            <a:noAutofit/>
          </a:bodyPr>
          <a:lstStyle/>
          <a:p>
            <a:pPr marL="233045" indent="-233045"/>
            <a:r>
              <a:rPr lang="en-US" sz="1600"/>
              <a:t>Leverages Existing Capabilities</a:t>
            </a:r>
          </a:p>
          <a:p>
            <a:pPr marL="574357" lvl="1" indent="-233045"/>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a:p>
            <a:pPr marL="233045" indent="-233045"/>
            <a:r>
              <a:rPr lang="en-US" sz="1600"/>
              <a:t>Expands Into New Markets (update with market research) </a:t>
            </a:r>
          </a:p>
          <a:p>
            <a:pPr marL="574357" lvl="1" indent="-233045"/>
            <a:r>
              <a:rPr lang="en-US">
                <a:solidFill>
                  <a:srgbClr val="424242"/>
                </a:solidFill>
              </a:rPr>
              <a:t>There is little direct competition providing end-to-end administration of utility-owned residential battery fleets. This positions APTIM to establish a differentiated offering within the growing demand response and distributed energy resources market.</a:t>
            </a:r>
            <a:endParaRPr lang="en-US" sz="1400">
              <a:solidFill>
                <a:srgbClr val="424242"/>
              </a:solidFill>
            </a:endParaRPr>
          </a:p>
          <a:p>
            <a:pPr marL="233045" indent="-233045"/>
            <a:r>
              <a:rPr lang="en-US" sz="1600">
                <a:solidFill>
                  <a:srgbClr val="424242"/>
                </a:solidFill>
              </a:rPr>
              <a:t>Scales Through Existing Relationships </a:t>
            </a:r>
          </a:p>
          <a:p>
            <a:pPr marL="574357" lvl="1" indent="-233045"/>
            <a:r>
              <a:rPr lang="en-US" sz="1400">
                <a:solidFill>
                  <a:srgbClr val="424242"/>
                </a:solidFill>
              </a:rPr>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endParaRPr lang="en-US" sz="1200">
              <a:solidFill>
                <a:srgbClr val="424242"/>
              </a:solidFill>
            </a:endParaRPr>
          </a:p>
          <a:p>
            <a:pPr marL="233045" indent="-233045"/>
            <a:r>
              <a:rPr lang="en-US" sz="1600">
                <a:solidFill>
                  <a:srgbClr val="424242"/>
                </a:solidFill>
              </a:rPr>
              <a:t>Creates More Resilient Revenue Streams</a:t>
            </a:r>
          </a:p>
          <a:p>
            <a:pPr marL="574357" lvl="1" indent="-233045"/>
            <a:r>
              <a:rPr lang="en-US" sz="1400">
                <a:solidFill>
                  <a:srgbClr val="424242"/>
                </a:solidFill>
              </a:rPr>
              <a:t>This program shifts funding away from grants and incentives toward utility infrastructure investments. Reducing reliance on uncertain federal funding creates a more stable revenue source while supporting grid resilience goals.</a:t>
            </a:r>
          </a:p>
          <a:p>
            <a:pPr marL="233045" indent="-233045"/>
            <a:r>
              <a:rPr lang="en-US" sz="1600">
                <a:solidFill>
                  <a:srgbClr val="424242"/>
                </a:solidFill>
              </a:rPr>
              <a:t>Bottom Text to highlight point</a:t>
            </a:r>
          </a:p>
          <a:p>
            <a:pPr marL="574357" lvl="1" indent="-233045"/>
            <a:r>
              <a:rPr lang="en-US" b="1">
                <a:solidFill>
                  <a:srgbClr val="424242"/>
                </a:solidFill>
              </a:rPr>
              <a:t>By combining existing capabilities, strong utility relationships, and a differentiated market position, APTIM can deliver a scalable solution that supports both utility resilience goals and long-term business growth.</a:t>
            </a:r>
            <a:endParaRPr lang="en-US">
              <a:solidFill>
                <a:srgbClr val="424242"/>
              </a:solidFill>
            </a:endParaRPr>
          </a:p>
        </p:txBody>
      </p:sp>
      <p:sp>
        <p:nvSpPr>
          <p:cNvPr id="4" name="Footer Placeholder 3">
            <a:extLst>
              <a:ext uri="{FF2B5EF4-FFF2-40B4-BE49-F238E27FC236}">
                <a16:creationId xmlns:a16="http://schemas.microsoft.com/office/drawing/2014/main" id="{B376DFCC-E25A-D4CF-34A0-D1CCE7C60E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65210E7-4F09-0931-C3E2-52C07484CB0B}"/>
              </a:ext>
            </a:extLst>
          </p:cNvPr>
          <p:cNvSpPr>
            <a:spLocks noGrp="1"/>
          </p:cNvSpPr>
          <p:nvPr>
            <p:ph type="sldNum" sz="quarter" idx="12"/>
          </p:nvPr>
        </p:nvSpPr>
        <p:spPr/>
        <p:txBody>
          <a:bodyPr/>
          <a:lstStyle/>
          <a:p>
            <a:fld id="{F8F6B9CD-BE6B-498B-93B3-0FAD7ADE75E3}" type="slidenum">
              <a:rPr lang="en-US" smtClean="0"/>
              <a:t>48</a:t>
            </a:fld>
            <a:endParaRPr lang="en-US"/>
          </a:p>
        </p:txBody>
      </p:sp>
    </p:spTree>
    <p:extLst>
      <p:ext uri="{BB962C8B-B14F-4D97-AF65-F5344CB8AC3E}">
        <p14:creationId xmlns:p14="http://schemas.microsoft.com/office/powerpoint/2010/main" val="270499702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5D991-6DA8-258D-D39B-7F99DD167D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66AB51-5774-9E2B-6B1D-3B0952DAAB1B}"/>
              </a:ext>
            </a:extLst>
          </p:cNvPr>
          <p:cNvSpPr>
            <a:spLocks noGrp="1"/>
          </p:cNvSpPr>
          <p:nvPr>
            <p:ph type="title"/>
          </p:nvPr>
        </p:nvSpPr>
        <p:spPr/>
        <p:txBody>
          <a:bodyPr/>
          <a:lstStyle/>
          <a:p>
            <a:r>
              <a:rPr lang="en-US"/>
              <a:t>Project Scope</a:t>
            </a:r>
          </a:p>
        </p:txBody>
      </p:sp>
      <p:sp>
        <p:nvSpPr>
          <p:cNvPr id="4" name="Footer Placeholder 3">
            <a:extLst>
              <a:ext uri="{FF2B5EF4-FFF2-40B4-BE49-F238E27FC236}">
                <a16:creationId xmlns:a16="http://schemas.microsoft.com/office/drawing/2014/main" id="{68FD7BA1-6FB8-EA92-31F0-5DF81B03DD4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9645986-E349-6DA7-EE2D-C4FBB3647919}"/>
              </a:ext>
            </a:extLst>
          </p:cNvPr>
          <p:cNvSpPr>
            <a:spLocks noGrp="1"/>
          </p:cNvSpPr>
          <p:nvPr>
            <p:ph type="sldNum" sz="quarter" idx="12"/>
          </p:nvPr>
        </p:nvSpPr>
        <p:spPr/>
        <p:txBody>
          <a:bodyPr/>
          <a:lstStyle/>
          <a:p>
            <a:fld id="{F8F6B9CD-BE6B-498B-93B3-0FAD7ADE75E3}" type="slidenum">
              <a:rPr lang="en-US" smtClean="0"/>
              <a:t>49</a:t>
            </a:fld>
            <a:endParaRPr lang="en-US"/>
          </a:p>
        </p:txBody>
      </p:sp>
      <p:graphicFrame>
        <p:nvGraphicFramePr>
          <p:cNvPr id="7" name="Diagram 6">
            <a:extLst>
              <a:ext uri="{FF2B5EF4-FFF2-40B4-BE49-F238E27FC236}">
                <a16:creationId xmlns:a16="http://schemas.microsoft.com/office/drawing/2014/main" id="{EE182609-8E0C-0878-99E1-64BFAD089F61}"/>
              </a:ext>
            </a:extLst>
          </p:cNvPr>
          <p:cNvGraphicFramePr/>
          <p:nvPr>
            <p:extLst>
              <p:ext uri="{D42A27DB-BD31-4B8C-83A1-F6EECF244321}">
                <p14:modId xmlns:p14="http://schemas.microsoft.com/office/powerpoint/2010/main" val="2222289066"/>
              </p:ext>
            </p:extLst>
          </p:nvPr>
        </p:nvGraphicFramePr>
        <p:xfrm>
          <a:off x="466344" y="1178434"/>
          <a:ext cx="10579608" cy="50389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206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FBA4D2-53D6-12CE-7F01-0CC557CDDB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DB70B5-27B1-117A-C2D8-00EE0E2A0A49}"/>
              </a:ext>
            </a:extLst>
          </p:cNvPr>
          <p:cNvSpPr>
            <a:spLocks noGrp="1"/>
          </p:cNvSpPr>
          <p:nvPr>
            <p:ph type="title"/>
          </p:nvPr>
        </p:nvSpPr>
        <p:spPr/>
        <p:txBody>
          <a:bodyPr/>
          <a:lstStyle/>
          <a:p>
            <a:r>
              <a:rPr lang="en-US">
                <a:latin typeface="Arial Black"/>
                <a:cs typeface="Arial"/>
              </a:rPr>
              <a:t>Strategic Fit (edit with notes)</a:t>
            </a:r>
            <a:endParaRPr lang="en-US"/>
          </a:p>
        </p:txBody>
      </p:sp>
      <p:sp>
        <p:nvSpPr>
          <p:cNvPr id="4" name="Footer Placeholder 3">
            <a:extLst>
              <a:ext uri="{FF2B5EF4-FFF2-40B4-BE49-F238E27FC236}">
                <a16:creationId xmlns:a16="http://schemas.microsoft.com/office/drawing/2014/main" id="{F4E1F611-FB9D-3CDE-15DE-AB6704619A06}"/>
              </a:ext>
            </a:extLst>
          </p:cNvPr>
          <p:cNvSpPr>
            <a:spLocks noGrp="1"/>
          </p:cNvSpPr>
          <p:nvPr>
            <p:ph type="ftr" sz="quarter" idx="11"/>
          </p:nvPr>
        </p:nvSpPr>
        <p:spPr>
          <a:xfrm>
            <a:off x="2430435" y="6439532"/>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76C58C1C-4FA4-7947-8185-42F5B60EF8E3}"/>
              </a:ext>
            </a:extLst>
          </p:cNvPr>
          <p:cNvSpPr>
            <a:spLocks noGrp="1"/>
          </p:cNvSpPr>
          <p:nvPr>
            <p:ph type="sldNum" sz="quarter" idx="12"/>
          </p:nvPr>
        </p:nvSpPr>
        <p:spPr>
          <a:xfrm>
            <a:off x="11286341" y="6542211"/>
            <a:ext cx="285135" cy="251845"/>
          </a:xfrm>
        </p:spPr>
        <p:txBody>
          <a:bodyPr/>
          <a:lstStyle/>
          <a:p>
            <a:fld id="{F8F6B9CD-BE6B-498B-93B3-0FAD7ADE75E3}" type="slidenum">
              <a:rPr lang="en-US" smtClean="0"/>
              <a:t>50</a:t>
            </a:fld>
            <a:endParaRPr lang="en-US"/>
          </a:p>
        </p:txBody>
      </p:sp>
      <p:graphicFrame>
        <p:nvGraphicFramePr>
          <p:cNvPr id="3" name="Diagram 2">
            <a:extLst>
              <a:ext uri="{FF2B5EF4-FFF2-40B4-BE49-F238E27FC236}">
                <a16:creationId xmlns:a16="http://schemas.microsoft.com/office/drawing/2014/main" id="{9F5F34CF-28FE-B21A-EAF3-23128AC71FEE}"/>
              </a:ext>
            </a:extLst>
          </p:cNvPr>
          <p:cNvGraphicFramePr/>
          <p:nvPr/>
        </p:nvGraphicFramePr>
        <p:xfrm>
          <a:off x="1507300" y="1105714"/>
          <a:ext cx="8953754" cy="526967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9" name="Graphic 8" descr="Person with idea with solid fill">
            <a:extLst>
              <a:ext uri="{FF2B5EF4-FFF2-40B4-BE49-F238E27FC236}">
                <a16:creationId xmlns:a16="http://schemas.microsoft.com/office/drawing/2014/main" id="{C855B078-C25E-C170-7669-00EF4A6E64E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2038" y="1950539"/>
            <a:ext cx="804735" cy="804735"/>
          </a:xfrm>
          <a:prstGeom prst="rect">
            <a:avLst/>
          </a:prstGeom>
        </p:spPr>
      </p:pic>
      <p:pic>
        <p:nvPicPr>
          <p:cNvPr id="11" name="Graphic 10" descr="Bar graph with upward trend with solid fill">
            <a:extLst>
              <a:ext uri="{FF2B5EF4-FFF2-40B4-BE49-F238E27FC236}">
                <a16:creationId xmlns:a16="http://schemas.microsoft.com/office/drawing/2014/main" id="{D576A904-4A32-8EC2-3A8B-6747B46FBF6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62038" y="4722688"/>
            <a:ext cx="804735" cy="804735"/>
          </a:xfrm>
          <a:prstGeom prst="rect">
            <a:avLst/>
          </a:prstGeom>
        </p:spPr>
      </p:pic>
      <p:pic>
        <p:nvPicPr>
          <p:cNvPr id="13" name="Graphic 12" descr="Hammer1 with solid fill">
            <a:extLst>
              <a:ext uri="{FF2B5EF4-FFF2-40B4-BE49-F238E27FC236}">
                <a16:creationId xmlns:a16="http://schemas.microsoft.com/office/drawing/2014/main" id="{03820E17-1316-1CBD-6FD9-E4D651087D9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788587" y="4722688"/>
            <a:ext cx="804736" cy="804736"/>
          </a:xfrm>
          <a:prstGeom prst="rect">
            <a:avLst/>
          </a:prstGeom>
        </p:spPr>
      </p:pic>
      <p:pic>
        <p:nvPicPr>
          <p:cNvPr id="19" name="Graphic 18" descr="Bullseye with solid fill">
            <a:extLst>
              <a:ext uri="{FF2B5EF4-FFF2-40B4-BE49-F238E27FC236}">
                <a16:creationId xmlns:a16="http://schemas.microsoft.com/office/drawing/2014/main" id="{FC17959F-1843-A7A2-6611-FACDCA64E0E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0788587" y="2011928"/>
            <a:ext cx="804735" cy="804735"/>
          </a:xfrm>
          <a:prstGeom prst="rect">
            <a:avLst/>
          </a:prstGeom>
        </p:spPr>
      </p:pic>
      <p:pic>
        <p:nvPicPr>
          <p:cNvPr id="21" name="Graphic 20" descr="Empty battery with solid fill">
            <a:extLst>
              <a:ext uri="{FF2B5EF4-FFF2-40B4-BE49-F238E27FC236}">
                <a16:creationId xmlns:a16="http://schemas.microsoft.com/office/drawing/2014/main" id="{5130CA7F-6787-80EF-BA41-AEA358EEBC4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78259" y="3033732"/>
            <a:ext cx="1413637" cy="1413637"/>
          </a:xfrm>
          <a:prstGeom prst="rect">
            <a:avLst/>
          </a:prstGeom>
        </p:spPr>
      </p:pic>
      <p:sp>
        <p:nvSpPr>
          <p:cNvPr id="22" name="Rectangle 21">
            <a:extLst>
              <a:ext uri="{FF2B5EF4-FFF2-40B4-BE49-F238E27FC236}">
                <a16:creationId xmlns:a16="http://schemas.microsoft.com/office/drawing/2014/main" id="{8745CABD-BFF6-4A0E-CF32-5C07F0C96FC3}"/>
              </a:ext>
            </a:extLst>
          </p:cNvPr>
          <p:cNvSpPr/>
          <p:nvPr/>
        </p:nvSpPr>
        <p:spPr>
          <a:xfrm>
            <a:off x="5585206" y="3501581"/>
            <a:ext cx="192024" cy="436047"/>
          </a:xfrm>
          <a:prstGeom prst="rect">
            <a:avLst/>
          </a:prstGeom>
          <a:solidFill>
            <a:schemeClr val="accent1">
              <a:lumMod val="10000"/>
              <a:lumOff val="90000"/>
            </a:schemeClr>
          </a:solidFill>
          <a:ln>
            <a:solidFill>
              <a:schemeClr val="accent1">
                <a:lumMod val="10000"/>
                <a:lumOff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3255BAD8-3E78-0FFB-8321-C3AE705749F0}"/>
              </a:ext>
            </a:extLst>
          </p:cNvPr>
          <p:cNvSpPr/>
          <p:nvPr/>
        </p:nvSpPr>
        <p:spPr>
          <a:xfrm>
            <a:off x="5557513"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68320BA1-D5B0-C0CB-632E-10017F4145FB}"/>
              </a:ext>
            </a:extLst>
          </p:cNvPr>
          <p:cNvSpPr/>
          <p:nvPr/>
        </p:nvSpPr>
        <p:spPr>
          <a:xfrm>
            <a:off x="5792153"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Rounded Corners 26">
            <a:extLst>
              <a:ext uri="{FF2B5EF4-FFF2-40B4-BE49-F238E27FC236}">
                <a16:creationId xmlns:a16="http://schemas.microsoft.com/office/drawing/2014/main" id="{901A12DB-F95E-CAFB-DF5D-F0375698A7E1}"/>
              </a:ext>
            </a:extLst>
          </p:cNvPr>
          <p:cNvSpPr/>
          <p:nvPr/>
        </p:nvSpPr>
        <p:spPr>
          <a:xfrm>
            <a:off x="6037579"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Rounded Corners 28">
            <a:extLst>
              <a:ext uri="{FF2B5EF4-FFF2-40B4-BE49-F238E27FC236}">
                <a16:creationId xmlns:a16="http://schemas.microsoft.com/office/drawing/2014/main" id="{5A9D464B-17D1-87DE-1598-6FC1E41119C4}"/>
              </a:ext>
            </a:extLst>
          </p:cNvPr>
          <p:cNvSpPr/>
          <p:nvPr/>
        </p:nvSpPr>
        <p:spPr>
          <a:xfrm>
            <a:off x="6276728"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5" name="Graphic 44" descr="Empty battery with solid fill">
            <a:extLst>
              <a:ext uri="{FF2B5EF4-FFF2-40B4-BE49-F238E27FC236}">
                <a16:creationId xmlns:a16="http://schemas.microsoft.com/office/drawing/2014/main" id="{D29A5BD0-1B6A-69B0-DD18-AE4B46FB48A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378259" y="3033732"/>
            <a:ext cx="1413637" cy="1413637"/>
          </a:xfrm>
          <a:prstGeom prst="rect">
            <a:avLst/>
          </a:prstGeom>
        </p:spPr>
      </p:pic>
      <p:sp>
        <p:nvSpPr>
          <p:cNvPr id="46" name="Rectangle: Rounded Corners 45">
            <a:extLst>
              <a:ext uri="{FF2B5EF4-FFF2-40B4-BE49-F238E27FC236}">
                <a16:creationId xmlns:a16="http://schemas.microsoft.com/office/drawing/2014/main" id="{4275315E-D897-42A0-38DE-F080D43A185D}"/>
              </a:ext>
            </a:extLst>
          </p:cNvPr>
          <p:cNvSpPr/>
          <p:nvPr/>
        </p:nvSpPr>
        <p:spPr>
          <a:xfrm>
            <a:off x="5557513"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Rounded Corners 46">
            <a:extLst>
              <a:ext uri="{FF2B5EF4-FFF2-40B4-BE49-F238E27FC236}">
                <a16:creationId xmlns:a16="http://schemas.microsoft.com/office/drawing/2014/main" id="{65442A76-1E1A-709F-AD61-940C99D702EC}"/>
              </a:ext>
            </a:extLst>
          </p:cNvPr>
          <p:cNvSpPr/>
          <p:nvPr/>
        </p:nvSpPr>
        <p:spPr>
          <a:xfrm>
            <a:off x="5792153"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Rounded Corners 47">
            <a:extLst>
              <a:ext uri="{FF2B5EF4-FFF2-40B4-BE49-F238E27FC236}">
                <a16:creationId xmlns:a16="http://schemas.microsoft.com/office/drawing/2014/main" id="{D3B57EF1-187B-11DC-3B3E-9D665E12F02A}"/>
              </a:ext>
            </a:extLst>
          </p:cNvPr>
          <p:cNvSpPr/>
          <p:nvPr/>
        </p:nvSpPr>
        <p:spPr>
          <a:xfrm>
            <a:off x="6037579"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Rounded Corners 48">
            <a:extLst>
              <a:ext uri="{FF2B5EF4-FFF2-40B4-BE49-F238E27FC236}">
                <a16:creationId xmlns:a16="http://schemas.microsoft.com/office/drawing/2014/main" id="{A7BBEC6D-30F4-EA7E-7D03-04DC242C521E}"/>
              </a:ext>
            </a:extLst>
          </p:cNvPr>
          <p:cNvSpPr/>
          <p:nvPr/>
        </p:nvSpPr>
        <p:spPr>
          <a:xfrm>
            <a:off x="6276728"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0" name="Graphic 49" descr="Person with idea with solid fill">
            <a:extLst>
              <a:ext uri="{FF2B5EF4-FFF2-40B4-BE49-F238E27FC236}">
                <a16:creationId xmlns:a16="http://schemas.microsoft.com/office/drawing/2014/main" id="{901F8F3D-2929-24E1-3614-75E02ED423D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62037" y="1950538"/>
            <a:ext cx="804735" cy="804735"/>
          </a:xfrm>
          <a:prstGeom prst="rect">
            <a:avLst/>
          </a:prstGeom>
        </p:spPr>
      </p:pic>
      <p:pic>
        <p:nvPicPr>
          <p:cNvPr id="51" name="Graphic 50" descr="Bar graph with upward trend with solid fill">
            <a:extLst>
              <a:ext uri="{FF2B5EF4-FFF2-40B4-BE49-F238E27FC236}">
                <a16:creationId xmlns:a16="http://schemas.microsoft.com/office/drawing/2014/main" id="{0E07FAA5-604A-0038-B05C-C983639322EA}"/>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62037" y="4722687"/>
            <a:ext cx="804735" cy="804735"/>
          </a:xfrm>
          <a:prstGeom prst="rect">
            <a:avLst/>
          </a:prstGeom>
        </p:spPr>
      </p:pic>
      <p:pic>
        <p:nvPicPr>
          <p:cNvPr id="52" name="Graphic 51" descr="Hammer1 with solid fill">
            <a:extLst>
              <a:ext uri="{FF2B5EF4-FFF2-40B4-BE49-F238E27FC236}">
                <a16:creationId xmlns:a16="http://schemas.microsoft.com/office/drawing/2014/main" id="{94EE82BA-8AF3-99E6-4D0D-0062CD7D4F4F}"/>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10784471" y="4722687"/>
            <a:ext cx="804736" cy="804736"/>
          </a:xfrm>
          <a:prstGeom prst="rect">
            <a:avLst/>
          </a:prstGeom>
        </p:spPr>
      </p:pic>
      <p:pic>
        <p:nvPicPr>
          <p:cNvPr id="53" name="Graphic 52" descr="Bullseye with solid fill">
            <a:extLst>
              <a:ext uri="{FF2B5EF4-FFF2-40B4-BE49-F238E27FC236}">
                <a16:creationId xmlns:a16="http://schemas.microsoft.com/office/drawing/2014/main" id="{45ADD649-6C55-31E4-58A3-33DFDA6C8425}"/>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0788587" y="2011927"/>
            <a:ext cx="804735" cy="804735"/>
          </a:xfrm>
          <a:prstGeom prst="rect">
            <a:avLst/>
          </a:prstGeom>
        </p:spPr>
      </p:pic>
    </p:spTree>
    <p:extLst>
      <p:ext uri="{BB962C8B-B14F-4D97-AF65-F5344CB8AC3E}">
        <p14:creationId xmlns:p14="http://schemas.microsoft.com/office/powerpoint/2010/main" val="3819945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25"/>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0"/>
                                          </p:stCondLst>
                                        </p:cTn>
                                        <p:tgtEl>
                                          <p:spTgt spid="27"/>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0"/>
                                          </p:stCondLst>
                                        </p:cTn>
                                        <p:tgtEl>
                                          <p:spTgt spid="29"/>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21"/>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9"/>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0"/>
                                          </p:stCondLst>
                                        </p:cTn>
                                        <p:tgtEl>
                                          <p:spTgt spid="19"/>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13"/>
                                        </p:tgtEl>
                                        <p:attrNameLst>
                                          <p:attrName>style.visibility</p:attrName>
                                        </p:attrNameLst>
                                      </p:cBhvr>
                                      <p:to>
                                        <p:strVal val="hidden"/>
                                      </p:to>
                                    </p:set>
                                  </p:childTnLst>
                                </p:cTn>
                              </p:par>
                              <p:par>
                                <p:cTn id="45" presetID="1" presetClass="exit" presetSubtype="0" fill="hold" nodeType="withEffect">
                                  <p:stCondLst>
                                    <p:cond delay="0"/>
                                  </p:stCondLst>
                                  <p:childTnLst>
                                    <p:set>
                                      <p:cBhvr>
                                        <p:cTn id="46" dur="1" fill="hold">
                                          <p:stCondLst>
                                            <p:cond delay="0"/>
                                          </p:stCondLst>
                                        </p:cTn>
                                        <p:tgtEl>
                                          <p:spTgt spid="11"/>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par>
                          <p:cTn id="65" fill="hold">
                            <p:stCondLst>
                              <p:cond delay="0"/>
                            </p:stCondLst>
                            <p:childTnLst>
                              <p:par>
                                <p:cTn id="66" presetID="26" presetClass="emph" presetSubtype="0" fill="hold" nodeType="afterEffect">
                                  <p:stCondLst>
                                    <p:cond delay="500"/>
                                  </p:stCondLst>
                                  <p:childTnLst>
                                    <p:animEffect transition="out" filter="fade">
                                      <p:cBhvr>
                                        <p:cTn id="67" dur="500" tmFilter="0, 0; .2, .5; .8, .5; 1, 0"/>
                                        <p:tgtEl>
                                          <p:spTgt spid="45"/>
                                        </p:tgtEl>
                                      </p:cBhvr>
                                    </p:animEffect>
                                    <p:animScale>
                                      <p:cBhvr>
                                        <p:cTn id="68" dur="250" autoRev="1" fill="hold"/>
                                        <p:tgtEl>
                                          <p:spTgt spid="45"/>
                                        </p:tgtEl>
                                      </p:cBhvr>
                                      <p:by x="105000" y="105000"/>
                                    </p:animScale>
                                  </p:childTnLst>
                                </p:cTn>
                              </p:par>
                              <p:par>
                                <p:cTn id="69" presetID="26" presetClass="emph" presetSubtype="0" fill="hold" nodeType="withEffect">
                                  <p:stCondLst>
                                    <p:cond delay="500"/>
                                  </p:stCondLst>
                                  <p:childTnLst>
                                    <p:animEffect transition="out" filter="fade">
                                      <p:cBhvr>
                                        <p:cTn id="70" dur="500" tmFilter="0, 0; .2, .5; .8, .5; 1, 0"/>
                                        <p:tgtEl>
                                          <p:spTgt spid="50"/>
                                        </p:tgtEl>
                                      </p:cBhvr>
                                    </p:animEffect>
                                    <p:animScale>
                                      <p:cBhvr>
                                        <p:cTn id="71" dur="250" autoRev="1" fill="hold"/>
                                        <p:tgtEl>
                                          <p:spTgt spid="50"/>
                                        </p:tgtEl>
                                      </p:cBhvr>
                                      <p:by x="105000" y="105000"/>
                                    </p:animScale>
                                  </p:childTnLst>
                                </p:cTn>
                              </p:par>
                              <p:par>
                                <p:cTn id="72" presetID="26" presetClass="emph" presetSubtype="0" fill="hold" nodeType="withEffect">
                                  <p:stCondLst>
                                    <p:cond delay="500"/>
                                  </p:stCondLst>
                                  <p:childTnLst>
                                    <p:animEffect transition="out" filter="fade">
                                      <p:cBhvr>
                                        <p:cTn id="73" dur="500" tmFilter="0, 0; .2, .5; .8, .5; 1, 0"/>
                                        <p:tgtEl>
                                          <p:spTgt spid="51"/>
                                        </p:tgtEl>
                                      </p:cBhvr>
                                    </p:animEffect>
                                    <p:animScale>
                                      <p:cBhvr>
                                        <p:cTn id="74" dur="250" autoRev="1" fill="hold"/>
                                        <p:tgtEl>
                                          <p:spTgt spid="51"/>
                                        </p:tgtEl>
                                      </p:cBhvr>
                                      <p:by x="105000" y="105000"/>
                                    </p:animScale>
                                  </p:childTnLst>
                                </p:cTn>
                              </p:par>
                              <p:par>
                                <p:cTn id="75" presetID="26" presetClass="emph" presetSubtype="0" fill="hold" nodeType="withEffect">
                                  <p:stCondLst>
                                    <p:cond delay="500"/>
                                  </p:stCondLst>
                                  <p:childTnLst>
                                    <p:animEffect transition="out" filter="fade">
                                      <p:cBhvr>
                                        <p:cTn id="76" dur="500" tmFilter="0, 0; .2, .5; .8, .5; 1, 0"/>
                                        <p:tgtEl>
                                          <p:spTgt spid="52"/>
                                        </p:tgtEl>
                                      </p:cBhvr>
                                    </p:animEffect>
                                    <p:animScale>
                                      <p:cBhvr>
                                        <p:cTn id="77" dur="250" autoRev="1" fill="hold"/>
                                        <p:tgtEl>
                                          <p:spTgt spid="52"/>
                                        </p:tgtEl>
                                      </p:cBhvr>
                                      <p:by x="105000" y="105000"/>
                                    </p:animScale>
                                  </p:childTnLst>
                                </p:cTn>
                              </p:par>
                              <p:par>
                                <p:cTn id="78" presetID="26" presetClass="emph" presetSubtype="0" fill="hold" nodeType="withEffect">
                                  <p:stCondLst>
                                    <p:cond delay="500"/>
                                  </p:stCondLst>
                                  <p:childTnLst>
                                    <p:animEffect transition="out" filter="fade">
                                      <p:cBhvr>
                                        <p:cTn id="79" dur="500" tmFilter="0, 0; .2, .5; .8, .5; 1, 0"/>
                                        <p:tgtEl>
                                          <p:spTgt spid="53"/>
                                        </p:tgtEl>
                                      </p:cBhvr>
                                    </p:animEffect>
                                    <p:animScale>
                                      <p:cBhvr>
                                        <p:cTn id="80" dur="250" autoRev="1" fill="hold"/>
                                        <p:tgtEl>
                                          <p:spTgt spid="5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5" grpId="0" animBg="1"/>
      <p:bldP spid="25" grpId="1" animBg="1"/>
      <p:bldP spid="27" grpId="0" animBg="1"/>
      <p:bldP spid="27" grpId="1" animBg="1"/>
      <p:bldP spid="29" grpId="0" animBg="1"/>
      <p:bldP spid="29" grpId="1" animBg="1"/>
      <p:bldP spid="46" grpId="0" animBg="1"/>
      <p:bldP spid="47" grpId="0" animBg="1"/>
      <p:bldP spid="48" grpId="0" animBg="1"/>
      <p:bldP spid="49"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561BED-61F8-91E9-A129-4C96DB541AD8}"/>
              </a:ext>
            </a:extLst>
          </p:cNvPr>
          <p:cNvSpPr>
            <a:spLocks noGrp="1"/>
          </p:cNvSpPr>
          <p:nvPr>
            <p:ph type="ctrTitle"/>
          </p:nvPr>
        </p:nvSpPr>
        <p:spPr/>
        <p:txBody>
          <a:bodyPr/>
          <a:lstStyle/>
          <a:p>
            <a:r>
              <a:rPr lang="en-US"/>
              <a:t>APTIM PowerPoint </a:t>
            </a:r>
            <a:br>
              <a:rPr lang="en-US"/>
            </a:br>
            <a:r>
              <a:rPr lang="en-US"/>
              <a:t>Template Guidelines</a:t>
            </a:r>
          </a:p>
        </p:txBody>
      </p:sp>
      <p:sp>
        <p:nvSpPr>
          <p:cNvPr id="4" name="Footer Placeholder 3">
            <a:extLst>
              <a:ext uri="{FF2B5EF4-FFF2-40B4-BE49-F238E27FC236}">
                <a16:creationId xmlns:a16="http://schemas.microsoft.com/office/drawing/2014/main" id="{08C48714-B76C-4C4E-C984-8768F69C159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B1ABFA7-3D5E-2F34-C370-89DA6D8A934A}"/>
              </a:ext>
            </a:extLst>
          </p:cNvPr>
          <p:cNvSpPr>
            <a:spLocks noGrp="1"/>
          </p:cNvSpPr>
          <p:nvPr>
            <p:ph type="sldNum" sz="quarter" idx="12"/>
          </p:nvPr>
        </p:nvSpPr>
        <p:spPr/>
        <p:txBody>
          <a:bodyPr/>
          <a:lstStyle/>
          <a:p>
            <a:fld id="{F8F6B9CD-BE6B-498B-93B3-0FAD7ADE75E3}" type="slidenum">
              <a:rPr lang="en-US" smtClean="0"/>
              <a:pPr/>
              <a:t>51</a:t>
            </a:fld>
            <a:endParaRPr lang="en-US"/>
          </a:p>
        </p:txBody>
      </p:sp>
    </p:spTree>
    <p:extLst>
      <p:ext uri="{BB962C8B-B14F-4D97-AF65-F5344CB8AC3E}">
        <p14:creationId xmlns:p14="http://schemas.microsoft.com/office/powerpoint/2010/main" val="230056133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9A698-0F01-2EBD-2B2B-E53ED7D42423}"/>
              </a:ext>
            </a:extLst>
          </p:cNvPr>
          <p:cNvSpPr>
            <a:spLocks noGrp="1"/>
          </p:cNvSpPr>
          <p:nvPr>
            <p:ph type="title"/>
          </p:nvPr>
        </p:nvSpPr>
        <p:spPr/>
        <p:txBody>
          <a:bodyPr/>
          <a:lstStyle/>
          <a:p>
            <a:r>
              <a:rPr lang="en-US"/>
              <a:t>About the Template &amp; Formatting</a:t>
            </a:r>
          </a:p>
        </p:txBody>
      </p:sp>
      <p:sp>
        <p:nvSpPr>
          <p:cNvPr id="4" name="Content Placeholder 3">
            <a:extLst>
              <a:ext uri="{FF2B5EF4-FFF2-40B4-BE49-F238E27FC236}">
                <a16:creationId xmlns:a16="http://schemas.microsoft.com/office/drawing/2014/main" id="{F1EE6C56-C367-DEA4-EA66-578E2B91D7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About</a:t>
            </a:r>
          </a:p>
          <a:p>
            <a:r>
              <a:rPr lang="en-US"/>
              <a:t>Please use this template only to create your APTIM PowerPoint presentations. Do not share this template externally.</a:t>
            </a:r>
          </a:p>
          <a:p>
            <a:r>
              <a:rPr lang="en-US"/>
              <a:t>The most updated presentation template can be found on </a:t>
            </a:r>
            <a:r>
              <a:rPr lang="en-US">
                <a:hlinkClick r:id="rId2"/>
              </a:rPr>
              <a:t>Marketing &amp; Communication’s </a:t>
            </a:r>
            <a:r>
              <a:rPr lang="en-US" err="1">
                <a:hlinkClick r:id="rId2"/>
              </a:rPr>
              <a:t>APTNet</a:t>
            </a:r>
            <a:r>
              <a:rPr lang="en-US">
                <a:hlinkClick r:id="rId2"/>
              </a:rPr>
              <a:t> site</a:t>
            </a:r>
            <a:r>
              <a:rPr lang="en-US"/>
              <a:t>.</a:t>
            </a:r>
          </a:p>
          <a:p>
            <a:endParaRPr lang="en-US"/>
          </a:p>
        </p:txBody>
      </p:sp>
      <p:sp>
        <p:nvSpPr>
          <p:cNvPr id="6" name="Content Placeholder 5">
            <a:extLst>
              <a:ext uri="{FF2B5EF4-FFF2-40B4-BE49-F238E27FC236}">
                <a16:creationId xmlns:a16="http://schemas.microsoft.com/office/drawing/2014/main" id="{4AE0C37C-9425-56C4-6B75-A1E8121227B6}"/>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Formatting</a:t>
            </a:r>
          </a:p>
          <a:p>
            <a:pPr marL="0" indent="0">
              <a:buNone/>
            </a:pPr>
            <a:r>
              <a:rPr lang="en-US"/>
              <a:t>The presentation has pre-built templates. Use one of these template slides when creating a new slide. (See instructions on following slides.) They have been pre-built for the APTIM brand with fonts, colors, and graphics.</a:t>
            </a:r>
          </a:p>
          <a:p>
            <a:r>
              <a:rPr lang="en-US" b="1">
                <a:solidFill>
                  <a:schemeClr val="accent1"/>
                </a:solidFill>
              </a:rPr>
              <a:t>Font should be Arial</a:t>
            </a:r>
            <a:r>
              <a:rPr lang="en-US"/>
              <a:t>.</a:t>
            </a:r>
          </a:p>
          <a:p>
            <a:r>
              <a:rPr lang="en-US"/>
              <a:t>Colors should follow the built-in APTIM color scheme. This palette can be found under View&gt;Slide Master&gt;Colors. Select “</a:t>
            </a:r>
            <a:r>
              <a:rPr lang="en-US" b="1">
                <a:solidFill>
                  <a:schemeClr val="accent1"/>
                </a:solidFill>
              </a:rPr>
              <a:t>2025_APTIM_Colors</a:t>
            </a:r>
            <a:r>
              <a:rPr lang="en-US"/>
              <a:t>” to set your default palette under the Home tab.</a:t>
            </a:r>
          </a:p>
          <a:p>
            <a:endParaRPr lang="en-US"/>
          </a:p>
        </p:txBody>
      </p:sp>
      <p:sp>
        <p:nvSpPr>
          <p:cNvPr id="7" name="Footer Placeholder 6">
            <a:extLst>
              <a:ext uri="{FF2B5EF4-FFF2-40B4-BE49-F238E27FC236}">
                <a16:creationId xmlns:a16="http://schemas.microsoft.com/office/drawing/2014/main" id="{5A72E588-6B25-FA1A-C7B6-25A28C4446C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18DFA2D-CDCD-349A-7BBF-2DE968BC0A22}"/>
              </a:ext>
            </a:extLst>
          </p:cNvPr>
          <p:cNvSpPr>
            <a:spLocks noGrp="1"/>
          </p:cNvSpPr>
          <p:nvPr>
            <p:ph type="sldNum" sz="quarter" idx="12"/>
          </p:nvPr>
        </p:nvSpPr>
        <p:spPr/>
        <p:txBody>
          <a:bodyPr/>
          <a:lstStyle/>
          <a:p>
            <a:fld id="{F8F6B9CD-BE6B-498B-93B3-0FAD7ADE75E3}" type="slidenum">
              <a:rPr lang="en-US" smtClean="0"/>
              <a:t>52</a:t>
            </a:fld>
            <a:endParaRPr lang="en-US"/>
          </a:p>
        </p:txBody>
      </p:sp>
    </p:spTree>
    <p:extLst>
      <p:ext uri="{BB962C8B-B14F-4D97-AF65-F5344CB8AC3E}">
        <p14:creationId xmlns:p14="http://schemas.microsoft.com/office/powerpoint/2010/main" val="289360458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B7F1C-19D2-E5A6-7B07-48D07B7E4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9BB2B7-CB07-F1ED-E800-2BD77D3FDF68}"/>
              </a:ext>
            </a:extLst>
          </p:cNvPr>
          <p:cNvSpPr>
            <a:spLocks noGrp="1"/>
          </p:cNvSpPr>
          <p:nvPr>
            <p:ph type="title"/>
          </p:nvPr>
        </p:nvSpPr>
        <p:spPr/>
        <p:txBody>
          <a:bodyPr/>
          <a:lstStyle/>
          <a:p>
            <a:r>
              <a:rPr lang="en-US"/>
              <a:t>How to Use</a:t>
            </a:r>
          </a:p>
        </p:txBody>
      </p:sp>
      <p:sp>
        <p:nvSpPr>
          <p:cNvPr id="4" name="Content Placeholder 3">
            <a:extLst>
              <a:ext uri="{FF2B5EF4-FFF2-40B4-BE49-F238E27FC236}">
                <a16:creationId xmlns:a16="http://schemas.microsoft.com/office/drawing/2014/main" id="{9C96DF10-A8D9-AEAB-191A-ED085AAC2FB6}"/>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How to Use</a:t>
            </a:r>
          </a:p>
          <a:p>
            <a:r>
              <a:rPr lang="en-US" b="1">
                <a:solidFill>
                  <a:schemeClr val="accent1"/>
                </a:solidFill>
              </a:rPr>
              <a:t>Save a copy of this PowerPoint template</a:t>
            </a:r>
            <a:r>
              <a:rPr lang="en-US"/>
              <a:t> to your files to begin.</a:t>
            </a:r>
          </a:p>
          <a:p>
            <a:r>
              <a:rPr lang="en-US"/>
              <a:t>Do not modify the Slide Master.</a:t>
            </a:r>
          </a:p>
          <a:p>
            <a:r>
              <a:rPr lang="en-US"/>
              <a:t>Use the instructions on the following slides to build your presentation.</a:t>
            </a:r>
          </a:p>
          <a:p>
            <a:r>
              <a:rPr lang="en-US"/>
              <a:t>Remember to </a:t>
            </a:r>
            <a:r>
              <a:rPr lang="en-US" b="1">
                <a:solidFill>
                  <a:schemeClr val="accent1"/>
                </a:solidFill>
              </a:rPr>
              <a:t>delete this slide and any other unused slides</a:t>
            </a:r>
            <a:r>
              <a:rPr lang="en-US"/>
              <a:t> provided in this template upon submission or use.</a:t>
            </a:r>
          </a:p>
          <a:p>
            <a:r>
              <a:rPr lang="en-US"/>
              <a:t>Always </a:t>
            </a:r>
            <a:r>
              <a:rPr lang="en-US" b="1">
                <a:solidFill>
                  <a:schemeClr val="accent1"/>
                </a:solidFill>
              </a:rPr>
              <a:t>use spellcheck</a:t>
            </a:r>
            <a:r>
              <a:rPr lang="en-US"/>
              <a:t>.</a:t>
            </a:r>
          </a:p>
          <a:p>
            <a:endParaRPr lang="en-US"/>
          </a:p>
        </p:txBody>
      </p:sp>
      <p:sp>
        <p:nvSpPr>
          <p:cNvPr id="6" name="Content Placeholder 5">
            <a:extLst>
              <a:ext uri="{FF2B5EF4-FFF2-40B4-BE49-F238E27FC236}">
                <a16:creationId xmlns:a16="http://schemas.microsoft.com/office/drawing/2014/main" id="{4751E1D5-9635-6B05-8E52-12A0A117FF65}"/>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Contact the Marketing &amp; </a:t>
            </a:r>
            <a:br>
              <a:rPr lang="en-US" b="1">
                <a:solidFill>
                  <a:schemeClr val="accent3"/>
                </a:solidFill>
              </a:rPr>
            </a:br>
            <a:r>
              <a:rPr lang="en-US" b="1">
                <a:solidFill>
                  <a:schemeClr val="accent3"/>
                </a:solidFill>
              </a:rPr>
              <a:t>Communications Team</a:t>
            </a:r>
          </a:p>
          <a:p>
            <a:r>
              <a:rPr lang="en-US"/>
              <a:t>If you would like your final draft presentation to be reviewed for style, grammar, and/or design, please submit a </a:t>
            </a:r>
            <a:r>
              <a:rPr lang="en-US">
                <a:hlinkClick r:id="rId2"/>
              </a:rPr>
              <a:t>Marketing &amp; Communications request</a:t>
            </a:r>
            <a:r>
              <a:rPr lang="en-US"/>
              <a:t>.</a:t>
            </a:r>
          </a:p>
          <a:p>
            <a:r>
              <a:rPr lang="en-US"/>
              <a:t>If there is a new slide that you would like to have created, please </a:t>
            </a:r>
            <a:r>
              <a:rPr lang="en-US">
                <a:hlinkClick r:id="rId2"/>
              </a:rPr>
              <a:t>submit a request</a:t>
            </a:r>
            <a:r>
              <a:rPr lang="en-US"/>
              <a:t>. Note that it will have to be approved to become part of the overall template.</a:t>
            </a:r>
          </a:p>
          <a:p>
            <a:pPr marL="0" indent="0">
              <a:buNone/>
            </a:pPr>
            <a:endParaRPr lang="en-US"/>
          </a:p>
        </p:txBody>
      </p:sp>
      <p:sp>
        <p:nvSpPr>
          <p:cNvPr id="7" name="Footer Placeholder 6">
            <a:extLst>
              <a:ext uri="{FF2B5EF4-FFF2-40B4-BE49-F238E27FC236}">
                <a16:creationId xmlns:a16="http://schemas.microsoft.com/office/drawing/2014/main" id="{E692314E-56A1-CF63-CF88-C6FDCCFF4EF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CA873DCE-6AF6-2494-849A-DCFBE43427EE}"/>
              </a:ext>
            </a:extLst>
          </p:cNvPr>
          <p:cNvSpPr>
            <a:spLocks noGrp="1"/>
          </p:cNvSpPr>
          <p:nvPr>
            <p:ph type="sldNum" sz="quarter" idx="12"/>
          </p:nvPr>
        </p:nvSpPr>
        <p:spPr/>
        <p:txBody>
          <a:bodyPr/>
          <a:lstStyle/>
          <a:p>
            <a:fld id="{F8F6B9CD-BE6B-498B-93B3-0FAD7ADE75E3}" type="slidenum">
              <a:rPr lang="en-US" smtClean="0"/>
              <a:t>53</a:t>
            </a:fld>
            <a:endParaRPr lang="en-US"/>
          </a:p>
        </p:txBody>
      </p:sp>
    </p:spTree>
    <p:extLst>
      <p:ext uri="{BB962C8B-B14F-4D97-AF65-F5344CB8AC3E}">
        <p14:creationId xmlns:p14="http://schemas.microsoft.com/office/powerpoint/2010/main" val="205559529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80AFA-CD74-36EB-B558-26EA687058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573DB4-0319-8037-2FC1-E797D5194DE3}"/>
              </a:ext>
            </a:extLst>
          </p:cNvPr>
          <p:cNvSpPr>
            <a:spLocks noGrp="1"/>
          </p:cNvSpPr>
          <p:nvPr>
            <p:ph type="title"/>
          </p:nvPr>
        </p:nvSpPr>
        <p:spPr/>
        <p:txBody>
          <a:bodyPr/>
          <a:lstStyle/>
          <a:p>
            <a:r>
              <a:rPr lang="en-US"/>
              <a:t>Basics</a:t>
            </a:r>
          </a:p>
        </p:txBody>
      </p:sp>
      <p:sp>
        <p:nvSpPr>
          <p:cNvPr id="4" name="Content Placeholder 3">
            <a:extLst>
              <a:ext uri="{FF2B5EF4-FFF2-40B4-BE49-F238E27FC236}">
                <a16:creationId xmlns:a16="http://schemas.microsoft.com/office/drawing/2014/main" id="{41A56765-B62F-B78E-0455-CAFB5026D11D}"/>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Zoom View</a:t>
            </a:r>
          </a:p>
          <a:p>
            <a:pPr marL="0" indent="0">
              <a:buNone/>
            </a:pPr>
            <a:r>
              <a:rPr lang="en-US" b="1">
                <a:solidFill>
                  <a:schemeClr val="accent1"/>
                </a:solidFill>
              </a:rPr>
              <a:t>Press and hold Ctrl key while turning the mouse</a:t>
            </a:r>
            <a:r>
              <a:rPr lang="en-US" b="1"/>
              <a:t> wheel </a:t>
            </a:r>
            <a:r>
              <a:rPr lang="en-US"/>
              <a:t>to zoom in or out.</a:t>
            </a:r>
          </a:p>
          <a:p>
            <a:pPr marL="0" indent="0">
              <a:buNone/>
            </a:pPr>
            <a:r>
              <a:rPr lang="en-US" b="1">
                <a:solidFill>
                  <a:schemeClr val="accent3"/>
                </a:solidFill>
              </a:rPr>
              <a:t>Insert Slides</a:t>
            </a:r>
          </a:p>
          <a:p>
            <a:pPr marL="0" indent="0">
              <a:buNone/>
            </a:pPr>
            <a:r>
              <a:rPr lang="en-US"/>
              <a:t>Under the Home tab, </a:t>
            </a:r>
            <a:r>
              <a:rPr lang="en-US" b="1">
                <a:solidFill>
                  <a:schemeClr val="accent1"/>
                </a:solidFill>
              </a:rPr>
              <a:t>click the arrow next to New Slide</a:t>
            </a:r>
            <a:r>
              <a:rPr lang="en-US"/>
              <a:t>. Then, choose from any of the APTIM THEME-branded slide templates.</a:t>
            </a:r>
          </a:p>
          <a:p>
            <a:pPr marL="0" indent="0">
              <a:buNone/>
            </a:pPr>
            <a:r>
              <a:rPr lang="en-US" b="1">
                <a:solidFill>
                  <a:schemeClr val="accent3"/>
                </a:solidFill>
              </a:rPr>
              <a:t>Add Text</a:t>
            </a:r>
          </a:p>
          <a:p>
            <a:pPr marL="0" indent="0">
              <a:buNone/>
            </a:pPr>
            <a:r>
              <a:rPr lang="en-US"/>
              <a:t>To use the default text styles in the template when pasting text from another source, </a:t>
            </a:r>
            <a:r>
              <a:rPr lang="en-US" b="1">
                <a:solidFill>
                  <a:schemeClr val="accent1"/>
                </a:solidFill>
              </a:rPr>
              <a:t>right-click to show the Paste Options</a:t>
            </a:r>
            <a:r>
              <a:rPr lang="en-US"/>
              <a:t> and </a:t>
            </a:r>
            <a:r>
              <a:rPr lang="en-US" b="1">
                <a:solidFill>
                  <a:schemeClr val="accent1"/>
                </a:solidFill>
              </a:rPr>
              <a:t>select Keep Text Only. </a:t>
            </a:r>
          </a:p>
          <a:p>
            <a:endParaRPr lang="en-US"/>
          </a:p>
        </p:txBody>
      </p:sp>
      <p:sp>
        <p:nvSpPr>
          <p:cNvPr id="6" name="Content Placeholder 5">
            <a:extLst>
              <a:ext uri="{FF2B5EF4-FFF2-40B4-BE49-F238E27FC236}">
                <a16:creationId xmlns:a16="http://schemas.microsoft.com/office/drawing/2014/main" id="{881333A5-2B32-2035-60F2-A0FD0620C25E}"/>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Clear Formatting</a:t>
            </a:r>
          </a:p>
          <a:p>
            <a:pPr marL="0" indent="0">
              <a:buNone/>
            </a:pPr>
            <a:r>
              <a:rPr lang="en-US"/>
              <a:t>To remove all formatting from selected text, press </a:t>
            </a:r>
            <a:r>
              <a:rPr lang="en-US" b="1">
                <a:solidFill>
                  <a:schemeClr val="accent1"/>
                </a:solidFill>
              </a:rPr>
              <a:t>Control (Ctrl)+Space Bar.</a:t>
            </a:r>
          </a:p>
          <a:p>
            <a:pPr marL="0" indent="0">
              <a:buNone/>
            </a:pPr>
            <a:r>
              <a:rPr lang="en-US" b="1">
                <a:solidFill>
                  <a:schemeClr val="accent3"/>
                </a:solidFill>
              </a:rPr>
              <a:t>Font Size</a:t>
            </a:r>
          </a:p>
          <a:p>
            <a:pPr marL="0" indent="0">
              <a:buNone/>
            </a:pPr>
            <a:r>
              <a:rPr lang="en-US"/>
              <a:t>Standard font size is 18pt for body text. The font sizes for bullets are 18, 16, 14, and 12pt in descending order of indentation.</a:t>
            </a:r>
          </a:p>
          <a:p>
            <a:pPr marL="0" indent="0">
              <a:buNone/>
            </a:pPr>
            <a:r>
              <a:rPr lang="en-US" b="1">
                <a:solidFill>
                  <a:schemeClr val="accent1"/>
                </a:solidFill>
              </a:rPr>
              <a:t>Please adhere to these sizes and do not increase or decrease</a:t>
            </a:r>
            <a:r>
              <a:rPr lang="en-US"/>
              <a:t> </a:t>
            </a:r>
            <a:r>
              <a:rPr lang="en-US" b="1">
                <a:solidFill>
                  <a:schemeClr val="accent1"/>
                </a:solidFill>
              </a:rPr>
              <a:t>the font sizes.</a:t>
            </a:r>
          </a:p>
          <a:p>
            <a:r>
              <a:rPr lang="en-US"/>
              <a:t>If your text is too lengthy to fit on the slide, edit the text or add another slide. </a:t>
            </a:r>
          </a:p>
          <a:p>
            <a:r>
              <a:rPr lang="en-US"/>
              <a:t>The absolute minimum font size is 14pt except for fourth- and fifth-level bullets.</a:t>
            </a:r>
          </a:p>
          <a:p>
            <a:pPr marL="0" indent="0">
              <a:buNone/>
            </a:pP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360BCB70-94DE-76B6-0967-13E568C1D0E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E635D05A-F187-4EE3-39C9-39C9D99F1CF1}"/>
              </a:ext>
            </a:extLst>
          </p:cNvPr>
          <p:cNvSpPr>
            <a:spLocks noGrp="1"/>
          </p:cNvSpPr>
          <p:nvPr>
            <p:ph type="sldNum" sz="quarter" idx="12"/>
          </p:nvPr>
        </p:nvSpPr>
        <p:spPr/>
        <p:txBody>
          <a:bodyPr/>
          <a:lstStyle/>
          <a:p>
            <a:fld id="{F8F6B9CD-BE6B-498B-93B3-0FAD7ADE75E3}" type="slidenum">
              <a:rPr lang="en-US" smtClean="0"/>
              <a:t>54</a:t>
            </a:fld>
            <a:endParaRPr lang="en-US"/>
          </a:p>
        </p:txBody>
      </p:sp>
      <p:pic>
        <p:nvPicPr>
          <p:cNvPr id="3" name="Picture 2" descr="Graphical user interface, application, Word&#10;&#10;Description automatically generated">
            <a:extLst>
              <a:ext uri="{FF2B5EF4-FFF2-40B4-BE49-F238E27FC236}">
                <a16:creationId xmlns:a16="http://schemas.microsoft.com/office/drawing/2014/main" id="{319B6D13-651E-3DD3-367D-B2EC79FB455D}"/>
              </a:ext>
            </a:extLst>
          </p:cNvPr>
          <p:cNvPicPr/>
          <p:nvPr/>
        </p:nvPicPr>
        <p:blipFill>
          <a:blip r:embed="rId2">
            <a:extLst>
              <a:ext uri="{28A0092B-C50C-407E-A947-70E740481C1C}">
                <a14:useLocalDpi xmlns:a14="http://schemas.microsoft.com/office/drawing/2010/main"/>
              </a:ext>
            </a:extLst>
          </a:blip>
          <a:stretch>
            <a:fillRect/>
          </a:stretch>
        </p:blipFill>
        <p:spPr>
          <a:xfrm>
            <a:off x="534825" y="5113824"/>
            <a:ext cx="1778876" cy="1019473"/>
          </a:xfrm>
          <a:prstGeom prst="rect">
            <a:avLst/>
          </a:prstGeom>
        </p:spPr>
      </p:pic>
    </p:spTree>
    <p:extLst>
      <p:ext uri="{BB962C8B-B14F-4D97-AF65-F5344CB8AC3E}">
        <p14:creationId xmlns:p14="http://schemas.microsoft.com/office/powerpoint/2010/main" val="188919736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52B58-F871-74A1-8B5F-D4E8DA045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F1E924-5DA6-C94B-75A0-C586D3D81613}"/>
              </a:ext>
            </a:extLst>
          </p:cNvPr>
          <p:cNvSpPr>
            <a:spLocks noGrp="1"/>
          </p:cNvSpPr>
          <p:nvPr>
            <p:ph type="title"/>
          </p:nvPr>
        </p:nvSpPr>
        <p:spPr/>
        <p:txBody>
          <a:bodyPr/>
          <a:lstStyle/>
          <a:p>
            <a:r>
              <a:rPr lang="en-US"/>
              <a:t>Bullets</a:t>
            </a:r>
          </a:p>
        </p:txBody>
      </p:sp>
      <p:sp>
        <p:nvSpPr>
          <p:cNvPr id="4" name="Content Placeholder 3">
            <a:extLst>
              <a:ext uri="{FF2B5EF4-FFF2-40B4-BE49-F238E27FC236}">
                <a16:creationId xmlns:a16="http://schemas.microsoft.com/office/drawing/2014/main" id="{DD60A8B3-AD16-3111-FC38-AF47B7C379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Bullets</a:t>
            </a:r>
          </a:p>
          <a:p>
            <a:r>
              <a:rPr lang="en-US"/>
              <a:t>If your original text includes bullets, we recommend that you </a:t>
            </a:r>
            <a:r>
              <a:rPr lang="en-US" b="1">
                <a:solidFill>
                  <a:schemeClr val="accent1"/>
                </a:solidFill>
              </a:rPr>
              <a:t>remove the bullets within the source document prior to copying and pasting into your PowerPoint</a:t>
            </a:r>
            <a:r>
              <a:rPr lang="en-US"/>
              <a:t>.</a:t>
            </a:r>
          </a:p>
          <a:p>
            <a:r>
              <a:rPr lang="en-US" b="1">
                <a:solidFill>
                  <a:schemeClr val="accent1"/>
                </a:solidFill>
              </a:rPr>
              <a:t>Use the Decrease and Increase List Level buttons</a:t>
            </a:r>
            <a:r>
              <a:rPr lang="en-US"/>
              <a:t> (to the right of Numbering on the Home tab) to create second-, third-, etc., level bullets.</a:t>
            </a:r>
          </a:p>
          <a:p>
            <a:endParaRPr lang="en-US"/>
          </a:p>
        </p:txBody>
      </p:sp>
      <p:sp>
        <p:nvSpPr>
          <p:cNvPr id="6" name="Content Placeholder 5">
            <a:extLst>
              <a:ext uri="{FF2B5EF4-FFF2-40B4-BE49-F238E27FC236}">
                <a16:creationId xmlns:a16="http://schemas.microsoft.com/office/drawing/2014/main" id="{23FA254E-9E17-9DA7-D1F7-B2E543887EFC}"/>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Bullet Formatting</a:t>
            </a:r>
          </a:p>
          <a:p>
            <a:pPr marL="0" indent="0">
              <a:buNone/>
            </a:pPr>
            <a:r>
              <a:rPr lang="en-US"/>
              <a:t>Follow the rules in the Bullets section of the </a:t>
            </a:r>
            <a:r>
              <a:rPr lang="en-US" b="1">
                <a:solidFill>
                  <a:schemeClr val="accent1"/>
                </a:solidFill>
                <a:hlinkClick r:id="rId2"/>
              </a:rPr>
              <a:t>APTIM Written Style Guide</a:t>
            </a:r>
            <a:r>
              <a:rPr lang="en-US"/>
              <a:t>:</a:t>
            </a:r>
          </a:p>
          <a:p>
            <a:r>
              <a:rPr lang="en-US"/>
              <a:t>All bullets should start with a </a:t>
            </a:r>
            <a:r>
              <a:rPr lang="en-US" b="1">
                <a:solidFill>
                  <a:schemeClr val="accent1"/>
                </a:solidFill>
              </a:rPr>
              <a:t>capitalized letter</a:t>
            </a:r>
            <a:r>
              <a:rPr lang="en-US"/>
              <a:t>.</a:t>
            </a:r>
          </a:p>
          <a:p>
            <a:r>
              <a:rPr lang="en-US"/>
              <a:t>For lists with brief items of four words or fewer that are not complete sentences, follow the rules of title capitalization. Do not use punctuation. This is APTIM’s preference.</a:t>
            </a:r>
          </a:p>
          <a:p>
            <a:r>
              <a:rPr lang="en-US"/>
              <a:t>For lists with items of five words or more that are NOT complete sentences, do not use punctuation.</a:t>
            </a:r>
          </a:p>
          <a:p>
            <a:r>
              <a:rPr lang="en-US"/>
              <a:t>For lists with items that are complete sentences, use punctuation.</a:t>
            </a: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2589F873-2F10-AA4D-0965-162EF5DDB36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AEEB13D8-F7C8-96D8-77F2-5DFB7EEF34FB}"/>
              </a:ext>
            </a:extLst>
          </p:cNvPr>
          <p:cNvSpPr>
            <a:spLocks noGrp="1"/>
          </p:cNvSpPr>
          <p:nvPr>
            <p:ph type="sldNum" sz="quarter" idx="12"/>
          </p:nvPr>
        </p:nvSpPr>
        <p:spPr/>
        <p:txBody>
          <a:bodyPr/>
          <a:lstStyle/>
          <a:p>
            <a:fld id="{F8F6B9CD-BE6B-498B-93B3-0FAD7ADE75E3}" type="slidenum">
              <a:rPr lang="en-US" smtClean="0"/>
              <a:t>55</a:t>
            </a:fld>
            <a:endParaRPr lang="en-US"/>
          </a:p>
        </p:txBody>
      </p:sp>
      <p:pic>
        <p:nvPicPr>
          <p:cNvPr id="5" name="Picture 4">
            <a:extLst>
              <a:ext uri="{FF2B5EF4-FFF2-40B4-BE49-F238E27FC236}">
                <a16:creationId xmlns:a16="http://schemas.microsoft.com/office/drawing/2014/main" id="{A41695D5-CABC-999F-05FA-6F2D98120454}"/>
              </a:ext>
            </a:extLst>
          </p:cNvPr>
          <p:cNvPicPr/>
          <p:nvPr/>
        </p:nvPicPr>
        <p:blipFill rotWithShape="1">
          <a:blip r:embed="rId3" cstate="email">
            <a:extLst>
              <a:ext uri="{28A0092B-C50C-407E-A947-70E740481C1C}">
                <a14:useLocalDpi xmlns:a14="http://schemas.microsoft.com/office/drawing/2010/main"/>
              </a:ext>
            </a:extLst>
          </a:blip>
          <a:srcRect/>
          <a:stretch/>
        </p:blipFill>
        <p:spPr>
          <a:xfrm>
            <a:off x="612646" y="4632782"/>
            <a:ext cx="5376445" cy="1063871"/>
          </a:xfrm>
          <a:prstGeom prst="rect">
            <a:avLst/>
          </a:prstGeom>
        </p:spPr>
      </p:pic>
    </p:spTree>
    <p:extLst>
      <p:ext uri="{BB962C8B-B14F-4D97-AF65-F5344CB8AC3E}">
        <p14:creationId xmlns:p14="http://schemas.microsoft.com/office/powerpoint/2010/main" val="215178771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297CA-7F76-D01F-8C7D-FCCA9F701D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1E7ED6-90BC-12DD-0C4C-F2C4FE96BCF2}"/>
              </a:ext>
            </a:extLst>
          </p:cNvPr>
          <p:cNvSpPr>
            <a:spLocks noGrp="1"/>
          </p:cNvSpPr>
          <p:nvPr>
            <p:ph type="title"/>
          </p:nvPr>
        </p:nvSpPr>
        <p:spPr/>
        <p:txBody>
          <a:bodyPr/>
          <a:lstStyle/>
          <a:p>
            <a:r>
              <a:rPr lang="en-US"/>
              <a:t>Insert Photos &amp; Graphics</a:t>
            </a:r>
          </a:p>
        </p:txBody>
      </p:sp>
      <p:sp>
        <p:nvSpPr>
          <p:cNvPr id="4" name="Content Placeholder 3">
            <a:extLst>
              <a:ext uri="{FF2B5EF4-FFF2-40B4-BE49-F238E27FC236}">
                <a16:creationId xmlns:a16="http://schemas.microsoft.com/office/drawing/2014/main" id="{EC60AFA0-0EC4-CCA1-6731-CA71F27353E5}"/>
              </a:ext>
            </a:extLst>
          </p:cNvPr>
          <p:cNvSpPr>
            <a:spLocks noGrp="1"/>
          </p:cNvSpPr>
          <p:nvPr>
            <p:ph sz="half" idx="2"/>
          </p:nvPr>
        </p:nvSpPr>
        <p:spPr>
          <a:xfrm>
            <a:off x="612648" y="1234439"/>
            <a:ext cx="5278013" cy="4946904"/>
          </a:xfrm>
        </p:spPr>
        <p:txBody>
          <a:bodyPr/>
          <a:lstStyle/>
          <a:p>
            <a:pPr marL="0" indent="0">
              <a:buNone/>
            </a:pPr>
            <a:r>
              <a:rPr lang="en-US" b="1">
                <a:solidFill>
                  <a:schemeClr val="accent3"/>
                </a:solidFill>
              </a:rPr>
              <a:t>Insert Photos Within a Shape</a:t>
            </a:r>
          </a:p>
          <a:p>
            <a:pPr marL="0" indent="0">
              <a:buNone/>
            </a:pPr>
            <a:r>
              <a:rPr lang="en-US"/>
              <a:t>To add a photo to fit within a shape on a template slide, place your cursor over the edge of the shape.</a:t>
            </a:r>
          </a:p>
          <a:p>
            <a:r>
              <a:rPr lang="en-US" b="1">
                <a:solidFill>
                  <a:schemeClr val="accent1"/>
                </a:solidFill>
              </a:rPr>
              <a:t>Right click.</a:t>
            </a:r>
          </a:p>
          <a:p>
            <a:r>
              <a:rPr lang="en-US" b="1">
                <a:solidFill>
                  <a:schemeClr val="accent1"/>
                </a:solidFill>
              </a:rPr>
              <a:t>Click the arrow next to Fill.</a:t>
            </a:r>
          </a:p>
          <a:p>
            <a:r>
              <a:rPr lang="en-US" b="1">
                <a:solidFill>
                  <a:schemeClr val="accent1"/>
                </a:solidFill>
              </a:rPr>
              <a:t>Click Picture.</a:t>
            </a:r>
          </a:p>
          <a:p>
            <a:r>
              <a:rPr lang="en-US" b="1">
                <a:solidFill>
                  <a:schemeClr val="accent1"/>
                </a:solidFill>
              </a:rPr>
              <a:t>Click From File.</a:t>
            </a:r>
          </a:p>
          <a:p>
            <a:r>
              <a:rPr lang="en-US" b="1">
                <a:solidFill>
                  <a:schemeClr val="accent1"/>
                </a:solidFill>
              </a:rPr>
              <a:t>Locate photo within files. </a:t>
            </a:r>
          </a:p>
          <a:p>
            <a:r>
              <a:rPr lang="en-US" b="1">
                <a:solidFill>
                  <a:schemeClr val="accent1"/>
                </a:solidFill>
              </a:rPr>
              <a:t>Click Insert.</a:t>
            </a:r>
          </a:p>
          <a:p>
            <a:pPr marL="0" indent="0">
              <a:buNone/>
            </a:pPr>
            <a:r>
              <a:rPr lang="en-US"/>
              <a:t>To move the photo, right click on the photo and select Crop. Then drag the photo within the frame.</a:t>
            </a:r>
          </a:p>
          <a:p>
            <a:endParaRPr lang="en-US"/>
          </a:p>
        </p:txBody>
      </p:sp>
      <p:sp>
        <p:nvSpPr>
          <p:cNvPr id="6" name="Content Placeholder 5">
            <a:extLst>
              <a:ext uri="{FF2B5EF4-FFF2-40B4-BE49-F238E27FC236}">
                <a16:creationId xmlns:a16="http://schemas.microsoft.com/office/drawing/2014/main" id="{1629FC2A-2861-838A-4EFC-F463987DC49F}"/>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Keep Objects in Proportion when Resizing</a:t>
            </a:r>
          </a:p>
          <a:p>
            <a:r>
              <a:rPr lang="en-US" b="1">
                <a:solidFill>
                  <a:schemeClr val="accent1"/>
                </a:solidFill>
              </a:rPr>
              <a:t>Press and hold the Shift key while dragging one of the handles</a:t>
            </a:r>
            <a:r>
              <a:rPr lang="en-US">
                <a:solidFill>
                  <a:schemeClr val="accent1"/>
                </a:solidFill>
              </a:rPr>
              <a:t> </a:t>
            </a:r>
            <a:r>
              <a:rPr lang="en-US"/>
              <a:t>to keep an object, graphic, or photo in proportion while resizing it.</a:t>
            </a:r>
          </a:p>
          <a:p>
            <a:pPr marL="0" indent="0">
              <a:buNone/>
            </a:pPr>
            <a:r>
              <a:rPr lang="en-US" b="1">
                <a:solidFill>
                  <a:schemeClr val="accent3"/>
                </a:solidFill>
              </a:rPr>
              <a:t>Draw Straight Lines</a:t>
            </a:r>
          </a:p>
          <a:p>
            <a:r>
              <a:rPr lang="en-US" b="1">
                <a:solidFill>
                  <a:schemeClr val="accent1"/>
                </a:solidFill>
              </a:rPr>
              <a:t>Press and hold the Shift key</a:t>
            </a:r>
            <a:r>
              <a:rPr lang="en-US">
                <a:solidFill>
                  <a:schemeClr val="accent1"/>
                </a:solidFill>
              </a:rPr>
              <a:t> </a:t>
            </a:r>
            <a:r>
              <a:rPr lang="en-US"/>
              <a:t>while inserting or drawing lines. This will keep your lines vertical, horizontal, or at a 45-degree angle.</a:t>
            </a:r>
          </a:p>
          <a:p>
            <a:pPr marL="0" indent="0">
              <a:buNone/>
            </a:pPr>
            <a:r>
              <a:rPr lang="en-US" b="1">
                <a:solidFill>
                  <a:schemeClr val="accent3"/>
                </a:solidFill>
              </a:rPr>
              <a:t>Group &amp; Ungroup Objects</a:t>
            </a:r>
          </a:p>
          <a:p>
            <a:r>
              <a:rPr lang="en-US"/>
              <a:t>To</a:t>
            </a:r>
            <a:r>
              <a:rPr lang="en-US">
                <a:solidFill>
                  <a:schemeClr val="accent1"/>
                </a:solidFill>
              </a:rPr>
              <a:t> group objects, </a:t>
            </a:r>
            <a:r>
              <a:rPr lang="en-US" b="1">
                <a:solidFill>
                  <a:schemeClr val="accent1"/>
                </a:solidFill>
              </a:rPr>
              <a:t>press </a:t>
            </a:r>
            <a:r>
              <a:rPr lang="en-US" b="1" err="1">
                <a:solidFill>
                  <a:schemeClr val="accent1"/>
                </a:solidFill>
              </a:rPr>
              <a:t>Ctrl+G</a:t>
            </a:r>
            <a:r>
              <a:rPr lang="en-US">
                <a:solidFill>
                  <a:schemeClr val="accent1"/>
                </a:solidFill>
              </a:rPr>
              <a:t>. </a:t>
            </a:r>
          </a:p>
          <a:p>
            <a:r>
              <a:rPr lang="en-US"/>
              <a:t>To </a:t>
            </a:r>
            <a:r>
              <a:rPr lang="en-US">
                <a:solidFill>
                  <a:schemeClr val="accent1"/>
                </a:solidFill>
              </a:rPr>
              <a:t>ungroup objects, </a:t>
            </a:r>
            <a:r>
              <a:rPr lang="en-US" b="1">
                <a:solidFill>
                  <a:schemeClr val="accent1"/>
                </a:solidFill>
              </a:rPr>
              <a:t>press </a:t>
            </a:r>
            <a:r>
              <a:rPr lang="en-US" b="1" err="1">
                <a:solidFill>
                  <a:schemeClr val="accent1"/>
                </a:solidFill>
              </a:rPr>
              <a:t>Ctrl+Shift+G</a:t>
            </a:r>
            <a:r>
              <a:rPr lang="en-US" b="1">
                <a:solidFill>
                  <a:schemeClr val="accent1"/>
                </a:solidFill>
              </a:rPr>
              <a:t>.</a:t>
            </a:r>
          </a:p>
          <a:p>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5CAD685A-33CE-10E2-C4AF-B00AA78409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2E62441C-E529-58EC-A775-AAB0F3F72756}"/>
              </a:ext>
            </a:extLst>
          </p:cNvPr>
          <p:cNvSpPr>
            <a:spLocks noGrp="1"/>
          </p:cNvSpPr>
          <p:nvPr>
            <p:ph type="sldNum" sz="quarter" idx="12"/>
          </p:nvPr>
        </p:nvSpPr>
        <p:spPr/>
        <p:txBody>
          <a:bodyPr/>
          <a:lstStyle/>
          <a:p>
            <a:fld id="{F8F6B9CD-BE6B-498B-93B3-0FAD7ADE75E3}" type="slidenum">
              <a:rPr lang="en-US" smtClean="0"/>
              <a:t>56</a:t>
            </a:fld>
            <a:endParaRPr lang="en-US"/>
          </a:p>
        </p:txBody>
      </p:sp>
    </p:spTree>
    <p:extLst>
      <p:ext uri="{BB962C8B-B14F-4D97-AF65-F5344CB8AC3E}">
        <p14:creationId xmlns:p14="http://schemas.microsoft.com/office/powerpoint/2010/main" val="186270525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9A45D-F1CE-2F91-0B52-B7A21CF5A3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5F6963-4211-1FB7-6EA8-6BDAD51B3A05}"/>
              </a:ext>
            </a:extLst>
          </p:cNvPr>
          <p:cNvSpPr>
            <a:spLocks noGrp="1"/>
          </p:cNvSpPr>
          <p:nvPr>
            <p:ph type="title"/>
          </p:nvPr>
        </p:nvSpPr>
        <p:spPr/>
        <p:txBody>
          <a:bodyPr/>
          <a:lstStyle/>
          <a:p>
            <a:r>
              <a:rPr lang="en-US"/>
              <a:t>Crop Photos</a:t>
            </a:r>
          </a:p>
        </p:txBody>
      </p:sp>
      <p:sp>
        <p:nvSpPr>
          <p:cNvPr id="4" name="Content Placeholder 3">
            <a:extLst>
              <a:ext uri="{FF2B5EF4-FFF2-40B4-BE49-F238E27FC236}">
                <a16:creationId xmlns:a16="http://schemas.microsoft.com/office/drawing/2014/main" id="{64E98397-6C06-7715-8712-8528DFCACE70}"/>
              </a:ext>
            </a:extLst>
          </p:cNvPr>
          <p:cNvSpPr>
            <a:spLocks noGrp="1"/>
          </p:cNvSpPr>
          <p:nvPr>
            <p:ph sz="half" idx="2"/>
          </p:nvPr>
        </p:nvSpPr>
        <p:spPr>
          <a:xfrm>
            <a:off x="612648" y="1234439"/>
            <a:ext cx="5836790" cy="4946904"/>
          </a:xfrm>
        </p:spPr>
        <p:txBody>
          <a:bodyPr/>
          <a:lstStyle/>
          <a:p>
            <a:pPr marL="0" indent="0">
              <a:buNone/>
            </a:pPr>
            <a:r>
              <a:rPr lang="en-US" b="1">
                <a:solidFill>
                  <a:schemeClr val="accent3"/>
                </a:solidFill>
              </a:rPr>
              <a:t>Crop Photos</a:t>
            </a:r>
          </a:p>
          <a:p>
            <a:pPr>
              <a:spcBef>
                <a:spcPts val="0"/>
              </a:spcBef>
              <a:spcAft>
                <a:spcPts val="500"/>
              </a:spcAft>
            </a:pPr>
            <a:r>
              <a:rPr lang="en-US" b="1">
                <a:solidFill>
                  <a:schemeClr val="accent1"/>
                </a:solidFill>
              </a:rPr>
              <a:t>Click on the photo </a:t>
            </a:r>
            <a:r>
              <a:rPr lang="en-US"/>
              <a:t>to Select it.  </a:t>
            </a:r>
          </a:p>
          <a:p>
            <a:pPr>
              <a:spcBef>
                <a:spcPts val="0"/>
              </a:spcBef>
              <a:spcAft>
                <a:spcPts val="500"/>
              </a:spcAft>
            </a:pPr>
            <a:r>
              <a:rPr lang="en-US"/>
              <a:t>Click the </a:t>
            </a:r>
            <a:r>
              <a:rPr lang="en-US" b="1">
                <a:solidFill>
                  <a:schemeClr val="accent1"/>
                </a:solidFill>
              </a:rPr>
              <a:t>Picture Format Tab</a:t>
            </a:r>
            <a:r>
              <a:rPr lang="en-US"/>
              <a:t>. </a:t>
            </a:r>
          </a:p>
          <a:p>
            <a:pPr>
              <a:spcBef>
                <a:spcPts val="0"/>
              </a:spcBef>
              <a:spcAft>
                <a:spcPts val="500"/>
              </a:spcAft>
            </a:pPr>
            <a:r>
              <a:rPr lang="en-US" b="1">
                <a:solidFill>
                  <a:schemeClr val="accent1"/>
                </a:solidFill>
              </a:rPr>
              <a:t>Select the Crop tool</a:t>
            </a:r>
            <a:r>
              <a:rPr lang="en-US"/>
              <a:t> in the Size Group.</a:t>
            </a:r>
          </a:p>
          <a:p>
            <a:pPr>
              <a:spcBef>
                <a:spcPts val="0"/>
              </a:spcBef>
              <a:spcAft>
                <a:spcPts val="500"/>
              </a:spcAft>
            </a:pPr>
            <a:r>
              <a:rPr lang="en-US"/>
              <a:t>A drop-down menu appears. </a:t>
            </a:r>
            <a:r>
              <a:rPr lang="en-US" b="1">
                <a:solidFill>
                  <a:schemeClr val="accent1"/>
                </a:solidFill>
              </a:rPr>
              <a:t>Select Crop</a:t>
            </a:r>
            <a:r>
              <a:rPr lang="en-US"/>
              <a:t>. The handles around the photo turn to black bars; when the cursor is moved over the handles, it changes to look like a “T.” </a:t>
            </a:r>
          </a:p>
          <a:p>
            <a:pPr>
              <a:spcBef>
                <a:spcPts val="0"/>
              </a:spcBef>
              <a:spcAft>
                <a:spcPts val="500"/>
              </a:spcAft>
            </a:pPr>
            <a:r>
              <a:rPr lang="en-US" b="1">
                <a:solidFill>
                  <a:schemeClr val="accent1"/>
                </a:solidFill>
              </a:rPr>
              <a:t>Click and drag the handles</a:t>
            </a:r>
            <a:r>
              <a:rPr lang="en-US"/>
              <a:t> to show only the desired areas of the photo.</a:t>
            </a:r>
          </a:p>
          <a:p>
            <a:pPr>
              <a:spcBef>
                <a:spcPts val="0"/>
              </a:spcBef>
            </a:pPr>
            <a:r>
              <a:rPr lang="en-US" b="1">
                <a:solidFill>
                  <a:schemeClr val="accent1"/>
                </a:solidFill>
              </a:rPr>
              <a:t>Click Crop</a:t>
            </a:r>
            <a:r>
              <a:rPr lang="en-US"/>
              <a:t> again.</a:t>
            </a:r>
          </a:p>
          <a:p>
            <a:pPr marL="0" indent="0">
              <a:buNone/>
            </a:pPr>
            <a:r>
              <a:rPr lang="en-US" b="1">
                <a:solidFill>
                  <a:schemeClr val="accent3"/>
                </a:solidFill>
              </a:rPr>
              <a:t>Crop Photos to a Shape</a:t>
            </a:r>
          </a:p>
          <a:p>
            <a:pPr>
              <a:spcBef>
                <a:spcPts val="0"/>
              </a:spcBef>
              <a:spcAft>
                <a:spcPts val="500"/>
              </a:spcAft>
            </a:pPr>
            <a:r>
              <a:rPr lang="en-US" b="1">
                <a:solidFill>
                  <a:schemeClr val="accent1"/>
                </a:solidFill>
              </a:rPr>
              <a:t>Follow steps 1–3</a:t>
            </a:r>
            <a:r>
              <a:rPr lang="en-US"/>
              <a:t> for Crop Photos.</a:t>
            </a:r>
          </a:p>
          <a:p>
            <a:pPr>
              <a:spcBef>
                <a:spcPts val="0"/>
              </a:spcBef>
              <a:spcAft>
                <a:spcPts val="500"/>
              </a:spcAft>
            </a:pPr>
            <a:r>
              <a:rPr lang="en-US"/>
              <a:t>From the drop-down menu, select </a:t>
            </a:r>
            <a:r>
              <a:rPr lang="en-US" b="1">
                <a:solidFill>
                  <a:schemeClr val="accent1"/>
                </a:solidFill>
              </a:rPr>
              <a:t>Crop to Shape</a:t>
            </a:r>
            <a:r>
              <a:rPr lang="en-US"/>
              <a:t>.</a:t>
            </a:r>
          </a:p>
          <a:p>
            <a:pPr>
              <a:spcBef>
                <a:spcPts val="0"/>
              </a:spcBef>
              <a:spcAft>
                <a:spcPts val="500"/>
              </a:spcAft>
            </a:pPr>
            <a:r>
              <a:rPr lang="en-US"/>
              <a:t>From the drop down, </a:t>
            </a:r>
            <a:r>
              <a:rPr lang="en-US" b="1">
                <a:solidFill>
                  <a:schemeClr val="accent1"/>
                </a:solidFill>
              </a:rPr>
              <a:t>choose the shape</a:t>
            </a:r>
            <a:r>
              <a:rPr lang="en-US"/>
              <a:t>.</a:t>
            </a:r>
          </a:p>
          <a:p>
            <a:pPr>
              <a:spcBef>
                <a:spcPts val="0"/>
              </a:spcBef>
              <a:spcAft>
                <a:spcPts val="500"/>
              </a:spcAft>
            </a:pPr>
            <a:r>
              <a:rPr lang="en-US" b="1">
                <a:solidFill>
                  <a:schemeClr val="accent1"/>
                </a:solidFill>
              </a:rPr>
              <a:t>Click Crop</a:t>
            </a:r>
            <a:r>
              <a:rPr lang="en-US"/>
              <a:t> again.</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8684C78D-E39A-B155-5BE1-6267B45C713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9BEFEB23-D48E-1E6D-A230-651CAF97C95D}"/>
              </a:ext>
            </a:extLst>
          </p:cNvPr>
          <p:cNvSpPr>
            <a:spLocks noGrp="1"/>
          </p:cNvSpPr>
          <p:nvPr>
            <p:ph type="sldNum" sz="quarter" idx="12"/>
          </p:nvPr>
        </p:nvSpPr>
        <p:spPr/>
        <p:txBody>
          <a:bodyPr/>
          <a:lstStyle/>
          <a:p>
            <a:fld id="{F8F6B9CD-BE6B-498B-93B3-0FAD7ADE75E3}" type="slidenum">
              <a:rPr lang="en-US" smtClean="0"/>
              <a:t>57</a:t>
            </a:fld>
            <a:endParaRPr lang="en-US"/>
          </a:p>
        </p:txBody>
      </p:sp>
      <p:pic>
        <p:nvPicPr>
          <p:cNvPr id="6" name="Picture 5">
            <a:extLst>
              <a:ext uri="{FF2B5EF4-FFF2-40B4-BE49-F238E27FC236}">
                <a16:creationId xmlns:a16="http://schemas.microsoft.com/office/drawing/2014/main" id="{D9537B02-20D2-A82D-868D-6DE58347DF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9438" y="452590"/>
            <a:ext cx="3480478" cy="4536853"/>
          </a:xfrm>
          <a:prstGeom prst="rect">
            <a:avLst/>
          </a:prstGeom>
        </p:spPr>
      </p:pic>
      <p:pic>
        <p:nvPicPr>
          <p:cNvPr id="10" name="Picture 9">
            <a:extLst>
              <a:ext uri="{FF2B5EF4-FFF2-40B4-BE49-F238E27FC236}">
                <a16:creationId xmlns:a16="http://schemas.microsoft.com/office/drawing/2014/main" id="{2D0F3EFA-CBD0-885A-D260-0811988717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23406" y="452590"/>
            <a:ext cx="1789151" cy="3675491"/>
          </a:xfrm>
          <a:prstGeom prst="rect">
            <a:avLst/>
          </a:prstGeom>
        </p:spPr>
      </p:pic>
      <p:pic>
        <p:nvPicPr>
          <p:cNvPr id="12" name="Picture 11">
            <a:extLst>
              <a:ext uri="{FF2B5EF4-FFF2-40B4-BE49-F238E27FC236}">
                <a16:creationId xmlns:a16="http://schemas.microsoft.com/office/drawing/2014/main" id="{A025AF66-09D0-8DB2-FA76-BE2A0CD7A9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31205" y="4332532"/>
            <a:ext cx="2048491" cy="2072878"/>
          </a:xfrm>
          <a:prstGeom prst="rect">
            <a:avLst/>
          </a:prstGeom>
        </p:spPr>
      </p:pic>
    </p:spTree>
    <p:extLst>
      <p:ext uri="{BB962C8B-B14F-4D97-AF65-F5344CB8AC3E}">
        <p14:creationId xmlns:p14="http://schemas.microsoft.com/office/powerpoint/2010/main" val="20419872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A1911-BDB8-A784-4FBF-12BEA8D00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1ADE6F-1A29-E694-A906-889A39CF0A2D}"/>
              </a:ext>
            </a:extLst>
          </p:cNvPr>
          <p:cNvSpPr>
            <a:spLocks noGrp="1"/>
          </p:cNvSpPr>
          <p:nvPr>
            <p:ph type="title"/>
          </p:nvPr>
        </p:nvSpPr>
        <p:spPr/>
        <p:txBody>
          <a:bodyPr/>
          <a:lstStyle/>
          <a:p>
            <a:r>
              <a:rPr lang="en-US"/>
              <a:t>Adding Text Over a Photo</a:t>
            </a:r>
          </a:p>
        </p:txBody>
      </p:sp>
      <p:sp>
        <p:nvSpPr>
          <p:cNvPr id="4" name="Content Placeholder 3">
            <a:extLst>
              <a:ext uri="{FF2B5EF4-FFF2-40B4-BE49-F238E27FC236}">
                <a16:creationId xmlns:a16="http://schemas.microsoft.com/office/drawing/2014/main" id="{B6C88773-1D11-260F-CE3F-1511BC4ABF61}"/>
              </a:ext>
            </a:extLst>
          </p:cNvPr>
          <p:cNvSpPr>
            <a:spLocks noGrp="1"/>
          </p:cNvSpPr>
          <p:nvPr>
            <p:ph sz="half" idx="2"/>
          </p:nvPr>
        </p:nvSpPr>
        <p:spPr>
          <a:xfrm>
            <a:off x="612648" y="1234439"/>
            <a:ext cx="5836790" cy="4946904"/>
          </a:xfrm>
        </p:spPr>
        <p:txBody>
          <a:bodyPr/>
          <a:lstStyle/>
          <a:p>
            <a:pPr marL="0" indent="0">
              <a:spcBef>
                <a:spcPts val="0"/>
              </a:spcBef>
              <a:spcAft>
                <a:spcPts val="500"/>
              </a:spcAft>
              <a:buNone/>
            </a:pPr>
            <a:r>
              <a:rPr lang="en-US" b="1">
                <a:solidFill>
                  <a:schemeClr val="accent3"/>
                </a:solidFill>
              </a:rPr>
              <a:t>Adding Text Over an Image</a:t>
            </a:r>
          </a:p>
          <a:p>
            <a:pPr marL="0" indent="0">
              <a:spcBef>
                <a:spcPts val="0"/>
              </a:spcBef>
              <a:spcAft>
                <a:spcPts val="500"/>
              </a:spcAft>
              <a:buNone/>
            </a:pPr>
            <a:r>
              <a:rPr lang="en-US"/>
              <a:t>If there is a need to add text over an image, the brightness and contrast may need to be adjusted so the text is legible.</a:t>
            </a:r>
          </a:p>
          <a:p>
            <a:pPr>
              <a:spcBef>
                <a:spcPts val="0"/>
              </a:spcBef>
              <a:spcAft>
                <a:spcPts val="500"/>
              </a:spcAft>
            </a:pPr>
            <a:r>
              <a:rPr lang="en-US"/>
              <a:t>Click on the </a:t>
            </a:r>
            <a:r>
              <a:rPr lang="en-US" b="1">
                <a:solidFill>
                  <a:schemeClr val="accent1"/>
                </a:solidFill>
              </a:rPr>
              <a:t>photo to Select it</a:t>
            </a:r>
            <a:r>
              <a:rPr lang="en-US"/>
              <a:t>.  </a:t>
            </a:r>
          </a:p>
          <a:p>
            <a:pPr>
              <a:spcBef>
                <a:spcPts val="0"/>
              </a:spcBef>
              <a:spcAft>
                <a:spcPts val="500"/>
              </a:spcAft>
            </a:pPr>
            <a:r>
              <a:rPr lang="en-US"/>
              <a:t>Click the </a:t>
            </a:r>
            <a:r>
              <a:rPr lang="en-US" b="1">
                <a:solidFill>
                  <a:schemeClr val="accent1"/>
                </a:solidFill>
              </a:rPr>
              <a:t>Picture Format</a:t>
            </a:r>
            <a:r>
              <a:rPr lang="en-US"/>
              <a:t> tab. </a:t>
            </a:r>
          </a:p>
          <a:p>
            <a:pPr>
              <a:spcBef>
                <a:spcPts val="0"/>
              </a:spcBef>
              <a:spcAft>
                <a:spcPts val="500"/>
              </a:spcAft>
            </a:pPr>
            <a:r>
              <a:rPr lang="en-US"/>
              <a:t>Select </a:t>
            </a:r>
            <a:r>
              <a:rPr lang="en-US" b="1">
                <a:solidFill>
                  <a:schemeClr val="accent1"/>
                </a:solidFill>
              </a:rPr>
              <a:t>Corrections</a:t>
            </a:r>
            <a:r>
              <a:rPr lang="en-US"/>
              <a:t>.</a:t>
            </a:r>
          </a:p>
          <a:p>
            <a:pPr>
              <a:spcBef>
                <a:spcPts val="0"/>
              </a:spcBef>
              <a:spcAft>
                <a:spcPts val="500"/>
              </a:spcAft>
            </a:pPr>
            <a:r>
              <a:rPr lang="en-US"/>
              <a:t>Select </a:t>
            </a:r>
            <a:r>
              <a:rPr lang="en-US" b="1">
                <a:solidFill>
                  <a:schemeClr val="accent1"/>
                </a:solidFill>
              </a:rPr>
              <a:t>Brightness -20% and Contrast: 0%</a:t>
            </a:r>
            <a:r>
              <a:rPr lang="en-US"/>
              <a:t> (Normal)</a:t>
            </a:r>
          </a:p>
          <a:p>
            <a:pPr>
              <a:spcBef>
                <a:spcPts val="0"/>
              </a:spcBef>
              <a:spcAft>
                <a:spcPts val="500"/>
              </a:spcAft>
            </a:pPr>
            <a:r>
              <a:rPr lang="en-US"/>
              <a:t>Highlight your text box and change the color of the text to white on a dark image or leave as grey on a light image. </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66B5E5DD-43FB-CF82-81B7-C170EE11D68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57D0C18-BB2A-21DC-2C48-DD6FE975EA46}"/>
              </a:ext>
            </a:extLst>
          </p:cNvPr>
          <p:cNvSpPr>
            <a:spLocks noGrp="1"/>
          </p:cNvSpPr>
          <p:nvPr>
            <p:ph type="sldNum" sz="quarter" idx="12"/>
          </p:nvPr>
        </p:nvSpPr>
        <p:spPr/>
        <p:txBody>
          <a:bodyPr/>
          <a:lstStyle/>
          <a:p>
            <a:fld id="{F8F6B9CD-BE6B-498B-93B3-0FAD7ADE75E3}" type="slidenum">
              <a:rPr lang="en-US" smtClean="0"/>
              <a:t>58</a:t>
            </a:fld>
            <a:endParaRPr lang="en-US"/>
          </a:p>
        </p:txBody>
      </p:sp>
      <p:pic>
        <p:nvPicPr>
          <p:cNvPr id="12" name="Picture 11" descr="A screenshot of a computer&#10;&#10;AI-generated content may be incorrect.">
            <a:extLst>
              <a:ext uri="{FF2B5EF4-FFF2-40B4-BE49-F238E27FC236}">
                <a16:creationId xmlns:a16="http://schemas.microsoft.com/office/drawing/2014/main" id="{B3A11770-190E-1FFB-9EB0-6D096AC3AD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84114" y="1169797"/>
            <a:ext cx="4495238" cy="4838095"/>
          </a:xfrm>
          <a:prstGeom prst="rect">
            <a:avLst/>
          </a:prstGeom>
        </p:spPr>
      </p:pic>
    </p:spTree>
    <p:extLst>
      <p:ext uri="{BB962C8B-B14F-4D97-AF65-F5344CB8AC3E}">
        <p14:creationId xmlns:p14="http://schemas.microsoft.com/office/powerpoint/2010/main" val="13585993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E7E34-E50F-A2D0-A68C-38610C9D942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727BB95-04B6-5169-770B-E051F5BBA92A}"/>
              </a:ext>
            </a:extLst>
          </p:cNvPr>
          <p:cNvSpPr>
            <a:spLocks noGrp="1"/>
          </p:cNvSpPr>
          <p:nvPr>
            <p:ph sz="half" idx="1"/>
          </p:nvPr>
        </p:nvSpPr>
        <p:spPr/>
        <p:txBody>
          <a:bodyPr/>
          <a:lstStyle/>
          <a:p>
            <a:endParaRPr lang="en-US"/>
          </a:p>
        </p:txBody>
      </p:sp>
      <p:sp>
        <p:nvSpPr>
          <p:cNvPr id="4" name="Content Placeholder 3">
            <a:extLst>
              <a:ext uri="{FF2B5EF4-FFF2-40B4-BE49-F238E27FC236}">
                <a16:creationId xmlns:a16="http://schemas.microsoft.com/office/drawing/2014/main" id="{BAD2F3BE-AF0D-09B2-2941-0192B9EA49C4}"/>
              </a:ext>
            </a:extLst>
          </p:cNvPr>
          <p:cNvSpPr>
            <a:spLocks noGrp="1"/>
          </p:cNvSpPr>
          <p:nvPr>
            <p:ph sz="half" idx="2"/>
          </p:nvPr>
        </p:nvSpPr>
        <p:spPr/>
        <p:txBody>
          <a:bodyPr/>
          <a:lstStyle/>
          <a:p>
            <a:endParaRPr lang="en-US"/>
          </a:p>
        </p:txBody>
      </p:sp>
      <p:sp>
        <p:nvSpPr>
          <p:cNvPr id="5" name="Footer Placeholder 4">
            <a:extLst>
              <a:ext uri="{FF2B5EF4-FFF2-40B4-BE49-F238E27FC236}">
                <a16:creationId xmlns:a16="http://schemas.microsoft.com/office/drawing/2014/main" id="{FD8C4B82-2749-C5F2-A692-1C99CC8B0CA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DA039D95-A684-5542-B4F9-79E8282BE504}"/>
              </a:ext>
            </a:extLst>
          </p:cNvPr>
          <p:cNvSpPr>
            <a:spLocks noGrp="1"/>
          </p:cNvSpPr>
          <p:nvPr>
            <p:ph type="sldNum" sz="quarter" idx="12"/>
          </p:nvPr>
        </p:nvSpPr>
        <p:spPr/>
        <p:txBody>
          <a:bodyPr/>
          <a:lstStyle/>
          <a:p>
            <a:fld id="{F8F6B9CD-BE6B-498B-93B3-0FAD7ADE75E3}" type="slidenum">
              <a:rPr lang="en-US" smtClean="0"/>
              <a:t>59</a:t>
            </a:fld>
            <a:endParaRPr lang="en-US"/>
          </a:p>
        </p:txBody>
      </p:sp>
    </p:spTree>
    <p:extLst>
      <p:ext uri="{BB962C8B-B14F-4D97-AF65-F5344CB8AC3E}">
        <p14:creationId xmlns:p14="http://schemas.microsoft.com/office/powerpoint/2010/main" val="315597480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792585AD-EED0-BFD4-0BC2-D7FAC363C661}"/>
              </a:ext>
            </a:extLst>
          </p:cNvPr>
          <p:cNvSpPr>
            <a:spLocks noGrp="1"/>
          </p:cNvSpPr>
          <p:nvPr>
            <p:ph type="pic" sz="quarter" idx="13"/>
          </p:nvPr>
        </p:nvSpPr>
        <p:spPr/>
        <p:txBody>
          <a:bodyPr/>
          <a:lstStyle/>
          <a:p>
            <a:endParaRPr lang="en-US"/>
          </a:p>
        </p:txBody>
      </p:sp>
      <p:sp>
        <p:nvSpPr>
          <p:cNvPr id="3" name="Title 2">
            <a:extLst>
              <a:ext uri="{FF2B5EF4-FFF2-40B4-BE49-F238E27FC236}">
                <a16:creationId xmlns:a16="http://schemas.microsoft.com/office/drawing/2014/main" id="{A450D9DB-3EFB-AB04-5971-B88993754552}"/>
              </a:ext>
            </a:extLst>
          </p:cNvPr>
          <p:cNvSpPr>
            <a:spLocks noGrp="1"/>
          </p:cNvSpPr>
          <p:nvPr>
            <p:ph type="title"/>
          </p:nvPr>
        </p:nvSpPr>
        <p:spPr/>
        <p:txBody>
          <a:bodyPr/>
          <a:lstStyle/>
          <a:p>
            <a:endParaRPr lang="en-US"/>
          </a:p>
        </p:txBody>
      </p:sp>
      <p:sp>
        <p:nvSpPr>
          <p:cNvPr id="4" name="Content Placeholder 3">
            <a:extLst>
              <a:ext uri="{FF2B5EF4-FFF2-40B4-BE49-F238E27FC236}">
                <a16:creationId xmlns:a16="http://schemas.microsoft.com/office/drawing/2014/main" id="{2C90F56F-B349-DAC5-F1E4-06CA01C26A74}"/>
              </a:ext>
            </a:extLst>
          </p:cNvPr>
          <p:cNvSpPr>
            <a:spLocks noGrp="1"/>
          </p:cNvSpPr>
          <p:nvPr>
            <p:ph sz="half" idx="1"/>
          </p:nvPr>
        </p:nvSpPr>
        <p:spPr/>
        <p:txBody>
          <a:bodyPr/>
          <a:lstStyle/>
          <a:p>
            <a:endParaRPr lang="en-US"/>
          </a:p>
        </p:txBody>
      </p:sp>
      <p:sp>
        <p:nvSpPr>
          <p:cNvPr id="5" name="Footer Placeholder 4">
            <a:extLst>
              <a:ext uri="{FF2B5EF4-FFF2-40B4-BE49-F238E27FC236}">
                <a16:creationId xmlns:a16="http://schemas.microsoft.com/office/drawing/2014/main" id="{91F4D97C-BC56-D4F9-6B9E-5A5E2F5CC268}"/>
              </a:ext>
            </a:extLst>
          </p:cNvPr>
          <p:cNvSpPr>
            <a:spLocks noGrp="1"/>
          </p:cNvSpPr>
          <p:nvPr>
            <p:ph type="ftr" sz="quarter" idx="11"/>
          </p:nvPr>
        </p:nvSpPr>
        <p:spPr/>
        <p:txBody>
          <a:bodyPr/>
          <a:lstStyle/>
          <a:p>
            <a:r>
              <a:rPr lang="en-US"/>
              <a:t>Confidential. Not to be copied, distributed, or reproduced without prior approval. </a:t>
            </a:r>
            <a:br>
              <a:rPr lang="en-US"/>
            </a:br>
            <a:r>
              <a:rPr lang="en-US"/>
              <a:t>© 2026 APTIM - All rights reserved.</a:t>
            </a:r>
          </a:p>
        </p:txBody>
      </p:sp>
      <p:sp>
        <p:nvSpPr>
          <p:cNvPr id="6" name="Slide Number Placeholder 5">
            <a:extLst>
              <a:ext uri="{FF2B5EF4-FFF2-40B4-BE49-F238E27FC236}">
                <a16:creationId xmlns:a16="http://schemas.microsoft.com/office/drawing/2014/main" id="{EB7ECE9C-1D5A-8384-97D1-3A49160729BB}"/>
              </a:ext>
            </a:extLst>
          </p:cNvPr>
          <p:cNvSpPr>
            <a:spLocks noGrp="1"/>
          </p:cNvSpPr>
          <p:nvPr>
            <p:ph type="sldNum" sz="quarter" idx="12"/>
          </p:nvPr>
        </p:nvSpPr>
        <p:spPr/>
        <p:txBody>
          <a:bodyPr/>
          <a:lstStyle/>
          <a:p>
            <a:fld id="{F8F6B9CD-BE6B-498B-93B3-0FAD7ADE75E3}" type="slidenum">
              <a:rPr lang="en-US" smtClean="0"/>
              <a:t>60</a:t>
            </a:fld>
            <a:endParaRPr lang="en-US"/>
          </a:p>
        </p:txBody>
      </p:sp>
    </p:spTree>
    <p:extLst>
      <p:ext uri="{BB962C8B-B14F-4D97-AF65-F5344CB8AC3E}">
        <p14:creationId xmlns:p14="http://schemas.microsoft.com/office/powerpoint/2010/main" val="389764630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CCFD9-8A0C-BCB7-49F8-96DFC1FDA846}"/>
              </a:ext>
            </a:extLst>
          </p:cNvPr>
          <p:cNvSpPr>
            <a:spLocks noGrp="1"/>
          </p:cNvSpPr>
          <p:nvPr>
            <p:ph type="ctrTitle"/>
          </p:nvPr>
        </p:nvSpPr>
        <p:spPr/>
        <p:txBody>
          <a:bodyPr/>
          <a:lstStyle/>
          <a:p>
            <a:r>
              <a:rPr lang="en-US"/>
              <a:t>Section Title</a:t>
            </a:r>
          </a:p>
        </p:txBody>
      </p:sp>
      <p:sp>
        <p:nvSpPr>
          <p:cNvPr id="3" name="Subtitle 2">
            <a:extLst>
              <a:ext uri="{FF2B5EF4-FFF2-40B4-BE49-F238E27FC236}">
                <a16:creationId xmlns:a16="http://schemas.microsoft.com/office/drawing/2014/main" id="{31A13FC7-DD45-772F-14C9-C7A4CA298E0C}"/>
              </a:ext>
            </a:extLst>
          </p:cNvPr>
          <p:cNvSpPr>
            <a:spLocks noGrp="1"/>
          </p:cNvSpPr>
          <p:nvPr>
            <p:ph type="subTitle" idx="1"/>
          </p:nvPr>
        </p:nvSpPr>
        <p:spPr/>
        <p:txBody>
          <a:bodyPr/>
          <a:lstStyle/>
          <a:p>
            <a:r>
              <a:rPr lang="en-US"/>
              <a:t>Section Subtitle if Needed</a:t>
            </a:r>
          </a:p>
        </p:txBody>
      </p:sp>
      <p:sp>
        <p:nvSpPr>
          <p:cNvPr id="4" name="Footer Placeholder 3">
            <a:extLst>
              <a:ext uri="{FF2B5EF4-FFF2-40B4-BE49-F238E27FC236}">
                <a16:creationId xmlns:a16="http://schemas.microsoft.com/office/drawing/2014/main" id="{C28ED03B-EECB-B270-221C-0CFB3BC805B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C136FF7-0126-F85E-03E5-1F0F04C1FDB7}"/>
              </a:ext>
            </a:extLst>
          </p:cNvPr>
          <p:cNvSpPr>
            <a:spLocks noGrp="1"/>
          </p:cNvSpPr>
          <p:nvPr>
            <p:ph type="sldNum" sz="quarter" idx="12"/>
          </p:nvPr>
        </p:nvSpPr>
        <p:spPr/>
        <p:txBody>
          <a:bodyPr/>
          <a:lstStyle/>
          <a:p>
            <a:fld id="{F8F6B9CD-BE6B-498B-93B3-0FAD7ADE75E3}" type="slidenum">
              <a:rPr lang="en-US" smtClean="0"/>
              <a:pPr/>
              <a:t>61</a:t>
            </a:fld>
            <a:endParaRPr lang="en-US"/>
          </a:p>
        </p:txBody>
      </p:sp>
    </p:spTree>
    <p:extLst>
      <p:ext uri="{BB962C8B-B14F-4D97-AF65-F5344CB8AC3E}">
        <p14:creationId xmlns:p14="http://schemas.microsoft.com/office/powerpoint/2010/main" val="17140140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369DD72-1414-E281-D101-7AED1DDEC631}"/>
              </a:ext>
            </a:extLst>
          </p:cNvPr>
          <p:cNvSpPr>
            <a:spLocks noGrp="1"/>
          </p:cNvSpPr>
          <p:nvPr>
            <p:ph type="title"/>
          </p:nvPr>
        </p:nvSpPr>
        <p:spPr/>
        <p:txBody>
          <a:bodyPr/>
          <a:lstStyle/>
          <a:p>
            <a:endParaRPr lang="en-US"/>
          </a:p>
        </p:txBody>
      </p:sp>
      <p:sp>
        <p:nvSpPr>
          <p:cNvPr id="10" name="Content Placeholder 9">
            <a:extLst>
              <a:ext uri="{FF2B5EF4-FFF2-40B4-BE49-F238E27FC236}">
                <a16:creationId xmlns:a16="http://schemas.microsoft.com/office/drawing/2014/main" id="{F173F695-2457-A400-C69D-46E924FD0B52}"/>
              </a:ext>
            </a:extLst>
          </p:cNvPr>
          <p:cNvSpPr>
            <a:spLocks noGrp="1"/>
          </p:cNvSpPr>
          <p:nvPr>
            <p:ph idx="1"/>
          </p:nvPr>
        </p:nvSpPr>
        <p:spPr/>
        <p:txBody>
          <a:bodyPr/>
          <a:lstStyle/>
          <a:p>
            <a:endParaRPr lang="en-US"/>
          </a:p>
        </p:txBody>
      </p:sp>
      <p:sp>
        <p:nvSpPr>
          <p:cNvPr id="7" name="Footer Placeholder 6">
            <a:extLst>
              <a:ext uri="{FF2B5EF4-FFF2-40B4-BE49-F238E27FC236}">
                <a16:creationId xmlns:a16="http://schemas.microsoft.com/office/drawing/2014/main" id="{D6551C70-0D18-FA2D-8104-FDF12332BE1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B2113149-682D-219C-4779-9E0C21E9B152}"/>
              </a:ext>
            </a:extLst>
          </p:cNvPr>
          <p:cNvSpPr>
            <a:spLocks noGrp="1"/>
          </p:cNvSpPr>
          <p:nvPr>
            <p:ph type="sldNum" sz="quarter" idx="12"/>
          </p:nvPr>
        </p:nvSpPr>
        <p:spPr/>
        <p:txBody>
          <a:bodyPr/>
          <a:lstStyle/>
          <a:p>
            <a:fld id="{F8F6B9CD-BE6B-498B-93B3-0FAD7ADE75E3}" type="slidenum">
              <a:rPr lang="en-US" smtClean="0"/>
              <a:t>62</a:t>
            </a:fld>
            <a:endParaRPr lang="en-US"/>
          </a:p>
        </p:txBody>
      </p:sp>
      <p:sp>
        <p:nvSpPr>
          <p:cNvPr id="11" name="Text Placeholder 10">
            <a:extLst>
              <a:ext uri="{FF2B5EF4-FFF2-40B4-BE49-F238E27FC236}">
                <a16:creationId xmlns:a16="http://schemas.microsoft.com/office/drawing/2014/main" id="{B1775A68-006C-A116-3E5F-A20E924511B2}"/>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353432301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BAE5A-EBF4-F3FF-3503-335836F1A79F}"/>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84C78CE5-102D-2092-6001-F493C67ACB89}"/>
              </a:ext>
            </a:extLst>
          </p:cNvPr>
          <p:cNvSpPr>
            <a:spLocks noGrp="1"/>
          </p:cNvSpPr>
          <p:nvPr>
            <p:ph type="body" idx="1"/>
          </p:nvPr>
        </p:nvSpPr>
        <p:spPr/>
        <p:txBody>
          <a:bodyPr/>
          <a:lstStyle/>
          <a:p>
            <a:endParaRPr lang="en-US"/>
          </a:p>
        </p:txBody>
      </p:sp>
      <p:sp>
        <p:nvSpPr>
          <p:cNvPr id="4" name="Content Placeholder 3">
            <a:extLst>
              <a:ext uri="{FF2B5EF4-FFF2-40B4-BE49-F238E27FC236}">
                <a16:creationId xmlns:a16="http://schemas.microsoft.com/office/drawing/2014/main" id="{1B0A9CB9-2150-6A14-8875-294862BC6C47}"/>
              </a:ext>
            </a:extLst>
          </p:cNvPr>
          <p:cNvSpPr>
            <a:spLocks noGrp="1"/>
          </p:cNvSpPr>
          <p:nvPr>
            <p:ph sz="half" idx="2"/>
          </p:nvPr>
        </p:nvSpPr>
        <p:spPr/>
        <p:txBody>
          <a:bodyPr/>
          <a:lstStyle/>
          <a:p>
            <a:endParaRPr lang="en-US"/>
          </a:p>
        </p:txBody>
      </p:sp>
      <p:sp>
        <p:nvSpPr>
          <p:cNvPr id="5" name="Text Placeholder 4">
            <a:extLst>
              <a:ext uri="{FF2B5EF4-FFF2-40B4-BE49-F238E27FC236}">
                <a16:creationId xmlns:a16="http://schemas.microsoft.com/office/drawing/2014/main" id="{ADCFC05D-0D3D-735E-1F4A-97AF426512E3}"/>
              </a:ext>
            </a:extLst>
          </p:cNvPr>
          <p:cNvSpPr>
            <a:spLocks noGrp="1"/>
          </p:cNvSpPr>
          <p:nvPr>
            <p:ph type="body" sz="quarter" idx="3"/>
          </p:nvPr>
        </p:nvSpPr>
        <p:spPr/>
        <p:txBody>
          <a:bodyPr/>
          <a:lstStyle/>
          <a:p>
            <a:endParaRPr lang="en-US"/>
          </a:p>
        </p:txBody>
      </p:sp>
      <p:sp>
        <p:nvSpPr>
          <p:cNvPr id="6" name="Content Placeholder 5">
            <a:extLst>
              <a:ext uri="{FF2B5EF4-FFF2-40B4-BE49-F238E27FC236}">
                <a16:creationId xmlns:a16="http://schemas.microsoft.com/office/drawing/2014/main" id="{253B72A6-7B09-4642-1C30-648AB7938FEF}"/>
              </a:ext>
            </a:extLst>
          </p:cNvPr>
          <p:cNvSpPr>
            <a:spLocks noGrp="1"/>
          </p:cNvSpPr>
          <p:nvPr>
            <p:ph sz="quarter" idx="4"/>
          </p:nvPr>
        </p:nvSpPr>
        <p:spPr/>
        <p:txBody>
          <a:bodyPr/>
          <a:lstStyle/>
          <a:p>
            <a:endParaRPr lang="en-US"/>
          </a:p>
        </p:txBody>
      </p:sp>
      <p:sp>
        <p:nvSpPr>
          <p:cNvPr id="7" name="Footer Placeholder 6">
            <a:extLst>
              <a:ext uri="{FF2B5EF4-FFF2-40B4-BE49-F238E27FC236}">
                <a16:creationId xmlns:a16="http://schemas.microsoft.com/office/drawing/2014/main" id="{4941899D-70EE-3216-631F-A86260C3646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3E57E4F-689C-26D8-C480-99376B87B4ED}"/>
              </a:ext>
            </a:extLst>
          </p:cNvPr>
          <p:cNvSpPr>
            <a:spLocks noGrp="1"/>
          </p:cNvSpPr>
          <p:nvPr>
            <p:ph type="sldNum" sz="quarter" idx="12"/>
          </p:nvPr>
        </p:nvSpPr>
        <p:spPr/>
        <p:txBody>
          <a:bodyPr/>
          <a:lstStyle/>
          <a:p>
            <a:fld id="{F8F6B9CD-BE6B-498B-93B3-0FAD7ADE75E3}" type="slidenum">
              <a:rPr lang="en-US" smtClean="0"/>
              <a:t>63</a:t>
            </a:fld>
            <a:endParaRPr lang="en-US"/>
          </a:p>
        </p:txBody>
      </p:sp>
    </p:spTree>
    <p:extLst>
      <p:ext uri="{BB962C8B-B14F-4D97-AF65-F5344CB8AC3E}">
        <p14:creationId xmlns:p14="http://schemas.microsoft.com/office/powerpoint/2010/main" val="384858123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FB4368E-5611-092B-76C4-5C9D3341887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51DD7BEC-3BDF-1E73-E6ED-400CE672D5B9}"/>
              </a:ext>
            </a:extLst>
          </p:cNvPr>
          <p:cNvSpPr>
            <a:spLocks noGrp="1"/>
          </p:cNvSpPr>
          <p:nvPr>
            <p:ph type="sldNum" sz="quarter" idx="12"/>
          </p:nvPr>
        </p:nvSpPr>
        <p:spPr/>
        <p:txBody>
          <a:bodyPr/>
          <a:lstStyle/>
          <a:p>
            <a:fld id="{F8F6B9CD-BE6B-498B-93B3-0FAD7ADE75E3}" type="slidenum">
              <a:rPr lang="en-US" smtClean="0"/>
              <a:t>64</a:t>
            </a:fld>
            <a:endParaRPr lang="en-US"/>
          </a:p>
        </p:txBody>
      </p:sp>
      <p:sp>
        <p:nvSpPr>
          <p:cNvPr id="4" name="Picture Placeholder 3">
            <a:extLst>
              <a:ext uri="{FF2B5EF4-FFF2-40B4-BE49-F238E27FC236}">
                <a16:creationId xmlns:a16="http://schemas.microsoft.com/office/drawing/2014/main" id="{12E5F703-9119-2409-524A-1D1409D1A25F}"/>
              </a:ext>
            </a:extLst>
          </p:cNvPr>
          <p:cNvSpPr>
            <a:spLocks noGrp="1"/>
          </p:cNvSpPr>
          <p:nvPr>
            <p:ph type="pic" sz="quarter" idx="13"/>
          </p:nvPr>
        </p:nvSpPr>
        <p:spPr/>
        <p:txBody>
          <a:bodyPr/>
          <a:lstStyle/>
          <a:p>
            <a:endParaRPr lang="en-US"/>
          </a:p>
        </p:txBody>
      </p:sp>
      <p:sp>
        <p:nvSpPr>
          <p:cNvPr id="5" name="Picture Placeholder 4">
            <a:extLst>
              <a:ext uri="{FF2B5EF4-FFF2-40B4-BE49-F238E27FC236}">
                <a16:creationId xmlns:a16="http://schemas.microsoft.com/office/drawing/2014/main" id="{9A073569-6AFF-120C-5330-84BFC8651870}"/>
              </a:ext>
            </a:extLst>
          </p:cNvPr>
          <p:cNvSpPr>
            <a:spLocks noGrp="1"/>
          </p:cNvSpPr>
          <p:nvPr>
            <p:ph type="pic" sz="quarter" idx="14"/>
          </p:nvPr>
        </p:nvSpPr>
        <p:spPr/>
        <p:txBody>
          <a:bodyPr/>
          <a:lstStyle/>
          <a:p>
            <a:endParaRPr lang="en-US"/>
          </a:p>
        </p:txBody>
      </p:sp>
      <p:sp>
        <p:nvSpPr>
          <p:cNvPr id="6" name="Text Placeholder 5">
            <a:extLst>
              <a:ext uri="{FF2B5EF4-FFF2-40B4-BE49-F238E27FC236}">
                <a16:creationId xmlns:a16="http://schemas.microsoft.com/office/drawing/2014/main" id="{A805AF36-1E52-C13C-80F7-F9B073B79472}"/>
              </a:ext>
            </a:extLst>
          </p:cNvPr>
          <p:cNvSpPr>
            <a:spLocks noGrp="1"/>
          </p:cNvSpPr>
          <p:nvPr>
            <p:ph type="body" sz="quarter" idx="15"/>
          </p:nvPr>
        </p:nvSpPr>
        <p:spPr/>
        <p:txBody>
          <a:bodyPr/>
          <a:lstStyle/>
          <a:p>
            <a:endParaRPr lang="en-US"/>
          </a:p>
        </p:txBody>
      </p:sp>
      <p:sp>
        <p:nvSpPr>
          <p:cNvPr id="7" name="Text Placeholder 6">
            <a:extLst>
              <a:ext uri="{FF2B5EF4-FFF2-40B4-BE49-F238E27FC236}">
                <a16:creationId xmlns:a16="http://schemas.microsoft.com/office/drawing/2014/main" id="{78689703-ABE8-4097-566B-FF22FFC25469}"/>
              </a:ext>
            </a:extLst>
          </p:cNvPr>
          <p:cNvSpPr>
            <a:spLocks noGrp="1"/>
          </p:cNvSpPr>
          <p:nvPr>
            <p:ph type="body" sz="quarter" idx="16"/>
          </p:nvPr>
        </p:nvSpPr>
        <p:spPr/>
        <p:txBody>
          <a:bodyPr/>
          <a:lstStyle/>
          <a:p>
            <a:endParaRPr lang="en-US"/>
          </a:p>
        </p:txBody>
      </p:sp>
      <p:sp>
        <p:nvSpPr>
          <p:cNvPr id="8" name="Picture Placeholder 7">
            <a:extLst>
              <a:ext uri="{FF2B5EF4-FFF2-40B4-BE49-F238E27FC236}">
                <a16:creationId xmlns:a16="http://schemas.microsoft.com/office/drawing/2014/main" id="{C2401FD4-24AB-CE0F-A3FD-A3970A51DC2F}"/>
              </a:ext>
            </a:extLst>
          </p:cNvPr>
          <p:cNvSpPr>
            <a:spLocks noGrp="1"/>
          </p:cNvSpPr>
          <p:nvPr>
            <p:ph type="pic" sz="quarter" idx="17"/>
          </p:nvPr>
        </p:nvSpPr>
        <p:spPr/>
        <p:txBody>
          <a:bodyPr/>
          <a:lstStyle/>
          <a:p>
            <a:endParaRPr lang="en-US"/>
          </a:p>
        </p:txBody>
      </p:sp>
      <p:sp>
        <p:nvSpPr>
          <p:cNvPr id="9" name="Picture Placeholder 8">
            <a:extLst>
              <a:ext uri="{FF2B5EF4-FFF2-40B4-BE49-F238E27FC236}">
                <a16:creationId xmlns:a16="http://schemas.microsoft.com/office/drawing/2014/main" id="{A4A289F9-D5FC-85F9-B5D5-0A28A7673537}"/>
              </a:ext>
            </a:extLst>
          </p:cNvPr>
          <p:cNvSpPr>
            <a:spLocks noGrp="1"/>
          </p:cNvSpPr>
          <p:nvPr>
            <p:ph type="pic" sz="quarter" idx="18"/>
          </p:nvPr>
        </p:nvSpPr>
        <p:spPr/>
        <p:txBody>
          <a:bodyPr/>
          <a:lstStyle/>
          <a:p>
            <a:endParaRPr lang="en-US"/>
          </a:p>
        </p:txBody>
      </p:sp>
      <p:sp>
        <p:nvSpPr>
          <p:cNvPr id="10" name="Picture Placeholder 9">
            <a:extLst>
              <a:ext uri="{FF2B5EF4-FFF2-40B4-BE49-F238E27FC236}">
                <a16:creationId xmlns:a16="http://schemas.microsoft.com/office/drawing/2014/main" id="{6912C9EA-6E2D-D4A5-F16F-D1D114593A7B}"/>
              </a:ext>
            </a:extLst>
          </p:cNvPr>
          <p:cNvSpPr>
            <a:spLocks noGrp="1"/>
          </p:cNvSpPr>
          <p:nvPr>
            <p:ph type="pic" sz="quarter" idx="19"/>
          </p:nvPr>
        </p:nvSpPr>
        <p:spPr/>
        <p:txBody>
          <a:bodyPr/>
          <a:lstStyle/>
          <a:p>
            <a:endParaRPr lang="en-US"/>
          </a:p>
        </p:txBody>
      </p:sp>
      <p:sp>
        <p:nvSpPr>
          <p:cNvPr id="11" name="Text Placeholder 10">
            <a:extLst>
              <a:ext uri="{FF2B5EF4-FFF2-40B4-BE49-F238E27FC236}">
                <a16:creationId xmlns:a16="http://schemas.microsoft.com/office/drawing/2014/main" id="{CEAAE5DF-8E8D-6D3D-C717-FEEE5BFE4E6B}"/>
              </a:ext>
            </a:extLst>
          </p:cNvPr>
          <p:cNvSpPr>
            <a:spLocks noGrp="1"/>
          </p:cNvSpPr>
          <p:nvPr>
            <p:ph type="body" sz="quarter" idx="20"/>
          </p:nvPr>
        </p:nvSpPr>
        <p:spPr/>
        <p:txBody>
          <a:bodyPr/>
          <a:lstStyle/>
          <a:p>
            <a:endParaRPr lang="en-US"/>
          </a:p>
        </p:txBody>
      </p:sp>
    </p:spTree>
    <p:extLst>
      <p:ext uri="{BB962C8B-B14F-4D97-AF65-F5344CB8AC3E}">
        <p14:creationId xmlns:p14="http://schemas.microsoft.com/office/powerpoint/2010/main" val="279186239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61CD6-44FB-F543-BB64-1C7FB6133DB0}"/>
              </a:ext>
            </a:extLst>
          </p:cNvPr>
          <p:cNvSpPr>
            <a:spLocks noGrp="1"/>
          </p:cNvSpPr>
          <p:nvPr>
            <p:ph type="title"/>
          </p:nvPr>
        </p:nvSpPr>
        <p:spPr>
          <a:xfrm>
            <a:off x="609599" y="365126"/>
            <a:ext cx="10972799" cy="804735"/>
          </a:xfrm>
        </p:spPr>
        <p:txBody>
          <a:bodyPr/>
          <a:lstStyle/>
          <a:p>
            <a:r>
              <a:rPr lang="en-US"/>
              <a:t>Elements to Pick Up/Use</a:t>
            </a:r>
          </a:p>
        </p:txBody>
      </p:sp>
      <p:sp>
        <p:nvSpPr>
          <p:cNvPr id="3" name="Footer Placeholder 2">
            <a:extLst>
              <a:ext uri="{FF2B5EF4-FFF2-40B4-BE49-F238E27FC236}">
                <a16:creationId xmlns:a16="http://schemas.microsoft.com/office/drawing/2014/main" id="{007F34BC-7155-197D-0A49-E970BE83641C}"/>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86108170-5AB2-6E86-EB29-732FD77B3403}"/>
              </a:ext>
            </a:extLst>
          </p:cNvPr>
          <p:cNvSpPr>
            <a:spLocks noGrp="1"/>
          </p:cNvSpPr>
          <p:nvPr>
            <p:ph type="sldNum" sz="quarter" idx="12"/>
          </p:nvPr>
        </p:nvSpPr>
        <p:spPr/>
        <p:txBody>
          <a:bodyPr/>
          <a:lstStyle/>
          <a:p>
            <a:fld id="{F8F6B9CD-BE6B-498B-93B3-0FAD7ADE75E3}" type="slidenum">
              <a:rPr lang="en-US" smtClean="0"/>
              <a:t>65</a:t>
            </a:fld>
            <a:endParaRPr lang="en-US"/>
          </a:p>
        </p:txBody>
      </p:sp>
      <p:grpSp>
        <p:nvGrpSpPr>
          <p:cNvPr id="13" name="Group 12">
            <a:extLst>
              <a:ext uri="{FF2B5EF4-FFF2-40B4-BE49-F238E27FC236}">
                <a16:creationId xmlns:a16="http://schemas.microsoft.com/office/drawing/2014/main" id="{E39F378A-9E0F-DD04-0862-3060ED67D87E}"/>
              </a:ext>
            </a:extLst>
          </p:cNvPr>
          <p:cNvGrpSpPr/>
          <p:nvPr/>
        </p:nvGrpSpPr>
        <p:grpSpPr>
          <a:xfrm>
            <a:off x="609599" y="1260003"/>
            <a:ext cx="3200400" cy="3783945"/>
            <a:chOff x="360962" y="1230506"/>
            <a:chExt cx="3200400" cy="3783945"/>
          </a:xfrm>
        </p:grpSpPr>
        <p:sp>
          <p:nvSpPr>
            <p:cNvPr id="6" name="Rectangle 5">
              <a:extLst>
                <a:ext uri="{FF2B5EF4-FFF2-40B4-BE49-F238E27FC236}">
                  <a16:creationId xmlns:a16="http://schemas.microsoft.com/office/drawing/2014/main" id="{1FF68B67-3C84-5E1A-DC32-E0175FD337D2}"/>
                </a:ext>
              </a:extLst>
            </p:cNvPr>
            <p:cNvSpPr/>
            <p:nvPr/>
          </p:nvSpPr>
          <p:spPr>
            <a:xfrm>
              <a:off x="360962" y="1410724"/>
              <a:ext cx="3200400" cy="3603727"/>
            </a:xfrm>
            <a:prstGeom prst="rect">
              <a:avLst/>
            </a:prstGeom>
            <a:solidFill>
              <a:schemeClr val="accent3">
                <a:lumMod val="20000"/>
                <a:lumOff val="80000"/>
                <a:alpha val="3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2" name="Group 11">
              <a:extLst>
                <a:ext uri="{FF2B5EF4-FFF2-40B4-BE49-F238E27FC236}">
                  <a16:creationId xmlns:a16="http://schemas.microsoft.com/office/drawing/2014/main" id="{50188AFB-DF0B-DEC1-9F6D-984435A54D8B}"/>
                </a:ext>
              </a:extLst>
            </p:cNvPr>
            <p:cNvGrpSpPr/>
            <p:nvPr/>
          </p:nvGrpSpPr>
          <p:grpSpPr>
            <a:xfrm>
              <a:off x="383829" y="1230506"/>
              <a:ext cx="3154666" cy="3570439"/>
              <a:chOff x="423530" y="1230506"/>
              <a:chExt cx="3154666" cy="3570439"/>
            </a:xfrm>
          </p:grpSpPr>
          <p:sp>
            <p:nvSpPr>
              <p:cNvPr id="7" name="TextBox 6">
                <a:extLst>
                  <a:ext uri="{FF2B5EF4-FFF2-40B4-BE49-F238E27FC236}">
                    <a16:creationId xmlns:a16="http://schemas.microsoft.com/office/drawing/2014/main" id="{E0FEE9C8-0945-4673-127B-D1B9F8D6B584}"/>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002856"/>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rgbClr val="002856"/>
                    </a:solidFill>
                    <a:effectLst/>
                    <a:uLnTx/>
                    <a:uFillTx/>
                    <a:latin typeface="Arial" panose="020B0604020202020204"/>
                    <a:ea typeface="+mn-ea"/>
                    <a:cs typeface="+mn-cs"/>
                  </a:rPr>
                </a:br>
                <a:endParaRPr kumimoji="0" lang="en-US" sz="1800" b="0" i="0" u="none" strike="noStrike" kern="1200" cap="none" spc="0" normalizeH="0" baseline="0" noProof="0">
                  <a:ln>
                    <a:noFill/>
                  </a:ln>
                  <a:solidFill>
                    <a:srgbClr val="002856"/>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accent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accent1"/>
                    </a:solidFill>
                    <a:effectLst/>
                    <a:uLnTx/>
                    <a:uFillTx/>
                    <a:latin typeface="Arial" panose="020B0604020202020204"/>
                    <a:ea typeface="+mn-ea"/>
                    <a:cs typeface="+mn-cs"/>
                  </a:rPr>
                  <a:t>APTIM Chairman &amp; CE</a:t>
                </a:r>
                <a:r>
                  <a:rPr lang="en-US" sz="1100">
                    <a:solidFill>
                      <a:schemeClr val="accent1"/>
                    </a:solidFill>
                    <a:latin typeface="Arial" panose="020B0604020202020204"/>
                  </a:rPr>
                  <a:t>O</a:t>
                </a:r>
                <a:endPar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endParaRPr>
              </a:p>
            </p:txBody>
          </p:sp>
          <p:sp>
            <p:nvSpPr>
              <p:cNvPr id="8" name="TextBox 7">
                <a:extLst>
                  <a:ext uri="{FF2B5EF4-FFF2-40B4-BE49-F238E27FC236}">
                    <a16:creationId xmlns:a16="http://schemas.microsoft.com/office/drawing/2014/main" id="{92F3A2C1-1B61-C218-73FF-0FF2A44CF31F}"/>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rPr>
                  <a:t>“</a:t>
                </a:r>
              </a:p>
            </p:txBody>
          </p:sp>
          <p:sp>
            <p:nvSpPr>
              <p:cNvPr id="9" name="TextBox 8">
                <a:extLst>
                  <a:ext uri="{FF2B5EF4-FFF2-40B4-BE49-F238E27FC236}">
                    <a16:creationId xmlns:a16="http://schemas.microsoft.com/office/drawing/2014/main" id="{0CF4A529-3D11-FAF3-E9DD-88278FF22DBE}"/>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ea typeface="+mn-ea"/>
                    <a:cs typeface="+mn-cs"/>
                  </a:rPr>
                  <a:t>”</a:t>
                </a:r>
              </a:p>
            </p:txBody>
          </p:sp>
        </p:grpSp>
      </p:grpSp>
      <p:grpSp>
        <p:nvGrpSpPr>
          <p:cNvPr id="10" name="Group 9">
            <a:extLst>
              <a:ext uri="{FF2B5EF4-FFF2-40B4-BE49-F238E27FC236}">
                <a16:creationId xmlns:a16="http://schemas.microsoft.com/office/drawing/2014/main" id="{08735A64-8067-C978-AFA2-72A926C18214}"/>
              </a:ext>
            </a:extLst>
          </p:cNvPr>
          <p:cNvGrpSpPr/>
          <p:nvPr/>
        </p:nvGrpSpPr>
        <p:grpSpPr>
          <a:xfrm>
            <a:off x="4210663" y="1260003"/>
            <a:ext cx="3200400" cy="3783945"/>
            <a:chOff x="360962" y="1230506"/>
            <a:chExt cx="3200400" cy="3783945"/>
          </a:xfrm>
        </p:grpSpPr>
        <p:sp>
          <p:nvSpPr>
            <p:cNvPr id="11" name="Rectangle 10">
              <a:extLst>
                <a:ext uri="{FF2B5EF4-FFF2-40B4-BE49-F238E27FC236}">
                  <a16:creationId xmlns:a16="http://schemas.microsoft.com/office/drawing/2014/main" id="{3ABB1D67-48C6-4C70-1FE3-8F2A79AA818B}"/>
                </a:ext>
              </a:extLst>
            </p:cNvPr>
            <p:cNvSpPr/>
            <p:nvPr/>
          </p:nvSpPr>
          <p:spPr>
            <a:xfrm>
              <a:off x="360962" y="1410724"/>
              <a:ext cx="3200400" cy="360372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4" name="Group 13">
              <a:extLst>
                <a:ext uri="{FF2B5EF4-FFF2-40B4-BE49-F238E27FC236}">
                  <a16:creationId xmlns:a16="http://schemas.microsoft.com/office/drawing/2014/main" id="{E4D37C9A-0AE5-985A-9B7F-306C69E68613}"/>
                </a:ext>
              </a:extLst>
            </p:cNvPr>
            <p:cNvGrpSpPr/>
            <p:nvPr/>
          </p:nvGrpSpPr>
          <p:grpSpPr>
            <a:xfrm>
              <a:off x="383829" y="1230506"/>
              <a:ext cx="3154666" cy="3570439"/>
              <a:chOff x="423530" y="1230506"/>
              <a:chExt cx="3154666" cy="3570439"/>
            </a:xfrm>
          </p:grpSpPr>
          <p:sp>
            <p:nvSpPr>
              <p:cNvPr id="15" name="TextBox 14">
                <a:extLst>
                  <a:ext uri="{FF2B5EF4-FFF2-40B4-BE49-F238E27FC236}">
                    <a16:creationId xmlns:a16="http://schemas.microsoft.com/office/drawing/2014/main" id="{19C7B733-ED97-030A-3339-CC8479FCA3B9}"/>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chemeClr val="bg1"/>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bg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bg1"/>
                    </a:solidFill>
                    <a:effectLst/>
                    <a:uLnTx/>
                    <a:uFillTx/>
                    <a:latin typeface="Arial" panose="020B0604020202020204"/>
                    <a:ea typeface="+mn-ea"/>
                    <a:cs typeface="+mn-cs"/>
                  </a:rPr>
                  <a:t>APTIM Chairman &amp; CE</a:t>
                </a:r>
                <a:r>
                  <a:rPr lang="en-US" sz="1100">
                    <a:solidFill>
                      <a:schemeClr val="bg1"/>
                    </a:solidFill>
                    <a:latin typeface="Arial" panose="020B0604020202020204"/>
                  </a:rPr>
                  <a:t>O</a:t>
                </a: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p:txBody>
          </p:sp>
          <p:sp>
            <p:nvSpPr>
              <p:cNvPr id="16" name="TextBox 15">
                <a:extLst>
                  <a:ext uri="{FF2B5EF4-FFF2-40B4-BE49-F238E27FC236}">
                    <a16:creationId xmlns:a16="http://schemas.microsoft.com/office/drawing/2014/main" id="{98D07F55-1AAD-B9CC-E96D-0C291B45CC87}"/>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rPr>
                  <a:t>“</a:t>
                </a:r>
              </a:p>
            </p:txBody>
          </p:sp>
          <p:sp>
            <p:nvSpPr>
              <p:cNvPr id="17" name="TextBox 16">
                <a:extLst>
                  <a:ext uri="{FF2B5EF4-FFF2-40B4-BE49-F238E27FC236}">
                    <a16:creationId xmlns:a16="http://schemas.microsoft.com/office/drawing/2014/main" id="{DD5D8AE6-2576-F801-62E0-CB6DFFE27FE2}"/>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ea typeface="+mn-ea"/>
                    <a:cs typeface="+mn-cs"/>
                  </a:rPr>
                  <a:t>”</a:t>
                </a:r>
              </a:p>
            </p:txBody>
          </p:sp>
        </p:grpSp>
      </p:grpSp>
      <p:sp>
        <p:nvSpPr>
          <p:cNvPr id="18" name="TextBox 17">
            <a:extLst>
              <a:ext uri="{FF2B5EF4-FFF2-40B4-BE49-F238E27FC236}">
                <a16:creationId xmlns:a16="http://schemas.microsoft.com/office/drawing/2014/main" id="{0C048E5F-AB97-B35E-F409-B7E94C4F6185}"/>
              </a:ext>
            </a:extLst>
          </p:cNvPr>
          <p:cNvSpPr txBox="1"/>
          <p:nvPr/>
        </p:nvSpPr>
        <p:spPr>
          <a:xfrm>
            <a:off x="9753600" y="1600199"/>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pPr marR="0" algn="l" rtl="0"/>
            <a:r>
              <a:rPr lang="en-US" sz="2000" b="0" i="0" u="none" strike="noStrike" baseline="30000">
                <a:solidFill>
                  <a:srgbClr val="404041"/>
                </a:solidFill>
                <a:latin typeface="Arial" panose="020B0604020202020204" pitchFamily="34" charset="0"/>
                <a:cs typeface="Arial" panose="020B0604020202020204" pitchFamily="34" charset="0"/>
              </a:rPr>
              <a:t>CALLOUT STATISTIC - DESCRIPTION</a:t>
            </a:r>
          </a:p>
        </p:txBody>
      </p:sp>
      <p:sp>
        <p:nvSpPr>
          <p:cNvPr id="19" name="TextBox 18">
            <a:extLst>
              <a:ext uri="{FF2B5EF4-FFF2-40B4-BE49-F238E27FC236}">
                <a16:creationId xmlns:a16="http://schemas.microsoft.com/office/drawing/2014/main" id="{BA8D4B79-517D-9CA7-FCF6-45FA33E2AF51}"/>
              </a:ext>
            </a:extLst>
          </p:cNvPr>
          <p:cNvSpPr txBox="1"/>
          <p:nvPr/>
        </p:nvSpPr>
        <p:spPr>
          <a:xfrm>
            <a:off x="9753600" y="3222521"/>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ea typeface="PMingLiU" panose="02020500000000000000" pitchFamily="18" charset="-120"/>
                <a:cs typeface="Arial" panose="020B0604020202020204" pitchFamily="34" charset="0"/>
              </a:rPr>
              <a:t>CALLOUT STATISTIC - DESCRIPTION</a:t>
            </a:r>
          </a:p>
        </p:txBody>
      </p:sp>
      <p:sp>
        <p:nvSpPr>
          <p:cNvPr id="20" name="TextBox 19">
            <a:extLst>
              <a:ext uri="{FF2B5EF4-FFF2-40B4-BE49-F238E27FC236}">
                <a16:creationId xmlns:a16="http://schemas.microsoft.com/office/drawing/2014/main" id="{1388AADC-8369-B5A5-3D8C-D390A4555676}"/>
              </a:ext>
            </a:extLst>
          </p:cNvPr>
          <p:cNvSpPr txBox="1"/>
          <p:nvPr/>
        </p:nvSpPr>
        <p:spPr>
          <a:xfrm>
            <a:off x="9753600" y="4844844"/>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cs typeface="Arial" panose="020B0604020202020204" pitchFamily="34" charset="0"/>
              </a:rPr>
              <a:t>CALLOUT STATISTIC - DESCRIPTION</a:t>
            </a:r>
          </a:p>
        </p:txBody>
      </p:sp>
    </p:spTree>
    <p:extLst>
      <p:ext uri="{BB962C8B-B14F-4D97-AF65-F5344CB8AC3E}">
        <p14:creationId xmlns:p14="http://schemas.microsoft.com/office/powerpoint/2010/main" val="423075388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7808C-C6FE-6D34-9ED2-3EEB210430DD}"/>
              </a:ext>
            </a:extLst>
          </p:cNvPr>
          <p:cNvSpPr>
            <a:spLocks noGrp="1"/>
          </p:cNvSpPr>
          <p:nvPr>
            <p:ph type="title"/>
          </p:nvPr>
        </p:nvSpPr>
        <p:spPr/>
        <p:txBody>
          <a:bodyPr/>
          <a:lstStyle/>
          <a:p>
            <a:r>
              <a:rPr lang="en-US"/>
              <a:t>Sample Table</a:t>
            </a:r>
          </a:p>
        </p:txBody>
      </p:sp>
      <p:sp>
        <p:nvSpPr>
          <p:cNvPr id="3" name="Footer Placeholder 2">
            <a:extLst>
              <a:ext uri="{FF2B5EF4-FFF2-40B4-BE49-F238E27FC236}">
                <a16:creationId xmlns:a16="http://schemas.microsoft.com/office/drawing/2014/main" id="{0952BF26-B74E-C78B-E60E-70CB7F2E052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24E6090C-A168-4EE1-3701-A5430FF71567}"/>
              </a:ext>
            </a:extLst>
          </p:cNvPr>
          <p:cNvSpPr>
            <a:spLocks noGrp="1"/>
          </p:cNvSpPr>
          <p:nvPr>
            <p:ph type="sldNum" sz="quarter" idx="12"/>
          </p:nvPr>
        </p:nvSpPr>
        <p:spPr/>
        <p:txBody>
          <a:bodyPr/>
          <a:lstStyle/>
          <a:p>
            <a:fld id="{F8F6B9CD-BE6B-498B-93B3-0FAD7ADE75E3}" type="slidenum">
              <a:rPr lang="en-US" smtClean="0"/>
              <a:t>66</a:t>
            </a:fld>
            <a:endParaRPr lang="en-US"/>
          </a:p>
        </p:txBody>
      </p:sp>
      <p:graphicFrame>
        <p:nvGraphicFramePr>
          <p:cNvPr id="5" name="Table 4">
            <a:extLst>
              <a:ext uri="{FF2B5EF4-FFF2-40B4-BE49-F238E27FC236}">
                <a16:creationId xmlns:a16="http://schemas.microsoft.com/office/drawing/2014/main" id="{5FC63BD7-D69F-739B-4773-0CEF55F58E4F}"/>
              </a:ext>
            </a:extLst>
          </p:cNvPr>
          <p:cNvGraphicFramePr>
            <a:graphicFrameLocks noGrp="1"/>
          </p:cNvGraphicFramePr>
          <p:nvPr>
            <p:extLst>
              <p:ext uri="{D42A27DB-BD31-4B8C-83A1-F6EECF244321}">
                <p14:modId xmlns:p14="http://schemas.microsoft.com/office/powerpoint/2010/main" val="1760528372"/>
              </p:ext>
            </p:extLst>
          </p:nvPr>
        </p:nvGraphicFramePr>
        <p:xfrm>
          <a:off x="2031998" y="1974972"/>
          <a:ext cx="8128000" cy="407924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809683417"/>
                    </a:ext>
                  </a:extLst>
                </a:gridCol>
                <a:gridCol w="1625600">
                  <a:extLst>
                    <a:ext uri="{9D8B030D-6E8A-4147-A177-3AD203B41FA5}">
                      <a16:colId xmlns:a16="http://schemas.microsoft.com/office/drawing/2014/main" val="4250993145"/>
                    </a:ext>
                  </a:extLst>
                </a:gridCol>
                <a:gridCol w="1625600">
                  <a:extLst>
                    <a:ext uri="{9D8B030D-6E8A-4147-A177-3AD203B41FA5}">
                      <a16:colId xmlns:a16="http://schemas.microsoft.com/office/drawing/2014/main" val="3247285612"/>
                    </a:ext>
                  </a:extLst>
                </a:gridCol>
                <a:gridCol w="1625600">
                  <a:extLst>
                    <a:ext uri="{9D8B030D-6E8A-4147-A177-3AD203B41FA5}">
                      <a16:colId xmlns:a16="http://schemas.microsoft.com/office/drawing/2014/main" val="1094859020"/>
                    </a:ext>
                  </a:extLst>
                </a:gridCol>
                <a:gridCol w="1625600">
                  <a:extLst>
                    <a:ext uri="{9D8B030D-6E8A-4147-A177-3AD203B41FA5}">
                      <a16:colId xmlns:a16="http://schemas.microsoft.com/office/drawing/2014/main" val="3256326961"/>
                    </a:ext>
                  </a:extLst>
                </a:gridCol>
              </a:tblGrid>
              <a:tr h="370840">
                <a:tc gridSpan="5">
                  <a:txBody>
                    <a:bodyPr/>
                    <a:lstStyle/>
                    <a:p>
                      <a:r>
                        <a:rPr lang="en-US" sz="1200">
                          <a:solidFill>
                            <a:schemeClr val="accent1"/>
                          </a:solidFill>
                          <a:latin typeface="Arial" panose="020B0604020202020204" pitchFamily="34" charset="0"/>
                          <a:cs typeface="Arial" panose="020B0604020202020204" pitchFamily="34" charset="0"/>
                        </a:rPr>
                        <a:t>Table Title</a:t>
                      </a:r>
                    </a:p>
                  </a:txBody>
                  <a:tcPr marT="91440" marB="9144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a:latin typeface="Arial" panose="020B0604020202020204" pitchFamily="34" charset="0"/>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58967690"/>
                  </a:ext>
                </a:extLst>
              </a:tr>
              <a:tr h="370840">
                <a:tc>
                  <a:txBody>
                    <a:bodyPr/>
                    <a:lstStyle/>
                    <a:p>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4111402699"/>
                  </a:ext>
                </a:extLst>
              </a:tr>
              <a:tr h="370840">
                <a:tc>
                  <a:txBody>
                    <a:bodyPr/>
                    <a:lstStyle/>
                    <a:p>
                      <a:r>
                        <a:rPr lang="en-US" sz="1200"/>
                        <a:t>Table Text</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4164795"/>
                  </a:ext>
                </a:extLst>
              </a:tr>
              <a:tr h="370840">
                <a:tc>
                  <a:txBody>
                    <a:bodyPr/>
                    <a:lstStyle/>
                    <a:p>
                      <a:endParaRPr lang="en-US" sz="1200">
                        <a:solidFill>
                          <a:schemeClr val="tx2"/>
                        </a:solidFill>
                      </a:endParaRP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070599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055188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360817871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5490040"/>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60988192"/>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200802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862364967"/>
                  </a:ext>
                </a:extLst>
              </a:tr>
              <a:tr h="370840">
                <a:tc>
                  <a:txBody>
                    <a:bodyPr/>
                    <a:lstStyle/>
                    <a:p>
                      <a:endParaRPr lang="en-US" sz="1200"/>
                    </a:p>
                  </a:txBody>
                  <a:tcPr marT="91440" marB="91440" anchor="ctr">
                    <a:lnL w="12700" cmpd="sng">
                      <a:noFill/>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67593374"/>
                  </a:ext>
                </a:extLst>
              </a:tr>
            </a:tbl>
          </a:graphicData>
        </a:graphic>
      </p:graphicFrame>
    </p:spTree>
    <p:extLst>
      <p:ext uri="{BB962C8B-B14F-4D97-AF65-F5344CB8AC3E}">
        <p14:creationId xmlns:p14="http://schemas.microsoft.com/office/powerpoint/2010/main" val="2812805014"/>
      </p:ext>
    </p:extLst>
  </p:cSld>
  <p:clrMapOvr>
    <a:masterClrMapping/>
  </p:clrMapOvr>
</p:sld>
</file>

<file path=ppt/theme/theme1.xml><?xml version="1.0" encoding="utf-8"?>
<a:theme xmlns:a="http://schemas.openxmlformats.org/drawingml/2006/main" name="1_APTIM THEME">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947FF4B4-2A4E-4E0E-9AA8-A170C790CFA8}"/>
    </a:ext>
  </a:extLst>
</a:theme>
</file>

<file path=ppt/theme/theme2.xml><?xml version="1.0" encoding="utf-8"?>
<a:theme xmlns:a="http://schemas.openxmlformats.org/drawingml/2006/main" name="2_APTIM THEME TITLES">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42F5EDCE-6B25-4972-AA1F-9C1F30ADC87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mso-contentType ?>
<SharedContentType xmlns="Microsoft.SharePoint.Taxonomy.ContentTypeSync" SourceId="daf5a3b8-19fe-4aaf-8551-0b725c993cda" ContentTypeId="0x0101" PreviousValue="false"/>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4.xml><?xml version="1.0" encoding="utf-8"?>
<ct:contentTypeSchema xmlns:ct="http://schemas.microsoft.com/office/2006/metadata/contentType" xmlns:ma="http://schemas.microsoft.com/office/2006/metadata/properties/metaAttributes" ct:_="" ma:_="" ma:contentTypeName="Document" ma:contentTypeID="0x0101009D83D8A17B64F1409CB10E760AC3010A" ma:contentTypeVersion="11" ma:contentTypeDescription="Create a new document." ma:contentTypeScope="" ma:versionID="64c85f00ec26e835cb18524be497ad09">
  <xsd:schema xmlns:xsd="http://www.w3.org/2001/XMLSchema" xmlns:xs="http://www.w3.org/2001/XMLSchema" xmlns:p="http://schemas.microsoft.com/office/2006/metadata/properties" xmlns:ns2="6cb61cf8-a1b1-4278-9585-9a56d9b9b454" targetNamespace="http://schemas.microsoft.com/office/2006/metadata/properties" ma:root="true" ma:fieldsID="33659469bdc860b0fee0e148754306f5" ns2:_="">
    <xsd:import namespace="6cb61cf8-a1b1-4278-9585-9a56d9b9b45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cb61cf8-a1b1-4278-9585-9a56d9b9b4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A3605C4-03E5-4AAA-A5E9-706881023D5D}">
  <ds:schemaRefs>
    <ds:schemaRef ds:uri="http://schemas.microsoft.com/sharepoint/v3/contenttype/forms"/>
  </ds:schemaRefs>
</ds:datastoreItem>
</file>

<file path=customXml/itemProps2.xml><?xml version="1.0" encoding="utf-8"?>
<ds:datastoreItem xmlns:ds="http://schemas.openxmlformats.org/officeDocument/2006/customXml" ds:itemID="{1AA95461-7A0F-4587-9A5F-5F7CE2A5CDC3}">
  <ds:schemaRefs>
    <ds:schemaRef ds:uri="Microsoft.SharePoint.Taxonomy.ContentTypeSync"/>
  </ds:schemaRefs>
</ds:datastoreItem>
</file>

<file path=customXml/itemProps3.xml><?xml version="1.0" encoding="utf-8"?>
<ds:datastoreItem xmlns:ds="http://schemas.openxmlformats.org/officeDocument/2006/customXml" ds:itemID="{C55B5BE0-1FD9-4B5D-8EE8-533F4F958440}">
  <ds:schemaRefs>
    <ds:schemaRef ds:uri="6cb61cf8-a1b1-4278-9585-9a56d9b9b454"/>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4.xml><?xml version="1.0" encoding="utf-8"?>
<ds:datastoreItem xmlns:ds="http://schemas.openxmlformats.org/officeDocument/2006/customXml" ds:itemID="{D29E47BB-2CAF-4534-9F7E-190AC8A67243}">
  <ds:schemaRefs>
    <ds:schemaRef ds:uri="6cb61cf8-a1b1-4278-9585-9a56d9b9b45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20260101_APTIM_General_PR_TM_rev9</Template>
  <Application>Microsoft Office PowerPoint</Application>
  <PresentationFormat>Widescreen</PresentationFormat>
  <Slides>66</Slides>
  <Notes>26</Notes>
  <HiddenSlides>20</HiddenSlides>
  <ScaleCrop>false</ScaleCrop>
  <HeadingPairs>
    <vt:vector size="4" baseType="variant">
      <vt:variant>
        <vt:lpstr>Theme</vt:lpstr>
      </vt:variant>
      <vt:variant>
        <vt:i4>2</vt:i4>
      </vt:variant>
      <vt:variant>
        <vt:lpstr>Slide Titles</vt:lpstr>
      </vt:variant>
      <vt:variant>
        <vt:i4>66</vt:i4>
      </vt:variant>
    </vt:vector>
  </HeadingPairs>
  <TitlesOfParts>
    <vt:vector size="68" baseType="lpstr">
      <vt:lpstr>1_APTIM THEME</vt:lpstr>
      <vt:lpstr>2_APTIM THEME TITLES</vt:lpstr>
      <vt:lpstr>Evolving Energy Programs Under Funding Uncertainty</vt:lpstr>
      <vt:lpstr>The Dream Team</vt:lpstr>
      <vt:lpstr>What is the Problem? </vt:lpstr>
      <vt:lpstr>Pain Point</vt:lpstr>
      <vt:lpstr>Key Goals</vt:lpstr>
      <vt:lpstr>PowerPoint Presentation</vt:lpstr>
      <vt:lpstr>PowerPoint Presentation</vt:lpstr>
      <vt:lpstr>National Competitive Landscape</vt:lpstr>
      <vt:lpstr>Market Analysis: Opportunity Assessment</vt:lpstr>
      <vt:lpstr>Market Analysis: State Opportunities and APTIM Role</vt:lpstr>
      <vt:lpstr>Market Analysis: Market Size and APTIM's Goal</vt:lpstr>
      <vt:lpstr>PowerPoint Presentation</vt:lpstr>
      <vt:lpstr>Michigan specific</vt:lpstr>
      <vt:lpstr>How APTIM Wins</vt:lpstr>
      <vt:lpstr>Why Michigan?</vt:lpstr>
      <vt:lpstr>PowerPoint Presentation</vt:lpstr>
      <vt:lpstr>Ann Arbor Deployment Model</vt:lpstr>
      <vt:lpstr>Business Case: Value Proposition  </vt:lpstr>
      <vt:lpstr>Business Case: Financial Summary </vt:lpstr>
      <vt:lpstr>Strategic Fit </vt:lpstr>
      <vt:lpstr> Growth Timeline (Re format)</vt:lpstr>
      <vt:lpstr>Thank you!</vt:lpstr>
      <vt:lpstr>PowerPoint Presentation</vt:lpstr>
      <vt:lpstr>Thank you!</vt:lpstr>
      <vt:lpstr>Business Case: Financial Summary </vt:lpstr>
      <vt:lpstr>PowerPoint Presentation</vt:lpstr>
      <vt:lpstr>Market Analysis (Christian Quick Market slide, delete if needed)</vt:lpstr>
      <vt:lpstr>Appendix</vt:lpstr>
      <vt:lpstr>PowerPoint Presentation</vt:lpstr>
      <vt:lpstr>Competitive Landscape (update with research)</vt:lpstr>
      <vt:lpstr>Competitive Landscape (update with new research) </vt:lpstr>
      <vt:lpstr>Goal of presentation </vt:lpstr>
      <vt:lpstr>Given big blurb</vt:lpstr>
      <vt:lpstr>Given Scope Focus</vt:lpstr>
      <vt:lpstr>Given Output</vt:lpstr>
      <vt:lpstr>Future/Scaling</vt:lpstr>
      <vt:lpstr>Client Use Case: Why Michigan? (update/fix)</vt:lpstr>
      <vt:lpstr>Michigan Pilot Deployment Model (update/fix)</vt:lpstr>
      <vt:lpstr>The Problem </vt:lpstr>
      <vt:lpstr>The Problem </vt:lpstr>
      <vt:lpstr>PowerPoint Presentation</vt:lpstr>
      <vt:lpstr>Project Scope</vt:lpstr>
      <vt:lpstr>Strategic Fit (format needs fix) (merge slides)  </vt:lpstr>
      <vt:lpstr>Client Use Case: Michigan </vt:lpstr>
      <vt:lpstr>Client Use – Why Michigan</vt:lpstr>
      <vt:lpstr>Client Use – The Nitty Gritty </vt:lpstr>
      <vt:lpstr>Strategic Fit (format needs fix) (merge slides)  </vt:lpstr>
      <vt:lpstr>Strategic Fit (fix wording/choose format) </vt:lpstr>
      <vt:lpstr>Project Scope</vt:lpstr>
      <vt:lpstr>Strategic Fit (edit with notes)</vt:lpstr>
      <vt:lpstr>APTIM PowerPoint  Template Guidelines</vt:lpstr>
      <vt:lpstr>About the Template &amp; Formatting</vt:lpstr>
      <vt:lpstr>How to Use</vt:lpstr>
      <vt:lpstr>Basics</vt:lpstr>
      <vt:lpstr>Bullets</vt:lpstr>
      <vt:lpstr>Insert Photos &amp; Graphics</vt:lpstr>
      <vt:lpstr>Crop Photos</vt:lpstr>
      <vt:lpstr>Adding Text Over a Photo</vt:lpstr>
      <vt:lpstr>PowerPoint Presentation</vt:lpstr>
      <vt:lpstr>PowerPoint Presentation</vt:lpstr>
      <vt:lpstr>Section Title</vt:lpstr>
      <vt:lpstr>PowerPoint Presentation</vt:lpstr>
      <vt:lpstr>PowerPoint Presentation</vt:lpstr>
      <vt:lpstr>PowerPoint Presentation</vt:lpstr>
      <vt:lpstr>Elements to Pick Up/Use</vt:lpstr>
      <vt:lpstr>Sample Table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Gracia, Christian</dc:creator>
  <cp:revision>27</cp:revision>
  <dcterms:created xsi:type="dcterms:W3CDTF">2026-06-05T13:41:22Z</dcterms:created>
  <dcterms:modified xsi:type="dcterms:W3CDTF">2026-07-29T20:20:52Z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0x0101009D83D8A17B64F1409CB10E760AC3010A</vt:lpwstr>
  </property>
</Properties>
</file>
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1" r:id="rId16"/>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1.xml"/><Relationship Id="rId17" Type="http://schemas.openxmlformats.org/officeDocument/2006/relationships/slide" Target="slides/slide17.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8.xml"/><Relationship Id="rId24" Type="http://schemas.openxmlformats.org/officeDocument/2006/relationships/slide" Target="slides/slide20.xml"/><Relationship Id="rId25" Type="http://schemas.openxmlformats.org/officeDocument/2006/relationships/slide" Target="slides/slide20.xml"/><Relationship Id="rId26"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Flow: we open with the commitments this program makes -- these are the criteria every later slide answers to. Emphasize #1: ratepayer-financed means insulated from federal budget swings, which IS the prompt.</a:t>
            </a:r>
          </a:p>
          <a:p/>
          <a:p>
            <a:r>
              <a:t>--- reference detail ---</a:t>
            </a:r>
          </a:p>
          <a:p>
            <a:r>
              <a:t>Tie directly to final concept, audience already has scope (maybe delete) </a:t>
            </a:r>
          </a:p>
          <a:p>
            <a: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side is the WHY NOW: the federal funding retreat is documented, current, and accelerating. Right side is WHERE: California proves the model, North Carolina proves demand, Michigan is the open seat, Wisconsin is our fastest expansion. Do not read every stat -- pick two.</a:t>
            </a:r>
          </a:p>
          <a:p/>
          <a:p>
            <a:r>
              <a:t>--- reference detail ---</a:t>
            </a:r>
          </a:p>
          <a:p>
            <a:r>
              <a:t>Solid, maybe split into two slides with an intro to avoid overload (or add animations)</a:t>
            </a:r>
          </a:p>
          <a:p>
            <a:r>
              <a:t>NOTE: Im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TAM/SAM/SOM: be honest about what each number is. $8.8B is the frozen federal allocation used as a market-size proxy. SAM is OUR estimate -- say 'our internal narrowing' if asked. SOM is admin fees only, derived from the federal 10% EECBG benchmark. Under-claim, don't over-claim.</a:t>
            </a:r>
          </a:p>
          <a:p/>
          <a:p>
            <a:r>
              <a:t>--- reference detail ---</a:t>
            </a:r>
          </a:p>
          <a:p>
            <a:r>
              <a:t>Very good they like this slide</a:t>
            </a:r>
          </a:p>
          <a:p>
            <a:r>
              <a:t>NOTE: Im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map is the argument: everyone clusters in admin-only or hardware-only. The top-right seat is empty. Swell died in it because they carried hardware financing risk -- APTIM's fee-for-service model doesn't. GMP proves the role is needed: they had to build it in-house.</a:t>
            </a:r>
          </a:p>
          <a:p/>
          <a:p>
            <a:r>
              <a:t>--- reference detail ---</a:t>
            </a:r>
          </a:p>
          <a:p>
            <a:r>
              <a:t>Merge content from 10 with formatting of 8 and visuals, highlight aptim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trail for 'why not the toolkit': (1) Utility procurement runs on RFPs for defined programs -- there is no RFP category for 'resilience toolkit.' (2) The broad-advisory market is occupied: CLEAResult ($528M revenue) and ICF both sell program consulting; competing there is a price war against incumbents. (3) The prompt is funding uncertainty -- the toolkit only helps utilities triage budgets that are shrinking (Louisiana killed its 2026 program, Duke withdrew 3 programs, CA paused $290M). The fleet ANSWERS the uncertainty by moving the funding source to rate base, which no federal freeze can touch. (4) Toolkit revenue is hours-based and ends when the engagement ends; fleet administration is a recurring fee tied to assets with a 20-year life. (5) And the direct instruction from leadership feedback was one specific program.</a:t>
            </a:r>
          </a:p>
          <a:p/>
          <a:p>
            <a:r>
              <a:t>Explain why we didn't pitch the broad toolkit: leadership (Samantha) explicitly asked for one specific program. Walk the table left to right, land on SELECTED. Anticipated question: 'why not both?' -- answer: the toolkit is how APTIM operates, not a product a utility can buy.</a:t>
            </a:r>
          </a:p>
          <a:p/>
          <a:p>
            <a:r>
              <a:t>--- reference detail ---</a:t>
            </a:r>
          </a:p>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Supporting slide -- go fast or skip if running long. It exists to answer 'why this approach' and 'how does it actually work' in one place before Q&amp;A.</a:t>
            </a:r>
          </a:p>
          <a:p/>
          <a:p>
            <a:r>
              <a:t>--- reference detail ---</a:t>
            </a:r>
          </a:p>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t>Close on the empty-seat point: first mover in an unadministered category, with the delivery record to hold it. Then hand to Q&amp;A.</a:t>
            </a:r>
          </a:p>
          <a:p/>
          <a:p>
            <a:r>
              <a:t>--- reference detail ---</a:t>
            </a:r>
          </a:p>
          <a:p>
            <a:r>
              <a:t>Highlighting aptim wins is good, fix sizing/format</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chevron left to right: hardware maker builds, utility owns and dispatches, APTIM administers. Then the money strip: cost recovery through rate base like any grid asset -- NOT a charge to the hosting household, NOT a PPA. The household's 'payment' is hosting; their return is free backup power.</a:t>
            </a:r>
          </a:p>
          <a:p/>
          <a:p>
            <a:r>
              <a:t>--- reference detail ---</a:t>
            </a:r>
          </a:p>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quadrants map to APTIM strategy language: leverage, expand, scale, de-risk revenue. Keep it to 30 seconds -- the deck has already proven each card.</a:t>
            </a:r>
          </a:p>
          <a:p/>
          <a:p>
            <a:r>
              <a:t>--- reference detail ---</a:t>
            </a:r>
          </a:p>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AUDIT SUMMARY (for Q&amp;A). Codes that HELP and align with the funding-uncertainty problem: PA 235 (mandate-driven demand that exists regardless of federal money -- this is the strongest alignment with the prompt); U-20836 (rejection was procedural; the order invited standalone pilot refilings with deferred accounting); U-21653 (the invited venue now exists, approved Apr 2025, scope includes DER integration); MIXDG interconnection rules (explicitly contemplate the utility as interconnection customer). Codes that CUT AGAINST us, with answers: the 1,332 MW Mar 2026 precedent is grid-scale -- do NOT oversell it as residential precedent, sell it as 'utility-owned storage is approvable in Michigan' and position our pilot as the residential template-setter; PA 235's 2029 date is a PETITION deadline, not a build deadline -- don't claim urgency from it; instead, urgency comes from the federal ITC clock (solar must begin construction by Jul 2026 rules / storage keeps the longer timeline) and from being first before the 3-year-old U-21399 invitation gets answered by someone else. Known nuance to concede if pressed: deferred-accounting cost recovery for U-21653 pilots is expected but unconfirmed until an order says so; and utility normalization rules on the 48E ITC need tax counsel.</a:t>
            </a:r>
          </a:p>
          <a:p/>
          <a:p>
            <a:r>
              <a:t>KEY UPGRADE from research: the 2022 rejection is CONFIRMED as Case U-20836 (Nov 18, 2022 order). The Commission rejected pilots bundled into the rate case and explicitly encouraged DTE to refile them as standalone pilot applications with deferred accounting. U-21653 (approved April 10, 2025) created exactly that expedited pathway, covering DER integration and grid resiliency. So our filing route is the one the Commission itself asked for. Same order approved DTE's transit battery program -- batteries were never the objection. Also note: MPSC held a residential-storage technical conference July 25, 2023 (U-21399) and nothing has been filed since -- a 3-year-old open invitation.</a:t>
            </a:r>
          </a:p>
          <a:p/>
          <a:p>
            <a:r>
              <a:t>The Michigan case: legal pathway exists (PA 235 mandate + 2026 precedent + expedited pilot route). Be upfront on the known risk: DTE's earlier pilot was rejected and we haven't confirmed the docket -- that's WHY we file as a capped pilot, not a rate case. Timeline is honest: pilot operating within 3 years; full rate-basing may extend past that.</a:t>
            </a:r>
          </a:p>
          <a:p/>
          <a:p>
            <a:r>
              <a:t>--- reference detail ---</a:t>
            </a:r>
          </a:p>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60-second version for executives -- if the audience remembers one slide, it's this one. Read the four boxes as a story, then the one-sentence summary. Everything after this slide is proof.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 three questions leadership will ask. Fee model: % of program budget + performance bonus -- the exact structure APTIM's real Focus on Energy contract uses; exact % is RFP-stage. Incentives: every party gets something today, not someday. Rollout: cold-weather design and Phase 1 targeting stable homeowners for clean pilot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Michigan proves it, Wisconsin and Louisiana buy it fastest because APTIM already holds those seats, then mandate-heavy states. Each phase reuses the same selection criteria -- this is a repeatable playbook, not a one-off.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rPr/>
                        <a:t>Approach Considered</a:t>
                      </a:r>
                    </a:p>
                  </a:txBody>
                  <a:tcPr>
                    <a:solidFill>
                      <a:srgbClr val="002856"/>
                    </a:solidFill>
                  </a:tcPr>
                </a:tc>
                <a:tc>
                  <a:txBody>
                    <a:bodyPr/>
                    <a:lstStyle/>
                    <a:p>
                      <a:pPr>
                        <a:defRPr sz="1100" b="1">
                          <a:solidFill>
                            <a:srgbClr val="FFFFFF"/>
                          </a:solidFill>
                          <a:latin typeface="Arial"/>
                        </a:defRPr>
                      </a:pPr>
                      <a:r>
                        <a:rPr/>
                        <a:t>1-3 Yr Feasibility</a:t>
                      </a:r>
                    </a:p>
                  </a:txBody>
                  <a:tcPr>
                    <a:solidFill>
                      <a:srgbClr val="002856"/>
                    </a:solidFill>
                  </a:tcPr>
                </a:tc>
                <a:tc>
                  <a:txBody>
                    <a:bodyPr/>
                    <a:lstStyle/>
                    <a:p>
                      <a:pPr>
                        <a:defRPr sz="1100" b="1">
                          <a:solidFill>
                            <a:srgbClr val="FFFFFF"/>
                          </a:solidFill>
                          <a:latin typeface="Arial"/>
                        </a:defRPr>
                      </a:pPr>
                      <a:r>
                        <a:rPr/>
                        <a:t>Alignment with Prompt</a:t>
                      </a:r>
                    </a:p>
                  </a:txBody>
                  <a:tcPr>
                    <a:solidFill>
                      <a:srgbClr val="002856"/>
                    </a:solidFill>
                  </a:tcPr>
                </a:tc>
                <a:tc>
                  <a:txBody>
                    <a:bodyPr/>
                    <a:lstStyle/>
                    <a:p>
                      <a:pPr>
                        <a:defRPr sz="1100" b="1">
                          <a:solidFill>
                            <a:srgbClr val="FFFFFF"/>
                          </a:solidFill>
                          <a:latin typeface="Arial"/>
                        </a:defRPr>
                      </a:pPr>
                      <a:r>
                        <a:rPr/>
                        <a:t>Verdict</a:t>
                      </a:r>
                    </a:p>
                  </a:txBody>
                  <a:tcPr>
                    <a:solidFill>
                      <a:srgbClr val="002856"/>
                    </a:solidFill>
                  </a:tcPr>
                </a:tc>
              </a:tr>
              <a:tr h="701040">
                <a:tc>
                  <a:txBody>
                    <a:bodyPr/>
                    <a:lstStyle/>
                    <a:p>
                      <a:pPr>
                        <a:defRPr sz="1100">
                          <a:solidFill>
                            <a:srgbClr val="002856"/>
                          </a:solidFill>
                          <a:latin typeface="Arial"/>
                        </a:defRPr>
                      </a:pPr>
                      <a:r>
                        <a:rP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rP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rP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rPr/>
                        <a:t>NOT SELECTED as standalone pitch</a:t>
                      </a:r>
                    </a:p>
                  </a:txBody>
                  <a:tcPr>
                    <a:solidFill>
                      <a:srgbClr val="F5E4E7"/>
                    </a:solidFill>
                  </a:tcPr>
                </a:tc>
              </a:tr>
              <a:tr h="701040">
                <a:tc>
                  <a:txBody>
                    <a:bodyPr/>
                    <a:lstStyle/>
                    <a:p>
                      <a:pPr>
                        <a:defRPr sz="1100">
                          <a:solidFill>
                            <a:srgbClr val="002856"/>
                          </a:solidFill>
                          <a:latin typeface="Arial"/>
                        </a:defRPr>
                      </a:pPr>
                      <a:r>
                        <a:rPr/>
                        <a:t>Utility-Owned Battery + Solar Fleet, APTIM-Administered</a:t>
                      </a:r>
                    </a:p>
                  </a:txBody>
                  <a:tcPr>
                    <a:solidFill>
                      <a:srgbClr val="E0F2F1"/>
                    </a:solidFill>
                  </a:tcPr>
                </a:tc>
                <a:tc>
                  <a:txBody>
                    <a:bodyPr/>
                    <a:lstStyle/>
                    <a:p>
                      <a:pPr>
                        <a:defRPr sz="1100">
                          <a:solidFill>
                            <a:srgbClr val="002856"/>
                          </a:solidFill>
                          <a:latin typeface="Arial"/>
                        </a:defRPr>
                      </a:pPr>
                      <a:r>
                        <a:rPr/>
                        <a:t>High -- matches an existing, proven APTIM capability</a:t>
                      </a:r>
                    </a:p>
                  </a:txBody>
                  <a:tcPr>
                    <a:solidFill>
                      <a:srgbClr val="E0F2F1"/>
                    </a:solidFill>
                  </a:tcPr>
                </a:tc>
                <a:tc>
                  <a:txBody>
                    <a:bodyPr/>
                    <a:lstStyle/>
                    <a:p>
                      <a:pPr>
                        <a:defRPr sz="1100">
                          <a:solidFill>
                            <a:srgbClr val="002856"/>
                          </a:solidFill>
                          <a:latin typeface="Arial"/>
                        </a:defRPr>
                      </a:pPr>
                      <a:r>
                        <a:rP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rP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600"/>
              </a:spcAft>
            </a:pPr>
            <a:r>
              <a:rPr b="1" sz="1400">
                <a:solidFill>
                  <a:srgbClr val="002856"/>
                </a:solidFill>
              </a:rPr>
              <a:t>Why We Didn't Stop at the Toolkit</a:t>
            </a:r>
          </a:p>
          <a:p>
            <a:pPr>
              <a:spcAft>
                <a:spcPts val="600"/>
              </a:spcAft>
            </a:pPr>
            <a:r>
              <a:rPr sz="1200">
                <a:solidFill>
                  <a:srgbClr val="002856"/>
                </a:solidFill>
              </a:rPr>
              <a:t>•  Not procurable: utilities buy defined programs through RFPs -- a toolkit isn't a bid, it's a brochure</a:t>
            </a:r>
          </a:p>
          <a:p>
            <a:pPr>
              <a:spcAft>
                <a:spcPts val="600"/>
              </a:spcAft>
            </a:pPr>
            <a:r>
              <a:rPr sz="1200">
                <a:solidFill>
                  <a:srgbClr val="002856"/>
                </a:solidFill>
              </a:rPr>
              <a:t>•  That seat is taken: CLEAResult and ICF already sell broad program advisory; the fleet-administration seat is empty</a:t>
            </a:r>
          </a:p>
          <a:p>
            <a:pPr>
              <a:spcAft>
                <a:spcPts val="600"/>
              </a:spcAft>
            </a:pPr>
            <a:r>
              <a:rPr sz="1200">
                <a:solidFill>
                  <a:srgbClr val="002856"/>
                </a:solidFill>
              </a:rPr>
              <a:t>•  Wrong answer to the prompt: a toolkit helps manage shrinking grant budgets (Louisiana ended its program, Duke withdrew) -- the fleet creates a NEW ratepayer-financed budget line that can't be frozen</a:t>
            </a:r>
          </a:p>
          <a:p>
            <a:pPr>
              <a:spcAft>
                <a:spcPts val="600"/>
              </a:spcAft>
            </a:pPr>
            <a:r>
              <a:rPr sz="1200">
                <a:solidFill>
                  <a:srgbClr val="002856"/>
                </a:solidFill>
              </a:rPr>
              <a:t>•  Revenue quality: toolkit sells consulting hours; the fleet earns recurring fees tied to 20-year infrastructure</a:t>
            </a:r>
          </a:p>
          <a:p>
            <a:pPr>
              <a:spcAft>
                <a:spcPts val="600"/>
              </a:spcAft>
            </a:pPr>
            <a:r>
              <a:rPr sz="1200">
                <a:solidFill>
                  <a:srgbClr val="002856"/>
                </a:solidFill>
              </a:rPr>
              <a:t>•  Leadership directive: Samantha asked for one specific, concrete program -- not a capability list</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300"/>
              </a:spcAft>
              <a:buNone/>
            </a:pPr>
            <a:r>
              <a:rPr b="1" sz="1300">
                <a:solidFill>
                  <a:srgbClr val="002856"/>
                </a:solidFill>
              </a:rPr>
              <a:t>The funding gap is real and current:</a:t>
            </a:r>
          </a:p>
          <a:p>
            <a:pPr>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a:spcAft>
                <a:spcPts val="1000"/>
              </a:spcAft>
              <a:buNone/>
            </a:pPr>
            <a:r>
              <a:rPr sz="1200">
                <a:solidFill>
                  <a:srgbClr val="002856"/>
                </a:solidFill>
              </a:rPr>
              <a:t>•  26 states + DC still have legal savings mandates utilities must hit regardless</a:t>
            </a:r>
          </a:p>
          <a:p>
            <a:pPr>
              <a:spcAft>
                <a:spcPts val="300"/>
              </a:spcAft>
              <a:buNone/>
            </a:pPr>
            <a:r>
              <a:rPr b="1" sz="1300">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965200">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463039">
                <a:tc>
                  <a:txBody>
                    <a:bodyPr/>
                    <a:lstStyle/>
                    <a:p>
                      <a:r>
                        <a:rPr sz="1200">
                          <a:solidFill>
                            <a:srgbClr val="002856"/>
                          </a:solidFill>
                        </a:rPr>
                        <a:t>Wisconsin</a:t>
                      </a:r>
                    </a:p>
                  </a:txBody>
                  <a:tcPr/>
                </a:tc>
                <a:tc>
                  <a:txBody>
                    <a:bodyPr/>
                    <a:lstStyle/>
                    <a:p>
                      <a:r>
                        <a:rPr sz="1200">
                          <a:solidFill>
                            <a:srgbClr val="002856"/>
                          </a:solidFill>
                        </a:rPr>
                        <a:t>Incumbent base</a:t>
                      </a:r>
                    </a:p>
                  </a:txBody>
                  <a:tcPr/>
                </a:tc>
                <a:tc>
                  <a:txBody>
                    <a:bodyPr/>
                    <a:lstStyle/>
                    <a:p>
                      <a:r>
                        <a:rPr sz="1200">
                          <a:solidFill>
                            <a:srgbClr val="002856"/>
                          </a:solidFill>
                        </a:rPr>
                        <a:t>Focus on Energy budget already strained by demand</a:t>
                      </a:r>
                    </a:p>
                  </a:txBody>
                  <a:tcPr/>
                </a:tc>
                <a:tc>
                  <a:txBody>
                    <a:bodyPr/>
                    <a:lstStyle/>
                    <a:p>
                      <a:r>
                        <a:rPr sz="1200">
                          <a:solidFill>
                            <a:srgbClr val="002856"/>
                          </a:solidFill>
                        </a:rPr>
                        <a:t>APTIM holds the administrator seat -- fastest expansion path</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300"/>
              </a:spcAft>
              <a:buNone/>
            </a:pPr>
            <a:r>
              <a:rPr b="1" sz="1300">
                <a:solidFill>
                  <a:srgbClr val="002856"/>
                </a:solidFill>
              </a:rPr>
              <a:t>TAM -- Total Addressable Market</a:t>
            </a:r>
          </a:p>
          <a:p>
            <a:pPr>
              <a:spcAft>
                <a:spcPts val="1000"/>
              </a:spcAft>
              <a:buNone/>
            </a:pPr>
            <a:r>
              <a:rPr sz="1200">
                <a:solidFill>
                  <a:srgbClr val="002856"/>
                </a:solidFill>
              </a:rPr>
              <a:t>National utility program administration: APTIM alone already manages $75M+ in annual incentives, $3B+ lifetime rebates</a:t>
            </a:r>
          </a:p>
          <a:p>
            <a:pPr>
              <a:spcAft>
                <a:spcPts val="300"/>
              </a:spcAft>
              <a:buNone/>
            </a:pPr>
            <a:r>
              <a:rPr b="1" sz="1300">
                <a:solidFill>
                  <a:srgbClr val="002856"/>
                </a:solidFill>
              </a:rPr>
              <a:t>SAM -- Serviceable Addressable Market</a:t>
            </a:r>
          </a:p>
          <a:p>
            <a:pPr>
              <a:spcAft>
                <a:spcPts val="1000"/>
              </a:spcAft>
              <a:buNone/>
            </a:pPr>
            <a:r>
              <a:rPr sz="1200">
                <a:solidFill>
                  <a:srgbClr val="002856"/>
                </a:solidFill>
              </a:rPr>
              <a:t>States with storage mandates + vertically integrated utilities -- where a rate-based fleet is legally buildable today</a:t>
            </a:r>
          </a:p>
          <a:p>
            <a:pPr>
              <a:spcAft>
                <a:spcPts val="300"/>
              </a:spcAft>
              <a:buNone/>
            </a:pPr>
            <a:r>
              <a:rPr b="1" sz="1300">
                <a:solidFill>
                  <a:srgbClr val="002856"/>
                </a:solidFill>
              </a:rPr>
              <a:t>SOM -- Serviceable Obtainable Market</a:t>
            </a:r>
          </a:p>
          <a:p>
            <a:pPr>
              <a:spcAft>
                <a:spcPts val="1000"/>
              </a:spcAft>
              <a:buNone/>
            </a:pPr>
            <a:r>
              <a:rPr sz="1200">
                <a:solidFill>
                  <a:srgbClr val="002856"/>
                </a:solidFill>
              </a:rPr>
              <a:t>Michigan pilot + first expansion states -- recurring administration fees, not one-time grants</a:t>
            </a:r>
          </a:p>
          <a:p>
            <a:pPr>
              <a:spcAft>
                <a:spcPts val="300"/>
              </a:spcAft>
              <a:buNone/>
            </a:pPr>
            <a:r>
              <a:rPr b="1" sz="1300">
                <a:solidFill>
                  <a:srgbClr val="002856"/>
                </a:solidFill>
              </a:rPr>
              <a:t>Why this market grows</a:t>
            </a:r>
          </a:p>
          <a:p>
            <a:pPr>
              <a:spcAft>
                <a:spcPts val="1000"/>
              </a:spcAft>
              <a:buNone/>
            </a:pPr>
            <a:r>
              <a:rPr sz="1200">
                <a:solidFill>
                  <a:srgbClr val="002856"/>
                </a:solidFill>
              </a:rPr>
              <a:t>Ratepayer-financed programs are insulated from the federal swings on the prior slide -- demand shifts toward exactly this model</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200"/>
                        <a:t>TAM</a:t>
                      </a:r>
                    </a:p>
                  </a:txBody>
                  <a:tcPr/>
                </a:tc>
                <a:tc>
                  <a:txBody>
                    <a:bodyPr/>
                    <a:lstStyle/>
                    <a:p>
                      <a:r>
                        <a:rPr sz="1200"/>
                        <a:t>$8.8B</a:t>
                      </a:r>
                    </a:p>
                  </a:txBody>
                  <a:tcPr/>
                </a:tc>
                <a:tc gridSpan="2">
                  <a:txBody>
                    <a:bodyPr/>
                    <a:lstStyle/>
                    <a:p>
                      <a:r>
                        <a:rPr sz="12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200"/>
                        <a:t>SAM</a:t>
                      </a:r>
                    </a:p>
                  </a:txBody>
                  <a:tcPr/>
                </a:tc>
                <a:tc>
                  <a:txBody>
                    <a:bodyPr/>
                    <a:lstStyle/>
                    <a:p>
                      <a:r>
                        <a:rPr sz="1200"/>
                        <a:t>~$1-2B</a:t>
                      </a:r>
                    </a:p>
                  </a:txBody>
                  <a:tcPr/>
                </a:tc>
                <a:tc gridSpan="2">
                  <a:txBody>
                    <a:bodyPr/>
                    <a:lstStyle/>
                    <a:p>
                      <a:r>
                        <a:rPr sz="12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200"/>
                        <a:t>SOM</a:t>
                      </a:r>
                    </a:p>
                  </a:txBody>
                  <a:tcPr/>
                </a:tc>
                <a:tc>
                  <a:txBody>
                    <a:bodyPr/>
                    <a:lstStyle/>
                    <a:p>
                      <a:r>
                        <a:rPr sz="1200"/>
                        <a:t>$1.5M-$4.5M/yr</a:t>
                      </a:r>
                    </a:p>
                  </a:txBody>
                  <a:tcPr/>
                </a:tc>
                <a:tc gridSpan="2">
                  <a:txBody>
                    <a:bodyPr/>
                    <a:lstStyle/>
                    <a:p>
                      <a:r>
                        <a:rPr sz="12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2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2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2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How It Works</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Three roles, one flow -- the utility owns, APTIM administers, the household hosts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9768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b="1" sz="1200">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b="1" sz="1200">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b="1" sz="1200">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b="1" sz="1200">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b="1" sz="1200">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b="1" sz="1200">
                <a:solidFill>
                  <a:srgbClr val="002856"/>
                </a:solidFill>
                <a:latin typeface="Arial"/>
              </a:rPr>
              <a:t>Household: </a:t>
            </a:r>
            <a:r>
              <a:rPr sz="1200">
                <a:solidFill>
                  <a:srgbClr val="002856"/>
                </a:solidFill>
                <a:latin typeface="Arial"/>
              </a:rPr>
              <a:t>Free backup power, zero upfront or monthly cost</a:t>
            </a:r>
          </a:p>
          <a:p>
            <a:pPr>
              <a:spcAft>
                <a:spcPts val="600"/>
              </a:spcAft>
            </a:pPr>
            <a:r>
              <a:rPr b="1" sz="1200">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b="1" sz="1200">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b="1" sz="1200">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b="1" sz="1200">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b="1" sz="1200">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Why It Holds Together</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fee model, the incentives, and the rollout design</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Mapping who does what today -- and the seat nobody fills</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
        <p:nvSpPr>
          <p:cNvPr id="9" name="Rectangle 8"/>
          <p:cNvSpPr/>
          <p:nvPr/>
        </p:nvSpPr>
        <p:spPr>
          <a:xfrm>
            <a:off x="822960" y="1554480"/>
            <a:ext cx="6400800" cy="3840480"/>
          </a:xfrm>
          <a:prstGeom prst="rect">
            <a:avLst/>
          </a:prstGeom>
          <a:solidFill>
            <a:srgbClr val="E9EEF5"/>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23360" y="1554480"/>
            <a:ext cx="3200400" cy="1920240"/>
          </a:xfrm>
          <a:prstGeom prst="rect">
            <a:avLst/>
          </a:prstGeom>
          <a:solidFill>
            <a:srgbClr val="FDF1D9"/>
          </a:solidFill>
          <a:ln w="19050">
            <a:solidFill>
              <a:srgbClr val="FF8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22960" y="3474720"/>
            <a:ext cx="640080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1554480"/>
            <a:ext cx="0" cy="38404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5440680"/>
            <a:ext cx="6400800" cy="274320"/>
          </a:xfrm>
          <a:prstGeom prst="rect">
            <a:avLst/>
          </a:prstGeom>
          <a:noFill/>
        </p:spPr>
        <p:txBody>
          <a:bodyPr wrap="square">
            <a:spAutoFit/>
          </a:bodyPr>
          <a:lstStyle/>
          <a:p>
            <a:pPr algn="ctr"/>
            <a:r>
              <a:rPr sz="1200" b="0" i="1">
                <a:solidFill>
                  <a:srgbClr val="595959"/>
                </a:solidFill>
                <a:latin typeface="Arial"/>
              </a:rPr>
              <a:t>Program administration depth  →</a:t>
            </a:r>
          </a:p>
        </p:txBody>
      </p:sp>
      <p:sp>
        <p:nvSpPr>
          <p:cNvPr id="15" name="TextBox 14"/>
          <p:cNvSpPr txBox="1"/>
          <p:nvPr/>
        </p:nvSpPr>
        <p:spPr>
          <a:xfrm>
            <a:off x="4160520" y="1664207"/>
            <a:ext cx="2926080" cy="502920"/>
          </a:xfrm>
          <a:prstGeom prst="rect">
            <a:avLst/>
          </a:prstGeom>
          <a:noFill/>
        </p:spPr>
        <p:txBody>
          <a:bodyPr wrap="square">
            <a:spAutoFit/>
          </a:bodyPr>
          <a:lstStyle/>
          <a:p>
            <a:pPr algn="ctr"/>
            <a:r>
              <a:rPr sz="1300" b="1" i="0">
                <a:solidFill>
                  <a:srgbClr val="FF8200"/>
                </a:solidFill>
                <a:latin typeface="Arial"/>
              </a:rPr>
              <a:t>THE EMPTY SEAT: utility-owned residential fleet administration</a:t>
            </a:r>
          </a:p>
        </p:txBody>
      </p:sp>
      <p:sp>
        <p:nvSpPr>
          <p:cNvPr id="16" name="Oval 15"/>
          <p:cNvSpPr/>
          <p:nvPr/>
        </p:nvSpPr>
        <p:spPr>
          <a:xfrm>
            <a:off x="5733288" y="4621377"/>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6904" y="4776825"/>
            <a:ext cx="1737360" cy="457200"/>
          </a:xfrm>
          <a:prstGeom prst="rect">
            <a:avLst/>
          </a:prstGeom>
          <a:noFill/>
        </p:spPr>
        <p:txBody>
          <a:bodyPr wrap="square">
            <a:spAutoFit/>
          </a:bodyPr>
          <a:lstStyle/>
          <a:p>
            <a:pPr algn="ctr"/>
            <a:r>
              <a:rPr sz="1100" b="1" i="0">
                <a:solidFill>
                  <a:srgbClr val="002856"/>
                </a:solidFill>
                <a:latin typeface="Arial"/>
              </a:rPr>
              <a:t>CLEAResult</a:t>
            </a:r>
          </a:p>
          <a:p>
            <a:pPr algn="ctr"/>
            <a:r>
              <a:rPr sz="1000" b="0" i="1">
                <a:solidFill>
                  <a:srgbClr val="595959"/>
                </a:solidFill>
                <a:latin typeface="Arial"/>
              </a:rPr>
              <a:t>(BYOD programs only)</a:t>
            </a:r>
          </a:p>
        </p:txBody>
      </p:sp>
      <p:sp>
        <p:nvSpPr>
          <p:cNvPr id="18" name="Oval 17"/>
          <p:cNvSpPr/>
          <p:nvPr/>
        </p:nvSpPr>
        <p:spPr>
          <a:xfrm>
            <a:off x="4965192" y="4314139"/>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4469587"/>
            <a:ext cx="1737360" cy="457200"/>
          </a:xfrm>
          <a:prstGeom prst="rect">
            <a:avLst/>
          </a:prstGeom>
          <a:noFill/>
        </p:spPr>
        <p:txBody>
          <a:bodyPr wrap="square">
            <a:spAutoFit/>
          </a:bodyPr>
          <a:lstStyle/>
          <a:p>
            <a:pPr algn="ctr"/>
            <a:r>
              <a:rPr sz="1100" b="1" i="0">
                <a:solidFill>
                  <a:srgbClr val="002856"/>
                </a:solidFill>
                <a:latin typeface="Arial"/>
              </a:rPr>
              <a:t>ICF</a:t>
            </a:r>
          </a:p>
        </p:txBody>
      </p:sp>
      <p:sp>
        <p:nvSpPr>
          <p:cNvPr id="20" name="Oval 19"/>
          <p:cNvSpPr/>
          <p:nvPr/>
        </p:nvSpPr>
        <p:spPr>
          <a:xfrm>
            <a:off x="4261104" y="4774996"/>
            <a:ext cx="164592" cy="164592"/>
          </a:xfrm>
          <a:prstGeom prst="ellipse">
            <a:avLst/>
          </a:prstGeom>
          <a:solidFill>
            <a:srgbClr val="3D7C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0" y="4930444"/>
            <a:ext cx="1737360" cy="457200"/>
          </a:xfrm>
          <a:prstGeom prst="rect">
            <a:avLst/>
          </a:prstGeom>
          <a:noFill/>
        </p:spPr>
        <p:txBody>
          <a:bodyPr wrap="square">
            <a:spAutoFit/>
          </a:bodyPr>
          <a:lstStyle/>
          <a:p>
            <a:pPr algn="ctr"/>
            <a:r>
              <a:rPr sz="1100" b="1" i="0">
                <a:solidFill>
                  <a:srgbClr val="002856"/>
                </a:solidFill>
                <a:latin typeface="Arial"/>
              </a:rPr>
              <a:t>Franklin Energy</a:t>
            </a:r>
          </a:p>
        </p:txBody>
      </p:sp>
      <p:sp>
        <p:nvSpPr>
          <p:cNvPr id="22" name="Oval 21"/>
          <p:cNvSpPr/>
          <p:nvPr/>
        </p:nvSpPr>
        <p:spPr>
          <a:xfrm>
            <a:off x="1892808" y="4160520"/>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315968"/>
            <a:ext cx="1737360" cy="457200"/>
          </a:xfrm>
          <a:prstGeom prst="rect">
            <a:avLst/>
          </a:prstGeom>
          <a:noFill/>
        </p:spPr>
        <p:txBody>
          <a:bodyPr wrap="square">
            <a:spAutoFit/>
          </a:bodyPr>
          <a:lstStyle/>
          <a:p>
            <a:pPr algn="ctr"/>
            <a:r>
              <a:rPr sz="1100" b="1" i="0">
                <a:solidFill>
                  <a:srgbClr val="002856"/>
                </a:solidFill>
                <a:latin typeface="Arial"/>
              </a:rPr>
              <a:t>Stantec</a:t>
            </a:r>
          </a:p>
          <a:p>
            <a:pPr algn="ctr"/>
            <a:r>
              <a:rPr sz="1000" b="0" i="1">
                <a:solidFill>
                  <a:srgbClr val="595959"/>
                </a:solidFill>
                <a:latin typeface="Arial"/>
              </a:rPr>
              <a:t>(engineering only)</a:t>
            </a:r>
          </a:p>
        </p:txBody>
      </p:sp>
      <p:sp>
        <p:nvSpPr>
          <p:cNvPr id="24" name="Oval 23"/>
          <p:cNvSpPr/>
          <p:nvPr/>
        </p:nvSpPr>
        <p:spPr>
          <a:xfrm>
            <a:off x="1764792" y="3008376"/>
            <a:ext cx="164592" cy="164592"/>
          </a:xfrm>
          <a:prstGeom prst="ellipse">
            <a:avLst/>
          </a:prstGeom>
          <a:solidFill>
            <a:srgbClr val="00A1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3163824"/>
            <a:ext cx="1737360" cy="457200"/>
          </a:xfrm>
          <a:prstGeom prst="rect">
            <a:avLst/>
          </a:prstGeom>
          <a:noFill/>
        </p:spPr>
        <p:txBody>
          <a:bodyPr wrap="square">
            <a:spAutoFit/>
          </a:bodyPr>
          <a:lstStyle/>
          <a:p>
            <a:pPr algn="ctr"/>
            <a:r>
              <a:rPr sz="1100" b="1" i="0">
                <a:solidFill>
                  <a:srgbClr val="002856"/>
                </a:solidFill>
                <a:latin typeface="Arial"/>
              </a:rPr>
              <a:t>Tesla / EnergyHub</a:t>
            </a:r>
          </a:p>
          <a:p>
            <a:pPr algn="ctr"/>
            <a:r>
              <a:rPr sz="1000" b="0" i="1">
                <a:solidFill>
                  <a:srgbClr val="595959"/>
                </a:solidFill>
                <a:latin typeface="Arial"/>
              </a:rPr>
              <a:t>(software &amp; dispatch)</a:t>
            </a:r>
          </a:p>
        </p:txBody>
      </p:sp>
      <p:sp>
        <p:nvSpPr>
          <p:cNvPr id="26" name="Oval 25"/>
          <p:cNvSpPr/>
          <p:nvPr/>
        </p:nvSpPr>
        <p:spPr>
          <a:xfrm>
            <a:off x="2532888" y="2240280"/>
            <a:ext cx="164592" cy="164592"/>
          </a:xfrm>
          <a:prstGeom prst="ellipse">
            <a:avLst/>
          </a:prstGeom>
          <a:solidFill>
            <a:srgbClr val="A32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46504" y="2395728"/>
            <a:ext cx="1737360" cy="457200"/>
          </a:xfrm>
          <a:prstGeom prst="rect">
            <a:avLst/>
          </a:prstGeom>
          <a:noFill/>
        </p:spPr>
        <p:txBody>
          <a:bodyPr wrap="square">
            <a:spAutoFit/>
          </a:bodyPr>
          <a:lstStyle/>
          <a:p>
            <a:pPr algn="ctr"/>
            <a:r>
              <a:rPr sz="1100" b="1" i="0">
                <a:solidFill>
                  <a:srgbClr val="002856"/>
                </a:solidFill>
                <a:latin typeface="Arial"/>
              </a:rPr>
              <a:t>Sunrun</a:t>
            </a:r>
          </a:p>
          <a:p>
            <a:pPr algn="ctr"/>
            <a:r>
              <a:rPr sz="1000" b="0" i="1">
                <a:solidFill>
                  <a:srgbClr val="595959"/>
                </a:solidFill>
                <a:latin typeface="Arial"/>
              </a:rPr>
              <a:t>(owns fleets, CA-centric)</a:t>
            </a:r>
          </a:p>
        </p:txBody>
      </p:sp>
      <p:sp>
        <p:nvSpPr>
          <p:cNvPr id="28" name="TextBox 27"/>
          <p:cNvSpPr txBox="1"/>
          <p:nvPr/>
        </p:nvSpPr>
        <p:spPr>
          <a:xfrm>
            <a:off x="4654296" y="2582265"/>
            <a:ext cx="365760" cy="365760"/>
          </a:xfrm>
          <a:prstGeom prst="rect">
            <a:avLst/>
          </a:prstGeom>
          <a:noFill/>
        </p:spPr>
        <p:txBody>
          <a:bodyPr wrap="none">
            <a:spAutoFit/>
          </a:bodyPr>
          <a:lstStyle/>
          <a:p>
            <a:r>
              <a:rPr sz="2200" b="1">
                <a:solidFill>
                  <a:srgbClr val="A32036"/>
                </a:solidFill>
              </a:rPr>
              <a:t>✕</a:t>
            </a:r>
          </a:p>
        </p:txBody>
      </p:sp>
      <p:sp>
        <p:nvSpPr>
          <p:cNvPr id="29" name="TextBox 28"/>
          <p:cNvSpPr txBox="1"/>
          <p:nvPr/>
        </p:nvSpPr>
        <p:spPr>
          <a:xfrm>
            <a:off x="3922776" y="2911449"/>
            <a:ext cx="1737360" cy="457200"/>
          </a:xfrm>
          <a:prstGeom prst="rect">
            <a:avLst/>
          </a:prstGeom>
          <a:noFill/>
        </p:spPr>
        <p:txBody>
          <a:bodyPr wrap="square">
            <a:spAutoFit/>
          </a:bodyPr>
          <a:lstStyle/>
          <a:p>
            <a:pPr algn="ctr"/>
            <a:r>
              <a:rPr sz="1100" b="1" i="0">
                <a:solidFill>
                  <a:srgbClr val="A32036"/>
                </a:solidFill>
                <a:latin typeface="Arial"/>
              </a:rPr>
              <a:t>Swell Energy</a:t>
            </a:r>
          </a:p>
          <a:p>
            <a:pPr algn="ctr"/>
            <a:r>
              <a:rPr sz="1000" b="0" i="1">
                <a:solidFill>
                  <a:srgbClr val="595959"/>
                </a:solidFill>
                <a:latin typeface="Arial"/>
              </a:rPr>
              <a:t>(insolvent 2024)</a:t>
            </a:r>
          </a:p>
        </p:txBody>
      </p:sp>
      <p:sp>
        <p:nvSpPr>
          <p:cNvPr id="30" name="5-Point Star 29"/>
          <p:cNvSpPr/>
          <p:nvPr/>
        </p:nvSpPr>
        <p:spPr>
          <a:xfrm>
            <a:off x="5815583" y="2066543"/>
            <a:ext cx="512064" cy="512064"/>
          </a:xfrm>
          <a:prstGeom prst="star5">
            <a:avLst/>
          </a:prstGeom>
          <a:solidFill>
            <a:srgbClr val="FF8200"/>
          </a:solidFill>
          <a:ln w="19050">
            <a:solidFill>
              <a:srgbClr val="0028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02936" y="2596896"/>
            <a:ext cx="1737360" cy="320040"/>
          </a:xfrm>
          <a:prstGeom prst="rect">
            <a:avLst/>
          </a:prstGeom>
          <a:noFill/>
        </p:spPr>
        <p:txBody>
          <a:bodyPr wrap="none">
            <a:spAutoFit/>
          </a:bodyPr>
          <a:lstStyle/>
          <a:p>
            <a:pPr algn="ctr"/>
            <a:r>
              <a:rPr sz="1300" b="1">
                <a:solidFill>
                  <a:srgbClr val="002856"/>
                </a:solidFill>
                <a:latin typeface="Arial"/>
              </a:rPr>
              <a:t>APTIM</a:t>
            </a:r>
          </a:p>
        </p:txBody>
      </p:sp>
      <p:sp>
        <p:nvSpPr>
          <p:cNvPr id="32" name="Rounded Rectangle 31"/>
          <p:cNvSpPr/>
          <p:nvPr/>
        </p:nvSpPr>
        <p:spPr>
          <a:xfrm>
            <a:off x="7635240" y="1325880"/>
            <a:ext cx="4114800" cy="4572000"/>
          </a:xfrm>
          <a:prstGeom prst="roundRect">
            <a:avLst>
              <a:gd name="adj" fmla="val 5000"/>
            </a:avLst>
          </a:prstGeom>
          <a:solidFill>
            <a:srgbClr val="002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home_battery_icon.png"/>
          <p:cNvPicPr>
            <a:picLocks noChangeAspect="1"/>
          </p:cNvPicPr>
          <p:nvPr/>
        </p:nvPicPr>
        <p:blipFill>
          <a:blip r:embed="rId6"/>
          <a:stretch>
            <a:fillRect/>
          </a:stretch>
        </p:blipFill>
        <p:spPr>
          <a:xfrm>
            <a:off x="9189720" y="1554480"/>
            <a:ext cx="1005840" cy="1005840"/>
          </a:xfrm>
          <a:prstGeom prst="rect">
            <a:avLst/>
          </a:prstGeom>
        </p:spPr>
      </p:pic>
      <p:sp>
        <p:nvSpPr>
          <p:cNvPr id="34" name="TextBox 33"/>
          <p:cNvSpPr txBox="1"/>
          <p:nvPr/>
        </p:nvSpPr>
        <p:spPr>
          <a:xfrm>
            <a:off x="7818120" y="2651760"/>
            <a:ext cx="3749039" cy="365760"/>
          </a:xfrm>
          <a:prstGeom prst="rect">
            <a:avLst/>
          </a:prstGeom>
          <a:noFill/>
        </p:spPr>
        <p:txBody>
          <a:bodyPr wrap="square">
            <a:spAutoFit/>
          </a:bodyPr>
          <a:lstStyle/>
          <a:p>
            <a:pPr algn="ctr"/>
            <a:r>
              <a:rPr sz="1600" b="1" i="0">
                <a:solidFill>
                  <a:srgbClr val="FFFFFF"/>
                </a:solidFill>
                <a:latin typeface="Arial"/>
              </a:rPr>
              <a:t>Why the Seat Is Empty</a:t>
            </a:r>
          </a:p>
        </p:txBody>
      </p:sp>
      <p:sp>
        <p:nvSpPr>
          <p:cNvPr id="35" name="TextBox 34"/>
          <p:cNvSpPr txBox="1"/>
          <p:nvPr/>
        </p:nvSpPr>
        <p:spPr>
          <a:xfrm>
            <a:off x="7863840" y="3063240"/>
            <a:ext cx="3657600" cy="2743200"/>
          </a:xfrm>
          <a:prstGeom prst="rect">
            <a:avLst/>
          </a:prstGeom>
          <a:noFill/>
        </p:spPr>
        <p:txBody>
          <a:bodyPr wrap="square">
            <a:spAutoFit/>
          </a:bodyPr>
          <a:lstStyle/>
          <a:p>
            <a:r>
              <a:rPr sz="1250" b="1">
                <a:solidFill>
                  <a:srgbClr val="FFB71B"/>
                </a:solidFill>
                <a:latin typeface="Arial"/>
              </a:rPr>
              <a:t>Nobody sells this role.</a:t>
            </a:r>
          </a:p>
          <a:p>
            <a:pPr>
              <a:spcAft>
                <a:spcPts val="1000"/>
              </a:spcAft>
            </a:pPr>
            <a:r>
              <a:rPr sz="1200">
                <a:solidFill>
                  <a:srgbClr val="FFFFFF"/>
                </a:solidFill>
                <a:latin typeface="Arial"/>
              </a:rPr>
              <a:t>Green Mountain Power runs the largest US fleet (10,000+ batteries (July 2026)) -- it had to build administration in-house.</a:t>
            </a:r>
          </a:p>
          <a:p>
            <a:r>
              <a:rPr sz="1250" b="1">
                <a:solidFill>
                  <a:srgbClr val="FFB71B"/>
                </a:solidFill>
                <a:latin typeface="Arial"/>
              </a:rPr>
              <a:t>The one who tried, failed on financing.</a:t>
            </a:r>
          </a:p>
          <a:p>
            <a:pPr>
              <a:spcAft>
                <a:spcPts val="1000"/>
              </a:spcAft>
            </a:pPr>
            <a:r>
              <a:rPr sz="1200">
                <a:solidFill>
                  <a:srgbClr val="FFFFFF"/>
                </a:solidFill>
                <a:latin typeface="Arial"/>
              </a:rPr>
              <a:t>Swell Energy went insolvent in 2024 carrying hardware risk. APTIM's fee-for-service model carries none.</a:t>
            </a:r>
          </a:p>
          <a:p>
            <a:r>
              <a:rPr sz="1250" b="1">
                <a:solidFill>
                  <a:srgbClr val="FFB71B"/>
                </a:solidFill>
                <a:latin typeface="Arial"/>
              </a:rPr>
              <a:t>Incumbents stop at BYOD.</a:t>
            </a:r>
          </a:p>
          <a:p>
            <a:pPr>
              <a:spcAft>
                <a:spcPts val="1000"/>
              </a:spcAft>
            </a:pPr>
            <a:r>
              <a:rPr sz="1200">
                <a:solidFill>
                  <a:srgbClr val="FFFFFF"/>
                </a:solidFill>
                <a:latin typeface="Arial"/>
              </a:rPr>
              <a:t>CLEAResult, ICF, and Franklin administer customer-owned devices only -- never utility-owned assets.</a:t>
            </a:r>
          </a:p>
        </p:txBody>
      </p:sp>
      <p:sp>
        <p:nvSpPr>
          <p:cNvPr id="36" name="TextBox 35"/>
          <p:cNvSpPr txBox="1"/>
          <p:nvPr/>
        </p:nvSpPr>
        <p:spPr>
          <a:xfrm rot="16200000">
            <a:off x="-1074420" y="3314700"/>
            <a:ext cx="3108960" cy="320040"/>
          </a:xfrm>
          <a:prstGeom prst="rect">
            <a:avLst/>
          </a:prstGeom>
          <a:noFill/>
        </p:spPr>
        <p:txBody>
          <a:bodyPr wrap="none">
            <a:spAutoFit/>
          </a:bodyPr>
          <a:lstStyle/>
          <a:p>
            <a:pPr algn="ctr"/>
            <a:r>
              <a:rPr sz="1200" i="1">
                <a:solidFill>
                  <a:srgbClr val="595959"/>
                </a:solidFill>
                <a:latin typeface="Arial"/>
              </a:rPr>
              <a:t>Residential fleet operations  →</a:t>
            </a:r>
          </a:p>
        </p:txBody>
      </p:sp>
    </p:spTree>
    <p:extLst>
      <p:ext uri="{BB962C8B-B14F-4D97-AF65-F5344CB8AC3E}">
        <p14:creationId xmlns:p14="http://schemas.microsoft.com/office/powerpoint/2010/main" val="3574166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target -- compliance petitions due Dec 31,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Legal Scorecard: Helps vs. Hurts</a:t>
            </a:r>
          </a:p>
        </p:txBody>
      </p:sp>
      <p:graphicFrame>
        <p:nvGraphicFramePr>
          <p:cNvPr id="10" name="Table 9"/>
          <p:cNvGraphicFramePr>
            <a:graphicFrameLocks noGrp="1"/>
          </p:cNvGraphicFramePr>
          <p:nvPr/>
        </p:nvGraphicFramePr>
        <p:xfrm>
          <a:off x="6172200" y="141732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rPr sz="1200" b="1">
                          <a:solidFill>
                            <a:srgbClr val="FFFFFF"/>
                          </a:solidFill>
                        </a:rPr>
                        <a:t>Helps our case</a:t>
                      </a:r>
                    </a:p>
                  </a:txBody>
                  <a:tcPr>
                    <a:solidFill>
                      <a:srgbClr val="002856"/>
                    </a:solidFill>
                  </a:tcPr>
                </a:tc>
                <a:tc>
                  <a:txBody>
                    <a:bodyPr/>
                    <a:lstStyle/>
                    <a:p>
                      <a:pPr>
                        <a:defRPr sz="1100" b="1">
                          <a:solidFill>
                            <a:srgbClr val="FFFFFF"/>
                          </a:solidFill>
                          <a:latin typeface="Arial"/>
                        </a:defRPr>
                      </a:pPr>
                      <a:r>
                        <a:rPr sz="1200" b="1">
                          <a:solidFill>
                            <a:srgbClr val="FFFFFF"/>
                          </a:solidFill>
                        </a:rPr>
                        <a:t>Cuts against us  →  our answer</a:t>
                      </a:r>
                    </a:p>
                  </a:txBody>
                  <a:tcPr>
                    <a:solidFill>
                      <a:srgbClr val="002856"/>
                    </a:solidFill>
                  </a:tcPr>
                </a:tc>
              </a:tr>
              <a:tr h="434340">
                <a:tc>
                  <a:txBody>
                    <a:bodyPr/>
                    <a:lstStyle/>
                    <a:p>
                      <a:pPr>
                        <a:defRPr sz="1100">
                          <a:solidFill>
                            <a:srgbClr val="002856"/>
                          </a:solidFill>
                          <a:latin typeface="Arial"/>
                        </a:defRPr>
                      </a:pPr>
                      <a:r>
                        <a:rPr sz="1100" b="0">
                          <a:solidFill>
                            <a:srgbClr val="002856"/>
                          </a:solidFill>
                        </a:rPr>
                        <a:t>PA 235 mandate: compliance demand exists regardless of federal funding -- the exact hedge the prompt asks for</a:t>
                      </a:r>
                    </a:p>
                  </a:txBody>
                  <a:tcPr>
                    <a:solidFill>
                      <a:srgbClr val="E9EEF5"/>
                    </a:solidFill>
                  </a:tcPr>
                </a:tc>
                <a:tc>
                  <a:txBody>
                    <a:bodyPr/>
                    <a:lstStyle/>
                    <a:p>
                      <a:pPr>
                        <a:defRPr sz="1100">
                          <a:solidFill>
                            <a:srgbClr val="002856"/>
                          </a:solidFill>
                          <a:latin typeface="Arial"/>
                        </a:defRPr>
                      </a:pPr>
                      <a:r>
                        <a:rPr sz="1100" b="0">
                          <a:solidFill>
                            <a:srgbClr val="002856"/>
                          </a:solidFill>
                        </a:rPr>
                        <a:t>1,332 MW precedent is GRID-SCALE, not residential  →  the capped pilot is how the residential template gets set</a:t>
                      </a:r>
                    </a:p>
                  </a:txBody>
                  <a:tcPr>
                    <a:solidFill>
                      <a:srgbClr val="E9EEF5"/>
                    </a:solidFill>
                  </a:tcPr>
                </a:tc>
              </a:tr>
              <a:tr h="434340">
                <a:tc>
                  <a:txBody>
                    <a:bodyPr/>
                    <a:lstStyle/>
                    <a:p>
                      <a:pPr>
                        <a:defRPr sz="1100">
                          <a:solidFill>
                            <a:srgbClr val="002856"/>
                          </a:solidFill>
                          <a:latin typeface="Arial"/>
                        </a:defRPr>
                      </a:pPr>
                      <a:r>
                        <a:rPr sz="1100" b="0">
                          <a:solidFill>
                            <a:srgbClr val="002856"/>
                          </a:solidFill>
                        </a:rPr>
                        <a:t>U-20836 rejection was venue, not batteries -- the Commission invited standalone refiling with deferred accounting</a:t>
                      </a:r>
                    </a:p>
                  </a:txBody>
                  <a:tcPr>
                    <a:solidFill>
                      <a:srgbClr val="FFFFFF"/>
                    </a:solidFill>
                  </a:tcPr>
                </a:tc>
                <a:tc>
                  <a:txBody>
                    <a:bodyPr/>
                    <a:lstStyle/>
                    <a:p>
                      <a:pPr>
                        <a:defRPr sz="1100">
                          <a:solidFill>
                            <a:srgbClr val="002856"/>
                          </a:solidFill>
                          <a:latin typeface="Arial"/>
                        </a:defRPr>
                      </a:pPr>
                      <a:r>
                        <a:rPr sz="1100" b="0">
                          <a:solidFill>
                            <a:srgbClr val="002856"/>
                          </a:solidFill>
                        </a:rPr>
                        <a:t>Rate-fatigue politics: DTE under reliability criticism  →  pilot adds no new tax; fee is performance-linked</a:t>
                      </a:r>
                    </a:p>
                  </a:txBody>
                  <a:tcPr>
                    <a:solidFill>
                      <a:srgbClr val="FFFFFF"/>
                    </a:solidFill>
                  </a:tcPr>
                </a:tc>
              </a:tr>
              <a:tr h="434340">
                <a:tc>
                  <a:txBody>
                    <a:bodyPr/>
                    <a:lstStyle/>
                    <a:p>
                      <a:pPr>
                        <a:defRPr sz="1100">
                          <a:solidFill>
                            <a:srgbClr val="002856"/>
                          </a:solidFill>
                          <a:latin typeface="Arial"/>
                        </a:defRPr>
                      </a:pPr>
                      <a:r>
                        <a:rPr sz="1100" b="0">
                          <a:solidFill>
                            <a:srgbClr val="002856"/>
                          </a:solidFill>
                        </a:rPr>
                        <a:t>U-21653 expedited 90-day route exists and covers DER integration -- the invited venue now has a door</a:t>
                      </a:r>
                    </a:p>
                  </a:txBody>
                  <a:tcPr>
                    <a:solidFill>
                      <a:srgbClr val="E9EEF5"/>
                    </a:solidFill>
                  </a:tcPr>
                </a:tc>
                <a:tc>
                  <a:txBody>
                    <a:bodyPr/>
                    <a:lstStyle/>
                    <a:p>
                      <a:pPr>
                        <a:defRPr sz="1100">
                          <a:solidFill>
                            <a:srgbClr val="002856"/>
                          </a:solidFill>
                          <a:latin typeface="Arial"/>
                        </a:defRPr>
                      </a:pPr>
                      <a:r>
                        <a:rPr sz="1100" b="0">
                          <a:solidFill>
                            <a:srgbClr val="002856"/>
                          </a:solidFill>
                        </a:rPr>
                        <a:t>No interconnection template for utility-owned in-home equipment  →  MIXDG rules already name the utility as a possible interconnection customer</a:t>
                      </a:r>
                    </a:p>
                  </a:txBody>
                  <a:tcPr>
                    <a:solidFill>
                      <a:srgbClr val="E9EEF5"/>
                    </a:solidFill>
                  </a:tcPr>
                </a:tc>
              </a:tr>
            </a:tbl>
          </a:graphicData>
        </a:graphic>
      </p:graphicFrame>
      <p:sp>
        <p:nvSpPr>
          <p:cNvPr id="11" name="TextBox 10"/>
          <p:cNvSpPr txBox="1"/>
          <p:nvPr/>
        </p:nvSpPr>
        <p:spPr>
          <a:xfrm>
            <a:off x="6172200" y="489204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5166360"/>
            <a:ext cx="5577840" cy="868680"/>
          </a:xfrm>
          <a:prstGeom prst="rect">
            <a:avLst/>
          </a:prstGeom>
          <a:noFill/>
        </p:spPr>
        <p:txBody>
          <a:bodyPr wrap="square">
            <a:spAutoFit/>
          </a:bodyPr>
          <a:lstStyle/>
          <a:p>
            <a:pPr>
              <a:spcAft>
                <a:spcPts val="200"/>
              </a:spcAft>
            </a:pPr>
            <a:r>
              <a:rPr b="1" sz="1100">
                <a:solidFill>
                  <a:srgbClr val="002856"/>
                </a:solidFill>
                <a:latin typeface="Arial"/>
              </a:rPr>
              <a:t>Year 1-2:</a:t>
            </a:r>
            <a:r>
              <a:rPr sz="1100">
                <a:solidFill>
                  <a:srgbClr val="002856"/>
                </a:solidFill>
                <a:latin typeface="Arial"/>
              </a:rPr>
              <a:t> Pilot filing, MPSC review, Phase 1 enrollment of qualifying homeowners</a:t>
            </a:r>
          </a:p>
          <a:p>
            <a:pPr>
              <a:spcAft>
                <a:spcPts val="200"/>
              </a:spcAft>
            </a:pPr>
            <a:r>
              <a:rPr b="1" sz="1100">
                <a:solidFill>
                  <a:srgbClr val="002856"/>
                </a:solidFill>
                <a:latin typeface="Arial"/>
              </a:rPr>
              <a:t>Year 2-3:</a:t>
            </a:r>
            <a:r>
              <a:rPr sz="1100">
                <a:solidFill>
                  <a:srgbClr val="002856"/>
                </a:solidFill>
                <a:latin typeface="Arial"/>
              </a:rPr>
              <a:t> Fleet operational; results support a follow-on rate case</a:t>
            </a:r>
          </a:p>
          <a:p>
            <a:pPr>
              <a:spcAft>
                <a:spcPts val="200"/>
              </a:spcAft>
            </a:pPr>
            <a:r>
              <a:rPr b="1" sz="1100">
                <a:solidFill>
                  <a:srgbClr val="002856"/>
                </a:solidFill>
                <a:latin typeface="Arial"/>
              </a:rPr>
              <a:t>Honest note:</a:t>
            </a:r>
            <a:r>
              <a:rPr sz="1100">
                <a:solidFill>
                  <a:srgbClr val="002856"/>
                </a:solidFill>
                <a:latin typeface="Arial"/>
              </a:rPr>
              <a:t> full rate-basing may extend past year 3 -- the pilot itself is the 1-3 yr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200">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262814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16474001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17</a:t>
            </a:r>
          </a:p>
        </p:txBody>
      </p:sp>
    </p:spTree>
    <p:extLst>
      <p:ext uri="{BB962C8B-B14F-4D97-AF65-F5344CB8AC3E}">
        <p14:creationId xmlns:p14="http://schemas.microsoft.com/office/powerpoint/2010/main" val="3879935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
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10.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5.svg" ContentType="image/svg+xml"/>
  <Override PartName="/ppt/media/image36.svg" ContentType="image/svg+xml"/>
  <Override PartName="/ppt/media/image3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73"/>
  </p:notesMasterIdLst>
  <p:sldIdLst>
    <p:sldId id="261" r:id="rId7"/>
    <p:sldId id="563" r:id="rId8"/>
    <p:sldId id="567" r:id="rId9"/>
    <p:sldId id="571" r:id="rId10"/>
    <p:sldId id="599" r:id="rId11"/>
    <p:sldId id="587" r:id="rId12"/>
    <p:sldId id="601" r:id="rId80"/>
    <p:sldId id="585" r:id="rId13"/>
    <p:sldId id="306" r:id="rId14"/>
    <p:sldId id="581" r:id="rId15"/>
    <p:sldId id="295" r:id="rId16"/>
    <p:sldId id="576" r:id="rId17"/>
    <p:sldId id="590" r:id="rId18"/>
    <p:sldId id="597" r:id="rId19"/>
    <p:sldId id="578" r:id="rId20"/>
    <p:sldId id="592" r:id="rId21"/>
    <p:sldId id="589" r:id="rId22"/>
    <p:sldId id="593" r:id="rId23"/>
    <p:sldId id="595" r:id="rId24"/>
    <p:sldId id="596" r:id="rId25"/>
    <p:sldId id="575" r:id="rId26"/>
    <p:sldId id="584" r:id="rId27"/>
    <p:sldId id="598" r:id="rId28"/>
    <p:sldId id="274" r:id="rId29"/>
    <p:sldId id="570" r:id="rId30"/>
    <p:sldId id="600" r:id="rId31"/>
    <p:sldId id="588" r:id="rId32"/>
    <p:sldId id="586" r:id="rId33"/>
    <p:sldId id="577" r:id="rId34"/>
    <p:sldId id="296" r:id="rId35"/>
    <p:sldId id="304" r:id="rId36"/>
    <p:sldId id="305" r:id="rId37"/>
    <p:sldId id="300" r:id="rId38"/>
    <p:sldId id="302" r:id="rId39"/>
    <p:sldId id="275" r:id="rId40"/>
    <p:sldId id="292" r:id="rId41"/>
    <p:sldId id="573" r:id="rId42"/>
    <p:sldId id="583" r:id="rId43"/>
    <p:sldId id="293" r:id="rId44"/>
    <p:sldId id="307" r:id="rId45"/>
    <p:sldId id="565" r:id="rId46"/>
    <p:sldId id="566" r:id="rId47"/>
    <p:sldId id="564" r:id="rId48"/>
    <p:sldId id="574" r:id="rId49"/>
    <p:sldId id="299" r:id="rId50"/>
    <p:sldId id="579" r:id="rId51"/>
    <p:sldId id="580" r:id="rId52"/>
    <p:sldId id="572" r:id="rId53"/>
    <p:sldId id="297" r:id="rId54"/>
    <p:sldId id="568" r:id="rId55"/>
    <p:sldId id="582" r:id="rId56"/>
    <p:sldId id="285" r:id="rId57"/>
    <p:sldId id="279" r:id="rId58"/>
    <p:sldId id="281" r:id="rId59"/>
    <p:sldId id="282" r:id="rId60"/>
    <p:sldId id="283" r:id="rId61"/>
    <p:sldId id="284" r:id="rId62"/>
    <p:sldId id="291" r:id="rId63"/>
    <p:sldId id="287" r:id="rId64"/>
    <p:sldId id="288" r:id="rId65"/>
    <p:sldId id="290" r:id="rId66"/>
    <p:sldId id="264" r:id="rId67"/>
    <p:sldId id="289" r:id="rId68"/>
    <p:sldId id="276" r:id="rId69"/>
    <p:sldId id="277" r:id="rId70"/>
    <p:sldId id="267" r:id="rId71"/>
    <p:sldId id="273"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99"/>
            <p14:sldId id="587"/>
            <p14:sldId id="585"/>
            <p14:sldId id="306"/>
            <p14:sldId id="581"/>
            <p14:sldId id="295"/>
            <p14:sldId id="576"/>
            <p14:sldId id="590"/>
            <p14:sldId id="597"/>
            <p14:sldId id="578"/>
            <p14:sldId id="592"/>
            <p14:sldId id="589"/>
            <p14:sldId id="593"/>
            <p14:sldId id="595"/>
            <p14:sldId id="596"/>
            <p14:sldId id="575"/>
            <p14:sldId id="584"/>
            <p14:sldId id="598"/>
            <p14:sldId id="274"/>
          </p14:sldIdLst>
        </p14:section>
        <p14:section name="Draft/Prompt Slides" id="{C2FC1F15-DB02-426B-B197-995664422535}">
          <p14:sldIdLst>
            <p14:sldId id="570"/>
            <p14:sldId id="600"/>
            <p14:sldId id="588"/>
            <p14:sldId id="586"/>
            <p14:sldId id="577"/>
            <p14:sldId id="296"/>
            <p14:sldId id="304"/>
            <p14:sldId id="305"/>
            <p14:sldId id="300"/>
            <p14:sldId id="302"/>
            <p14:sldId id="275"/>
            <p14:sldId id="292"/>
            <p14:sldId id="573"/>
            <p14:sldId id="583"/>
            <p14:sldId id="293"/>
            <p14:sldId id="307"/>
            <p14:sldId id="565"/>
            <p14:sldId id="566"/>
            <p14:sldId id="564"/>
            <p14:sldId id="574"/>
            <p14:sldId id="299"/>
            <p14:sldId id="579"/>
            <p14:sldId id="580"/>
            <p14:sldId id="572"/>
            <p14:sldId id="297"/>
            <p14:sldId id="568"/>
            <p14:sldId id="582"/>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6F9"/>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5837E-D844-CF50-ED0E-6A49E564FAA0}" v="2" dt="2026-07-29T19:49:31.980"/>
    <p1510:client id="{36F90625-5776-D0F9-A77B-D7F09D9F8998}" v="11" dt="2026-07-29T15:25:35.409"/>
    <p1510:client id="{45BC3005-FD66-4A93-A1DC-14C3F12728BA}" v="3" dt="2026-07-29T14:50:44.925"/>
    <p1510:client id="{54B2ADFC-81AE-870A-BE06-36756CDBB530}" v="176" dt="2026-07-28T21:03:40.093"/>
    <p1510:client id="{59249B63-8882-4CDB-BAD3-FE5B1693C1FE}" v="578" dt="2026-07-29T16:34:08.983"/>
    <p1510:client id="{61FBE60D-93B2-174D-C565-8B05DDA60102}" v="3" dt="2026-07-28T20:45:23.162"/>
    <p1510:client id="{653EE008-862F-4FA1-9475-6B6C386264A0}" v="1635" dt="2026-07-29T02:07:20.448"/>
    <p1510:client id="{6B92752F-52C3-FF7B-455A-680757B58163}" v="409" dt="2026-07-29T02:59:43.120"/>
    <p1510:client id="{95F3748B-3667-5808-5477-DAD7A0D68FE8}" v="63" dt="2026-07-29T20:20:34.121"/>
    <p1510:client id="{D81A180E-75FE-4E89-F8EC-2CC53C762941}" v="50" dt="2026-07-29T03:26:10.524"/>
    <p1510:client id="{E021E894-E76D-5097-FD2A-2C9AD33F124F}" v="47" dt="2026-07-29T16:46:20.028"/>
    <p1510:client id="{FBC8671D-34AE-42FC-B3BF-90BE9C571919}" v="1356" dt="2026-07-29T19:41:18.759"/>
    <p1510:client id="{FFD75BEC-7EF4-6102-7448-749AB4C23D9C}" v="2" dt="2026-07-29T14:25:43.3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notesMaster" Target="notesMasters/notesMaster1.xml"/><Relationship Id="rId74" Type="http://schemas.openxmlformats.org/officeDocument/2006/relationships/presProps" Target="presProps.xml"/><Relationship Id="rId75" Type="http://schemas.openxmlformats.org/officeDocument/2006/relationships/viewProps" Target="viewProps.xml"/><Relationship Id="rId76" Type="http://schemas.openxmlformats.org/officeDocument/2006/relationships/theme" Target="theme/theme1.xml"/><Relationship Id="rId77" Type="http://schemas.openxmlformats.org/officeDocument/2006/relationships/tableStyles" Target="tableStyles.xml"/><Relationship Id="rId78" Type="http://schemas.microsoft.com/office/2015/10/relationships/revisionInfo" Target="revisionInfo.xml"/><Relationship Id="rId79" Type="http://schemas.microsoft.com/office/2018/10/relationships/authors" Target="authors.xml"/><Relationship Id="rId80"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4">
  <dgm:title val=""/>
  <dgm:desc val=""/>
  <dgm:catLst>
    <dgm:cat type="accent2" pri="11400"/>
  </dgm:catLst>
  <dgm:styleLbl name="node0">
    <dgm:fillClrLst meth="cycle">
      <a:schemeClr val="accent2">
        <a:shade val="60000"/>
      </a:schemeClr>
    </dgm:fillClrLst>
    <dgm:linClrLst meth="repeat">
      <a:schemeClr val="lt1"/>
    </dgm:linClrLst>
    <dgm:effectClrLst/>
    <dgm:txLinClrLst/>
    <dgm:txFillClrLst/>
    <dgm:txEffectClrLst/>
  </dgm:styleLbl>
  <dgm:styleLbl name="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alignNode1">
    <dgm:fillClrLst meth="cycle">
      <a:schemeClr val="accent2">
        <a:shade val="50000"/>
      </a:schemeClr>
      <a:schemeClr val="accent2">
        <a:tint val="45000"/>
      </a:schemeClr>
    </dgm:fillClrLst>
    <dgm:linClrLst meth="cycle">
      <a:schemeClr val="accent2">
        <a:shade val="50000"/>
      </a:schemeClr>
      <a:schemeClr val="accent2">
        <a:tint val="45000"/>
      </a:schemeClr>
    </dgm:linClrLst>
    <dgm:effectClrLst/>
    <dgm:txLinClrLst/>
    <dgm:txFillClrLst/>
    <dgm:txEffectClrLst/>
  </dgm:styleLbl>
  <dgm:styleLbl name="lnNode1">
    <dgm:fillClrLst meth="cycle">
      <a:schemeClr val="accent2">
        <a:shade val="50000"/>
      </a:schemeClr>
      <a:schemeClr val="accent2">
        <a:tint val="45000"/>
      </a:schemeClr>
    </dgm:fillClrLst>
    <dgm:linClrLst meth="repeat">
      <a:schemeClr val="lt1"/>
    </dgm:linClrLst>
    <dgm:effectClrLst/>
    <dgm:txLinClrLst/>
    <dgm:txFillClrLst/>
    <dgm:txEffectClrLst/>
  </dgm:styleLbl>
  <dgm:styleLbl name="vennNode1">
    <dgm:fillClrLst meth="cycle">
      <a:schemeClr val="accent2">
        <a:shade val="80000"/>
        <a:alpha val="50000"/>
      </a:schemeClr>
      <a:schemeClr val="accent2">
        <a:tint val="45000"/>
        <a:alpha val="50000"/>
      </a:schemeClr>
    </dgm:fillClrLst>
    <dgm:linClrLst meth="repeat">
      <a:schemeClr val="lt1"/>
    </dgm:linClrLst>
    <dgm:effectClrLst/>
    <dgm:txLinClrLst/>
    <dgm:txFillClrLst/>
    <dgm:txEffectClrLst/>
  </dgm:styleLbl>
  <dgm:styleLbl name="node2">
    <dgm:fillClrLst>
      <a:schemeClr val="accent2">
        <a:shade val="80000"/>
      </a:schemeClr>
    </dgm:fillClrLst>
    <dgm:linClrLst meth="repeat">
      <a:schemeClr val="lt1"/>
    </dgm:linClrLst>
    <dgm:effectClrLst/>
    <dgm:txLinClrLst/>
    <dgm:txFillClrLst/>
    <dgm:txEffectClrLst/>
  </dgm:styleLbl>
  <dgm:styleLbl name="node3">
    <dgm:fillClrLst>
      <a:schemeClr val="accent2">
        <a:tint val="99000"/>
      </a:schemeClr>
    </dgm:fillClrLst>
    <dgm:linClrLst meth="repeat">
      <a:schemeClr val="lt1"/>
    </dgm:linClrLst>
    <dgm:effectClrLst/>
    <dgm:txLinClrLst/>
    <dgm:txFillClrLst/>
    <dgm:txEffectClrLst/>
  </dgm:styleLbl>
  <dgm:styleLbl name="node4">
    <dgm:fillClrLst>
      <a:schemeClr val="accent2">
        <a:tint val="70000"/>
      </a:schemeClr>
    </dgm:fillClrLst>
    <dgm:linClrLst meth="repeat">
      <a:schemeClr val="lt1"/>
    </dgm:linClrLst>
    <dgm:effectClrLst/>
    <dgm:txLinClrLst/>
    <dgm:txFillClrLst/>
    <dgm:txEffectClrLst/>
  </dgm:styleLbl>
  <dgm:styleLbl name="f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2">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f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bgSibTrans2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dgm:txEffectClrLst/>
  </dgm:styleLbl>
  <dgm:styleLbl name="sibTrans1D1">
    <dgm:fillClrLst meth="cycle">
      <a:schemeClr val="accent2">
        <a:shade val="90000"/>
      </a:schemeClr>
      <a:schemeClr val="accent2">
        <a:tint val="50000"/>
      </a:schemeClr>
    </dgm:fillClrLst>
    <dgm:linClrLst meth="cycle">
      <a:schemeClr val="accent2">
        <a:shade val="90000"/>
      </a:schemeClr>
      <a:schemeClr val="accent2">
        <a:tint val="50000"/>
      </a:schemeClr>
    </dgm:linClrLst>
    <dgm:effectClrLst/>
    <dgm:txLinClrLst/>
    <dgm:txFillClrLst meth="repeat">
      <a:schemeClr val="tx1"/>
    </dgm:txFillClrLst>
    <dgm:txEffectClrLst/>
  </dgm:styleLbl>
  <dgm:styleLbl name="callout">
    <dgm:fillClrLst meth="repeat">
      <a:schemeClr val="accent2"/>
    </dgm:fillClrLst>
    <dgm:linClrLst meth="repeat">
      <a:schemeClr val="accent2"/>
    </dgm:linClrLst>
    <dgm:effectClrLst/>
    <dgm:txLinClrLst/>
    <dgm:txFillClrLst meth="repeat">
      <a:schemeClr val="tx1"/>
    </dgm:txFillClrLst>
    <dgm:txEffectClrLst/>
  </dgm:styleLbl>
  <dgm:styleLbl name="asst0">
    <dgm:fillClrLst meth="repeat">
      <a:schemeClr val="accent2">
        <a:shade val="80000"/>
      </a:schemeClr>
    </dgm:fillClrLst>
    <dgm:linClrLst meth="repeat">
      <a:schemeClr val="lt1"/>
    </dgm:linClrLst>
    <dgm:effectClrLst/>
    <dgm:txLinClrLst/>
    <dgm:txFillClrLst/>
    <dgm:txEffectClrLst/>
  </dgm:styleLbl>
  <dgm:styleLbl name="asst1">
    <dgm:fillClrLst meth="repeat">
      <a:schemeClr val="accent2">
        <a:shade val="80000"/>
      </a:schemeClr>
    </dgm:fillClrLst>
    <dgm:linClrLst meth="repeat">
      <a:schemeClr val="lt1"/>
    </dgm:linClrLst>
    <dgm:effectClrLst/>
    <dgm:txLinClrLst/>
    <dgm:txFillClrLst/>
    <dgm:txEffectClrLst/>
  </dgm:styleLbl>
  <dgm:styleLbl name="asst2">
    <dgm:fillClrLst>
      <a:schemeClr val="accent2">
        <a:tint val="90000"/>
      </a:schemeClr>
    </dgm:fillClrLst>
    <dgm:linClrLst meth="repeat">
      <a:schemeClr val="lt1"/>
    </dgm:linClrLst>
    <dgm:effectClrLst/>
    <dgm:txLinClrLst/>
    <dgm:txFillClrLst/>
    <dgm:txEffectClrLst/>
  </dgm:styleLbl>
  <dgm:styleLbl name="asst3">
    <dgm:fillClrLst>
      <a:schemeClr val="accent2">
        <a:tint val="70000"/>
      </a:schemeClr>
    </dgm:fillClrLst>
    <dgm:linClrLst meth="repeat">
      <a:schemeClr val="lt1"/>
    </dgm:linClrLst>
    <dgm:effectClrLst/>
    <dgm:txLinClrLst/>
    <dgm:txFillClrLst/>
    <dgm:txEffectClrLst/>
  </dgm:styleLbl>
  <dgm:styleLbl name="asst4">
    <dgm:fillClrLst>
      <a:schemeClr val="accent2">
        <a:tint val="50000"/>
      </a:schemeClr>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shade val="80000"/>
      </a:schemeClr>
    </dgm:linClrLst>
    <dgm:effectClrLst/>
    <dgm:txLinClrLst/>
    <dgm:txFillClrLst/>
    <dgm:txEffectClrLst/>
  </dgm:styleLbl>
  <dgm:styleLbl name="parChTrans2D2">
    <dgm:fillClrLst meth="repeat">
      <a:schemeClr val="accent2">
        <a:tint val="90000"/>
      </a:schemeClr>
    </dgm:fillClrLst>
    <dgm:linClrLst meth="repeat">
      <a:schemeClr val="accent2">
        <a:tint val="90000"/>
      </a:schemeClr>
    </dgm:linClrLst>
    <dgm:effectClrLst/>
    <dgm:txLinClrLst/>
    <dgm:txFillClrLst/>
    <dgm:txEffectClrLst/>
  </dgm:styleLbl>
  <dgm:styleLbl name="parChTrans2D3">
    <dgm:fillClrLst meth="repeat">
      <a:schemeClr val="accent2">
        <a:tint val="70000"/>
      </a:schemeClr>
    </dgm:fillClrLst>
    <dgm:linClrLst meth="repeat">
      <a:schemeClr val="accent2">
        <a:tint val="70000"/>
      </a:schemeClr>
    </dgm:linClrLst>
    <dgm:effectClrLst/>
    <dgm:txLinClrLst/>
    <dgm:txFillClrLst/>
    <dgm:txEffectClrLst/>
  </dgm:styleLbl>
  <dgm:styleLbl name="parChTrans2D4">
    <dgm:fillClrLst meth="repeat">
      <a:schemeClr val="accent2">
        <a:tint val="50000"/>
      </a:schemeClr>
    </dgm:fillClrLst>
    <dgm:linClrLst meth="repeat">
      <a:schemeClr val="accent2">
        <a:tint val="50000"/>
      </a:schemeClr>
    </dgm:linClrLst>
    <dgm:effectClrLst/>
    <dgm:txLinClrLst/>
    <dgm:txFillClrLst meth="repeat">
      <a:schemeClr val="dk1"/>
    </dgm:txFillClrLst>
    <dgm:txEffectClrLst/>
  </dgm:styleLbl>
  <dgm:styleLbl name="parChTrans1D1">
    <dgm:fillClrLst meth="repeat">
      <a:schemeClr val="accent2">
        <a:shade val="80000"/>
      </a:schemeClr>
    </dgm:fillClrLst>
    <dgm:linClrLst meth="repeat">
      <a:schemeClr val="accent2">
        <a:shade val="80000"/>
      </a:schemeClr>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2">
        <a:tint val="90000"/>
      </a:schemeClr>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2">
        <a:tint val="70000"/>
      </a:schemeClr>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2">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2">
        <a:shade val="50000"/>
      </a:schemeClr>
      <a:schemeClr val="accent2">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alignAccFollowNode1">
    <dgm:fillClrLst meth="repeat">
      <a:schemeClr val="accent2">
        <a:alpha val="90000"/>
        <a:tint val="55000"/>
      </a:schemeClr>
    </dgm:fillClrLst>
    <dgm:linClrLst meth="repeat">
      <a:schemeClr val="accent2">
        <a:alpha val="90000"/>
        <a:tint val="55000"/>
      </a:schemeClr>
    </dgm:linClrLst>
    <dgm:effectClrLst/>
    <dgm:txLinClrLst/>
    <dgm:txFillClrLst meth="repeat">
      <a:schemeClr val="dk1"/>
    </dgm:txFillClrLst>
    <dgm:txEffectClrLst/>
  </dgm:styleLbl>
  <dgm:styleLbl name="bgAccFollowNode1">
    <dgm:fillClrLst meth="repeat">
      <a:schemeClr val="accent2">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a:tint val="50000"/>
      </a:schemeClr>
    </dgm:linClrLst>
    <dgm:effectClrLst/>
    <dgm:txLinClrLst/>
    <dgm:txFillClrLst meth="repeat">
      <a:schemeClr val="dk1"/>
    </dgm:txFillClrLst>
    <dgm:txEffectClrLst/>
  </dgm:styleLbl>
  <dgm:styleLbl name="bgShp">
    <dgm:fillClrLst meth="repeat">
      <a:schemeClr val="accent2">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55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24610A9-9734-4A01-AC45-183486814447}" type="doc">
      <dgm:prSet loTypeId="urn:microsoft.com/office/officeart/2005/8/layout/hList6" loCatId="list" qsTypeId="urn:microsoft.com/office/officeart/2005/8/quickstyle/simple1" qsCatId="simple" csTypeId="urn:microsoft.com/office/officeart/2005/8/colors/colorful1" csCatId="colorful" phldr="1"/>
      <dgm:spPr/>
      <dgm:t>
        <a:bodyPr/>
        <a:lstStyle/>
        <a:p>
          <a:endParaRPr lang="en-US"/>
        </a:p>
      </dgm:t>
    </dgm:pt>
    <dgm:pt modelId="{FC060280-3560-4D66-BF51-BACB6EB3865B}">
      <dgm:prSet phldrT="[Text]" phldr="0"/>
      <dgm:spPr/>
      <dgm:t>
        <a:bodyPr/>
        <a:lstStyle/>
        <a:p>
          <a:pPr rtl="0"/>
          <a:r>
            <a:rPr lang="en-US">
              <a:solidFill>
                <a:schemeClr val="bg1"/>
              </a:solidFill>
              <a:latin typeface="Aptos Display" panose="02110004020202020204"/>
            </a:rPr>
            <a:t>Overview:</a:t>
          </a:r>
          <a:endParaRPr lang="en-US">
            <a:solidFill>
              <a:schemeClr val="bg1"/>
            </a:solidFill>
          </a:endParaRPr>
        </a:p>
      </dgm:t>
    </dgm:pt>
    <dgm:pt modelId="{2EDF6164-DC42-4DBE-AFED-9CD2DE3CC1BE}" type="parTrans" cxnId="{4022E7E1-5560-4D15-B606-02168A0009F4}">
      <dgm:prSet/>
      <dgm:spPr/>
      <dgm:t>
        <a:bodyPr/>
        <a:lstStyle/>
        <a:p>
          <a:endParaRPr lang="en-US"/>
        </a:p>
      </dgm:t>
    </dgm:pt>
    <dgm:pt modelId="{79024C8D-D615-48D5-9ED0-0D6DBF5D2F3A}" type="sibTrans" cxnId="{4022E7E1-5560-4D15-B606-02168A0009F4}">
      <dgm:prSet/>
      <dgm:spPr/>
      <dgm:t>
        <a:bodyPr/>
        <a:lstStyle/>
        <a:p>
          <a:endParaRPr lang="en-US"/>
        </a:p>
      </dgm:t>
    </dgm:pt>
    <dgm:pt modelId="{B6F74226-2AF1-4D01-AE81-724A36242621}">
      <dgm:prSet phldrT="[Text]" custT="1"/>
      <dgm:spPr/>
      <dgm:t>
        <a:bodyPr/>
        <a:lstStyle/>
        <a:p>
          <a:pPr rtl="0"/>
          <a:r>
            <a:rPr lang="en-US" sz="2000">
              <a:solidFill>
                <a:schemeClr val="bg1"/>
              </a:solidFill>
              <a:latin typeface="Aptos Display" panose="02110004020202020204"/>
            </a:rPr>
            <a:t>Identify high-potential utility markets where APTIM can serve as Program Administrator </a:t>
          </a:r>
          <a:endParaRPr lang="en-US" sz="2000">
            <a:solidFill>
              <a:schemeClr val="bg1"/>
            </a:solidFill>
          </a:endParaRPr>
        </a:p>
      </dgm:t>
    </dgm:pt>
    <dgm:pt modelId="{DE311DFD-49F2-4E4D-8716-CCBAD64DB2CB}" type="parTrans" cxnId="{01D6D6E0-8EC9-4F17-810B-350B0326A26D}">
      <dgm:prSet/>
      <dgm:spPr/>
      <dgm:t>
        <a:bodyPr/>
        <a:lstStyle/>
        <a:p>
          <a:endParaRPr lang="en-US"/>
        </a:p>
      </dgm:t>
    </dgm:pt>
    <dgm:pt modelId="{C304E03E-20FB-4765-A47B-48BFD41B4BDD}" type="sibTrans" cxnId="{01D6D6E0-8EC9-4F17-810B-350B0326A26D}">
      <dgm:prSet/>
      <dgm:spPr/>
      <dgm:t>
        <a:bodyPr/>
        <a:lstStyle/>
        <a:p>
          <a:endParaRPr lang="en-US"/>
        </a:p>
      </dgm:t>
    </dgm:pt>
    <dgm:pt modelId="{A9DD3E7D-7344-4BFE-AF55-77D58FAE0281}">
      <dgm:prSet phldrT="[Text]" phldr="0" custT="1"/>
      <dgm:spPr/>
      <dgm:t>
        <a:bodyPr/>
        <a:lstStyle/>
        <a:p>
          <a:pPr rtl="0"/>
          <a:r>
            <a:rPr lang="en-US" sz="3200">
              <a:solidFill>
                <a:schemeClr val="bg1"/>
              </a:solidFill>
              <a:latin typeface="Aptos Display" panose="02110004020202020204"/>
            </a:rPr>
            <a:t>Benchmark: California</a:t>
          </a:r>
          <a:endParaRPr lang="en-US" sz="3200">
            <a:solidFill>
              <a:schemeClr val="bg1"/>
            </a:solidFill>
          </a:endParaRPr>
        </a:p>
      </dgm:t>
    </dgm:pt>
    <dgm:pt modelId="{30881474-27DF-46AE-90F2-2A986823E1D8}" type="parTrans" cxnId="{747DA6BC-918E-4FA8-9A8E-665C3660372B}">
      <dgm:prSet/>
      <dgm:spPr/>
      <dgm:t>
        <a:bodyPr/>
        <a:lstStyle/>
        <a:p>
          <a:endParaRPr lang="en-US"/>
        </a:p>
      </dgm:t>
    </dgm:pt>
    <dgm:pt modelId="{497C9D72-50BA-4A6A-ADBF-6966880E2B7A}" type="sibTrans" cxnId="{747DA6BC-918E-4FA8-9A8E-665C3660372B}">
      <dgm:prSet/>
      <dgm:spPr/>
      <dgm:t>
        <a:bodyPr/>
        <a:lstStyle/>
        <a:p>
          <a:endParaRPr lang="en-US"/>
        </a:p>
      </dgm:t>
    </dgm:pt>
    <dgm:pt modelId="{CAFA6F78-0DF0-4313-B394-790C742FF319}">
      <dgm:prSet phldrT="[Text]" phldr="0" custT="1"/>
      <dgm:spPr/>
      <dgm:t>
        <a:bodyPr/>
        <a:lstStyle/>
        <a:p>
          <a:pPr rtl="0"/>
          <a:r>
            <a:rPr lang="en-US" sz="2000">
              <a:solidFill>
                <a:schemeClr val="bg1"/>
              </a:solidFill>
              <a:latin typeface="Aptos Display" panose="02110004020202020204"/>
            </a:rPr>
            <a:t>Mature solar + storage market and established utility </a:t>
          </a:r>
          <a:r>
            <a:rPr lang="en-US" sz="2000">
              <a:solidFill>
                <a:schemeClr val="bg1"/>
              </a:solidFill>
              <a:latin typeface="Aptos Display"/>
              <a:ea typeface="Calibri"/>
              <a:cs typeface="Calibri"/>
            </a:rPr>
            <a:t>programs </a:t>
          </a:r>
        </a:p>
      </dgm:t>
    </dgm:pt>
    <dgm:pt modelId="{011F1E05-3F73-4DB3-ADF7-153FE084C3FE}" type="parTrans" cxnId="{83760CEC-E775-4046-8FE8-928CB38C22C6}">
      <dgm:prSet/>
      <dgm:spPr/>
      <dgm:t>
        <a:bodyPr/>
        <a:lstStyle/>
        <a:p>
          <a:endParaRPr lang="en-US"/>
        </a:p>
      </dgm:t>
    </dgm:pt>
    <dgm:pt modelId="{73BFE982-8990-4D91-94D1-A4525278A5FB}" type="sibTrans" cxnId="{83760CEC-E775-4046-8FE8-928CB38C22C6}">
      <dgm:prSet/>
      <dgm:spPr/>
      <dgm:t>
        <a:bodyPr/>
        <a:lstStyle/>
        <a:p>
          <a:endParaRPr lang="en-US"/>
        </a:p>
      </dgm:t>
    </dgm:pt>
    <dgm:pt modelId="{DC80F72A-A4FA-48DB-B2D0-9D93BBAE74DB}">
      <dgm:prSet phldrT="[Text]" phldr="0"/>
      <dgm:spPr/>
      <dgm:t>
        <a:bodyPr/>
        <a:lstStyle/>
        <a:p>
          <a:pPr rtl="0"/>
          <a:r>
            <a:rPr lang="en-US">
              <a:latin typeface="Aptos Display" panose="02110004020202020204"/>
            </a:rPr>
            <a:t>States Selected for Analysis </a:t>
          </a:r>
          <a:endParaRPr lang="en-US"/>
        </a:p>
      </dgm:t>
    </dgm:pt>
    <dgm:pt modelId="{51F092CA-EBB8-4599-BC59-28F89A2630AF}" type="parTrans" cxnId="{A2F0447A-5A53-48A1-84E6-E7D4F2AC560F}">
      <dgm:prSet/>
      <dgm:spPr/>
      <dgm:t>
        <a:bodyPr/>
        <a:lstStyle/>
        <a:p>
          <a:endParaRPr lang="en-US"/>
        </a:p>
      </dgm:t>
    </dgm:pt>
    <dgm:pt modelId="{49A7289E-6FCA-4C7E-9F4D-43BCA37D93CB}" type="sibTrans" cxnId="{A2F0447A-5A53-48A1-84E6-E7D4F2AC560F}">
      <dgm:prSet/>
      <dgm:spPr/>
      <dgm:t>
        <a:bodyPr/>
        <a:lstStyle/>
        <a:p>
          <a:endParaRPr lang="en-US"/>
        </a:p>
      </dgm:t>
    </dgm:pt>
    <dgm:pt modelId="{F76BCCBA-1B6D-4579-B1BB-3A28EA5398F0}">
      <dgm:prSet phldrT="[Text]" phldr="0" custT="1"/>
      <dgm:spPr/>
      <dgm:t>
        <a:bodyPr/>
        <a:lstStyle/>
        <a:p>
          <a:pPr rtl="0"/>
          <a:r>
            <a:rPr lang="en-US" sz="2000">
              <a:latin typeface="Aptos Display" panose="02110004020202020204"/>
            </a:rPr>
            <a:t>North Carolina</a:t>
          </a:r>
          <a:endParaRPr lang="en-US" sz="2000"/>
        </a:p>
      </dgm:t>
    </dgm:pt>
    <dgm:pt modelId="{8B229A25-92A2-4E6D-B6DD-9B0AA3A03458}" type="parTrans" cxnId="{66000238-219A-44FD-A463-D98BDFF0C1CC}">
      <dgm:prSet/>
      <dgm:spPr/>
      <dgm:t>
        <a:bodyPr/>
        <a:lstStyle/>
        <a:p>
          <a:endParaRPr lang="en-US"/>
        </a:p>
      </dgm:t>
    </dgm:pt>
    <dgm:pt modelId="{7CF2A431-A540-4DFF-BA3C-8D93DAC03759}" type="sibTrans" cxnId="{66000238-219A-44FD-A463-D98BDFF0C1CC}">
      <dgm:prSet/>
      <dgm:spPr/>
      <dgm:t>
        <a:bodyPr/>
        <a:lstStyle/>
        <a:p>
          <a:endParaRPr lang="en-US"/>
        </a:p>
      </dgm:t>
    </dgm:pt>
    <dgm:pt modelId="{0367979F-F0C5-4A13-A87E-4F5DE03C8BF4}">
      <dgm:prSet phldrT="[Text]" phldr="0"/>
      <dgm:spPr/>
      <dgm:t>
        <a:bodyPr/>
        <a:lstStyle/>
        <a:p>
          <a:r>
            <a:rPr lang="en-US" sz="2000">
              <a:latin typeface="Aptos Display" panose="02110004020202020204"/>
            </a:rPr>
            <a:t>Michigan</a:t>
          </a:r>
          <a:endParaRPr lang="en-US" sz="2000"/>
        </a:p>
      </dgm:t>
    </dgm:pt>
    <dgm:pt modelId="{E80B9C38-F685-40FD-A99C-19169C0D9B92}" type="parTrans" cxnId="{BC4DACFB-C165-44DE-9522-D5A2CCFC8547}">
      <dgm:prSet/>
      <dgm:spPr/>
      <dgm:t>
        <a:bodyPr/>
        <a:lstStyle/>
        <a:p>
          <a:endParaRPr lang="en-US"/>
        </a:p>
      </dgm:t>
    </dgm:pt>
    <dgm:pt modelId="{697EE369-603E-4D3E-B1E2-7E3F43ACC96B}" type="sibTrans" cxnId="{BC4DACFB-C165-44DE-9522-D5A2CCFC8547}">
      <dgm:prSet/>
      <dgm:spPr/>
      <dgm:t>
        <a:bodyPr/>
        <a:lstStyle/>
        <a:p>
          <a:endParaRPr lang="en-US"/>
        </a:p>
      </dgm:t>
    </dgm:pt>
    <dgm:pt modelId="{B1507A20-0D3B-4284-8DC5-A7F4D589FD4B}">
      <dgm:prSet phldrT="[Text]" phldr="0"/>
      <dgm:spPr/>
      <dgm:t>
        <a:bodyPr/>
        <a:lstStyle/>
        <a:p>
          <a:r>
            <a:rPr lang="en-US" sz="2000">
              <a:latin typeface="Aptos Display" panose="02110004020202020204"/>
            </a:rPr>
            <a:t>Wisconsin</a:t>
          </a:r>
        </a:p>
      </dgm:t>
    </dgm:pt>
    <dgm:pt modelId="{0F44B9D4-9E06-4183-AC89-4DF1C53E92E8}" type="parTrans" cxnId="{03394847-255F-4C1F-B795-427ADDA3C765}">
      <dgm:prSet/>
      <dgm:spPr/>
      <dgm:t>
        <a:bodyPr/>
        <a:lstStyle/>
        <a:p>
          <a:endParaRPr lang="en-US"/>
        </a:p>
      </dgm:t>
    </dgm:pt>
    <dgm:pt modelId="{FAC0C646-4E3F-4A24-812B-8E7FAC041167}" type="sibTrans" cxnId="{03394847-255F-4C1F-B795-427ADDA3C765}">
      <dgm:prSet/>
      <dgm:spPr/>
      <dgm:t>
        <a:bodyPr/>
        <a:lstStyle/>
        <a:p>
          <a:endParaRPr lang="en-US"/>
        </a:p>
      </dgm:t>
    </dgm:pt>
    <dgm:pt modelId="{211DF230-072A-4D9C-9757-C4C3EA8AD352}" type="pres">
      <dgm:prSet presAssocID="{B24610A9-9734-4A01-AC45-183486814447}" presName="Name0" presStyleCnt="0">
        <dgm:presLayoutVars>
          <dgm:dir/>
          <dgm:resizeHandles val="exact"/>
        </dgm:presLayoutVars>
      </dgm:prSet>
      <dgm:spPr/>
    </dgm:pt>
    <dgm:pt modelId="{6BD867FD-E662-438A-9FB0-2FE1DC683C3E}" type="pres">
      <dgm:prSet presAssocID="{FC060280-3560-4D66-BF51-BACB6EB3865B}" presName="node" presStyleLbl="node1" presStyleIdx="0" presStyleCnt="3">
        <dgm:presLayoutVars>
          <dgm:bulletEnabled val="1"/>
        </dgm:presLayoutVars>
      </dgm:prSet>
      <dgm:spPr/>
    </dgm:pt>
    <dgm:pt modelId="{838FD0BB-0589-45D5-ADF0-F9D7DC2D3562}" type="pres">
      <dgm:prSet presAssocID="{79024C8D-D615-48D5-9ED0-0D6DBF5D2F3A}" presName="sibTrans" presStyleCnt="0"/>
      <dgm:spPr/>
    </dgm:pt>
    <dgm:pt modelId="{052EA765-2E25-4FD1-B7ED-4AE22A54983F}" type="pres">
      <dgm:prSet presAssocID="{A9DD3E7D-7344-4BFE-AF55-77D58FAE0281}" presName="node" presStyleLbl="node1" presStyleIdx="1" presStyleCnt="3">
        <dgm:presLayoutVars>
          <dgm:bulletEnabled val="1"/>
        </dgm:presLayoutVars>
      </dgm:prSet>
      <dgm:spPr/>
    </dgm:pt>
    <dgm:pt modelId="{19BED297-D8AA-4A73-BB51-E4006AE5C862}" type="pres">
      <dgm:prSet presAssocID="{497C9D72-50BA-4A6A-ADBF-6966880E2B7A}" presName="sibTrans" presStyleCnt="0"/>
      <dgm:spPr/>
    </dgm:pt>
    <dgm:pt modelId="{9069B7CA-D9F5-465E-A07F-BA247150F6E9}" type="pres">
      <dgm:prSet presAssocID="{DC80F72A-A4FA-48DB-B2D0-9D93BBAE74DB}" presName="node" presStyleLbl="node1" presStyleIdx="2" presStyleCnt="3">
        <dgm:presLayoutVars>
          <dgm:bulletEnabled val="1"/>
        </dgm:presLayoutVars>
      </dgm:prSet>
      <dgm:spPr/>
    </dgm:pt>
  </dgm:ptLst>
  <dgm:cxnLst>
    <dgm:cxn modelId="{A2578305-383D-4B52-9303-44AE7E5DB165}" type="presOf" srcId="{DC80F72A-A4FA-48DB-B2D0-9D93BBAE74DB}" destId="{9069B7CA-D9F5-465E-A07F-BA247150F6E9}" srcOrd="0" destOrd="0" presId="urn:microsoft.com/office/officeart/2005/8/layout/hList6"/>
    <dgm:cxn modelId="{BCAFEF1E-2325-44BA-903B-4FC30E9ACE44}" type="presOf" srcId="{B1507A20-0D3B-4284-8DC5-A7F4D589FD4B}" destId="{9069B7CA-D9F5-465E-A07F-BA247150F6E9}" srcOrd="0" destOrd="3" presId="urn:microsoft.com/office/officeart/2005/8/layout/hList6"/>
    <dgm:cxn modelId="{66000238-219A-44FD-A463-D98BDFF0C1CC}" srcId="{DC80F72A-A4FA-48DB-B2D0-9D93BBAE74DB}" destId="{F76BCCBA-1B6D-4579-B1BB-3A28EA5398F0}" srcOrd="0" destOrd="0" parTransId="{8B229A25-92A2-4E6D-B6DD-9B0AA3A03458}" sibTransId="{7CF2A431-A540-4DFF-BA3C-8D93DAC03759}"/>
    <dgm:cxn modelId="{2883B263-5127-4B9C-958F-B8BE3AF67C33}" type="presOf" srcId="{CAFA6F78-0DF0-4313-B394-790C742FF319}" destId="{052EA765-2E25-4FD1-B7ED-4AE22A54983F}" srcOrd="0" destOrd="1" presId="urn:microsoft.com/office/officeart/2005/8/layout/hList6"/>
    <dgm:cxn modelId="{03394847-255F-4C1F-B795-427ADDA3C765}" srcId="{DC80F72A-A4FA-48DB-B2D0-9D93BBAE74DB}" destId="{B1507A20-0D3B-4284-8DC5-A7F4D589FD4B}" srcOrd="2" destOrd="0" parTransId="{0F44B9D4-9E06-4183-AC89-4DF1C53E92E8}" sibTransId="{FAC0C646-4E3F-4A24-812B-8E7FAC041167}"/>
    <dgm:cxn modelId="{A2F0447A-5A53-48A1-84E6-E7D4F2AC560F}" srcId="{B24610A9-9734-4A01-AC45-183486814447}" destId="{DC80F72A-A4FA-48DB-B2D0-9D93BBAE74DB}" srcOrd="2" destOrd="0" parTransId="{51F092CA-EBB8-4599-BC59-28F89A2630AF}" sibTransId="{49A7289E-6FCA-4C7E-9F4D-43BCA37D93CB}"/>
    <dgm:cxn modelId="{3C9E3B7F-C70D-45EA-8B90-6C0B7533F004}" type="presOf" srcId="{B6F74226-2AF1-4D01-AE81-724A36242621}" destId="{6BD867FD-E662-438A-9FB0-2FE1DC683C3E}" srcOrd="0" destOrd="1" presId="urn:microsoft.com/office/officeart/2005/8/layout/hList6"/>
    <dgm:cxn modelId="{36CCB191-7848-4B0C-81B9-096B1850DE3E}" type="presOf" srcId="{B24610A9-9734-4A01-AC45-183486814447}" destId="{211DF230-072A-4D9C-9757-C4C3EA8AD352}" srcOrd="0" destOrd="0" presId="urn:microsoft.com/office/officeart/2005/8/layout/hList6"/>
    <dgm:cxn modelId="{1B84DF94-2A58-48D2-B62D-3D94506EFFE9}" type="presOf" srcId="{F76BCCBA-1B6D-4579-B1BB-3A28EA5398F0}" destId="{9069B7CA-D9F5-465E-A07F-BA247150F6E9}" srcOrd="0" destOrd="1" presId="urn:microsoft.com/office/officeart/2005/8/layout/hList6"/>
    <dgm:cxn modelId="{C5FE7C96-402D-4EAF-9E7D-A35864F14A41}" type="presOf" srcId="{0367979F-F0C5-4A13-A87E-4F5DE03C8BF4}" destId="{9069B7CA-D9F5-465E-A07F-BA247150F6E9}" srcOrd="0" destOrd="2" presId="urn:microsoft.com/office/officeart/2005/8/layout/hList6"/>
    <dgm:cxn modelId="{747DA6BC-918E-4FA8-9A8E-665C3660372B}" srcId="{B24610A9-9734-4A01-AC45-183486814447}" destId="{A9DD3E7D-7344-4BFE-AF55-77D58FAE0281}" srcOrd="1" destOrd="0" parTransId="{30881474-27DF-46AE-90F2-2A986823E1D8}" sibTransId="{497C9D72-50BA-4A6A-ADBF-6966880E2B7A}"/>
    <dgm:cxn modelId="{F78F8EBD-278E-4570-AD93-0CFC2E924A11}" type="presOf" srcId="{A9DD3E7D-7344-4BFE-AF55-77D58FAE0281}" destId="{052EA765-2E25-4FD1-B7ED-4AE22A54983F}" srcOrd="0" destOrd="0" presId="urn:microsoft.com/office/officeart/2005/8/layout/hList6"/>
    <dgm:cxn modelId="{FD74FFDE-6930-4354-A30F-2607756A5923}" type="presOf" srcId="{FC060280-3560-4D66-BF51-BACB6EB3865B}" destId="{6BD867FD-E662-438A-9FB0-2FE1DC683C3E}" srcOrd="0" destOrd="0" presId="urn:microsoft.com/office/officeart/2005/8/layout/hList6"/>
    <dgm:cxn modelId="{01D6D6E0-8EC9-4F17-810B-350B0326A26D}" srcId="{FC060280-3560-4D66-BF51-BACB6EB3865B}" destId="{B6F74226-2AF1-4D01-AE81-724A36242621}" srcOrd="0" destOrd="0" parTransId="{DE311DFD-49F2-4E4D-8716-CCBAD64DB2CB}" sibTransId="{C304E03E-20FB-4765-A47B-48BFD41B4BDD}"/>
    <dgm:cxn modelId="{4022E7E1-5560-4D15-B606-02168A0009F4}" srcId="{B24610A9-9734-4A01-AC45-183486814447}" destId="{FC060280-3560-4D66-BF51-BACB6EB3865B}" srcOrd="0" destOrd="0" parTransId="{2EDF6164-DC42-4DBE-AFED-9CD2DE3CC1BE}" sibTransId="{79024C8D-D615-48D5-9ED0-0D6DBF5D2F3A}"/>
    <dgm:cxn modelId="{83760CEC-E775-4046-8FE8-928CB38C22C6}" srcId="{A9DD3E7D-7344-4BFE-AF55-77D58FAE0281}" destId="{CAFA6F78-0DF0-4313-B394-790C742FF319}" srcOrd="0" destOrd="0" parTransId="{011F1E05-3F73-4DB3-ADF7-153FE084C3FE}" sibTransId="{73BFE982-8990-4D91-94D1-A4525278A5FB}"/>
    <dgm:cxn modelId="{BC4DACFB-C165-44DE-9522-D5A2CCFC8547}" srcId="{DC80F72A-A4FA-48DB-B2D0-9D93BBAE74DB}" destId="{0367979F-F0C5-4A13-A87E-4F5DE03C8BF4}" srcOrd="1" destOrd="0" parTransId="{E80B9C38-F685-40FD-A99C-19169C0D9B92}" sibTransId="{697EE369-603E-4D3E-B1E2-7E3F43ACC96B}"/>
    <dgm:cxn modelId="{93AED7D9-0F31-4B6F-8A8B-A2000388DF72}" type="presParOf" srcId="{211DF230-072A-4D9C-9757-C4C3EA8AD352}" destId="{6BD867FD-E662-438A-9FB0-2FE1DC683C3E}" srcOrd="0" destOrd="0" presId="urn:microsoft.com/office/officeart/2005/8/layout/hList6"/>
    <dgm:cxn modelId="{7687F7D2-E018-423C-B878-2AE5A6107862}" type="presParOf" srcId="{211DF230-072A-4D9C-9757-C4C3EA8AD352}" destId="{838FD0BB-0589-45D5-ADF0-F9D7DC2D3562}" srcOrd="1" destOrd="0" presId="urn:microsoft.com/office/officeart/2005/8/layout/hList6"/>
    <dgm:cxn modelId="{3A023445-2E39-4CC1-B8B0-9ED1A807F5D6}" type="presParOf" srcId="{211DF230-072A-4D9C-9757-C4C3EA8AD352}" destId="{052EA765-2E25-4FD1-B7ED-4AE22A54983F}" srcOrd="2" destOrd="0" presId="urn:microsoft.com/office/officeart/2005/8/layout/hList6"/>
    <dgm:cxn modelId="{E5EFFEC9-CC8A-42D3-B8AA-281A398B3189}" type="presParOf" srcId="{211DF230-072A-4D9C-9757-C4C3EA8AD352}" destId="{19BED297-D8AA-4A73-BB51-E4006AE5C862}" srcOrd="3" destOrd="0" presId="urn:microsoft.com/office/officeart/2005/8/layout/hList6"/>
    <dgm:cxn modelId="{74C4B098-407F-4CF3-85F2-E5892AC2F5C3}" type="presParOf" srcId="{211DF230-072A-4D9C-9757-C4C3EA8AD352}" destId="{9069B7CA-D9F5-465E-A07F-BA247150F6E9}" srcOrd="4" destOrd="0" presId="urn:microsoft.com/office/officeart/2005/8/layout/hList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64771D5-BC1C-4653-9323-4B347B2210D7}"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49C0E062-F47F-4E0C-A96A-1A195B177B35}">
      <dgm:prSet phldrT="[Text]" phldr="0"/>
      <dgm:spPr/>
      <dgm:t>
        <a:bodyPr/>
        <a:lstStyle/>
        <a:p>
          <a:pPr rtl="0"/>
          <a:r>
            <a:rPr lang="en-US" sz="1100">
              <a:latin typeface="Calibri"/>
              <a:ea typeface="Calibri"/>
              <a:cs typeface="Calibri"/>
            </a:rPr>
            <a:t>North Carolina</a:t>
          </a:r>
          <a:endParaRPr lang="en-US"/>
        </a:p>
      </dgm:t>
    </dgm:pt>
    <dgm:pt modelId="{D115B911-9BB6-477A-800A-ACB8B53B6A1C}" type="parTrans" cxnId="{7125E1A8-3756-476E-9576-F71C62E5613D}">
      <dgm:prSet/>
      <dgm:spPr/>
      <dgm:t>
        <a:bodyPr/>
        <a:lstStyle/>
        <a:p>
          <a:endParaRPr lang="en-US"/>
        </a:p>
      </dgm:t>
    </dgm:pt>
    <dgm:pt modelId="{C21B7E71-B294-43C6-91D1-40E45DC406DC}" type="sibTrans" cxnId="{7125E1A8-3756-476E-9576-F71C62E5613D}">
      <dgm:prSet/>
      <dgm:spPr/>
      <dgm:t>
        <a:bodyPr/>
        <a:lstStyle/>
        <a:p>
          <a:endParaRPr lang="en-US"/>
        </a:p>
      </dgm:t>
    </dgm:pt>
    <dgm:pt modelId="{3146EFF7-0B6D-40FD-A521-9A7F65FBD55E}">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Duke Energy</a:t>
          </a:r>
          <a:endParaRPr lang="en-US"/>
        </a:p>
      </dgm:t>
    </dgm:pt>
    <dgm:pt modelId="{112CE92C-738B-4E8A-9164-80DB7BD4FE16}" type="parTrans" cxnId="{973BC9F2-E09F-40E1-AB95-3641B8D0D234}">
      <dgm:prSet/>
      <dgm:spPr/>
      <dgm:t>
        <a:bodyPr/>
        <a:lstStyle/>
        <a:p>
          <a:endParaRPr lang="en-US"/>
        </a:p>
      </dgm:t>
    </dgm:pt>
    <dgm:pt modelId="{C9674A0F-2204-4EA3-BD0E-88BD856CB914}" type="sibTrans" cxnId="{973BC9F2-E09F-40E1-AB95-3641B8D0D234}">
      <dgm:prSet/>
      <dgm:spPr/>
      <dgm:t>
        <a:bodyPr/>
        <a:lstStyle/>
        <a:p>
          <a:endParaRPr lang="en-US"/>
        </a:p>
      </dgm:t>
    </dgm:pt>
    <dgm:pt modelId="{B83F260F-9FE0-4E14-9923-0FD4AFBE44A4}">
      <dgm:prSet phldrT="[Text]" phldr="0"/>
      <dgm:spPr/>
      <dgm:t>
        <a:bodyPr/>
        <a:lstStyle/>
        <a:p>
          <a:r>
            <a:rPr lang="en-US" sz="1100" b="1">
              <a:solidFill>
                <a:srgbClr val="444444"/>
              </a:solidFill>
              <a:latin typeface="Calibri"/>
              <a:ea typeface="Calibri"/>
              <a:cs typeface="Calibri"/>
            </a:rPr>
            <a:t>SOM</a:t>
          </a:r>
          <a:r>
            <a:rPr lang="en-US" sz="1100">
              <a:solidFill>
                <a:srgbClr val="444444"/>
              </a:solidFill>
              <a:latin typeface="Calibri"/>
              <a:ea typeface="Calibri"/>
              <a:cs typeface="Calibri"/>
            </a:rPr>
            <a:t> – DTE Energy, Consumers Energy</a:t>
          </a:r>
          <a:endParaRPr lang="en-US"/>
        </a:p>
      </dgm:t>
    </dgm:pt>
    <dgm:pt modelId="{0DAEED6B-6185-407F-AFEC-23B2B510FB37}" type="parTrans" cxnId="{ECF9796B-E8E2-4056-AD08-7E6473290FDF}">
      <dgm:prSet/>
      <dgm:spPr/>
      <dgm:t>
        <a:bodyPr/>
        <a:lstStyle/>
        <a:p>
          <a:endParaRPr lang="en-US"/>
        </a:p>
      </dgm:t>
    </dgm:pt>
    <dgm:pt modelId="{5190A896-D632-4D94-A6FE-EAC969B9AC02}" type="sibTrans" cxnId="{ECF9796B-E8E2-4056-AD08-7E6473290FDF}">
      <dgm:prSet/>
      <dgm:spPr/>
      <dgm:t>
        <a:bodyPr/>
        <a:lstStyle/>
        <a:p>
          <a:endParaRPr lang="en-US"/>
        </a:p>
      </dgm:t>
    </dgm:pt>
    <dgm:pt modelId="{EC7D27D2-D4CC-4B15-830C-9B09D25AB596}">
      <dgm:prSet phldrT="[Text]" phldr="0"/>
      <dgm:spPr/>
      <dgm:t>
        <a:bodyPr/>
        <a:lstStyle/>
        <a:p>
          <a:r>
            <a:rPr lang="en-US" sz="1100" b="1">
              <a:solidFill>
                <a:srgbClr val="444444"/>
              </a:solidFill>
              <a:latin typeface="Calibri"/>
              <a:ea typeface="Calibri"/>
              <a:cs typeface="Calibri"/>
            </a:rPr>
            <a:t>SOM </a:t>
          </a:r>
          <a:r>
            <a:rPr lang="en-US" sz="1100">
              <a:solidFill>
                <a:srgbClr val="444444"/>
              </a:solidFill>
              <a:latin typeface="Calibri"/>
              <a:ea typeface="Calibri"/>
              <a:cs typeface="Calibri"/>
            </a:rPr>
            <a:t>– WE Energies</a:t>
          </a:r>
          <a:endParaRPr lang="en-US"/>
        </a:p>
      </dgm:t>
    </dgm:pt>
    <dgm:pt modelId="{8FD49979-C5E8-48DF-95FA-E381FF86B3AA}" type="parTrans" cxnId="{B9059C19-A564-44E2-AF97-46A2C524C5CA}">
      <dgm:prSet/>
      <dgm:spPr/>
      <dgm:t>
        <a:bodyPr/>
        <a:lstStyle/>
        <a:p>
          <a:endParaRPr lang="en-US"/>
        </a:p>
      </dgm:t>
    </dgm:pt>
    <dgm:pt modelId="{41F5A414-4F40-412C-A62E-C517BD052465}" type="sibTrans" cxnId="{B9059C19-A564-44E2-AF97-46A2C524C5CA}">
      <dgm:prSet/>
      <dgm:spPr/>
      <dgm:t>
        <a:bodyPr/>
        <a:lstStyle/>
        <a:p>
          <a:endParaRPr lang="en-US"/>
        </a:p>
      </dgm:t>
    </dgm:pt>
    <dgm:pt modelId="{505BFC91-C398-4ED2-8874-043C62717359}">
      <dgm:prSet phldrT="[Text]" phldr="0"/>
      <dgm:spPr/>
      <dgm:t>
        <a:bodyPr/>
        <a:lstStyle/>
        <a:p>
          <a:pPr rtl="0"/>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Duke, NC Electric Co-ops, Municipals</a:t>
          </a:r>
        </a:p>
      </dgm:t>
    </dgm:pt>
    <dgm:pt modelId="{DA34160E-670B-4390-9ABD-D1C41F0C3D0E}" type="parTrans" cxnId="{C571CEB2-598A-4C70-8043-A971B48ACC35}">
      <dgm:prSet/>
      <dgm:spPr/>
    </dgm:pt>
    <dgm:pt modelId="{6BA17BE7-5083-4E5C-AAE2-B91450C862EA}" type="sibTrans" cxnId="{C571CEB2-598A-4C70-8043-A971B48ACC35}">
      <dgm:prSet/>
      <dgm:spPr/>
    </dgm:pt>
    <dgm:pt modelId="{7893C8A9-CF6F-4824-9CD9-8648CAEFAC3D}">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Duke Energy Carolinas, Duke Energy Progress</a:t>
          </a:r>
        </a:p>
      </dgm:t>
    </dgm:pt>
    <dgm:pt modelId="{7977844E-4B5C-428E-B5B2-280250177809}" type="parTrans" cxnId="{3D6BD677-044A-43AA-A0A7-AC9FA264AF77}">
      <dgm:prSet/>
      <dgm:spPr/>
    </dgm:pt>
    <dgm:pt modelId="{5F1F03AF-3424-4F06-8248-A3EAEDFA83DB}" type="sibTrans" cxnId="{3D6BD677-044A-43AA-A0A7-AC9FA264AF77}">
      <dgm:prSet/>
      <dgm:spPr/>
    </dgm:pt>
    <dgm:pt modelId="{B63E21AC-F1BA-4AC1-9450-924ECF904CDB}">
      <dgm:prSet phldrT="[Text]" phldr="0"/>
      <dgm:spPr/>
      <dgm:t>
        <a:bodyPr/>
        <a:lstStyle/>
        <a:p>
          <a:pPr rtl="0"/>
          <a:r>
            <a:rPr lang="en-US" sz="1100">
              <a:solidFill>
                <a:schemeClr val="bg1"/>
              </a:solidFill>
              <a:latin typeface="Calibri"/>
              <a:ea typeface="Calibri"/>
              <a:cs typeface="Calibri"/>
            </a:rPr>
            <a:t>Michigan</a:t>
          </a:r>
        </a:p>
      </dgm:t>
    </dgm:pt>
    <dgm:pt modelId="{54DB8425-ABCB-4DD3-A1A1-33DB85B0BA11}" type="parTrans" cxnId="{AA4FCF35-DF14-468F-993C-EEC11AB29CBD}">
      <dgm:prSet/>
      <dgm:spPr/>
    </dgm:pt>
    <dgm:pt modelId="{C4A61878-4334-4BDD-A833-00A249F73184}" type="sibTrans" cxnId="{AA4FCF35-DF14-468F-993C-EEC11AB29CBD}">
      <dgm:prSet/>
      <dgm:spPr/>
    </dgm:pt>
    <dgm:pt modelId="{4B468CD9-C2E5-4486-999A-D2088EB919B2}">
      <dgm:prSet phldrT="[Text]" phldr="0"/>
      <dgm:spPr/>
      <dgm:t>
        <a:bodyPr/>
        <a:lstStyle/>
        <a:p>
          <a:r>
            <a:rPr lang="en-US" sz="1100" b="1">
              <a:solidFill>
                <a:srgbClr val="444444"/>
              </a:solidFill>
              <a:latin typeface="Calibri"/>
              <a:ea typeface="Calibri"/>
              <a:cs typeface="Calibri"/>
            </a:rPr>
            <a:t>TAM </a:t>
          </a:r>
          <a:r>
            <a:rPr lang="en-US" sz="1100">
              <a:solidFill>
                <a:srgbClr val="444444"/>
              </a:solidFill>
              <a:latin typeface="Calibri"/>
              <a:ea typeface="Calibri"/>
              <a:cs typeface="Calibri"/>
            </a:rPr>
            <a:t>– DTE, Consumers, Co-ops, Municipals</a:t>
          </a:r>
        </a:p>
      </dgm:t>
    </dgm:pt>
    <dgm:pt modelId="{6B43B337-9617-4C83-8277-6BDA262596DD}" type="parTrans" cxnId="{E176056C-8925-4108-A8D4-FAD38788079F}">
      <dgm:prSet/>
      <dgm:spPr/>
    </dgm:pt>
    <dgm:pt modelId="{D48CA89B-D848-4CA6-A967-B0019B1A5AFC}" type="sibTrans" cxnId="{E176056C-8925-4108-A8D4-FAD38788079F}">
      <dgm:prSet/>
      <dgm:spPr/>
    </dgm:pt>
    <dgm:pt modelId="{F6EB3560-63D1-43C5-AACE-30E6FCB6C50C}">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DTE Energy, Consumers Energy</a:t>
          </a:r>
        </a:p>
      </dgm:t>
    </dgm:pt>
    <dgm:pt modelId="{2DDC3AF1-6376-4769-85BC-8F80E8ED972A}" type="parTrans" cxnId="{F7368708-392D-43FE-8CA2-FC064F6DBEC4}">
      <dgm:prSet/>
      <dgm:spPr/>
    </dgm:pt>
    <dgm:pt modelId="{77AD0271-3535-4A02-A64A-36CFE4BB9F2C}" type="sibTrans" cxnId="{F7368708-392D-43FE-8CA2-FC064F6DBEC4}">
      <dgm:prSet/>
      <dgm:spPr/>
    </dgm:pt>
    <dgm:pt modelId="{E45A6EE9-2BC6-4233-89AD-F3AAA6113A71}">
      <dgm:prSet phldrT="[Text]" phldr="0"/>
      <dgm:spPr/>
      <dgm:t>
        <a:bodyPr/>
        <a:lstStyle/>
        <a:p>
          <a:pPr rtl="0"/>
          <a:r>
            <a:rPr lang="en-US" sz="1100">
              <a:solidFill>
                <a:schemeClr val="bg1"/>
              </a:solidFill>
              <a:latin typeface="Calibri"/>
              <a:ea typeface="Calibri"/>
              <a:cs typeface="Calibri"/>
            </a:rPr>
            <a:t>Wisconsin</a:t>
          </a:r>
        </a:p>
      </dgm:t>
    </dgm:pt>
    <dgm:pt modelId="{7D3B27DE-F9CB-409E-AB93-3DCD8359DE08}" type="parTrans" cxnId="{A7884071-5377-4ACD-94B3-8A9ACB95F725}">
      <dgm:prSet/>
      <dgm:spPr/>
    </dgm:pt>
    <dgm:pt modelId="{B5C9064A-7285-4CD5-850D-FF165F20A319}" type="sibTrans" cxnId="{A7884071-5377-4ACD-94B3-8A9ACB95F725}">
      <dgm:prSet/>
      <dgm:spPr/>
    </dgm:pt>
    <dgm:pt modelId="{0D86D34A-C867-4E57-84BF-F93E2AD50A38}">
      <dgm:prSet phldrT="[Text]" phldr="0"/>
      <dgm:spPr/>
      <dgm:t>
        <a:bodyPr/>
        <a:lstStyle/>
        <a:p>
          <a:r>
            <a:rPr lang="en-US" sz="1100" b="1">
              <a:solidFill>
                <a:srgbClr val="444444"/>
              </a:solidFill>
              <a:latin typeface="Calibri"/>
              <a:ea typeface="Calibri"/>
              <a:cs typeface="Calibri"/>
            </a:rPr>
            <a:t>TAM</a:t>
          </a:r>
          <a:r>
            <a:rPr lang="en-US" sz="1100">
              <a:solidFill>
                <a:srgbClr val="444444"/>
              </a:solidFill>
              <a:latin typeface="Calibri"/>
              <a:ea typeface="Calibri"/>
              <a:cs typeface="Calibri"/>
            </a:rPr>
            <a:t> – WE Energies, Alliant, MGE, Co-ops</a:t>
          </a:r>
        </a:p>
      </dgm:t>
    </dgm:pt>
    <dgm:pt modelId="{2A62919E-2CAF-480A-A079-551D2A9C5FCB}" type="parTrans" cxnId="{CEB39794-6B3A-450A-9DFB-9940039C2A46}">
      <dgm:prSet/>
      <dgm:spPr/>
    </dgm:pt>
    <dgm:pt modelId="{B089BE33-73BF-4217-A16C-0728EE71653B}" type="sibTrans" cxnId="{CEB39794-6B3A-450A-9DFB-9940039C2A46}">
      <dgm:prSet/>
      <dgm:spPr/>
    </dgm:pt>
    <dgm:pt modelId="{59CD0A2A-5E9E-4BBA-BAF7-FA113D9515C0}">
      <dgm:prSet phldrT="[Text]" phldr="0"/>
      <dgm:spPr/>
      <dgm:t>
        <a:bodyPr/>
        <a:lstStyle/>
        <a:p>
          <a:r>
            <a:rPr lang="en-US" sz="1100" b="1">
              <a:solidFill>
                <a:srgbClr val="444444"/>
              </a:solidFill>
              <a:latin typeface="Calibri"/>
              <a:ea typeface="Calibri"/>
              <a:cs typeface="Calibri"/>
            </a:rPr>
            <a:t>SAM</a:t>
          </a:r>
          <a:r>
            <a:rPr lang="en-US" sz="1100">
              <a:solidFill>
                <a:srgbClr val="444444"/>
              </a:solidFill>
              <a:latin typeface="Calibri"/>
              <a:ea typeface="Calibri"/>
              <a:cs typeface="Calibri"/>
            </a:rPr>
            <a:t> – WE Energies, Alliant Energy, MGE</a:t>
          </a:r>
        </a:p>
      </dgm:t>
    </dgm:pt>
    <dgm:pt modelId="{0F5B5924-F548-4EB9-B14F-C4B798D42327}" type="parTrans" cxnId="{67E8DC00-59A9-439F-9782-F550E4ECBE7C}">
      <dgm:prSet/>
      <dgm:spPr/>
    </dgm:pt>
    <dgm:pt modelId="{C154940A-A842-4775-A1F3-88B4E79720BC}" type="sibTrans" cxnId="{67E8DC00-59A9-439F-9782-F550E4ECBE7C}">
      <dgm:prSet/>
      <dgm:spPr/>
    </dgm:pt>
    <dgm:pt modelId="{B4AF6786-E33D-4BF0-A65F-154ED7084DA5}" type="pres">
      <dgm:prSet presAssocID="{864771D5-BC1C-4653-9323-4B347B2210D7}" presName="linear" presStyleCnt="0">
        <dgm:presLayoutVars>
          <dgm:dir/>
          <dgm:animLvl val="lvl"/>
          <dgm:resizeHandles val="exact"/>
        </dgm:presLayoutVars>
      </dgm:prSet>
      <dgm:spPr/>
    </dgm:pt>
    <dgm:pt modelId="{76E4B29F-4BE7-4DAF-80EB-D1B38BDD7B99}" type="pres">
      <dgm:prSet presAssocID="{49C0E062-F47F-4E0C-A96A-1A195B177B35}" presName="parentLin" presStyleCnt="0"/>
      <dgm:spPr/>
    </dgm:pt>
    <dgm:pt modelId="{15BBC1C4-AD9C-4BE5-9723-B7D1AEDE0FDA}" type="pres">
      <dgm:prSet presAssocID="{49C0E062-F47F-4E0C-A96A-1A195B177B35}" presName="parentLeftMargin" presStyleLbl="node1" presStyleIdx="0" presStyleCnt="3"/>
      <dgm:spPr/>
    </dgm:pt>
    <dgm:pt modelId="{4DAE4B56-9870-48BA-8F8C-44924084F921}" type="pres">
      <dgm:prSet presAssocID="{49C0E062-F47F-4E0C-A96A-1A195B177B35}" presName="parentText" presStyleLbl="node1" presStyleIdx="0" presStyleCnt="3">
        <dgm:presLayoutVars>
          <dgm:chMax val="0"/>
          <dgm:bulletEnabled val="1"/>
        </dgm:presLayoutVars>
      </dgm:prSet>
      <dgm:spPr/>
    </dgm:pt>
    <dgm:pt modelId="{D22A9DBD-825D-4E49-8703-272FEAB23465}" type="pres">
      <dgm:prSet presAssocID="{49C0E062-F47F-4E0C-A96A-1A195B177B35}" presName="negativeSpace" presStyleCnt="0"/>
      <dgm:spPr/>
    </dgm:pt>
    <dgm:pt modelId="{B467F81D-80C0-4020-A73F-08B4994D349A}" type="pres">
      <dgm:prSet presAssocID="{49C0E062-F47F-4E0C-A96A-1A195B177B35}" presName="childText" presStyleLbl="conFgAcc1" presStyleIdx="0" presStyleCnt="3">
        <dgm:presLayoutVars>
          <dgm:bulletEnabled val="1"/>
        </dgm:presLayoutVars>
      </dgm:prSet>
      <dgm:spPr/>
    </dgm:pt>
    <dgm:pt modelId="{5C1E8144-B989-4FAF-92B1-E0B3F95C28C8}" type="pres">
      <dgm:prSet presAssocID="{C21B7E71-B294-43C6-91D1-40E45DC406DC}" presName="spaceBetweenRectangles" presStyleCnt="0"/>
      <dgm:spPr/>
    </dgm:pt>
    <dgm:pt modelId="{B1441927-C8AE-4321-A224-FA248B91E061}" type="pres">
      <dgm:prSet presAssocID="{B63E21AC-F1BA-4AC1-9450-924ECF904CDB}" presName="parentLin" presStyleCnt="0"/>
      <dgm:spPr/>
    </dgm:pt>
    <dgm:pt modelId="{5BF2BFA1-7B13-444B-9412-B1DD1370E928}" type="pres">
      <dgm:prSet presAssocID="{B63E21AC-F1BA-4AC1-9450-924ECF904CDB}" presName="parentLeftMargin" presStyleLbl="node1" presStyleIdx="0" presStyleCnt="3"/>
      <dgm:spPr/>
    </dgm:pt>
    <dgm:pt modelId="{9B5BF6AE-95D7-4413-A144-ACC3607C8840}" type="pres">
      <dgm:prSet presAssocID="{B63E21AC-F1BA-4AC1-9450-924ECF904CDB}" presName="parentText" presStyleLbl="node1" presStyleIdx="1" presStyleCnt="3">
        <dgm:presLayoutVars>
          <dgm:chMax val="0"/>
          <dgm:bulletEnabled val="1"/>
        </dgm:presLayoutVars>
      </dgm:prSet>
      <dgm:spPr/>
    </dgm:pt>
    <dgm:pt modelId="{A5A4D88C-587E-4A67-8AB0-23FBAE405935}" type="pres">
      <dgm:prSet presAssocID="{B63E21AC-F1BA-4AC1-9450-924ECF904CDB}" presName="negativeSpace" presStyleCnt="0"/>
      <dgm:spPr/>
    </dgm:pt>
    <dgm:pt modelId="{24227075-829F-461A-A3AB-BAE980BD845A}" type="pres">
      <dgm:prSet presAssocID="{B63E21AC-F1BA-4AC1-9450-924ECF904CDB}" presName="childText" presStyleLbl="conFgAcc1" presStyleIdx="1" presStyleCnt="3">
        <dgm:presLayoutVars>
          <dgm:bulletEnabled val="1"/>
        </dgm:presLayoutVars>
      </dgm:prSet>
      <dgm:spPr/>
    </dgm:pt>
    <dgm:pt modelId="{A7756FF0-3496-4F08-8FC5-4CC4FC56E457}" type="pres">
      <dgm:prSet presAssocID="{C4A61878-4334-4BDD-A833-00A249F73184}" presName="spaceBetweenRectangles" presStyleCnt="0"/>
      <dgm:spPr/>
    </dgm:pt>
    <dgm:pt modelId="{79A0E454-77BF-4B26-8609-50C7E3852CCE}" type="pres">
      <dgm:prSet presAssocID="{E45A6EE9-2BC6-4233-89AD-F3AAA6113A71}" presName="parentLin" presStyleCnt="0"/>
      <dgm:spPr/>
    </dgm:pt>
    <dgm:pt modelId="{C727E437-FC5D-48EC-9466-F887ED89DC6D}" type="pres">
      <dgm:prSet presAssocID="{E45A6EE9-2BC6-4233-89AD-F3AAA6113A71}" presName="parentLeftMargin" presStyleLbl="node1" presStyleIdx="1" presStyleCnt="3"/>
      <dgm:spPr/>
    </dgm:pt>
    <dgm:pt modelId="{72025782-1FE6-4CA4-A362-5400037DDCE9}" type="pres">
      <dgm:prSet presAssocID="{E45A6EE9-2BC6-4233-89AD-F3AAA6113A71}" presName="parentText" presStyleLbl="node1" presStyleIdx="2" presStyleCnt="3">
        <dgm:presLayoutVars>
          <dgm:chMax val="0"/>
          <dgm:bulletEnabled val="1"/>
        </dgm:presLayoutVars>
      </dgm:prSet>
      <dgm:spPr/>
    </dgm:pt>
    <dgm:pt modelId="{1102720C-B141-452C-AD29-6968AEE21C74}" type="pres">
      <dgm:prSet presAssocID="{E45A6EE9-2BC6-4233-89AD-F3AAA6113A71}" presName="negativeSpace" presStyleCnt="0"/>
      <dgm:spPr/>
    </dgm:pt>
    <dgm:pt modelId="{ED375B58-C693-4A3C-AB64-D5B3CA2FD5FC}" type="pres">
      <dgm:prSet presAssocID="{E45A6EE9-2BC6-4233-89AD-F3AAA6113A71}" presName="childText" presStyleLbl="conFgAcc1" presStyleIdx="2" presStyleCnt="3">
        <dgm:presLayoutVars>
          <dgm:bulletEnabled val="1"/>
        </dgm:presLayoutVars>
      </dgm:prSet>
      <dgm:spPr/>
    </dgm:pt>
  </dgm:ptLst>
  <dgm:cxnLst>
    <dgm:cxn modelId="{67E8DC00-59A9-439F-9782-F550E4ECBE7C}" srcId="{E45A6EE9-2BC6-4233-89AD-F3AAA6113A71}" destId="{59CD0A2A-5E9E-4BBA-BAF7-FA113D9515C0}" srcOrd="1" destOrd="0" parTransId="{0F5B5924-F548-4EB9-B14F-C4B798D42327}" sibTransId="{C154940A-A842-4775-A1F3-88B4E79720BC}"/>
    <dgm:cxn modelId="{F50FC206-DB25-44F2-8C31-B08349429257}" type="presOf" srcId="{49C0E062-F47F-4E0C-A96A-1A195B177B35}" destId="{4DAE4B56-9870-48BA-8F8C-44924084F921}" srcOrd="1" destOrd="0" presId="urn:microsoft.com/office/officeart/2005/8/layout/list1"/>
    <dgm:cxn modelId="{F7368708-392D-43FE-8CA2-FC064F6DBEC4}" srcId="{B63E21AC-F1BA-4AC1-9450-924ECF904CDB}" destId="{F6EB3560-63D1-43C5-AACE-30E6FCB6C50C}" srcOrd="1" destOrd="0" parTransId="{2DDC3AF1-6376-4769-85BC-8F80E8ED972A}" sibTransId="{77AD0271-3535-4A02-A64A-36CFE4BB9F2C}"/>
    <dgm:cxn modelId="{B9059C19-A564-44E2-AF97-46A2C524C5CA}" srcId="{E45A6EE9-2BC6-4233-89AD-F3AAA6113A71}" destId="{EC7D27D2-D4CC-4B15-830C-9B09D25AB596}" srcOrd="2" destOrd="0" parTransId="{8FD49979-C5E8-48DF-95FA-E381FF86B3AA}" sibTransId="{41F5A414-4F40-412C-A62E-C517BD052465}"/>
    <dgm:cxn modelId="{AA4FCF35-DF14-468F-993C-EEC11AB29CBD}" srcId="{864771D5-BC1C-4653-9323-4B347B2210D7}" destId="{B63E21AC-F1BA-4AC1-9450-924ECF904CDB}" srcOrd="1" destOrd="0" parTransId="{54DB8425-ABCB-4DD3-A1A1-33DB85B0BA11}" sibTransId="{C4A61878-4334-4BDD-A833-00A249F73184}"/>
    <dgm:cxn modelId="{A7EE4737-458B-4F02-A1ED-793B5933BB33}" type="presOf" srcId="{0D86D34A-C867-4E57-84BF-F93E2AD50A38}" destId="{ED375B58-C693-4A3C-AB64-D5B3CA2FD5FC}" srcOrd="0" destOrd="0" presId="urn:microsoft.com/office/officeart/2005/8/layout/list1"/>
    <dgm:cxn modelId="{C8F45740-0556-4B0B-9DA7-5DBD7E479321}" type="presOf" srcId="{EC7D27D2-D4CC-4B15-830C-9B09D25AB596}" destId="{ED375B58-C693-4A3C-AB64-D5B3CA2FD5FC}" srcOrd="0" destOrd="2" presId="urn:microsoft.com/office/officeart/2005/8/layout/list1"/>
    <dgm:cxn modelId="{C1900664-23B3-4540-913F-9CA7FDD92A3D}" type="presOf" srcId="{59CD0A2A-5E9E-4BBA-BAF7-FA113D9515C0}" destId="{ED375B58-C693-4A3C-AB64-D5B3CA2FD5FC}" srcOrd="0" destOrd="1" presId="urn:microsoft.com/office/officeart/2005/8/layout/list1"/>
    <dgm:cxn modelId="{ECF9796B-E8E2-4056-AD08-7E6473290FDF}" srcId="{B63E21AC-F1BA-4AC1-9450-924ECF904CDB}" destId="{B83F260F-9FE0-4E14-9923-0FD4AFBE44A4}" srcOrd="2" destOrd="0" parTransId="{0DAEED6B-6185-407F-AFEC-23B2B510FB37}" sibTransId="{5190A896-D632-4D94-A6FE-EAC969B9AC02}"/>
    <dgm:cxn modelId="{E176056C-8925-4108-A8D4-FAD38788079F}" srcId="{B63E21AC-F1BA-4AC1-9450-924ECF904CDB}" destId="{4B468CD9-C2E5-4486-999A-D2088EB919B2}" srcOrd="0" destOrd="0" parTransId="{6B43B337-9617-4C83-8277-6BDA262596DD}" sibTransId="{D48CA89B-D848-4CA6-A967-B0019B1A5AFC}"/>
    <dgm:cxn modelId="{A7884071-5377-4ACD-94B3-8A9ACB95F725}" srcId="{864771D5-BC1C-4653-9323-4B347B2210D7}" destId="{E45A6EE9-2BC6-4233-89AD-F3AAA6113A71}" srcOrd="2" destOrd="0" parTransId="{7D3B27DE-F9CB-409E-AB93-3DCD8359DE08}" sibTransId="{B5C9064A-7285-4CD5-850D-FF165F20A319}"/>
    <dgm:cxn modelId="{F7C4AB71-AF5B-4262-8B29-AFB91954A04B}" type="presOf" srcId="{B63E21AC-F1BA-4AC1-9450-924ECF904CDB}" destId="{9B5BF6AE-95D7-4413-A144-ACC3607C8840}" srcOrd="1" destOrd="0" presId="urn:microsoft.com/office/officeart/2005/8/layout/list1"/>
    <dgm:cxn modelId="{D2B96B76-0B5D-4CA8-9DDF-906196D4CFD2}" type="presOf" srcId="{B83F260F-9FE0-4E14-9923-0FD4AFBE44A4}" destId="{24227075-829F-461A-A3AB-BAE980BD845A}" srcOrd="0" destOrd="2" presId="urn:microsoft.com/office/officeart/2005/8/layout/list1"/>
    <dgm:cxn modelId="{3D6BD677-044A-43AA-A0A7-AC9FA264AF77}" srcId="{49C0E062-F47F-4E0C-A96A-1A195B177B35}" destId="{7893C8A9-CF6F-4824-9CD9-8648CAEFAC3D}" srcOrd="1" destOrd="0" parTransId="{7977844E-4B5C-428E-B5B2-280250177809}" sibTransId="{5F1F03AF-3424-4F06-8248-A3EAEDFA83DB}"/>
    <dgm:cxn modelId="{3AF70D7E-527A-4CAB-AFC8-5BDDD3A8C835}" type="presOf" srcId="{7893C8A9-CF6F-4824-9CD9-8648CAEFAC3D}" destId="{B467F81D-80C0-4020-A73F-08B4994D349A}" srcOrd="0" destOrd="1" presId="urn:microsoft.com/office/officeart/2005/8/layout/list1"/>
    <dgm:cxn modelId="{CEB39794-6B3A-450A-9DFB-9940039C2A46}" srcId="{E45A6EE9-2BC6-4233-89AD-F3AAA6113A71}" destId="{0D86D34A-C867-4E57-84BF-F93E2AD50A38}" srcOrd="0" destOrd="0" parTransId="{2A62919E-2CAF-480A-A079-551D2A9C5FCB}" sibTransId="{B089BE33-73BF-4217-A16C-0728EE71653B}"/>
    <dgm:cxn modelId="{50698199-B554-4598-AA5E-3096C3C5523E}" type="presOf" srcId="{49C0E062-F47F-4E0C-A96A-1A195B177B35}" destId="{15BBC1C4-AD9C-4BE5-9723-B7D1AEDE0FDA}" srcOrd="0" destOrd="0" presId="urn:microsoft.com/office/officeart/2005/8/layout/list1"/>
    <dgm:cxn modelId="{B48178A4-0BCF-4000-923A-37A4E6960334}" type="presOf" srcId="{4B468CD9-C2E5-4486-999A-D2088EB919B2}" destId="{24227075-829F-461A-A3AB-BAE980BD845A}" srcOrd="0" destOrd="0" presId="urn:microsoft.com/office/officeart/2005/8/layout/list1"/>
    <dgm:cxn modelId="{7125E1A8-3756-476E-9576-F71C62E5613D}" srcId="{864771D5-BC1C-4653-9323-4B347B2210D7}" destId="{49C0E062-F47F-4E0C-A96A-1A195B177B35}" srcOrd="0" destOrd="0" parTransId="{D115B911-9BB6-477A-800A-ACB8B53B6A1C}" sibTransId="{C21B7E71-B294-43C6-91D1-40E45DC406DC}"/>
    <dgm:cxn modelId="{C571CEB2-598A-4C70-8043-A971B48ACC35}" srcId="{49C0E062-F47F-4E0C-A96A-1A195B177B35}" destId="{505BFC91-C398-4ED2-8874-043C62717359}" srcOrd="0" destOrd="0" parTransId="{DA34160E-670B-4390-9ABD-D1C41F0C3D0E}" sibTransId="{6BA17BE7-5083-4E5C-AAE2-B91450C862EA}"/>
    <dgm:cxn modelId="{6E80D1CA-2EE4-42F0-B91D-470B8EB1D91F}" type="presOf" srcId="{B63E21AC-F1BA-4AC1-9450-924ECF904CDB}" destId="{5BF2BFA1-7B13-444B-9412-B1DD1370E928}" srcOrd="0" destOrd="0" presId="urn:microsoft.com/office/officeart/2005/8/layout/list1"/>
    <dgm:cxn modelId="{F8EB85CC-D3B2-4C72-922C-3760779E92BC}" type="presOf" srcId="{E45A6EE9-2BC6-4233-89AD-F3AAA6113A71}" destId="{C727E437-FC5D-48EC-9466-F887ED89DC6D}" srcOrd="0" destOrd="0" presId="urn:microsoft.com/office/officeart/2005/8/layout/list1"/>
    <dgm:cxn modelId="{451A8EE1-C43E-4533-BF5B-D04A8B6CBD41}" type="presOf" srcId="{505BFC91-C398-4ED2-8874-043C62717359}" destId="{B467F81D-80C0-4020-A73F-08B4994D349A}" srcOrd="0" destOrd="0" presId="urn:microsoft.com/office/officeart/2005/8/layout/list1"/>
    <dgm:cxn modelId="{C68226E9-A0D7-47E1-85FA-1F5B0BB10396}" type="presOf" srcId="{E45A6EE9-2BC6-4233-89AD-F3AAA6113A71}" destId="{72025782-1FE6-4CA4-A362-5400037DDCE9}" srcOrd="1" destOrd="0" presId="urn:microsoft.com/office/officeart/2005/8/layout/list1"/>
    <dgm:cxn modelId="{6CAFFAE9-F7C3-4868-9AE4-A6D22B8B1655}" type="presOf" srcId="{3146EFF7-0B6D-40FD-A521-9A7F65FBD55E}" destId="{B467F81D-80C0-4020-A73F-08B4994D349A}" srcOrd="0" destOrd="2" presId="urn:microsoft.com/office/officeart/2005/8/layout/list1"/>
    <dgm:cxn modelId="{743256ED-91FE-41B7-8574-2811871C1422}" type="presOf" srcId="{F6EB3560-63D1-43C5-AACE-30E6FCB6C50C}" destId="{24227075-829F-461A-A3AB-BAE980BD845A}" srcOrd="0" destOrd="1" presId="urn:microsoft.com/office/officeart/2005/8/layout/list1"/>
    <dgm:cxn modelId="{973BC9F2-E09F-40E1-AB95-3641B8D0D234}" srcId="{49C0E062-F47F-4E0C-A96A-1A195B177B35}" destId="{3146EFF7-0B6D-40FD-A521-9A7F65FBD55E}" srcOrd="2" destOrd="0" parTransId="{112CE92C-738B-4E8A-9164-80DB7BD4FE16}" sibTransId="{C9674A0F-2204-4EA3-BD0E-88BD856CB914}"/>
    <dgm:cxn modelId="{3C2F8CFE-E4F2-4AEB-B6CD-F5B7A2824DEF}" type="presOf" srcId="{864771D5-BC1C-4653-9323-4B347B2210D7}" destId="{B4AF6786-E33D-4BF0-A65F-154ED7084DA5}" srcOrd="0" destOrd="0" presId="urn:microsoft.com/office/officeart/2005/8/layout/list1"/>
    <dgm:cxn modelId="{B58135B9-55DC-436B-B718-B42840AAF3DB}" type="presParOf" srcId="{B4AF6786-E33D-4BF0-A65F-154ED7084DA5}" destId="{76E4B29F-4BE7-4DAF-80EB-D1B38BDD7B99}" srcOrd="0" destOrd="0" presId="urn:microsoft.com/office/officeart/2005/8/layout/list1"/>
    <dgm:cxn modelId="{C6D32BC5-4480-4BA1-A166-22D9D4CE4DED}" type="presParOf" srcId="{76E4B29F-4BE7-4DAF-80EB-D1B38BDD7B99}" destId="{15BBC1C4-AD9C-4BE5-9723-B7D1AEDE0FDA}" srcOrd="0" destOrd="0" presId="urn:microsoft.com/office/officeart/2005/8/layout/list1"/>
    <dgm:cxn modelId="{26F6C0BB-318A-445B-B303-A7092C79301E}" type="presParOf" srcId="{76E4B29F-4BE7-4DAF-80EB-D1B38BDD7B99}" destId="{4DAE4B56-9870-48BA-8F8C-44924084F921}" srcOrd="1" destOrd="0" presId="urn:microsoft.com/office/officeart/2005/8/layout/list1"/>
    <dgm:cxn modelId="{C4C310C0-56B0-4586-8D7E-A7186CDDCA2A}" type="presParOf" srcId="{B4AF6786-E33D-4BF0-A65F-154ED7084DA5}" destId="{D22A9DBD-825D-4E49-8703-272FEAB23465}" srcOrd="1" destOrd="0" presId="urn:microsoft.com/office/officeart/2005/8/layout/list1"/>
    <dgm:cxn modelId="{7885A5D7-2DE8-4970-B1D5-37AAE70FE097}" type="presParOf" srcId="{B4AF6786-E33D-4BF0-A65F-154ED7084DA5}" destId="{B467F81D-80C0-4020-A73F-08B4994D349A}" srcOrd="2" destOrd="0" presId="urn:microsoft.com/office/officeart/2005/8/layout/list1"/>
    <dgm:cxn modelId="{016A60E3-83F2-4DB9-A8DC-D6D62829F1FC}" type="presParOf" srcId="{B4AF6786-E33D-4BF0-A65F-154ED7084DA5}" destId="{5C1E8144-B989-4FAF-92B1-E0B3F95C28C8}" srcOrd="3" destOrd="0" presId="urn:microsoft.com/office/officeart/2005/8/layout/list1"/>
    <dgm:cxn modelId="{92041C89-0C86-43A6-86BD-05121672572E}" type="presParOf" srcId="{B4AF6786-E33D-4BF0-A65F-154ED7084DA5}" destId="{B1441927-C8AE-4321-A224-FA248B91E061}" srcOrd="4" destOrd="0" presId="urn:microsoft.com/office/officeart/2005/8/layout/list1"/>
    <dgm:cxn modelId="{2A13030F-547F-48F1-99D3-86F4C7D6EB61}" type="presParOf" srcId="{B1441927-C8AE-4321-A224-FA248B91E061}" destId="{5BF2BFA1-7B13-444B-9412-B1DD1370E928}" srcOrd="0" destOrd="0" presId="urn:microsoft.com/office/officeart/2005/8/layout/list1"/>
    <dgm:cxn modelId="{6B4965A1-9FE5-4935-99E6-8C9C240BDA2F}" type="presParOf" srcId="{B1441927-C8AE-4321-A224-FA248B91E061}" destId="{9B5BF6AE-95D7-4413-A144-ACC3607C8840}" srcOrd="1" destOrd="0" presId="urn:microsoft.com/office/officeart/2005/8/layout/list1"/>
    <dgm:cxn modelId="{D903BB7C-B036-48EF-AF9B-2BEC8277555C}" type="presParOf" srcId="{B4AF6786-E33D-4BF0-A65F-154ED7084DA5}" destId="{A5A4D88C-587E-4A67-8AB0-23FBAE405935}" srcOrd="5" destOrd="0" presId="urn:microsoft.com/office/officeart/2005/8/layout/list1"/>
    <dgm:cxn modelId="{245B0A17-043F-474B-A702-4C6ACAD87C84}" type="presParOf" srcId="{B4AF6786-E33D-4BF0-A65F-154ED7084DA5}" destId="{24227075-829F-461A-A3AB-BAE980BD845A}" srcOrd="6" destOrd="0" presId="urn:microsoft.com/office/officeart/2005/8/layout/list1"/>
    <dgm:cxn modelId="{0577758B-64DD-4789-81AD-49991253A742}" type="presParOf" srcId="{B4AF6786-E33D-4BF0-A65F-154ED7084DA5}" destId="{A7756FF0-3496-4F08-8FC5-4CC4FC56E457}" srcOrd="7" destOrd="0" presId="urn:microsoft.com/office/officeart/2005/8/layout/list1"/>
    <dgm:cxn modelId="{09C67B7C-B14E-475B-B962-CF647D6D6CC8}" type="presParOf" srcId="{B4AF6786-E33D-4BF0-A65F-154ED7084DA5}" destId="{79A0E454-77BF-4B26-8609-50C7E3852CCE}" srcOrd="8" destOrd="0" presId="urn:microsoft.com/office/officeart/2005/8/layout/list1"/>
    <dgm:cxn modelId="{EF269B8C-1C42-4F77-A218-047B214683AA}" type="presParOf" srcId="{79A0E454-77BF-4B26-8609-50C7E3852CCE}" destId="{C727E437-FC5D-48EC-9466-F887ED89DC6D}" srcOrd="0" destOrd="0" presId="urn:microsoft.com/office/officeart/2005/8/layout/list1"/>
    <dgm:cxn modelId="{51C55813-757E-46A8-BFA3-E8F846D3FC91}" type="presParOf" srcId="{79A0E454-77BF-4B26-8609-50C7E3852CCE}" destId="{72025782-1FE6-4CA4-A362-5400037DDCE9}" srcOrd="1" destOrd="0" presId="urn:microsoft.com/office/officeart/2005/8/layout/list1"/>
    <dgm:cxn modelId="{23844008-CAC7-43EA-8244-32F4446D3AE1}" type="presParOf" srcId="{B4AF6786-E33D-4BF0-A65F-154ED7084DA5}" destId="{1102720C-B141-452C-AD29-6968AEE21C74}" srcOrd="9" destOrd="0" presId="urn:microsoft.com/office/officeart/2005/8/layout/list1"/>
    <dgm:cxn modelId="{487B3F0C-BBDF-47A1-9FB5-DE514F1F2545}" type="presParOf" srcId="{B4AF6786-E33D-4BF0-A65F-154ED7084DA5}" destId="{ED375B58-C693-4A3C-AB64-D5B3CA2FD5FC}"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9D8F503-6974-4115-9F18-3426A60DF138}" type="doc">
      <dgm:prSet loTypeId="urn:microsoft.com/office/officeart/2005/8/layout/arrow2" loCatId="process" qsTypeId="urn:microsoft.com/office/officeart/2005/8/quickstyle/simple1" qsCatId="simple" csTypeId="urn:microsoft.com/office/officeart/2005/8/colors/accent2_4" csCatId="accent2" phldr="1"/>
      <dgm:spPr/>
      <dgm:t>
        <a:bodyPr/>
        <a:lstStyle/>
        <a:p>
          <a:endParaRPr lang="en-US"/>
        </a:p>
      </dgm:t>
    </dgm:pt>
    <dgm:pt modelId="{D5682CA0-59AC-4E44-A613-6EB0E0E25029}">
      <dgm:prSet phldrT="[Text]" phldr="0" custT="1"/>
      <dgm:spPr/>
      <dgm:t>
        <a:bodyPr/>
        <a:lstStyle/>
        <a:p>
          <a:pPr rtl="0"/>
          <a:r>
            <a:rPr lang="en-US" sz="1600">
              <a:latin typeface="Aptos Display" panose="02110004020202020204"/>
            </a:rPr>
            <a:t>10+ Utilities</a:t>
          </a:r>
          <a:endParaRPr lang="en-US" sz="1600"/>
        </a:p>
      </dgm:t>
    </dgm:pt>
    <dgm:pt modelId="{A4CDC62C-F684-41DE-84F4-CC17E7A99112}" type="parTrans" cxnId="{14495681-5151-4EB6-8CE8-F83CF330D15E}">
      <dgm:prSet/>
      <dgm:spPr/>
    </dgm:pt>
    <dgm:pt modelId="{5F2768BA-E263-4670-B3BF-4A8E3B5BEA9F}" type="sibTrans" cxnId="{14495681-5151-4EB6-8CE8-F83CF330D15E}">
      <dgm:prSet/>
      <dgm:spPr/>
    </dgm:pt>
    <dgm:pt modelId="{E5957F8B-CF50-4CB1-B6A0-45021C45ECB7}">
      <dgm:prSet phldrT="[Text]" phldr="0" custT="1"/>
      <dgm:spPr/>
      <dgm:t>
        <a:bodyPr/>
        <a:lstStyle/>
        <a:p>
          <a:pPr rtl="0"/>
          <a:r>
            <a:rPr lang="en-US" sz="1600">
              <a:latin typeface="Aptos Display" panose="02110004020202020204"/>
            </a:rPr>
            <a:t>6-8 Utilities</a:t>
          </a:r>
          <a:endParaRPr lang="en-US" sz="1600"/>
        </a:p>
      </dgm:t>
    </dgm:pt>
    <dgm:pt modelId="{A8F798FE-37AF-4C66-8247-91B2B8092313}" type="parTrans" cxnId="{8D8E54C5-F96F-4B25-A2FE-73B75C0F5CD6}">
      <dgm:prSet/>
      <dgm:spPr/>
    </dgm:pt>
    <dgm:pt modelId="{B3FBCAA7-7157-4B61-85C0-BAC40BE8FD9B}" type="sibTrans" cxnId="{8D8E54C5-F96F-4B25-A2FE-73B75C0F5CD6}">
      <dgm:prSet/>
      <dgm:spPr/>
    </dgm:pt>
    <dgm:pt modelId="{E5C1CB55-2690-4077-9E4D-B83A5ABDFBAB}">
      <dgm:prSet phldrT="[Text]" phldr="0" custT="1"/>
      <dgm:spPr/>
      <dgm:t>
        <a:bodyPr/>
        <a:lstStyle/>
        <a:p>
          <a:pPr rtl="0"/>
          <a:r>
            <a:rPr lang="en-US" sz="1600">
              <a:latin typeface="Aptos Display" panose="02110004020202020204"/>
            </a:rPr>
            <a:t>4-5 Utilities</a:t>
          </a:r>
          <a:endParaRPr lang="en-US" sz="1600"/>
        </a:p>
      </dgm:t>
    </dgm:pt>
    <dgm:pt modelId="{A0FC2118-303E-436E-ACD7-4FDBC475D3A1}" type="parTrans" cxnId="{CCE1B555-F664-4EC3-925B-9F75F67F43AE}">
      <dgm:prSet/>
      <dgm:spPr/>
    </dgm:pt>
    <dgm:pt modelId="{DCE99778-E0B3-4487-AFF1-DEC4F5FF1A98}" type="sibTrans" cxnId="{CCE1B555-F664-4EC3-925B-9F75F67F43AE}">
      <dgm:prSet/>
      <dgm:spPr/>
    </dgm:pt>
    <dgm:pt modelId="{9F339786-A981-4CF2-ADF7-C24880C5319E}">
      <dgm:prSet phldrT="[Text]" phldr="0" custT="1"/>
      <dgm:spPr/>
      <dgm:t>
        <a:bodyPr/>
        <a:lstStyle/>
        <a:p>
          <a:pPr rtl="0"/>
          <a:r>
            <a:rPr lang="en-US" sz="1600">
              <a:latin typeface="Aptos Display" panose="02110004020202020204"/>
            </a:rPr>
            <a:t>2 Utility wins in the next 3 years</a:t>
          </a:r>
        </a:p>
      </dgm:t>
    </dgm:pt>
    <dgm:pt modelId="{CE7CBA97-D369-4623-904B-E14CD0C73A4A}" type="parTrans" cxnId="{AD438C3D-9FAA-4BC4-99A9-D2C2552BF0A1}">
      <dgm:prSet/>
      <dgm:spPr/>
    </dgm:pt>
    <dgm:pt modelId="{C117F000-BD49-4E06-9F36-732350C7518D}" type="sibTrans" cxnId="{AD438C3D-9FAA-4BC4-99A9-D2C2552BF0A1}">
      <dgm:prSet/>
      <dgm:spPr/>
    </dgm:pt>
    <dgm:pt modelId="{1009D4E0-89AA-42BF-A03A-FBA8800D05B8}" type="pres">
      <dgm:prSet presAssocID="{B9D8F503-6974-4115-9F18-3426A60DF138}" presName="arrowDiagram" presStyleCnt="0">
        <dgm:presLayoutVars>
          <dgm:chMax val="5"/>
          <dgm:dir/>
          <dgm:resizeHandles val="exact"/>
        </dgm:presLayoutVars>
      </dgm:prSet>
      <dgm:spPr/>
    </dgm:pt>
    <dgm:pt modelId="{0703DAF2-FF60-4E3E-ADB6-F804A2D9B249}" type="pres">
      <dgm:prSet presAssocID="{B9D8F503-6974-4115-9F18-3426A60DF138}" presName="arrow" presStyleLbl="bgShp" presStyleIdx="0" presStyleCnt="1"/>
      <dgm:spPr/>
    </dgm:pt>
    <dgm:pt modelId="{BC0A3BF5-90B7-4F66-8ABD-9B5357212794}" type="pres">
      <dgm:prSet presAssocID="{B9D8F503-6974-4115-9F18-3426A60DF138}" presName="arrowDiagram4" presStyleCnt="0"/>
      <dgm:spPr/>
    </dgm:pt>
    <dgm:pt modelId="{21E23258-0A05-4BB2-B859-4CDB7024C889}" type="pres">
      <dgm:prSet presAssocID="{D5682CA0-59AC-4E44-A613-6EB0E0E25029}" presName="bullet4a" presStyleLbl="node1" presStyleIdx="0" presStyleCnt="4"/>
      <dgm:spPr/>
    </dgm:pt>
    <dgm:pt modelId="{F1B05707-0AE7-494A-A167-757B326A11C2}" type="pres">
      <dgm:prSet presAssocID="{D5682CA0-59AC-4E44-A613-6EB0E0E25029}" presName="textBox4a" presStyleLbl="revTx" presStyleIdx="0" presStyleCnt="4">
        <dgm:presLayoutVars>
          <dgm:bulletEnabled val="1"/>
        </dgm:presLayoutVars>
      </dgm:prSet>
      <dgm:spPr/>
    </dgm:pt>
    <dgm:pt modelId="{73C992D8-43B5-401C-A0FD-212F76F0BE5E}" type="pres">
      <dgm:prSet presAssocID="{E5957F8B-CF50-4CB1-B6A0-45021C45ECB7}" presName="bullet4b" presStyleLbl="node1" presStyleIdx="1" presStyleCnt="4"/>
      <dgm:spPr/>
    </dgm:pt>
    <dgm:pt modelId="{42A587FA-13B5-416E-9993-304CC3B87622}" type="pres">
      <dgm:prSet presAssocID="{E5957F8B-CF50-4CB1-B6A0-45021C45ECB7}" presName="textBox4b" presStyleLbl="revTx" presStyleIdx="1" presStyleCnt="4">
        <dgm:presLayoutVars>
          <dgm:bulletEnabled val="1"/>
        </dgm:presLayoutVars>
      </dgm:prSet>
      <dgm:spPr/>
    </dgm:pt>
    <dgm:pt modelId="{443FE27B-0199-434B-8962-455B12BA0345}" type="pres">
      <dgm:prSet presAssocID="{E5C1CB55-2690-4077-9E4D-B83A5ABDFBAB}" presName="bullet4c" presStyleLbl="node1" presStyleIdx="2" presStyleCnt="4"/>
      <dgm:spPr/>
    </dgm:pt>
    <dgm:pt modelId="{11B91D04-1560-4F35-A47B-E635003B791A}" type="pres">
      <dgm:prSet presAssocID="{E5C1CB55-2690-4077-9E4D-B83A5ABDFBAB}" presName="textBox4c" presStyleLbl="revTx" presStyleIdx="2" presStyleCnt="4">
        <dgm:presLayoutVars>
          <dgm:bulletEnabled val="1"/>
        </dgm:presLayoutVars>
      </dgm:prSet>
      <dgm:spPr/>
    </dgm:pt>
    <dgm:pt modelId="{7BE31338-26E9-444C-AE17-77239B7974C2}" type="pres">
      <dgm:prSet presAssocID="{9F339786-A981-4CF2-ADF7-C24880C5319E}" presName="bullet4d" presStyleLbl="node1" presStyleIdx="3" presStyleCnt="4"/>
      <dgm:spPr/>
    </dgm:pt>
    <dgm:pt modelId="{BA8B5903-876A-49CA-827D-45AC436DA15C}" type="pres">
      <dgm:prSet presAssocID="{9F339786-A981-4CF2-ADF7-C24880C5319E}" presName="textBox4d" presStyleLbl="revTx" presStyleIdx="3" presStyleCnt="4">
        <dgm:presLayoutVars>
          <dgm:bulletEnabled val="1"/>
        </dgm:presLayoutVars>
      </dgm:prSet>
      <dgm:spPr/>
    </dgm:pt>
  </dgm:ptLst>
  <dgm:cxnLst>
    <dgm:cxn modelId="{9638940A-F2C1-4E1A-ADD2-7CF9F22489C4}" type="presOf" srcId="{9F339786-A981-4CF2-ADF7-C24880C5319E}" destId="{BA8B5903-876A-49CA-827D-45AC436DA15C}" srcOrd="0" destOrd="0" presId="urn:microsoft.com/office/officeart/2005/8/layout/arrow2"/>
    <dgm:cxn modelId="{AD438C3D-9FAA-4BC4-99A9-D2C2552BF0A1}" srcId="{B9D8F503-6974-4115-9F18-3426A60DF138}" destId="{9F339786-A981-4CF2-ADF7-C24880C5319E}" srcOrd="3" destOrd="0" parTransId="{CE7CBA97-D369-4623-904B-E14CD0C73A4A}" sibTransId="{C117F000-BD49-4E06-9F36-732350C7518D}"/>
    <dgm:cxn modelId="{CCE1B555-F664-4EC3-925B-9F75F67F43AE}" srcId="{B9D8F503-6974-4115-9F18-3426A60DF138}" destId="{E5C1CB55-2690-4077-9E4D-B83A5ABDFBAB}" srcOrd="2" destOrd="0" parTransId="{A0FC2118-303E-436E-ACD7-4FDBC475D3A1}" sibTransId="{DCE99778-E0B3-4487-AFF1-DEC4F5FF1A98}"/>
    <dgm:cxn modelId="{9D92E95A-F193-4776-BD39-73313AE80EA1}" type="presOf" srcId="{E5C1CB55-2690-4077-9E4D-B83A5ABDFBAB}" destId="{11B91D04-1560-4F35-A47B-E635003B791A}" srcOrd="0" destOrd="0" presId="urn:microsoft.com/office/officeart/2005/8/layout/arrow2"/>
    <dgm:cxn modelId="{14495681-5151-4EB6-8CE8-F83CF330D15E}" srcId="{B9D8F503-6974-4115-9F18-3426A60DF138}" destId="{D5682CA0-59AC-4E44-A613-6EB0E0E25029}" srcOrd="0" destOrd="0" parTransId="{A4CDC62C-F684-41DE-84F4-CC17E7A99112}" sibTransId="{5F2768BA-E263-4670-B3BF-4A8E3B5BEA9F}"/>
    <dgm:cxn modelId="{8D8E54C5-F96F-4B25-A2FE-73B75C0F5CD6}" srcId="{B9D8F503-6974-4115-9F18-3426A60DF138}" destId="{E5957F8B-CF50-4CB1-B6A0-45021C45ECB7}" srcOrd="1" destOrd="0" parTransId="{A8F798FE-37AF-4C66-8247-91B2B8092313}" sibTransId="{B3FBCAA7-7157-4B61-85C0-BAC40BE8FD9B}"/>
    <dgm:cxn modelId="{1289ACE7-4576-4666-98CB-E4BE1AF98890}" type="presOf" srcId="{E5957F8B-CF50-4CB1-B6A0-45021C45ECB7}" destId="{42A587FA-13B5-416E-9993-304CC3B87622}" srcOrd="0" destOrd="0" presId="urn:microsoft.com/office/officeart/2005/8/layout/arrow2"/>
    <dgm:cxn modelId="{C2B16AF1-1954-452D-B157-942FADFF4915}" type="presOf" srcId="{D5682CA0-59AC-4E44-A613-6EB0E0E25029}" destId="{F1B05707-0AE7-494A-A167-757B326A11C2}" srcOrd="0" destOrd="0" presId="urn:microsoft.com/office/officeart/2005/8/layout/arrow2"/>
    <dgm:cxn modelId="{77E5EFF5-5360-42AE-8F8E-D9C5B7750073}" type="presOf" srcId="{B9D8F503-6974-4115-9F18-3426A60DF138}" destId="{1009D4E0-89AA-42BF-A03A-FBA8800D05B8}" srcOrd="0" destOrd="0" presId="urn:microsoft.com/office/officeart/2005/8/layout/arrow2"/>
    <dgm:cxn modelId="{1B062BD8-4A79-4C44-B2AE-50607D5CE505}" type="presParOf" srcId="{1009D4E0-89AA-42BF-A03A-FBA8800D05B8}" destId="{0703DAF2-FF60-4E3E-ADB6-F804A2D9B249}" srcOrd="0" destOrd="0" presId="urn:microsoft.com/office/officeart/2005/8/layout/arrow2"/>
    <dgm:cxn modelId="{E8BD25B3-226E-4033-A60E-BCD5B592EED6}" type="presParOf" srcId="{1009D4E0-89AA-42BF-A03A-FBA8800D05B8}" destId="{BC0A3BF5-90B7-4F66-8ABD-9B5357212794}" srcOrd="1" destOrd="0" presId="urn:microsoft.com/office/officeart/2005/8/layout/arrow2"/>
    <dgm:cxn modelId="{8FF85F75-9F83-4D8D-B213-B2A8BFCD8443}" type="presParOf" srcId="{BC0A3BF5-90B7-4F66-8ABD-9B5357212794}" destId="{21E23258-0A05-4BB2-B859-4CDB7024C889}" srcOrd="0" destOrd="0" presId="urn:microsoft.com/office/officeart/2005/8/layout/arrow2"/>
    <dgm:cxn modelId="{F060AF18-9A9C-4A0C-A325-76865C07FB0A}" type="presParOf" srcId="{BC0A3BF5-90B7-4F66-8ABD-9B5357212794}" destId="{F1B05707-0AE7-494A-A167-757B326A11C2}" srcOrd="1" destOrd="0" presId="urn:microsoft.com/office/officeart/2005/8/layout/arrow2"/>
    <dgm:cxn modelId="{F939673B-7F13-4DFE-A2B3-ED9C1F52A92A}" type="presParOf" srcId="{BC0A3BF5-90B7-4F66-8ABD-9B5357212794}" destId="{73C992D8-43B5-401C-A0FD-212F76F0BE5E}" srcOrd="2" destOrd="0" presId="urn:microsoft.com/office/officeart/2005/8/layout/arrow2"/>
    <dgm:cxn modelId="{B8022F10-8893-49A3-BDEC-F9B77B86ECC5}" type="presParOf" srcId="{BC0A3BF5-90B7-4F66-8ABD-9B5357212794}" destId="{42A587FA-13B5-416E-9993-304CC3B87622}" srcOrd="3" destOrd="0" presId="urn:microsoft.com/office/officeart/2005/8/layout/arrow2"/>
    <dgm:cxn modelId="{C1C4C08A-2488-445B-8159-5799EF10B4CB}" type="presParOf" srcId="{BC0A3BF5-90B7-4F66-8ABD-9B5357212794}" destId="{443FE27B-0199-434B-8962-455B12BA0345}" srcOrd="4" destOrd="0" presId="urn:microsoft.com/office/officeart/2005/8/layout/arrow2"/>
    <dgm:cxn modelId="{855B3FF3-1532-499E-9FE3-94BF7B182E42}" type="presParOf" srcId="{BC0A3BF5-90B7-4F66-8ABD-9B5357212794}" destId="{11B91D04-1560-4F35-A47B-E635003B791A}" srcOrd="5" destOrd="0" presId="urn:microsoft.com/office/officeart/2005/8/layout/arrow2"/>
    <dgm:cxn modelId="{278EDCE9-1798-432E-A3FF-33C69E25DBB1}" type="presParOf" srcId="{BC0A3BF5-90B7-4F66-8ABD-9B5357212794}" destId="{7BE31338-26E9-444C-AE17-77239B7974C2}" srcOrd="6" destOrd="0" presId="urn:microsoft.com/office/officeart/2005/8/layout/arrow2"/>
    <dgm:cxn modelId="{A0B90535-51B9-44EC-8044-D8D397820693}" type="presParOf" srcId="{BC0A3BF5-90B7-4F66-8ABD-9B5357212794}" destId="{BA8B5903-876A-49CA-827D-45AC436DA15C}" srcOrd="7" destOrd="0" presId="urn:microsoft.com/office/officeart/2005/8/layout/arrow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pPr>
            <a:lnSpc>
              <a:spcPct val="100000"/>
            </a:lnSpc>
          </a:pPr>
          <a:r>
            <a:rPr lang="en-US"/>
            <a:t>   </a:t>
          </a:r>
          <a:endParaRPr lang="en-US">
            <a:latin typeface="Arial" panose="020B0604020202020204" pitchFamily="34" charset="0"/>
            <a:cs typeface="Arial" panose="020B0604020202020204" pitchFamily="34" charset="0"/>
          </a:endParaRP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lnSpc>
              <a:spcPct val="100000"/>
            </a:lnSpc>
          </a:pPr>
          <a:endParaRPr lang="en-US" sz="1800" b="1">
            <a:latin typeface="Arial" panose="020B0604020202020204" pitchFamily="34" charset="0"/>
            <a:cs typeface="Arial" panose="020B0604020202020204" pitchFamily="34" charset="0"/>
          </a:endParaRPr>
        </a:p>
        <a:p>
          <a:pPr algn="l">
            <a:lnSpc>
              <a:spcPct val="100000"/>
            </a:lnSpc>
          </a:pPr>
          <a:r>
            <a:rPr lang="en-US" sz="1800" b="1">
              <a:latin typeface="Arial" panose="020B0604020202020204" pitchFamily="34" charset="0"/>
              <a:cs typeface="Arial" panose="020B0604020202020204" pitchFamily="34" charset="0"/>
            </a:rPr>
            <a:t>Leverages Existing Capabilities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Existing utility expertise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Established contractor network</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customer engagement</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lnSpc>
              <a:spcPct val="100000"/>
            </a:lnSpc>
          </a:pP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Expands Into New Markets</a:t>
          </a:r>
          <a:br>
            <a:rPr lang="en-US" sz="1800" b="1">
              <a:latin typeface="Arial" panose="020B0604020202020204" pitchFamily="34" charset="0"/>
              <a:cs typeface="Arial" panose="020B0604020202020204" pitchFamily="34" charset="0"/>
            </a:rPr>
          </a:br>
          <a:r>
            <a:rPr lang="en-US" sz="1800" b="1">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Limited direct competition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Utility battery fleet offering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Differentiated market position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Growing DER opportunity</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lnSpc>
              <a:spcPct val="100000"/>
            </a:lnSpc>
          </a:pPr>
          <a:r>
            <a:rPr lang="en-US" sz="1800" b="1">
              <a:latin typeface="Arial" panose="020B0604020202020204" pitchFamily="34" charset="0"/>
              <a:cs typeface="Arial" panose="020B0604020202020204" pitchFamily="34" charset="0"/>
            </a:rPr>
            <a:t>Scales Through Existing Relationships </a:t>
          </a:r>
        </a:p>
        <a:p>
          <a:pPr algn="l">
            <a:lnSpc>
              <a:spcPct val="100000"/>
            </a:lnSpc>
          </a:pPr>
          <a:r>
            <a:rPr lang="en-US" sz="1800" b="0" i="0">
              <a:latin typeface="Arial" panose="020B0604020202020204" pitchFamily="34" charset="0"/>
              <a:cs typeface="Arial" panose="020B0604020202020204" pitchFamily="34" charset="0"/>
            </a:rPr>
            <a:t>- Strong utility partnerships</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Proven regional presence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Easier pilot deployment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Faster program expansion</a:t>
          </a:r>
          <a:endParaRPr lang="en-US" sz="1400">
            <a:latin typeface="Arial" panose="020B0604020202020204" pitchFamily="34" charset="0"/>
            <a:cs typeface="Arial" panose="020B0604020202020204" pitchFamily="34" charset="0"/>
          </a:endParaRP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F5C064FB-70B3-4943-9A27-4E16C7CC80DE}">
      <dgm:prSet phldrT="[Text]" custT="1"/>
      <dgm:spPr/>
      <dgm:t>
        <a:bodyPr/>
        <a:lstStyle/>
        <a:p>
          <a:pPr algn="r">
            <a:lnSpc>
              <a:spcPct val="100000"/>
            </a:lnSpc>
          </a:pPr>
          <a:r>
            <a:rPr lang="en-US" sz="1800" b="1">
              <a:latin typeface="Arial" panose="020B0604020202020204" pitchFamily="34" charset="0"/>
              <a:cs typeface="Arial" panose="020B0604020202020204" pitchFamily="34" charset="0"/>
            </a:rPr>
            <a:t>Creates Resilient Revenue Streams</a:t>
          </a:r>
        </a:p>
        <a:p>
          <a:pPr algn="r">
            <a:lnSpc>
              <a:spcPct val="100000"/>
            </a:lnSpc>
          </a:pPr>
          <a:r>
            <a:rPr lang="en-US" sz="1800" b="0" i="0">
              <a:latin typeface="Arial" panose="020B0604020202020204" pitchFamily="34" charset="0"/>
              <a:cs typeface="Arial" panose="020B0604020202020204" pitchFamily="34" charset="0"/>
            </a:rPr>
            <a:t>- Utility-funded model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Reduced grant reliance </a:t>
          </a:r>
          <a:br>
            <a:rPr lang="en-US" sz="1800" b="0" i="0">
              <a:latin typeface="Arial" panose="020B0604020202020204" pitchFamily="34" charset="0"/>
              <a:cs typeface="Arial" panose="020B0604020202020204" pitchFamily="34" charset="0"/>
            </a:rPr>
          </a:br>
          <a:r>
            <a:rPr lang="en-US" sz="1800" b="0" i="0">
              <a:latin typeface="Arial" panose="020B0604020202020204" pitchFamily="34" charset="0"/>
              <a:cs typeface="Arial" panose="020B0604020202020204" pitchFamily="34" charset="0"/>
            </a:rPr>
            <a:t>- More stable revenue </a:t>
          </a:r>
          <a:br>
            <a:rPr lang="en-US" sz="1800" b="0" i="0"/>
          </a:br>
          <a:r>
            <a:rPr lang="en-US" sz="1800" b="0" i="0"/>
            <a:t>- Supports grid resilience</a:t>
          </a:r>
          <a:endParaRPr lang="en-US" sz="1400"/>
        </a:p>
      </dgm:t>
    </dgm:pt>
    <dgm:pt modelId="{F630514A-1B30-402C-82BA-0A4CC5F85A6C}" type="parTrans" cxnId="{C886A7CC-A7B1-4631-92DA-033D59DEBE77}">
      <dgm:prSet/>
      <dgm:spPr/>
      <dgm:t>
        <a:bodyPr/>
        <a:lstStyle/>
        <a:p>
          <a:endParaRPr lang="en-US"/>
        </a:p>
      </dgm:t>
    </dgm:pt>
    <dgm:pt modelId="{FD01E4D0-98C9-4FB7-8BF6-9B75DB427794}" type="sibTrans" cxnId="{C886A7CC-A7B1-4631-92DA-033D59DEBE7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2F99B520-CAAB-4702-A491-3AA63F19D7E8}" type="presOf" srcId="{A57EBB6D-D543-44DF-BDF5-1C08C9EB31EB}" destId="{C1A07BBF-19DB-47F4-9F21-3C0561070890}" srcOrd="0" destOrd="0" presId="urn:microsoft.com/office/officeart/2005/8/layout/matrix1"/>
    <dgm:cxn modelId="{CBB15E21-6C2E-448B-816B-DE38920C59A5}" type="presOf" srcId="{A57EBB6D-D543-44DF-BDF5-1C08C9EB31EB}" destId="{5917CBDD-A583-4693-AB9B-106C5A766EEA}"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8E9ECB4B-88B1-466F-9202-5BBDF991B7F5}" type="presOf" srcId="{97C2E1FC-B64D-459B-93DE-177F9745D912}" destId="{875BDCF6-7B33-4626-B395-126961013AFC}"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0C7B792-4E0B-4373-99E9-1B1FBB9E96EE}" type="presOf" srcId="{97C2E1FC-B64D-459B-93DE-177F9745D912}" destId="{112ECAE4-7AC8-4FA3-8B8F-551C4FD20EFF}" srcOrd="0" destOrd="0" presId="urn:microsoft.com/office/officeart/2005/8/layout/matrix1"/>
    <dgm:cxn modelId="{86F9B593-F0EE-4051-A25B-1AAB10942E99}" type="presOf" srcId="{5E1BBE66-22D8-480D-9DF9-D5528F07122D}" destId="{A0F27E1B-455B-4D7E-AD7B-40CBDA5C618A}" srcOrd="0" destOrd="0" presId="urn:microsoft.com/office/officeart/2005/8/layout/matrix1"/>
    <dgm:cxn modelId="{F4487E95-F52D-478F-99D3-09D03ECC48F6}" type="presOf" srcId="{F5C064FB-70B3-4943-9A27-4E16C7CC80DE}" destId="{B5B8AC5F-E43F-4CC0-988F-21512A2D9A02}" srcOrd="1" destOrd="0" presId="urn:microsoft.com/office/officeart/2005/8/layout/matrix1"/>
    <dgm:cxn modelId="{528883C7-1006-4531-B7F0-7BCE497A0FA0}" srcId="{E9BE064B-2F49-4A8C-8A36-698DABD07017}" destId="{A57EBB6D-D543-44DF-BDF5-1C08C9EB31EB}" srcOrd="1" destOrd="0" parTransId="{0EEADD4E-A063-4265-BC03-1F5AE13BF8DE}" sibTransId="{0E76BE03-3C24-4030-B3BD-698C235F6E52}"/>
    <dgm:cxn modelId="{C886A7CC-A7B1-4631-92DA-033D59DEBE77}" srcId="{E9BE064B-2F49-4A8C-8A36-698DABD07017}" destId="{F5C064FB-70B3-4943-9A27-4E16C7CC80DE}" srcOrd="3" destOrd="0" parTransId="{F630514A-1B30-402C-82BA-0A4CC5F85A6C}" sibTransId="{FD01E4D0-98C9-4FB7-8BF6-9B75DB427794}"/>
    <dgm:cxn modelId="{901077D0-9709-40E0-AC2E-AD37C8176AFE}" srcId="{E9BE064B-2F49-4A8C-8A36-698DABD07017}" destId="{97C2E1FC-B64D-459B-93DE-177F9745D912}" srcOrd="2" destOrd="0" parTransId="{918470C9-B870-4C0C-81E6-29F4AC14412F}" sibTransId="{1ECC4728-FD9A-41F5-B76A-C69BD944B462}"/>
    <dgm:cxn modelId="{A826BFDF-C9B5-4D79-93B5-4BF086DA51D3}" type="presOf" srcId="{5E1BBE66-22D8-480D-9DF9-D5528F07122D}" destId="{D8126E92-42E9-42FB-8F6D-202410B15B26}" srcOrd="1" destOrd="0" presId="urn:microsoft.com/office/officeart/2005/8/layout/matrix1"/>
    <dgm:cxn modelId="{BF20E0EA-06FC-44D6-817E-08772D76ECDE}" type="presOf" srcId="{E9BE064B-2F49-4A8C-8A36-698DABD07017}" destId="{5C165AFF-2126-4842-86A3-BA0B41072E73}" srcOrd="0" destOrd="0" presId="urn:microsoft.com/office/officeart/2005/8/layout/matrix1"/>
    <dgm:cxn modelId="{BFBC27ED-779F-4DD7-BF4F-B12F44089343}" type="presOf" srcId="{F5C064FB-70B3-4943-9A27-4E16C7CC80DE}" destId="{F0217417-7472-463C-831C-1C5DF6C2E09B}" srcOrd="0" destOrd="0" presId="urn:microsoft.com/office/officeart/2005/8/layout/matrix1"/>
    <dgm:cxn modelId="{391B8257-10A5-453B-80AE-368CD175BCF9}" type="presParOf" srcId="{FEC0AA9B-5D03-4F81-AD7F-572D00FA9EA9}" destId="{B625AA73-A0A1-45A7-BDFC-EBB7FEDDF9BB}" srcOrd="0" destOrd="0" presId="urn:microsoft.com/office/officeart/2005/8/layout/matrix1"/>
    <dgm:cxn modelId="{A079A56E-A766-4176-93CE-2EBC58122C0A}" type="presParOf" srcId="{B625AA73-A0A1-45A7-BDFC-EBB7FEDDF9BB}" destId="{A0F27E1B-455B-4D7E-AD7B-40CBDA5C618A}" srcOrd="0" destOrd="0" presId="urn:microsoft.com/office/officeart/2005/8/layout/matrix1"/>
    <dgm:cxn modelId="{A4A73D77-B359-4660-8842-12627D1E4B64}" type="presParOf" srcId="{B625AA73-A0A1-45A7-BDFC-EBB7FEDDF9BB}" destId="{D8126E92-42E9-42FB-8F6D-202410B15B26}" srcOrd="1" destOrd="0" presId="urn:microsoft.com/office/officeart/2005/8/layout/matrix1"/>
    <dgm:cxn modelId="{2AAD2E1A-6FD7-46B8-8CFC-8260E5011E41}" type="presParOf" srcId="{B625AA73-A0A1-45A7-BDFC-EBB7FEDDF9BB}" destId="{C1A07BBF-19DB-47F4-9F21-3C0561070890}" srcOrd="2" destOrd="0" presId="urn:microsoft.com/office/officeart/2005/8/layout/matrix1"/>
    <dgm:cxn modelId="{9F1DBD72-3139-4F8B-BCA7-9F144EE8AF97}" type="presParOf" srcId="{B625AA73-A0A1-45A7-BDFC-EBB7FEDDF9BB}" destId="{5917CBDD-A583-4693-AB9B-106C5A766EEA}" srcOrd="3" destOrd="0" presId="urn:microsoft.com/office/officeart/2005/8/layout/matrix1"/>
    <dgm:cxn modelId="{9B4B6399-61EF-42F1-A197-89FFE87D64B3}" type="presParOf" srcId="{B625AA73-A0A1-45A7-BDFC-EBB7FEDDF9BB}" destId="{112ECAE4-7AC8-4FA3-8B8F-551C4FD20EFF}" srcOrd="4" destOrd="0" presId="urn:microsoft.com/office/officeart/2005/8/layout/matrix1"/>
    <dgm:cxn modelId="{7974D096-F91B-4F51-80FE-2DF505A7C9E9}" type="presParOf" srcId="{B625AA73-A0A1-45A7-BDFC-EBB7FEDDF9BB}" destId="{875BDCF6-7B33-4626-B395-126961013AFC}" srcOrd="5" destOrd="0" presId="urn:microsoft.com/office/officeart/2005/8/layout/matrix1"/>
    <dgm:cxn modelId="{89786BCD-F820-4242-81EF-F5AD84DB3D35}" type="presParOf" srcId="{B625AA73-A0A1-45A7-BDFC-EBB7FEDDF9BB}" destId="{F0217417-7472-463C-831C-1C5DF6C2E09B}" srcOrd="6" destOrd="0" presId="urn:microsoft.com/office/officeart/2005/8/layout/matrix1"/>
    <dgm:cxn modelId="{5B0E7238-B459-4CA3-AB41-2E3E84EB79CF}" type="presParOf" srcId="{B625AA73-A0A1-45A7-BDFC-EBB7FEDDF9BB}" destId="{B5B8AC5F-E43F-4CC0-988F-21512A2D9A02}" srcOrd="7" destOrd="0" presId="urn:microsoft.com/office/officeart/2005/8/layout/matrix1"/>
    <dgm:cxn modelId="{40C59971-3CBD-4123-9FD1-28AA63F3368D}"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6B2C77A-29C7-40C4-884C-503EE0970544}" type="doc">
      <dgm:prSet loTypeId="urn:microsoft.com/office/officeart/2024/layout/BulletTimeline" loCatId="process" qsTypeId="urn:microsoft.com/office/officeart/2005/8/quickstyle/simple1" qsCatId="simple" csTypeId="urn:microsoft.com/office/officeart/2005/8/colors/accent1_2" csCatId="accent1" phldr="1"/>
      <dgm:spPr/>
      <dgm:t>
        <a:bodyPr/>
        <a:lstStyle/>
        <a:p>
          <a:endParaRPr lang="en-US"/>
        </a:p>
      </dgm:t>
    </dgm:pt>
    <dgm:pt modelId="{F6B9783A-BA14-4C69-A679-3AC756BC7BD7}">
      <dgm:prSet phldrT="Add an event" phldr="0"/>
      <dgm:spPr/>
      <dgm:t>
        <a:bodyPr/>
        <a:lstStyle/>
        <a:p>
          <a:pPr>
            <a:defRPr b="1"/>
          </a:pPr>
          <a:r>
            <a:rPr lang="en-US">
              <a:latin typeface="Arial" panose="020B0604020202020204" pitchFamily="34" charset="0"/>
              <a:cs typeface="Arial" panose="020B0604020202020204" pitchFamily="34" charset="0"/>
            </a:rPr>
            <a:t>2026</a:t>
          </a:r>
        </a:p>
      </dgm:t>
    </dgm:pt>
    <dgm:pt modelId="{CAECE151-75AA-4C45-A092-B3880379201B}" type="parTrans" cxnId="{A3E99887-6D3C-4711-BCEC-06F47FF1BA14}">
      <dgm:prSet/>
      <dgm:spPr/>
      <dgm:t>
        <a:bodyPr/>
        <a:lstStyle/>
        <a:p>
          <a:endParaRPr lang="en-US"/>
        </a:p>
      </dgm:t>
    </dgm:pt>
    <dgm:pt modelId="{9EC1E887-3AF8-4584-9016-0FEFD2DDE653}" type="sibTrans" cxnId="{A3E99887-6D3C-4711-BCEC-06F47FF1BA14}">
      <dgm:prSet/>
      <dgm:spPr/>
      <dgm:t>
        <a:bodyPr/>
        <a:lstStyle/>
        <a:p>
          <a:endParaRPr lang="en-US"/>
        </a:p>
      </dgm:t>
    </dgm:pt>
    <dgm:pt modelId="{D069B0E3-F0BC-4686-9DF7-FA8DABD629E2}">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Internal Development</a:t>
          </a:r>
        </a:p>
      </dgm:t>
    </dgm:pt>
    <dgm:pt modelId="{20466C4E-93BA-470B-9E41-3D327439D134}" type="parTrans" cxnId="{64F15351-6B1A-4521-A8AC-01984599AC3A}">
      <dgm:prSet/>
      <dgm:spPr/>
      <dgm:t>
        <a:bodyPr/>
        <a:lstStyle/>
        <a:p>
          <a:endParaRPr lang="en-US"/>
        </a:p>
      </dgm:t>
    </dgm:pt>
    <dgm:pt modelId="{55EF1CB2-AB35-4CDA-B98A-DED7C1623E31}" type="sibTrans" cxnId="{64F15351-6B1A-4521-A8AC-01984599AC3A}">
      <dgm:prSet/>
      <dgm:spPr/>
      <dgm:t>
        <a:bodyPr/>
        <a:lstStyle/>
        <a:p>
          <a:endParaRPr lang="en-US"/>
        </a:p>
      </dgm:t>
    </dgm:pt>
    <dgm:pt modelId="{2E31C2AE-44FD-4A35-8F7C-D9CE28E1D274}">
      <dgm:prSet phldrT="Add an event" phldr="0"/>
      <dgm:spPr/>
      <dgm:t>
        <a:bodyPr/>
        <a:lstStyle/>
        <a:p>
          <a:pPr>
            <a:defRPr b="1"/>
          </a:pPr>
          <a:r>
            <a:rPr lang="en-US">
              <a:latin typeface="Arial" panose="020B0604020202020204" pitchFamily="34" charset="0"/>
              <a:cs typeface="Arial" panose="020B0604020202020204" pitchFamily="34" charset="0"/>
            </a:rPr>
            <a:t>2027</a:t>
          </a:r>
        </a:p>
      </dgm:t>
    </dgm:pt>
    <dgm:pt modelId="{D3E72924-9E6F-4545-9887-FD2B85CF0285}" type="parTrans" cxnId="{187C3745-69F6-45E7-A21B-DC2FC9D12D23}">
      <dgm:prSet/>
      <dgm:spPr/>
      <dgm:t>
        <a:bodyPr/>
        <a:lstStyle/>
        <a:p>
          <a:endParaRPr lang="en-US"/>
        </a:p>
      </dgm:t>
    </dgm:pt>
    <dgm:pt modelId="{798A046D-6195-4A20-A337-AE624AAE027F}" type="sibTrans" cxnId="{187C3745-69F6-45E7-A21B-DC2FC9D12D23}">
      <dgm:prSet/>
      <dgm:spPr/>
      <dgm:t>
        <a:bodyPr/>
        <a:lstStyle/>
        <a:p>
          <a:endParaRPr lang="en-US"/>
        </a:p>
      </dgm:t>
    </dgm:pt>
    <dgm:pt modelId="{24C5541B-DBA0-466F-BCBF-321F9791AE53}">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Ann Arbor Pilot Launch</a:t>
          </a:r>
        </a:p>
      </dgm:t>
    </dgm:pt>
    <dgm:pt modelId="{F820A1C1-C6D2-42AE-9CE7-9FF722CA0FFB}" type="parTrans" cxnId="{2B21F02A-0B69-4750-9A42-CA6A2A04C262}">
      <dgm:prSet/>
      <dgm:spPr/>
      <dgm:t>
        <a:bodyPr/>
        <a:lstStyle/>
        <a:p>
          <a:endParaRPr lang="en-US"/>
        </a:p>
      </dgm:t>
    </dgm:pt>
    <dgm:pt modelId="{16E952CF-0F2F-47F0-89F0-4852951640C9}" type="sibTrans" cxnId="{2B21F02A-0B69-4750-9A42-CA6A2A04C262}">
      <dgm:prSet/>
      <dgm:spPr/>
      <dgm:t>
        <a:bodyPr/>
        <a:lstStyle/>
        <a:p>
          <a:endParaRPr lang="en-US"/>
        </a:p>
      </dgm:t>
    </dgm:pt>
    <dgm:pt modelId="{5DCF7D6C-DDC5-4644-BA75-CCDD1FC94652}">
      <dgm:prSet phldrT="Add an event" phldr="0"/>
      <dgm:spPr/>
      <dgm:t>
        <a:bodyPr/>
        <a:lstStyle/>
        <a:p>
          <a:pPr>
            <a:defRPr b="1"/>
          </a:pPr>
          <a:r>
            <a:rPr lang="en-US">
              <a:latin typeface="Arial" panose="020B0604020202020204" pitchFamily="34" charset="0"/>
              <a:cs typeface="Arial" panose="020B0604020202020204" pitchFamily="34" charset="0"/>
            </a:rPr>
            <a:t>2027-2030</a:t>
          </a:r>
        </a:p>
      </dgm:t>
    </dgm:pt>
    <dgm:pt modelId="{D05BCE46-F7F4-4759-8FD8-527E794CC6E7}" type="parTrans" cxnId="{4237747E-4B2C-469F-8286-1F30FD8AB61E}">
      <dgm:prSet/>
      <dgm:spPr/>
      <dgm:t>
        <a:bodyPr/>
        <a:lstStyle/>
        <a:p>
          <a:endParaRPr lang="en-US"/>
        </a:p>
      </dgm:t>
    </dgm:pt>
    <dgm:pt modelId="{E1421312-4B2B-4375-9679-62411285B5E7}" type="sibTrans" cxnId="{4237747E-4B2C-469F-8286-1F30FD8AB61E}">
      <dgm:prSet/>
      <dgm:spPr/>
      <dgm:t>
        <a:bodyPr/>
        <a:lstStyle/>
        <a:p>
          <a:endParaRPr lang="en-US"/>
        </a:p>
      </dgm:t>
    </dgm:pt>
    <dgm:pt modelId="{B5740E82-4CF2-44E9-B1AC-4F5048E03460}">
      <dgm:prSet phldrT="Write a description of the significance of this event" phldr="0"/>
      <dgm:spPr/>
      <dgm:t>
        <a:bodyPr/>
        <a:lstStyle/>
        <a:p>
          <a:r>
            <a:rPr lang="en-US" sz="2000" b="1">
              <a:latin typeface="Arial" panose="020B0604020202020204" pitchFamily="34" charset="0"/>
              <a:cs typeface="Arial" panose="020B0604020202020204" pitchFamily="34" charset="0"/>
            </a:rPr>
            <a:t>Pilot Operation and Expansion Planning</a:t>
          </a:r>
        </a:p>
      </dgm:t>
    </dgm:pt>
    <dgm:pt modelId="{EED693B3-5368-4F9D-955A-99F07F34F859}" type="parTrans" cxnId="{5328B9BF-5BEC-40B3-8970-C978856BBB4A}">
      <dgm:prSet/>
      <dgm:spPr/>
      <dgm:t>
        <a:bodyPr/>
        <a:lstStyle/>
        <a:p>
          <a:endParaRPr lang="en-US"/>
        </a:p>
      </dgm:t>
    </dgm:pt>
    <dgm:pt modelId="{6093F1D0-89E2-4D42-BF25-77DA63474009}" type="sibTrans" cxnId="{5328B9BF-5BEC-40B3-8970-C978856BBB4A}">
      <dgm:prSet/>
      <dgm:spPr/>
      <dgm:t>
        <a:bodyPr/>
        <a:lstStyle/>
        <a:p>
          <a:endParaRPr lang="en-US"/>
        </a:p>
      </dgm:t>
    </dgm:pt>
    <dgm:pt modelId="{BCC71876-028F-4C81-9DC2-3B4AEF798DF6}">
      <dgm:prSet phldrT="Write a description of the significance of this event" phldr="0" custT="1"/>
      <dgm:spPr/>
      <dgm:t>
        <a:bodyPr/>
        <a:lstStyle/>
        <a:p>
          <a:r>
            <a:rPr lang="en-US" sz="2000" b="1">
              <a:latin typeface="Arial" panose="020B0604020202020204" pitchFamily="34" charset="0"/>
              <a:cs typeface="Arial" panose="020B0604020202020204" pitchFamily="34" charset="0"/>
            </a:rPr>
            <a:t>Regional Expansion</a:t>
          </a:r>
        </a:p>
      </dgm:t>
    </dgm:pt>
    <dgm:pt modelId="{4A7B5491-463D-480C-BE71-657838024CC7}" type="parTrans" cxnId="{3FF731E1-52F1-48D3-891E-FC64E9205DC3}">
      <dgm:prSet/>
      <dgm:spPr/>
      <dgm:t>
        <a:bodyPr/>
        <a:lstStyle/>
        <a:p>
          <a:endParaRPr lang="en-US"/>
        </a:p>
      </dgm:t>
    </dgm:pt>
    <dgm:pt modelId="{EC370DEB-78FF-4BCA-B4C7-B8F53E392D88}" type="sibTrans" cxnId="{3FF731E1-52F1-48D3-891E-FC64E9205DC3}">
      <dgm:prSet/>
      <dgm:spPr/>
      <dgm:t>
        <a:bodyPr/>
        <a:lstStyle/>
        <a:p>
          <a:endParaRPr lang="en-US"/>
        </a:p>
      </dgm:t>
    </dgm:pt>
    <dgm:pt modelId="{A22A3A51-8675-41AC-AE4D-10F92C9B49B7}">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Finalize business case and service offering</a:t>
          </a:r>
        </a:p>
        <a:p>
          <a:r>
            <a:rPr lang="en-US" sz="1800" b="0" i="0">
              <a:latin typeface="Arial" panose="020B0604020202020204" pitchFamily="34" charset="0"/>
              <a:cs typeface="Arial" panose="020B0604020202020204" pitchFamily="34" charset="0"/>
            </a:rPr>
            <a:t>-Secure APTIM leadership approval</a:t>
          </a:r>
          <a:endParaRPr lang="en-US" sz="1800">
            <a:latin typeface="Arial" panose="020B0604020202020204" pitchFamily="34" charset="0"/>
            <a:cs typeface="Arial" panose="020B0604020202020204" pitchFamily="34" charset="0"/>
          </a:endParaRPr>
        </a:p>
      </dgm:t>
    </dgm:pt>
    <dgm:pt modelId="{6378A4F6-A4BD-4A43-BF87-77B823C64930}" type="parTrans" cxnId="{AE84B171-069E-4CF5-AE50-7F333ADEB4C3}">
      <dgm:prSet/>
      <dgm:spPr/>
      <dgm:t>
        <a:bodyPr/>
        <a:lstStyle/>
        <a:p>
          <a:endParaRPr lang="en-US"/>
        </a:p>
      </dgm:t>
    </dgm:pt>
    <dgm:pt modelId="{2AAB0FB6-87A4-4005-9BBE-C13F4FCCB2C3}" type="sibTrans" cxnId="{AE84B171-069E-4CF5-AE50-7F333ADEB4C3}">
      <dgm:prSet/>
      <dgm:spPr/>
      <dgm:t>
        <a:bodyPr/>
        <a:lstStyle/>
        <a:p>
          <a:endParaRPr lang="en-US"/>
        </a:p>
      </dgm:t>
    </dgm:pt>
    <dgm:pt modelId="{955C6054-35EE-46FD-BCCF-33E1341BAE4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Partner with DTE and recruit 500 homes</a:t>
          </a:r>
          <a:endParaRPr lang="en-US" sz="1800">
            <a:latin typeface="Arial" panose="020B0604020202020204" pitchFamily="34" charset="0"/>
            <a:cs typeface="Arial" panose="020B0604020202020204" pitchFamily="34" charset="0"/>
          </a:endParaRPr>
        </a:p>
      </dgm:t>
    </dgm:pt>
    <dgm:pt modelId="{5A08A1AD-09D9-4BC5-AA6E-8A2EBEC3D149}" type="parTrans" cxnId="{5D9ADF58-8A2A-47BF-BB72-F4B35C242011}">
      <dgm:prSet/>
      <dgm:spPr/>
      <dgm:t>
        <a:bodyPr/>
        <a:lstStyle/>
        <a:p>
          <a:endParaRPr lang="en-US"/>
        </a:p>
      </dgm:t>
    </dgm:pt>
    <dgm:pt modelId="{722227F6-AC91-47A7-BAEA-80EFC9928637}" type="sibTrans" cxnId="{5D9ADF58-8A2A-47BF-BB72-F4B35C242011}">
      <dgm:prSet/>
      <dgm:spPr/>
      <dgm:t>
        <a:bodyPr/>
        <a:lstStyle/>
        <a:p>
          <a:endParaRPr lang="en-US"/>
        </a:p>
      </dgm:t>
    </dgm:pt>
    <dgm:pt modelId="{86A74A2F-6C5C-4C76-8EE4-B6DC6A49DEAF}">
      <dgm:prSet phldrT="Write a description of the significance of this event" phldr="0" custT="1"/>
      <dgm:spPr/>
      <dgm:t>
        <a:bodyPr/>
        <a:lstStyle/>
        <a:p>
          <a:r>
            <a:rPr lang="en-US" sz="180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Monitor performance and customer participation</a:t>
          </a:r>
          <a:endParaRPr lang="en-US" sz="1800">
            <a:latin typeface="Arial" panose="020B0604020202020204" pitchFamily="34" charset="0"/>
            <a:cs typeface="Arial" panose="020B0604020202020204" pitchFamily="34" charset="0"/>
          </a:endParaRPr>
        </a:p>
      </dgm:t>
    </dgm:pt>
    <dgm:pt modelId="{7A6F9272-4C2B-4162-BF71-29D1095A7D2B}" type="parTrans" cxnId="{8EB586C4-F9C7-4B25-9307-F4DEF9A66E7E}">
      <dgm:prSet/>
      <dgm:spPr/>
      <dgm:t>
        <a:bodyPr/>
        <a:lstStyle/>
        <a:p>
          <a:endParaRPr lang="en-US"/>
        </a:p>
      </dgm:t>
    </dgm:pt>
    <dgm:pt modelId="{D6FAAB26-9223-4F42-B8F9-B4808080427B}" type="sibTrans" cxnId="{8EB586C4-F9C7-4B25-9307-F4DEF9A66E7E}">
      <dgm:prSet/>
      <dgm:spPr/>
      <dgm:t>
        <a:bodyPr/>
        <a:lstStyle/>
        <a:p>
          <a:endParaRPr lang="en-US"/>
        </a:p>
      </dgm:t>
    </dgm:pt>
    <dgm:pt modelId="{49A50E28-864E-4326-A406-56DC74DDE2CC}">
      <dgm:prSet phldrT="Write a description of the significance of this event" phldr="0" custT="1"/>
      <dgm:spPr/>
      <dgm:t>
        <a:bodyPr/>
        <a:lstStyle/>
        <a:p>
          <a:r>
            <a:rPr lang="en-US" sz="1800" b="0">
              <a:latin typeface="Arial" panose="020B0604020202020204" pitchFamily="34" charset="0"/>
              <a:cs typeface="Arial" panose="020B0604020202020204" pitchFamily="34" charset="0"/>
            </a:rPr>
            <a:t>- </a:t>
          </a:r>
          <a:r>
            <a:rPr lang="en-US" sz="1800" b="0" i="0">
              <a:latin typeface="Arial" panose="020B0604020202020204" pitchFamily="34" charset="0"/>
              <a:cs typeface="Arial" panose="020B0604020202020204" pitchFamily="34" charset="0"/>
            </a:rPr>
            <a:t>Expand across additional DTE territories</a:t>
          </a:r>
          <a:endParaRPr lang="en-US" sz="1800" b="0">
            <a:latin typeface="Arial" panose="020B0604020202020204" pitchFamily="34" charset="0"/>
            <a:cs typeface="Arial" panose="020B0604020202020204" pitchFamily="34" charset="0"/>
          </a:endParaRPr>
        </a:p>
      </dgm:t>
    </dgm:pt>
    <dgm:pt modelId="{1CC9CFCE-AF1F-4C12-A981-8984E62EA34B}" type="parTrans" cxnId="{9E41B5F9-3D43-4671-8F70-CD53A2B02214}">
      <dgm:prSet/>
      <dgm:spPr/>
      <dgm:t>
        <a:bodyPr/>
        <a:lstStyle/>
        <a:p>
          <a:endParaRPr lang="en-US"/>
        </a:p>
      </dgm:t>
    </dgm:pt>
    <dgm:pt modelId="{AA45F62F-FFF8-425B-832D-C354EDE646C7}" type="sibTrans" cxnId="{9E41B5F9-3D43-4671-8F70-CD53A2B02214}">
      <dgm:prSet/>
      <dgm:spPr/>
      <dgm:t>
        <a:bodyPr/>
        <a:lstStyle/>
        <a:p>
          <a:endParaRPr lang="en-US"/>
        </a:p>
      </dgm:t>
    </dgm:pt>
    <dgm:pt modelId="{DAD787B6-E762-4AAC-A108-1081D99BB308}">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Begin installation and fleet deployment</a:t>
          </a:r>
          <a:endParaRPr lang="en-US" sz="1800">
            <a:latin typeface="Arial" panose="020B0604020202020204" pitchFamily="34" charset="0"/>
            <a:cs typeface="Arial" panose="020B0604020202020204" pitchFamily="34" charset="0"/>
          </a:endParaRPr>
        </a:p>
      </dgm:t>
    </dgm:pt>
    <dgm:pt modelId="{47FA90A7-AA05-4B95-8673-EAC0B28289F2}" type="parTrans" cxnId="{B8DA621B-E8AB-4669-99A6-D6DA62F020B9}">
      <dgm:prSet/>
      <dgm:spPr/>
      <dgm:t>
        <a:bodyPr/>
        <a:lstStyle/>
        <a:p>
          <a:endParaRPr lang="en-US"/>
        </a:p>
      </dgm:t>
    </dgm:pt>
    <dgm:pt modelId="{72446103-BAAA-4092-A7D0-02AA196C5537}" type="sibTrans" cxnId="{B8DA621B-E8AB-4669-99A6-D6DA62F020B9}">
      <dgm:prSet/>
      <dgm:spPr/>
      <dgm:t>
        <a:bodyPr/>
        <a:lstStyle/>
        <a:p>
          <a:endParaRPr lang="en-US"/>
        </a:p>
      </dgm:t>
    </dgm:pt>
    <dgm:pt modelId="{65E9D165-B019-4FB9-879F-6A0A59DBC1D1}">
      <dgm:prSet phldrT="Add an event" phldr="0"/>
      <dgm:spPr/>
      <dgm:t>
        <a:bodyPr/>
        <a:lstStyle/>
        <a:p>
          <a:pPr>
            <a:defRPr b="1"/>
          </a:pPr>
          <a:r>
            <a:rPr lang="en-US">
              <a:latin typeface="Arial" panose="020B0604020202020204" pitchFamily="34" charset="0"/>
              <a:cs typeface="Arial" panose="020B0604020202020204" pitchFamily="34" charset="0"/>
            </a:rPr>
            <a:t>2030+</a:t>
          </a:r>
        </a:p>
      </dgm:t>
    </dgm:pt>
    <dgm:pt modelId="{65FB4999-E7DC-4CF4-88DD-00F3BD0422E6}" type="parTrans" cxnId="{C835B4DF-4DEC-4068-BF1E-D55C05ED7D2B}">
      <dgm:prSet/>
      <dgm:spPr/>
      <dgm:t>
        <a:bodyPr/>
        <a:lstStyle/>
        <a:p>
          <a:endParaRPr lang="en-US"/>
        </a:p>
      </dgm:t>
    </dgm:pt>
    <dgm:pt modelId="{97112C8B-8088-4AE1-9A0D-6ED5A2D60E42}" type="sibTrans" cxnId="{C835B4DF-4DEC-4068-BF1E-D55C05ED7D2B}">
      <dgm:prSet/>
      <dgm:spPr/>
      <dgm:t>
        <a:bodyPr/>
        <a:lstStyle/>
        <a:p>
          <a:endParaRPr lang="en-US"/>
        </a:p>
      </dgm:t>
    </dgm:pt>
    <dgm:pt modelId="{2F9DE546-8DDB-40D8-8803-456B1515CAB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Build expansion case using pilot results</a:t>
          </a:r>
          <a:endParaRPr lang="en-US" sz="1800">
            <a:latin typeface="Arial" panose="020B0604020202020204" pitchFamily="34" charset="0"/>
            <a:cs typeface="Arial" panose="020B0604020202020204" pitchFamily="34" charset="0"/>
          </a:endParaRPr>
        </a:p>
      </dgm:t>
    </dgm:pt>
    <dgm:pt modelId="{917C4368-45A3-4D3C-9AD3-42D8A335050D}" type="parTrans" cxnId="{0287AFCE-6119-4D73-BD2B-55239021104C}">
      <dgm:prSet/>
      <dgm:spPr/>
      <dgm:t>
        <a:bodyPr/>
        <a:lstStyle/>
        <a:p>
          <a:endParaRPr lang="en-US"/>
        </a:p>
      </dgm:t>
    </dgm:pt>
    <dgm:pt modelId="{ACCE4041-B1C1-4D15-86FA-A0E3FB6C5810}" type="sibTrans" cxnId="{0287AFCE-6119-4D73-BD2B-55239021104C}">
      <dgm:prSet/>
      <dgm:spPr/>
      <dgm:t>
        <a:bodyPr/>
        <a:lstStyle/>
        <a:p>
          <a:endParaRPr lang="en-US"/>
        </a:p>
      </dgm:t>
    </dgm:pt>
    <dgm:pt modelId="{38012BC9-2F22-4703-93D4-CFC03853DAD5}">
      <dgm:prSet phldrT="Write a description of the significance of this event" phldr="0" custT="1"/>
      <dgm:spPr/>
      <dgm:t>
        <a:bodyPr/>
        <a:lstStyle/>
        <a:p>
          <a:r>
            <a:rPr lang="en-US" sz="1800" b="0" i="0">
              <a:latin typeface="Arial" panose="020B0604020202020204" pitchFamily="34" charset="0"/>
              <a:cs typeface="Arial" panose="020B0604020202020204" pitchFamily="34" charset="0"/>
            </a:rPr>
            <a:t>- Replicate model in WI, LA, and NC</a:t>
          </a:r>
          <a:endParaRPr lang="en-US" sz="1800" b="0">
            <a:latin typeface="Arial" panose="020B0604020202020204" pitchFamily="34" charset="0"/>
            <a:cs typeface="Arial" panose="020B0604020202020204" pitchFamily="34" charset="0"/>
          </a:endParaRPr>
        </a:p>
      </dgm:t>
    </dgm:pt>
    <dgm:pt modelId="{A5F69158-C103-4546-839B-B86DBAC33878}" type="parTrans" cxnId="{DDBE9242-AC81-4F00-8195-7AE588804976}">
      <dgm:prSet/>
      <dgm:spPr/>
      <dgm:t>
        <a:bodyPr/>
        <a:lstStyle/>
        <a:p>
          <a:endParaRPr lang="en-US"/>
        </a:p>
      </dgm:t>
    </dgm:pt>
    <dgm:pt modelId="{79468512-A02C-413D-984D-C45270E070EC}" type="sibTrans" cxnId="{DDBE9242-AC81-4F00-8195-7AE588804976}">
      <dgm:prSet/>
      <dgm:spPr/>
      <dgm:t>
        <a:bodyPr/>
        <a:lstStyle/>
        <a:p>
          <a:endParaRPr lang="en-US"/>
        </a:p>
      </dgm:t>
    </dgm:pt>
    <dgm:pt modelId="{5012AF8A-B58A-40C7-8FD9-C6201D441836}" type="pres">
      <dgm:prSet presAssocID="{A6B2C77A-29C7-40C4-884C-503EE0970544}" presName="root" presStyleCnt="0">
        <dgm:presLayoutVars>
          <dgm:dir/>
          <dgm:animLvl val="lvl"/>
        </dgm:presLayoutVars>
      </dgm:prSet>
      <dgm:spPr/>
    </dgm:pt>
    <dgm:pt modelId="{3A96D0F9-52FD-4D49-847E-1BFD6C9BAE93}" type="pres">
      <dgm:prSet presAssocID="{A6B2C77A-29C7-40C4-884C-503EE0970544}" presName="divider" presStyleCnt="0"/>
      <dgm:spPr/>
    </dgm:pt>
    <dgm:pt modelId="{DEBE43F6-F223-4AF5-8CE2-9157967AD81C}" type="pres">
      <dgm:prSet presAssocID="{A6B2C77A-29C7-40C4-884C-503EE0970544}" presName="rectBar" presStyleLbl="dkBgShp" presStyleIdx="0" presStyleCnt="6"/>
      <dgm:spPr>
        <a:gradFill rotWithShape="0">
          <a:gsLst>
            <a:gs pos="0">
              <a:schemeClr val="accent1">
                <a:tint val="76000"/>
              </a:schemeClr>
            </a:gs>
            <a:gs pos="100000">
              <a:schemeClr val="accent1">
                <a:tint val="76000"/>
              </a:schemeClr>
            </a:gs>
          </a:gsLst>
          <a:lin ang="0" scaled="0"/>
        </a:gradFill>
        <a:ln>
          <a:noFill/>
        </a:ln>
        <a:effectLst/>
      </dgm:spPr>
    </dgm:pt>
    <dgm:pt modelId="{D92825F4-28E2-4E61-98B0-C657AEDE2D41}" type="pres">
      <dgm:prSet presAssocID="{A6B2C77A-29C7-40C4-884C-503EE0970544}" presName="chevronArrow" presStyleLbl="dkBgShp" presStyleIdx="1" presStyleCnt="6"/>
      <dgm:spPr>
        <a:gradFill rotWithShape="0">
          <a:gsLst>
            <a:gs pos="0">
              <a:schemeClr val="accent1">
                <a:tint val="76000"/>
              </a:schemeClr>
            </a:gs>
            <a:gs pos="100000">
              <a:schemeClr val="accent1">
                <a:tint val="76000"/>
              </a:schemeClr>
            </a:gs>
          </a:gsLst>
          <a:lin ang="0" scaled="0"/>
        </a:gradFill>
        <a:ln>
          <a:noFill/>
        </a:ln>
        <a:effectLst/>
      </dgm:spPr>
    </dgm:pt>
    <dgm:pt modelId="{8BCD4CEA-F8AE-402A-8370-DAF7A40978CB}" type="pres">
      <dgm:prSet presAssocID="{A6B2C77A-29C7-40C4-884C-503EE0970544}" presName="nodes" presStyleCnt="0">
        <dgm:presLayoutVars>
          <dgm:chMax/>
          <dgm:chPref/>
          <dgm:animLvl val="lvl"/>
        </dgm:presLayoutVars>
      </dgm:prSet>
      <dgm:spPr/>
    </dgm:pt>
    <dgm:pt modelId="{4D5A1FCF-CDDF-42C9-AF5A-B2FF09C853DA}" type="pres">
      <dgm:prSet presAssocID="{F6B9783A-BA14-4C69-A679-3AC756BC7BD7}" presName="composite" presStyleCnt="0"/>
      <dgm:spPr/>
    </dgm:pt>
    <dgm:pt modelId="{EC7B0869-2B88-4A35-93F6-3B8969B17047}" type="pres">
      <dgm:prSet presAssocID="{F6B9783A-BA14-4C69-A679-3AC756BC7BD7}" presName="DropPinPlaceHolder" presStyleCnt="0"/>
      <dgm:spPr/>
    </dgm:pt>
    <dgm:pt modelId="{56581099-6F74-4452-8EF5-BA0BD83F1110}" type="pres">
      <dgm:prSet presAssocID="{F6B9783A-BA14-4C69-A679-3AC756BC7BD7}" presName="DropPin" presStyleLbl="alignNode1" presStyleIdx="0" presStyleCnt="4"/>
      <dgm:spPr/>
    </dgm:pt>
    <dgm:pt modelId="{A7AE1C48-3C18-4639-BC14-2402AA78EC88}" type="pres">
      <dgm:prSet presAssocID="{F6B9783A-BA14-4C69-A679-3AC756BC7BD7}" presName="Ellipse" presStyleLbl="fgAcc1" presStyleIdx="0" presStyleCnt="4"/>
      <dgm:spPr/>
    </dgm:pt>
    <dgm:pt modelId="{9D5D2A40-12E0-4E69-BB9A-71C366C5F380}" type="pres">
      <dgm:prSet presAssocID="{F6B9783A-BA14-4C69-A679-3AC756BC7BD7}" presName="L2TextContainer" presStyleLbl="revTx" presStyleIdx="0" presStyleCnt="8">
        <dgm:presLayoutVars>
          <dgm:bulletEnabled val="1"/>
        </dgm:presLayoutVars>
      </dgm:prSet>
      <dgm:spPr/>
    </dgm:pt>
    <dgm:pt modelId="{7DDB962F-4865-43D6-AB4B-B0A6B340D54A}" type="pres">
      <dgm:prSet presAssocID="{F6B9783A-BA14-4C69-A679-3AC756BC7BD7}" presName="L1TextContainer" presStyleLbl="revTx" presStyleIdx="1" presStyleCnt="8" custLinFactNeighborX="-2008" custLinFactNeighborY="-72764">
        <dgm:presLayoutVars>
          <dgm:chMax val="1"/>
          <dgm:chPref val="1"/>
          <dgm:bulletEnabled val="1"/>
        </dgm:presLayoutVars>
      </dgm:prSet>
      <dgm:spPr/>
    </dgm:pt>
    <dgm:pt modelId="{E50A2BB6-7F55-4F75-B84E-77C96C0AC2FA}" type="pres">
      <dgm:prSet presAssocID="{F6B9783A-BA14-4C69-A679-3AC756BC7BD7}" presName="ConnectLine" presStyleLbl="dkBgShp" presStyleIdx="2" presStyleCnt="6"/>
      <dgm:spPr/>
    </dgm:pt>
    <dgm:pt modelId="{FB8FB069-12B1-4DB4-B570-37D08EE778B3}" type="pres">
      <dgm:prSet presAssocID="{F6B9783A-BA14-4C69-A679-3AC756BC7BD7}" presName="ConnectorPoint" presStyleCnt="0"/>
      <dgm:spPr/>
    </dgm:pt>
    <dgm:pt modelId="{C4C02278-E220-4FBD-855E-0DF2F10CCF66}" type="pres">
      <dgm:prSet presAssocID="{F6B9783A-BA14-4C69-A679-3AC756BC7BD7}" presName="Bullet" presStyleLbl="lnNode1" presStyleIdx="0" presStyleCnt="4"/>
      <dgm:spPr/>
    </dgm:pt>
    <dgm:pt modelId="{1788517C-25D7-47C6-B3BD-B927F816FCEE}" type="pres">
      <dgm:prSet presAssocID="{F6B9783A-BA14-4C69-A679-3AC756BC7BD7}" presName="EmptyPlaceHolder" presStyleCnt="0"/>
      <dgm:spPr/>
    </dgm:pt>
    <dgm:pt modelId="{438118D3-EC88-47B2-9E9A-CD113CBB5C45}" type="pres">
      <dgm:prSet presAssocID="{9EC1E887-3AF8-4584-9016-0FEFD2DDE653}" presName="spaceBetweenRectangles" presStyleCnt="0"/>
      <dgm:spPr/>
    </dgm:pt>
    <dgm:pt modelId="{1CF11BED-DCD4-49A7-B265-F96F988B3F4E}" type="pres">
      <dgm:prSet presAssocID="{2E31C2AE-44FD-4A35-8F7C-D9CE28E1D274}" presName="composite" presStyleCnt="0"/>
      <dgm:spPr/>
    </dgm:pt>
    <dgm:pt modelId="{809EAC89-9EC7-4B91-A366-7F9FA5033ECD}" type="pres">
      <dgm:prSet presAssocID="{2E31C2AE-44FD-4A35-8F7C-D9CE28E1D274}" presName="DropPinPlaceHolder" presStyleCnt="0"/>
      <dgm:spPr/>
    </dgm:pt>
    <dgm:pt modelId="{06F6D6D1-D764-4094-BD4F-332CA54639B6}" type="pres">
      <dgm:prSet presAssocID="{2E31C2AE-44FD-4A35-8F7C-D9CE28E1D274}" presName="DropPin" presStyleLbl="alignNode1" presStyleIdx="1" presStyleCnt="4"/>
      <dgm:spPr/>
    </dgm:pt>
    <dgm:pt modelId="{F386FB37-AD21-4F90-8954-C96B36002A74}" type="pres">
      <dgm:prSet presAssocID="{2E31C2AE-44FD-4A35-8F7C-D9CE28E1D274}" presName="Ellipse" presStyleLbl="fgAcc1" presStyleIdx="1" presStyleCnt="4"/>
      <dgm:spPr/>
    </dgm:pt>
    <dgm:pt modelId="{BECC8C6F-DF8A-46A2-BA04-AE7433B0C267}" type="pres">
      <dgm:prSet presAssocID="{2E31C2AE-44FD-4A35-8F7C-D9CE28E1D274}" presName="L2TextContainer" presStyleLbl="revTx" presStyleIdx="2" presStyleCnt="8">
        <dgm:presLayoutVars>
          <dgm:bulletEnabled val="1"/>
        </dgm:presLayoutVars>
      </dgm:prSet>
      <dgm:spPr/>
    </dgm:pt>
    <dgm:pt modelId="{E5B5CF21-0F70-4050-B091-FA55635B596F}" type="pres">
      <dgm:prSet presAssocID="{2E31C2AE-44FD-4A35-8F7C-D9CE28E1D274}" presName="L1TextContainer" presStyleLbl="revTx" presStyleIdx="3" presStyleCnt="8" custLinFactNeighborX="-753" custLinFactNeighborY="-42486">
        <dgm:presLayoutVars>
          <dgm:chMax val="1"/>
          <dgm:chPref val="1"/>
          <dgm:bulletEnabled val="1"/>
        </dgm:presLayoutVars>
      </dgm:prSet>
      <dgm:spPr/>
    </dgm:pt>
    <dgm:pt modelId="{4D3F6014-EB4A-48B9-8969-85BBA4C951DA}" type="pres">
      <dgm:prSet presAssocID="{2E31C2AE-44FD-4A35-8F7C-D9CE28E1D274}" presName="ConnectLine" presStyleLbl="dkBgShp" presStyleIdx="3" presStyleCnt="6"/>
      <dgm:spPr/>
    </dgm:pt>
    <dgm:pt modelId="{A0AAD04F-7F54-48D5-AFFA-8B8459C3EBC4}" type="pres">
      <dgm:prSet presAssocID="{2E31C2AE-44FD-4A35-8F7C-D9CE28E1D274}" presName="ConnectorPoint" presStyleCnt="0"/>
      <dgm:spPr/>
    </dgm:pt>
    <dgm:pt modelId="{F5429E44-2794-433B-A8C6-CD014DDC2CF4}" type="pres">
      <dgm:prSet presAssocID="{2E31C2AE-44FD-4A35-8F7C-D9CE28E1D274}" presName="Bullet" presStyleLbl="lnNode1" presStyleIdx="1" presStyleCnt="4"/>
      <dgm:spPr/>
    </dgm:pt>
    <dgm:pt modelId="{D2F42AD3-2282-42F8-BCD9-CD7DB432469F}" type="pres">
      <dgm:prSet presAssocID="{2E31C2AE-44FD-4A35-8F7C-D9CE28E1D274}" presName="EmptyPlaceHolder" presStyleCnt="0"/>
      <dgm:spPr/>
    </dgm:pt>
    <dgm:pt modelId="{7B893C76-A8A0-4EC8-8ACF-214BEA7BF0F4}" type="pres">
      <dgm:prSet presAssocID="{798A046D-6195-4A20-A337-AE624AAE027F}" presName="spaceBetweenRectangles" presStyleCnt="0"/>
      <dgm:spPr/>
    </dgm:pt>
    <dgm:pt modelId="{DE062809-D9DD-422D-B59D-3784FD4AADF4}" type="pres">
      <dgm:prSet presAssocID="{5DCF7D6C-DDC5-4644-BA75-CCDD1FC94652}" presName="composite" presStyleCnt="0"/>
      <dgm:spPr/>
    </dgm:pt>
    <dgm:pt modelId="{6328653D-0AC9-48F6-8D29-6A6505D4CE47}" type="pres">
      <dgm:prSet presAssocID="{5DCF7D6C-DDC5-4644-BA75-CCDD1FC94652}" presName="DropPinPlaceHolder" presStyleCnt="0"/>
      <dgm:spPr/>
    </dgm:pt>
    <dgm:pt modelId="{62798D8B-5C02-459D-A0FC-30FCCC10A24E}" type="pres">
      <dgm:prSet presAssocID="{5DCF7D6C-DDC5-4644-BA75-CCDD1FC94652}" presName="DropPin" presStyleLbl="alignNode1" presStyleIdx="2" presStyleCnt="4"/>
      <dgm:spPr/>
    </dgm:pt>
    <dgm:pt modelId="{AD362275-ED6F-4A07-869D-593CE93F62FA}" type="pres">
      <dgm:prSet presAssocID="{5DCF7D6C-DDC5-4644-BA75-CCDD1FC94652}" presName="Ellipse" presStyleLbl="fgAcc1" presStyleIdx="2" presStyleCnt="4"/>
      <dgm:spPr/>
    </dgm:pt>
    <dgm:pt modelId="{6EA06BA1-0B22-4940-8CF3-05BCE33F82AE}" type="pres">
      <dgm:prSet presAssocID="{5DCF7D6C-DDC5-4644-BA75-CCDD1FC94652}" presName="L2TextContainer" presStyleLbl="revTx" presStyleIdx="4" presStyleCnt="8">
        <dgm:presLayoutVars>
          <dgm:bulletEnabled val="1"/>
        </dgm:presLayoutVars>
      </dgm:prSet>
      <dgm:spPr/>
    </dgm:pt>
    <dgm:pt modelId="{257F5F98-985A-4ECA-989A-5CD9EC667F9C}" type="pres">
      <dgm:prSet presAssocID="{5DCF7D6C-DDC5-4644-BA75-CCDD1FC94652}" presName="L1TextContainer" presStyleLbl="revTx" presStyleIdx="5" presStyleCnt="8" custLinFactY="-21085" custLinFactNeighborX="3234" custLinFactNeighborY="-100000">
        <dgm:presLayoutVars>
          <dgm:chMax val="1"/>
          <dgm:chPref val="1"/>
          <dgm:bulletEnabled val="1"/>
        </dgm:presLayoutVars>
      </dgm:prSet>
      <dgm:spPr/>
    </dgm:pt>
    <dgm:pt modelId="{A8098DB4-F493-4752-93B9-E10FAAD88B01}" type="pres">
      <dgm:prSet presAssocID="{5DCF7D6C-DDC5-4644-BA75-CCDD1FC94652}" presName="ConnectLine" presStyleLbl="dkBgShp" presStyleIdx="4" presStyleCnt="6"/>
      <dgm:spPr/>
    </dgm:pt>
    <dgm:pt modelId="{6954ABEE-539B-4FA4-8A3B-1C4CD7CA94D5}" type="pres">
      <dgm:prSet presAssocID="{5DCF7D6C-DDC5-4644-BA75-CCDD1FC94652}" presName="ConnectorPoint" presStyleCnt="0"/>
      <dgm:spPr/>
    </dgm:pt>
    <dgm:pt modelId="{1D153DC4-9535-419A-AAD7-0E1ACD065A79}" type="pres">
      <dgm:prSet presAssocID="{5DCF7D6C-DDC5-4644-BA75-CCDD1FC94652}" presName="Bullet" presStyleLbl="lnNode1" presStyleIdx="2" presStyleCnt="4"/>
      <dgm:spPr/>
    </dgm:pt>
    <dgm:pt modelId="{CF3E954F-8EA6-4787-B654-4357CA47CC59}" type="pres">
      <dgm:prSet presAssocID="{5DCF7D6C-DDC5-4644-BA75-CCDD1FC94652}" presName="EmptyPlaceHolder" presStyleCnt="0"/>
      <dgm:spPr/>
    </dgm:pt>
    <dgm:pt modelId="{66E0A25E-1991-4D6F-9120-5402E9AC113C}" type="pres">
      <dgm:prSet presAssocID="{E1421312-4B2B-4375-9679-62411285B5E7}" presName="spaceBetweenRectangles" presStyleCnt="0"/>
      <dgm:spPr/>
    </dgm:pt>
    <dgm:pt modelId="{CDECE92C-906C-4647-9559-2EA50A758B49}" type="pres">
      <dgm:prSet presAssocID="{65E9D165-B019-4FB9-879F-6A0A59DBC1D1}" presName="composite" presStyleCnt="0"/>
      <dgm:spPr/>
    </dgm:pt>
    <dgm:pt modelId="{2F646FF4-574F-4D42-B176-747E86AA0141}" type="pres">
      <dgm:prSet presAssocID="{65E9D165-B019-4FB9-879F-6A0A59DBC1D1}" presName="DropPinPlaceHolder" presStyleCnt="0"/>
      <dgm:spPr/>
    </dgm:pt>
    <dgm:pt modelId="{096E4C52-B4D0-4166-8963-9E9E7541FEC3}" type="pres">
      <dgm:prSet presAssocID="{65E9D165-B019-4FB9-879F-6A0A59DBC1D1}" presName="DropPin" presStyleLbl="alignNode1" presStyleIdx="3" presStyleCnt="4"/>
      <dgm:spPr/>
    </dgm:pt>
    <dgm:pt modelId="{E1079C5C-E874-4D89-B547-649ED31FEB22}" type="pres">
      <dgm:prSet presAssocID="{65E9D165-B019-4FB9-879F-6A0A59DBC1D1}" presName="Ellipse" presStyleLbl="fgAcc1" presStyleIdx="3" presStyleCnt="4"/>
      <dgm:spPr/>
    </dgm:pt>
    <dgm:pt modelId="{DB9F70A5-0294-46CC-9AFC-DC1FB259292B}" type="pres">
      <dgm:prSet presAssocID="{65E9D165-B019-4FB9-879F-6A0A59DBC1D1}" presName="L2TextContainer" presStyleLbl="revTx" presStyleIdx="6" presStyleCnt="8">
        <dgm:presLayoutVars>
          <dgm:bulletEnabled val="1"/>
        </dgm:presLayoutVars>
      </dgm:prSet>
      <dgm:spPr/>
    </dgm:pt>
    <dgm:pt modelId="{5F533469-EA89-4CC4-B714-35E2E6AF8850}" type="pres">
      <dgm:prSet presAssocID="{65E9D165-B019-4FB9-879F-6A0A59DBC1D1}" presName="L1TextContainer" presStyleLbl="revTx" presStyleIdx="7" presStyleCnt="8" custLinFactNeighborX="134" custLinFactNeighborY="-47207">
        <dgm:presLayoutVars>
          <dgm:chMax val="1"/>
          <dgm:chPref val="1"/>
          <dgm:bulletEnabled val="1"/>
        </dgm:presLayoutVars>
      </dgm:prSet>
      <dgm:spPr/>
    </dgm:pt>
    <dgm:pt modelId="{D520C184-15C8-4C95-A0CA-D71941C1C11F}" type="pres">
      <dgm:prSet presAssocID="{65E9D165-B019-4FB9-879F-6A0A59DBC1D1}" presName="ConnectLine" presStyleLbl="dkBgShp" presStyleIdx="5" presStyleCnt="6"/>
      <dgm:spPr/>
    </dgm:pt>
    <dgm:pt modelId="{B9295F29-9D66-4C46-915B-74C6EED04153}" type="pres">
      <dgm:prSet presAssocID="{65E9D165-B019-4FB9-879F-6A0A59DBC1D1}" presName="ConnectorPoint" presStyleCnt="0"/>
      <dgm:spPr/>
    </dgm:pt>
    <dgm:pt modelId="{60DE78FF-DA58-4A20-9C28-E7F169E6E10A}" type="pres">
      <dgm:prSet presAssocID="{65E9D165-B019-4FB9-879F-6A0A59DBC1D1}" presName="Bullet" presStyleLbl="lnNode1" presStyleIdx="3" presStyleCnt="4"/>
      <dgm:spPr/>
    </dgm:pt>
    <dgm:pt modelId="{FA313219-C066-4FDA-B41D-D16724343197}" type="pres">
      <dgm:prSet presAssocID="{65E9D165-B019-4FB9-879F-6A0A59DBC1D1}" presName="EmptyPlaceHolder" presStyleCnt="0"/>
      <dgm:spPr/>
    </dgm:pt>
  </dgm:ptLst>
  <dgm:cxnLst>
    <dgm:cxn modelId="{8CFE0A09-FF42-459B-984B-7F6D19A6406B}" type="presOf" srcId="{86A74A2F-6C5C-4C76-8EE4-B6DC6A49DEAF}" destId="{6EA06BA1-0B22-4940-8CF3-05BCE33F82AE}" srcOrd="0" destOrd="1" presId="urn:microsoft.com/office/officeart/2024/layout/BulletTimeline"/>
    <dgm:cxn modelId="{D9613B16-74E7-44D2-9BDC-99DD41F324CE}" type="presOf" srcId="{38012BC9-2F22-4703-93D4-CFC03853DAD5}" destId="{DB9F70A5-0294-46CC-9AFC-DC1FB259292B}" srcOrd="0" destOrd="2" presId="urn:microsoft.com/office/officeart/2024/layout/BulletTimeline"/>
    <dgm:cxn modelId="{B8DA621B-E8AB-4669-99A6-D6DA62F020B9}" srcId="{2E31C2AE-44FD-4A35-8F7C-D9CE28E1D274}" destId="{DAD787B6-E762-4AAC-A108-1081D99BB308}" srcOrd="2" destOrd="0" parTransId="{47FA90A7-AA05-4B95-8673-EAC0B28289F2}" sibTransId="{72446103-BAAA-4092-A7D0-02AA196C5537}"/>
    <dgm:cxn modelId="{2F063E1E-33DD-4B1E-A6E5-96B3373C12FE}" type="presOf" srcId="{D069B0E3-F0BC-4686-9DF7-FA8DABD629E2}" destId="{9D5D2A40-12E0-4E69-BB9A-71C366C5F380}" srcOrd="0" destOrd="0" presId="urn:microsoft.com/office/officeart/2024/layout/BulletTimeline"/>
    <dgm:cxn modelId="{2B21F02A-0B69-4750-9A42-CA6A2A04C262}" srcId="{2E31C2AE-44FD-4A35-8F7C-D9CE28E1D274}" destId="{24C5541B-DBA0-466F-BCBF-321F9791AE53}" srcOrd="0" destOrd="0" parTransId="{F820A1C1-C6D2-42AE-9CE7-9FF722CA0FFB}" sibTransId="{16E952CF-0F2F-47F0-89F0-4852951640C9}"/>
    <dgm:cxn modelId="{AE260B35-8814-48BC-A70B-F16CE55EEED1}" type="presOf" srcId="{BCC71876-028F-4C81-9DC2-3B4AEF798DF6}" destId="{DB9F70A5-0294-46CC-9AFC-DC1FB259292B}" srcOrd="0" destOrd="0" presId="urn:microsoft.com/office/officeart/2024/layout/BulletTimeline"/>
    <dgm:cxn modelId="{8059193D-8666-42C8-B995-28F6882B332F}" type="presOf" srcId="{49A50E28-864E-4326-A406-56DC74DDE2CC}" destId="{DB9F70A5-0294-46CC-9AFC-DC1FB259292B}" srcOrd="0" destOrd="1" presId="urn:microsoft.com/office/officeart/2024/layout/BulletTimeline"/>
    <dgm:cxn modelId="{DDBE9242-AC81-4F00-8195-7AE588804976}" srcId="{65E9D165-B019-4FB9-879F-6A0A59DBC1D1}" destId="{38012BC9-2F22-4703-93D4-CFC03853DAD5}" srcOrd="2" destOrd="0" parTransId="{A5F69158-C103-4546-839B-B86DBAC33878}" sibTransId="{79468512-A02C-413D-984D-C45270E070EC}"/>
    <dgm:cxn modelId="{2C33E342-A514-41FE-BF9A-378E6F66A42B}" type="presOf" srcId="{DAD787B6-E762-4AAC-A108-1081D99BB308}" destId="{BECC8C6F-DF8A-46A2-BA04-AE7433B0C267}" srcOrd="0" destOrd="2" presId="urn:microsoft.com/office/officeart/2024/layout/BulletTimeline"/>
    <dgm:cxn modelId="{912C2463-5C14-44E4-9786-84473944E539}" type="presOf" srcId="{2E31C2AE-44FD-4A35-8F7C-D9CE28E1D274}" destId="{E5B5CF21-0F70-4050-B091-FA55635B596F}" srcOrd="0" destOrd="0" presId="urn:microsoft.com/office/officeart/2024/layout/BulletTimeline"/>
    <dgm:cxn modelId="{187C3745-69F6-45E7-A21B-DC2FC9D12D23}" srcId="{A6B2C77A-29C7-40C4-884C-503EE0970544}" destId="{2E31C2AE-44FD-4A35-8F7C-D9CE28E1D274}" srcOrd="1" destOrd="0" parTransId="{D3E72924-9E6F-4545-9887-FD2B85CF0285}" sibTransId="{798A046D-6195-4A20-A337-AE624AAE027F}"/>
    <dgm:cxn modelId="{64F15351-6B1A-4521-A8AC-01984599AC3A}" srcId="{F6B9783A-BA14-4C69-A679-3AC756BC7BD7}" destId="{D069B0E3-F0BC-4686-9DF7-FA8DABD629E2}" srcOrd="0" destOrd="0" parTransId="{20466C4E-93BA-470B-9E41-3D327439D134}" sibTransId="{55EF1CB2-AB35-4CDA-B98A-DED7C1623E31}"/>
    <dgm:cxn modelId="{AE84B171-069E-4CF5-AE50-7F333ADEB4C3}" srcId="{F6B9783A-BA14-4C69-A679-3AC756BC7BD7}" destId="{A22A3A51-8675-41AC-AE4D-10F92C9B49B7}" srcOrd="1" destOrd="0" parTransId="{6378A4F6-A4BD-4A43-BF87-77B823C64930}" sibTransId="{2AAB0FB6-87A4-4005-9BBE-C13F4FCCB2C3}"/>
    <dgm:cxn modelId="{CCBAAB57-50DF-4F3A-8E57-AF041629FC39}" type="presOf" srcId="{5DCF7D6C-DDC5-4644-BA75-CCDD1FC94652}" destId="{257F5F98-985A-4ECA-989A-5CD9EC667F9C}" srcOrd="0" destOrd="0" presId="urn:microsoft.com/office/officeart/2024/layout/BulletTimeline"/>
    <dgm:cxn modelId="{5D9ADF58-8A2A-47BF-BB72-F4B35C242011}" srcId="{2E31C2AE-44FD-4A35-8F7C-D9CE28E1D274}" destId="{955C6054-35EE-46FD-BCCF-33E1341BAE45}" srcOrd="1" destOrd="0" parTransId="{5A08A1AD-09D9-4BC5-AA6E-8A2EBEC3D149}" sibTransId="{722227F6-AC91-47A7-BAEA-80EFC9928637}"/>
    <dgm:cxn modelId="{3C9EE479-AC19-4A20-AC03-52EAF67C5A3D}" type="presOf" srcId="{65E9D165-B019-4FB9-879F-6A0A59DBC1D1}" destId="{5F533469-EA89-4CC4-B714-35E2E6AF8850}" srcOrd="0" destOrd="0" presId="urn:microsoft.com/office/officeart/2024/layout/BulletTimeline"/>
    <dgm:cxn modelId="{13DC385A-D381-42F8-B151-9697E1E73AA7}" type="presOf" srcId="{A6B2C77A-29C7-40C4-884C-503EE0970544}" destId="{5012AF8A-B58A-40C7-8FD9-C6201D441836}" srcOrd="0" destOrd="0" presId="urn:microsoft.com/office/officeart/2024/layout/BulletTimeline"/>
    <dgm:cxn modelId="{4237747E-4B2C-469F-8286-1F30FD8AB61E}" srcId="{A6B2C77A-29C7-40C4-884C-503EE0970544}" destId="{5DCF7D6C-DDC5-4644-BA75-CCDD1FC94652}" srcOrd="2" destOrd="0" parTransId="{D05BCE46-F7F4-4759-8FD8-527E794CC6E7}" sibTransId="{E1421312-4B2B-4375-9679-62411285B5E7}"/>
    <dgm:cxn modelId="{00E9A284-0CAB-44BF-A28D-807C6FB3B310}" type="presOf" srcId="{A22A3A51-8675-41AC-AE4D-10F92C9B49B7}" destId="{9D5D2A40-12E0-4E69-BB9A-71C366C5F380}" srcOrd="0" destOrd="1" presId="urn:microsoft.com/office/officeart/2024/layout/BulletTimeline"/>
    <dgm:cxn modelId="{A3E99887-6D3C-4711-BCEC-06F47FF1BA14}" srcId="{A6B2C77A-29C7-40C4-884C-503EE0970544}" destId="{F6B9783A-BA14-4C69-A679-3AC756BC7BD7}" srcOrd="0" destOrd="0" parTransId="{CAECE151-75AA-4C45-A092-B3880379201B}" sibTransId="{9EC1E887-3AF8-4584-9016-0FEFD2DDE653}"/>
    <dgm:cxn modelId="{F2DF858A-CA51-45F5-AADD-0F25DD4A30B6}" type="presOf" srcId="{955C6054-35EE-46FD-BCCF-33E1341BAE45}" destId="{BECC8C6F-DF8A-46A2-BA04-AE7433B0C267}" srcOrd="0" destOrd="1" presId="urn:microsoft.com/office/officeart/2024/layout/BulletTimeline"/>
    <dgm:cxn modelId="{CB5AB5AB-411C-444C-ADA8-F1B638D07C32}" type="presOf" srcId="{B5740E82-4CF2-44E9-B1AC-4F5048E03460}" destId="{6EA06BA1-0B22-4940-8CF3-05BCE33F82AE}" srcOrd="0" destOrd="0" presId="urn:microsoft.com/office/officeart/2024/layout/BulletTimeline"/>
    <dgm:cxn modelId="{06A741B7-1F82-4B18-96FD-F8C6983E0A7C}" type="presOf" srcId="{F6B9783A-BA14-4C69-A679-3AC756BC7BD7}" destId="{7DDB962F-4865-43D6-AB4B-B0A6B340D54A}" srcOrd="0" destOrd="0" presId="urn:microsoft.com/office/officeart/2024/layout/BulletTimeline"/>
    <dgm:cxn modelId="{F5FAD7BB-1EC4-4AD1-8978-028BA430C0A6}" type="presOf" srcId="{2F9DE546-8DDB-40D8-8803-456B1515CAB5}" destId="{6EA06BA1-0B22-4940-8CF3-05BCE33F82AE}" srcOrd="0" destOrd="2" presId="urn:microsoft.com/office/officeart/2024/layout/BulletTimeline"/>
    <dgm:cxn modelId="{5328B9BF-5BEC-40B3-8970-C978856BBB4A}" srcId="{5DCF7D6C-DDC5-4644-BA75-CCDD1FC94652}" destId="{B5740E82-4CF2-44E9-B1AC-4F5048E03460}" srcOrd="0" destOrd="0" parTransId="{EED693B3-5368-4F9D-955A-99F07F34F859}" sibTransId="{6093F1D0-89E2-4D42-BF25-77DA63474009}"/>
    <dgm:cxn modelId="{8EB586C4-F9C7-4B25-9307-F4DEF9A66E7E}" srcId="{5DCF7D6C-DDC5-4644-BA75-CCDD1FC94652}" destId="{86A74A2F-6C5C-4C76-8EE4-B6DC6A49DEAF}" srcOrd="1" destOrd="0" parTransId="{7A6F9272-4C2B-4162-BF71-29D1095A7D2B}" sibTransId="{D6FAAB26-9223-4F42-B8F9-B4808080427B}"/>
    <dgm:cxn modelId="{0287AFCE-6119-4D73-BD2B-55239021104C}" srcId="{5DCF7D6C-DDC5-4644-BA75-CCDD1FC94652}" destId="{2F9DE546-8DDB-40D8-8803-456B1515CAB5}" srcOrd="2" destOrd="0" parTransId="{917C4368-45A3-4D3C-9AD3-42D8A335050D}" sibTransId="{ACCE4041-B1C1-4D15-86FA-A0E3FB6C5810}"/>
    <dgm:cxn modelId="{CE2B8DD4-460B-4EB5-A8E2-1BF84A419C22}" type="presOf" srcId="{24C5541B-DBA0-466F-BCBF-321F9791AE53}" destId="{BECC8C6F-DF8A-46A2-BA04-AE7433B0C267}" srcOrd="0" destOrd="0" presId="urn:microsoft.com/office/officeart/2024/layout/BulletTimeline"/>
    <dgm:cxn modelId="{C835B4DF-4DEC-4068-BF1E-D55C05ED7D2B}" srcId="{A6B2C77A-29C7-40C4-884C-503EE0970544}" destId="{65E9D165-B019-4FB9-879F-6A0A59DBC1D1}" srcOrd="3" destOrd="0" parTransId="{65FB4999-E7DC-4CF4-88DD-00F3BD0422E6}" sibTransId="{97112C8B-8088-4AE1-9A0D-6ED5A2D60E42}"/>
    <dgm:cxn modelId="{3FF731E1-52F1-48D3-891E-FC64E9205DC3}" srcId="{65E9D165-B019-4FB9-879F-6A0A59DBC1D1}" destId="{BCC71876-028F-4C81-9DC2-3B4AEF798DF6}" srcOrd="0" destOrd="0" parTransId="{4A7B5491-463D-480C-BE71-657838024CC7}" sibTransId="{EC370DEB-78FF-4BCA-B4C7-B8F53E392D88}"/>
    <dgm:cxn modelId="{9E41B5F9-3D43-4671-8F70-CD53A2B02214}" srcId="{65E9D165-B019-4FB9-879F-6A0A59DBC1D1}" destId="{49A50E28-864E-4326-A406-56DC74DDE2CC}" srcOrd="1" destOrd="0" parTransId="{1CC9CFCE-AF1F-4C12-A981-8984E62EA34B}" sibTransId="{AA45F62F-FFF8-425B-832D-C354EDE646C7}"/>
    <dgm:cxn modelId="{B551B609-1AC8-42E4-9447-B60663AACB43}" type="presParOf" srcId="{5012AF8A-B58A-40C7-8FD9-C6201D441836}" destId="{3A96D0F9-52FD-4D49-847E-1BFD6C9BAE93}" srcOrd="0" destOrd="0" presId="urn:microsoft.com/office/officeart/2024/layout/BulletTimeline"/>
    <dgm:cxn modelId="{660585F7-FDAB-4025-AFFD-78125B42BD80}" type="presParOf" srcId="{3A96D0F9-52FD-4D49-847E-1BFD6C9BAE93}" destId="{DEBE43F6-F223-4AF5-8CE2-9157967AD81C}" srcOrd="0" destOrd="0" presId="urn:microsoft.com/office/officeart/2024/layout/BulletTimeline"/>
    <dgm:cxn modelId="{759EACCA-E91F-4360-AA2A-1B30787ECE55}" type="presParOf" srcId="{3A96D0F9-52FD-4D49-847E-1BFD6C9BAE93}" destId="{D92825F4-28E2-4E61-98B0-C657AEDE2D41}" srcOrd="1" destOrd="0" presId="urn:microsoft.com/office/officeart/2024/layout/BulletTimeline"/>
    <dgm:cxn modelId="{7F254586-213A-4B14-8838-4B8E77FFC86A}" type="presParOf" srcId="{5012AF8A-B58A-40C7-8FD9-C6201D441836}" destId="{8BCD4CEA-F8AE-402A-8370-DAF7A40978CB}" srcOrd="1" destOrd="0" presId="urn:microsoft.com/office/officeart/2024/layout/BulletTimeline"/>
    <dgm:cxn modelId="{E6CCA96A-550D-437D-9314-2D07272F0B34}" type="presParOf" srcId="{8BCD4CEA-F8AE-402A-8370-DAF7A40978CB}" destId="{4D5A1FCF-CDDF-42C9-AF5A-B2FF09C853DA}" srcOrd="0" destOrd="0" presId="urn:microsoft.com/office/officeart/2024/layout/BulletTimeline"/>
    <dgm:cxn modelId="{E8CD2111-7ECA-40F6-AAEA-FB990C6874D8}" type="presParOf" srcId="{4D5A1FCF-CDDF-42C9-AF5A-B2FF09C853DA}" destId="{EC7B0869-2B88-4A35-93F6-3B8969B17047}" srcOrd="0" destOrd="0" presId="urn:microsoft.com/office/officeart/2024/layout/BulletTimeline"/>
    <dgm:cxn modelId="{0920A8C2-9C09-4001-B423-43E77314E728}" type="presParOf" srcId="{EC7B0869-2B88-4A35-93F6-3B8969B17047}" destId="{56581099-6F74-4452-8EF5-BA0BD83F1110}" srcOrd="0" destOrd="0" presId="urn:microsoft.com/office/officeart/2024/layout/BulletTimeline"/>
    <dgm:cxn modelId="{0C1888A8-AF39-422B-A1C1-3E0E28FCF8F7}" type="presParOf" srcId="{EC7B0869-2B88-4A35-93F6-3B8969B17047}" destId="{A7AE1C48-3C18-4639-BC14-2402AA78EC88}" srcOrd="1" destOrd="0" presId="urn:microsoft.com/office/officeart/2024/layout/BulletTimeline"/>
    <dgm:cxn modelId="{E3FA5DAE-64EC-4ABF-8A5D-5BE20C092DA7}" type="presParOf" srcId="{4D5A1FCF-CDDF-42C9-AF5A-B2FF09C853DA}" destId="{9D5D2A40-12E0-4E69-BB9A-71C366C5F380}" srcOrd="1" destOrd="0" presId="urn:microsoft.com/office/officeart/2024/layout/BulletTimeline"/>
    <dgm:cxn modelId="{44235FC2-EF35-4FF4-AEFE-EFABCFD55426}" type="presParOf" srcId="{4D5A1FCF-CDDF-42C9-AF5A-B2FF09C853DA}" destId="{7DDB962F-4865-43D6-AB4B-B0A6B340D54A}" srcOrd="2" destOrd="0" presId="urn:microsoft.com/office/officeart/2024/layout/BulletTimeline"/>
    <dgm:cxn modelId="{0A269C9B-E346-4D03-BA42-8E9687D53C2C}" type="presParOf" srcId="{4D5A1FCF-CDDF-42C9-AF5A-B2FF09C853DA}" destId="{E50A2BB6-7F55-4F75-B84E-77C96C0AC2FA}" srcOrd="3" destOrd="0" presId="urn:microsoft.com/office/officeart/2024/layout/BulletTimeline"/>
    <dgm:cxn modelId="{A15B45F5-D5BE-4246-8651-4347C39B9D78}" type="presParOf" srcId="{4D5A1FCF-CDDF-42C9-AF5A-B2FF09C853DA}" destId="{FB8FB069-12B1-4DB4-B570-37D08EE778B3}" srcOrd="4" destOrd="0" presId="urn:microsoft.com/office/officeart/2024/layout/BulletTimeline"/>
    <dgm:cxn modelId="{BE8907EB-961D-40D8-8D6C-83F3B0B5DA00}" type="presParOf" srcId="{FB8FB069-12B1-4DB4-B570-37D08EE778B3}" destId="{C4C02278-E220-4FBD-855E-0DF2F10CCF66}" srcOrd="0" destOrd="0" presId="urn:microsoft.com/office/officeart/2024/layout/BulletTimeline"/>
    <dgm:cxn modelId="{6119D414-75CD-4377-8A5E-E21B8F2AB681}" type="presParOf" srcId="{4D5A1FCF-CDDF-42C9-AF5A-B2FF09C853DA}" destId="{1788517C-25D7-47C6-B3BD-B927F816FCEE}" srcOrd="5" destOrd="0" presId="urn:microsoft.com/office/officeart/2024/layout/BulletTimeline"/>
    <dgm:cxn modelId="{D20DAC69-B41B-4705-82C1-61907024970B}" type="presParOf" srcId="{8BCD4CEA-F8AE-402A-8370-DAF7A40978CB}" destId="{438118D3-EC88-47B2-9E9A-CD113CBB5C45}" srcOrd="1" destOrd="0" presId="urn:microsoft.com/office/officeart/2024/layout/BulletTimeline"/>
    <dgm:cxn modelId="{8D8392C8-7DEC-4761-B70E-75C209A087F2}" type="presParOf" srcId="{8BCD4CEA-F8AE-402A-8370-DAF7A40978CB}" destId="{1CF11BED-DCD4-49A7-B265-F96F988B3F4E}" srcOrd="2" destOrd="0" presId="urn:microsoft.com/office/officeart/2024/layout/BulletTimeline"/>
    <dgm:cxn modelId="{A776FB3C-D609-4F3D-BD5B-25BC4A7C5735}" type="presParOf" srcId="{1CF11BED-DCD4-49A7-B265-F96F988B3F4E}" destId="{809EAC89-9EC7-4B91-A366-7F9FA5033ECD}" srcOrd="0" destOrd="0" presId="urn:microsoft.com/office/officeart/2024/layout/BulletTimeline"/>
    <dgm:cxn modelId="{B1621209-F762-48BA-A839-7B99D251D6D8}" type="presParOf" srcId="{809EAC89-9EC7-4B91-A366-7F9FA5033ECD}" destId="{06F6D6D1-D764-4094-BD4F-332CA54639B6}" srcOrd="0" destOrd="0" presId="urn:microsoft.com/office/officeart/2024/layout/BulletTimeline"/>
    <dgm:cxn modelId="{D9B4E23C-18CF-4270-9E77-8346CF98C20D}" type="presParOf" srcId="{809EAC89-9EC7-4B91-A366-7F9FA5033ECD}" destId="{F386FB37-AD21-4F90-8954-C96B36002A74}" srcOrd="1" destOrd="0" presId="urn:microsoft.com/office/officeart/2024/layout/BulletTimeline"/>
    <dgm:cxn modelId="{3001CDFE-60F5-4EFE-A0EC-0781F9FE61C7}" type="presParOf" srcId="{1CF11BED-DCD4-49A7-B265-F96F988B3F4E}" destId="{BECC8C6F-DF8A-46A2-BA04-AE7433B0C267}" srcOrd="1" destOrd="0" presId="urn:microsoft.com/office/officeart/2024/layout/BulletTimeline"/>
    <dgm:cxn modelId="{89412444-6952-4B64-AAEF-1C6E3E74B822}" type="presParOf" srcId="{1CF11BED-DCD4-49A7-B265-F96F988B3F4E}" destId="{E5B5CF21-0F70-4050-B091-FA55635B596F}" srcOrd="2" destOrd="0" presId="urn:microsoft.com/office/officeart/2024/layout/BulletTimeline"/>
    <dgm:cxn modelId="{32EF0C72-1B79-4DA1-8FD0-E40878A0330F}" type="presParOf" srcId="{1CF11BED-DCD4-49A7-B265-F96F988B3F4E}" destId="{4D3F6014-EB4A-48B9-8969-85BBA4C951DA}" srcOrd="3" destOrd="0" presId="urn:microsoft.com/office/officeart/2024/layout/BulletTimeline"/>
    <dgm:cxn modelId="{FD6FBFF3-79E9-4890-8284-EF3606E8E92C}" type="presParOf" srcId="{1CF11BED-DCD4-49A7-B265-F96F988B3F4E}" destId="{A0AAD04F-7F54-48D5-AFFA-8B8459C3EBC4}" srcOrd="4" destOrd="0" presId="urn:microsoft.com/office/officeart/2024/layout/BulletTimeline"/>
    <dgm:cxn modelId="{50D5729C-C9F0-4B7F-B8F3-361F5249DA74}" type="presParOf" srcId="{A0AAD04F-7F54-48D5-AFFA-8B8459C3EBC4}" destId="{F5429E44-2794-433B-A8C6-CD014DDC2CF4}" srcOrd="0" destOrd="0" presId="urn:microsoft.com/office/officeart/2024/layout/BulletTimeline"/>
    <dgm:cxn modelId="{714E6490-DBEB-4307-978D-1FFE85F9CFA3}" type="presParOf" srcId="{1CF11BED-DCD4-49A7-B265-F96F988B3F4E}" destId="{D2F42AD3-2282-42F8-BCD9-CD7DB432469F}" srcOrd="5" destOrd="0" presId="urn:microsoft.com/office/officeart/2024/layout/BulletTimeline"/>
    <dgm:cxn modelId="{762C5B15-2A0C-4DDC-AC15-4DBEEADE38D9}" type="presParOf" srcId="{8BCD4CEA-F8AE-402A-8370-DAF7A40978CB}" destId="{7B893C76-A8A0-4EC8-8ACF-214BEA7BF0F4}" srcOrd="3" destOrd="0" presId="urn:microsoft.com/office/officeart/2024/layout/BulletTimeline"/>
    <dgm:cxn modelId="{A346B5A1-629C-436F-86CD-E274A8F1F29A}" type="presParOf" srcId="{8BCD4CEA-F8AE-402A-8370-DAF7A40978CB}" destId="{DE062809-D9DD-422D-B59D-3784FD4AADF4}" srcOrd="4" destOrd="0" presId="urn:microsoft.com/office/officeart/2024/layout/BulletTimeline"/>
    <dgm:cxn modelId="{C3E4DAB9-35C2-4142-88A8-E6C203109900}" type="presParOf" srcId="{DE062809-D9DD-422D-B59D-3784FD4AADF4}" destId="{6328653D-0AC9-48F6-8D29-6A6505D4CE47}" srcOrd="0" destOrd="0" presId="urn:microsoft.com/office/officeart/2024/layout/BulletTimeline"/>
    <dgm:cxn modelId="{43036B0C-D8FC-40F1-8EDD-81F172C21C7A}" type="presParOf" srcId="{6328653D-0AC9-48F6-8D29-6A6505D4CE47}" destId="{62798D8B-5C02-459D-A0FC-30FCCC10A24E}" srcOrd="0" destOrd="0" presId="urn:microsoft.com/office/officeart/2024/layout/BulletTimeline"/>
    <dgm:cxn modelId="{2F15EF59-1D3E-412D-8385-07F81C2780CA}" type="presParOf" srcId="{6328653D-0AC9-48F6-8D29-6A6505D4CE47}" destId="{AD362275-ED6F-4A07-869D-593CE93F62FA}" srcOrd="1" destOrd="0" presId="urn:microsoft.com/office/officeart/2024/layout/BulletTimeline"/>
    <dgm:cxn modelId="{98B36E35-661A-4933-B13B-3749D30C76EE}" type="presParOf" srcId="{DE062809-D9DD-422D-B59D-3784FD4AADF4}" destId="{6EA06BA1-0B22-4940-8CF3-05BCE33F82AE}" srcOrd="1" destOrd="0" presId="urn:microsoft.com/office/officeart/2024/layout/BulletTimeline"/>
    <dgm:cxn modelId="{FDFD5C60-DC40-451D-87B5-A1EDA04A5609}" type="presParOf" srcId="{DE062809-D9DD-422D-B59D-3784FD4AADF4}" destId="{257F5F98-985A-4ECA-989A-5CD9EC667F9C}" srcOrd="2" destOrd="0" presId="urn:microsoft.com/office/officeart/2024/layout/BulletTimeline"/>
    <dgm:cxn modelId="{0EABA552-753A-4B6F-8B6A-C295FE0C6592}" type="presParOf" srcId="{DE062809-D9DD-422D-B59D-3784FD4AADF4}" destId="{A8098DB4-F493-4752-93B9-E10FAAD88B01}" srcOrd="3" destOrd="0" presId="urn:microsoft.com/office/officeart/2024/layout/BulletTimeline"/>
    <dgm:cxn modelId="{BDBE1BE7-0977-4F70-8F4B-9D8BA0F2F476}" type="presParOf" srcId="{DE062809-D9DD-422D-B59D-3784FD4AADF4}" destId="{6954ABEE-539B-4FA4-8A3B-1C4CD7CA94D5}" srcOrd="4" destOrd="0" presId="urn:microsoft.com/office/officeart/2024/layout/BulletTimeline"/>
    <dgm:cxn modelId="{5DAE5817-B766-45FD-A5B7-AFA23C4F4C28}" type="presParOf" srcId="{6954ABEE-539B-4FA4-8A3B-1C4CD7CA94D5}" destId="{1D153DC4-9535-419A-AAD7-0E1ACD065A79}" srcOrd="0" destOrd="0" presId="urn:microsoft.com/office/officeart/2024/layout/BulletTimeline"/>
    <dgm:cxn modelId="{02790C0B-0D00-49F4-BF8F-C1CD74675F7B}" type="presParOf" srcId="{DE062809-D9DD-422D-B59D-3784FD4AADF4}" destId="{CF3E954F-8EA6-4787-B654-4357CA47CC59}" srcOrd="5" destOrd="0" presId="urn:microsoft.com/office/officeart/2024/layout/BulletTimeline"/>
    <dgm:cxn modelId="{5D66C406-741C-4FC3-9701-4989C6CE0F2F}" type="presParOf" srcId="{8BCD4CEA-F8AE-402A-8370-DAF7A40978CB}" destId="{66E0A25E-1991-4D6F-9120-5402E9AC113C}" srcOrd="5" destOrd="0" presId="urn:microsoft.com/office/officeart/2024/layout/BulletTimeline"/>
    <dgm:cxn modelId="{8D56E2E1-8B78-46DB-ADBF-EFE6728F2F8C}" type="presParOf" srcId="{8BCD4CEA-F8AE-402A-8370-DAF7A40978CB}" destId="{CDECE92C-906C-4647-9559-2EA50A758B49}" srcOrd="6" destOrd="0" presId="urn:microsoft.com/office/officeart/2024/layout/BulletTimeline"/>
    <dgm:cxn modelId="{780DD2E2-87C3-475C-8832-276B5CE1371A}" type="presParOf" srcId="{CDECE92C-906C-4647-9559-2EA50A758B49}" destId="{2F646FF4-574F-4D42-B176-747E86AA0141}" srcOrd="0" destOrd="0" presId="urn:microsoft.com/office/officeart/2024/layout/BulletTimeline"/>
    <dgm:cxn modelId="{B7C39A37-9996-4C8A-A4ED-F5B34C9C006C}" type="presParOf" srcId="{2F646FF4-574F-4D42-B176-747E86AA0141}" destId="{096E4C52-B4D0-4166-8963-9E9E7541FEC3}" srcOrd="0" destOrd="0" presId="urn:microsoft.com/office/officeart/2024/layout/BulletTimeline"/>
    <dgm:cxn modelId="{602AFAC5-5EF1-4D84-9001-4D1FB9684523}" type="presParOf" srcId="{2F646FF4-574F-4D42-B176-747E86AA0141}" destId="{E1079C5C-E874-4D89-B547-649ED31FEB22}" srcOrd="1" destOrd="0" presId="urn:microsoft.com/office/officeart/2024/layout/BulletTimeline"/>
    <dgm:cxn modelId="{9CF68C0F-F063-4490-A776-26B7BB80EA26}" type="presParOf" srcId="{CDECE92C-906C-4647-9559-2EA50A758B49}" destId="{DB9F70A5-0294-46CC-9AFC-DC1FB259292B}" srcOrd="1" destOrd="0" presId="urn:microsoft.com/office/officeart/2024/layout/BulletTimeline"/>
    <dgm:cxn modelId="{EFC4F584-30C2-45A6-A176-1E587EB0D237}" type="presParOf" srcId="{CDECE92C-906C-4647-9559-2EA50A758B49}" destId="{5F533469-EA89-4CC4-B714-35E2E6AF8850}" srcOrd="2" destOrd="0" presId="urn:microsoft.com/office/officeart/2024/layout/BulletTimeline"/>
    <dgm:cxn modelId="{D6F6E396-4AA2-4557-9A3E-155197E847FC}" type="presParOf" srcId="{CDECE92C-906C-4647-9559-2EA50A758B49}" destId="{D520C184-15C8-4C95-A0CA-D71941C1C11F}" srcOrd="3" destOrd="0" presId="urn:microsoft.com/office/officeart/2024/layout/BulletTimeline"/>
    <dgm:cxn modelId="{C4B84F1A-5165-41DB-B955-967AC525561E}" type="presParOf" srcId="{CDECE92C-906C-4647-9559-2EA50A758B49}" destId="{B9295F29-9D66-4C46-915B-74C6EED04153}" srcOrd="4" destOrd="0" presId="urn:microsoft.com/office/officeart/2024/layout/BulletTimeline"/>
    <dgm:cxn modelId="{B40D9E4E-5149-4FF9-8D2B-D7C7207C6C09}" type="presParOf" srcId="{B9295F29-9D66-4C46-915B-74C6EED04153}" destId="{60DE78FF-DA58-4A20-9C28-E7F169E6E10A}" srcOrd="0" destOrd="0" presId="urn:microsoft.com/office/officeart/2024/layout/BulletTimeline"/>
    <dgm:cxn modelId="{F7599C74-8992-480A-BA72-56448D7FDDAF}" type="presParOf" srcId="{CDECE92C-906C-4647-9559-2EA50A758B49}" destId="{FA313219-C066-4FDA-B41D-D16724343197}" srcOrd="5" destOrd="0" presId="urn:microsoft.com/office/officeart/2024/layout/BulletTimeline"/>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p>
        <a:p>
          <a:pPr algn="l">
            <a:buFont typeface="Arial" panose="020B0604020202020204" pitchFamily="34" charset="0"/>
            <a:buChar char="•"/>
          </a:pPr>
          <a:r>
            <a:rPr lang="en-US" sz="1800" b="0" i="0"/>
            <a:t>- Existing utility expertise </a:t>
          </a:r>
        </a:p>
        <a:p>
          <a:pPr algn="l"/>
          <a:r>
            <a:rPr lang="en-US" sz="1800" b="0" i="0"/>
            <a:t>- Established contractor network </a:t>
          </a:r>
        </a:p>
        <a:p>
          <a:pPr algn="l"/>
          <a:r>
            <a:rPr lang="en-US" sz="1800" b="0" i="0"/>
            <a:t>- Proven customer engagement </a:t>
          </a:r>
        </a:p>
        <a:p>
          <a:pPr algn="l"/>
          <a:r>
            <a:rPr lang="en-US" sz="1800" b="0" i="0"/>
            <a:t>- Minimal new infrastructure</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7B751335-941B-4F14-98C3-0A87E6578193}" type="presOf" srcId="{0F31FB71-9799-448E-9BF2-101CA04F4FAD}" destId="{FEC0AA9B-5D03-4F81-AD7F-572D00FA9EA9}" srcOrd="0" destOrd="0" presId="urn:microsoft.com/office/officeart/2005/8/layout/matrix1"/>
    <dgm:cxn modelId="{68328137-11ED-4CA0-85A8-38A2DEB15404}" type="presOf" srcId="{97C2E1FC-B64D-459B-93DE-177F9745D912}" destId="{875BDCF6-7B33-4626-B395-126961013AFC}" srcOrd="1" destOrd="0" presId="urn:microsoft.com/office/officeart/2005/8/layout/matrix1"/>
    <dgm:cxn modelId="{9ACED167-EC2C-4EC4-96A5-445852C8234D}" type="presOf" srcId="{A57EBB6D-D543-44DF-BDF5-1C08C9EB31EB}" destId="{C1A07BBF-19DB-47F4-9F21-3C0561070890}" srcOrd="0" destOrd="0" presId="urn:microsoft.com/office/officeart/2005/8/layout/matrix1"/>
    <dgm:cxn modelId="{B8332C76-C3E9-4A5A-A8C6-5C9D6EE8FD63}" type="presOf" srcId="{00076127-CDAD-4238-9685-A707C77462D1}" destId="{F0217417-7472-463C-831C-1C5DF6C2E09B}" srcOrd="0" destOrd="0" presId="urn:microsoft.com/office/officeart/2005/8/layout/matrix1"/>
    <dgm:cxn modelId="{F9039357-A120-458B-829D-0D57EC1DEDF7}" type="presOf" srcId="{A57EBB6D-D543-44DF-BDF5-1C08C9EB31EB}" destId="{5917CBDD-A583-4693-AB9B-106C5A766EEA}" srcOrd="1"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5567189F-B45A-47EF-AD25-588BD3D6F154}" type="presOf" srcId="{97C2E1FC-B64D-459B-93DE-177F9745D912}" destId="{112ECAE4-7AC8-4FA3-8B8F-551C4FD20EFF}" srcOrd="0" destOrd="0" presId="urn:microsoft.com/office/officeart/2005/8/layout/matrix1"/>
    <dgm:cxn modelId="{9F57A0A4-F171-4A68-AAD9-13750A560685}" type="presOf" srcId="{00076127-CDAD-4238-9685-A707C77462D1}" destId="{B5B8AC5F-E43F-4CC0-988F-21512A2D9A02}" srcOrd="1" destOrd="0" presId="urn:microsoft.com/office/officeart/2005/8/layout/matrix1"/>
    <dgm:cxn modelId="{8459E7AE-FB3E-40A6-B5CF-8ED99CCD2018}" type="presOf" srcId="{5E1BBE66-22D8-480D-9DF9-D5528F07122D}" destId="{A0F27E1B-455B-4D7E-AD7B-40CBDA5C618A}" srcOrd="0" destOrd="0" presId="urn:microsoft.com/office/officeart/2005/8/layout/matrix1"/>
    <dgm:cxn modelId="{CF31FCB1-72FB-4E21-8ECB-5AE18B3EEABC}" type="presOf" srcId="{E9BE064B-2F49-4A8C-8A36-698DABD07017}" destId="{5C165AFF-2126-4842-86A3-BA0B41072E73}" srcOrd="0" destOrd="0" presId="urn:microsoft.com/office/officeart/2005/8/layout/matrix1"/>
    <dgm:cxn modelId="{0F330BB3-4EBA-4592-B0CF-71F3732458F4}" type="presOf" srcId="{5E1BBE66-22D8-480D-9DF9-D5528F07122D}" destId="{D8126E92-42E9-42FB-8F6D-202410B15B26}" srcOrd="1"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8CA25DDF-AC7A-49DC-96D6-F93E0035E15E}" type="presParOf" srcId="{FEC0AA9B-5D03-4F81-AD7F-572D00FA9EA9}" destId="{B625AA73-A0A1-45A7-BDFC-EBB7FEDDF9BB}" srcOrd="0" destOrd="0" presId="urn:microsoft.com/office/officeart/2005/8/layout/matrix1"/>
    <dgm:cxn modelId="{712A6E86-27C1-4323-93B6-FD756B961EE3}" type="presParOf" srcId="{B625AA73-A0A1-45A7-BDFC-EBB7FEDDF9BB}" destId="{A0F27E1B-455B-4D7E-AD7B-40CBDA5C618A}" srcOrd="0" destOrd="0" presId="urn:microsoft.com/office/officeart/2005/8/layout/matrix1"/>
    <dgm:cxn modelId="{9E212B7F-D86A-48AB-9E32-F70A59AB80E4}" type="presParOf" srcId="{B625AA73-A0A1-45A7-BDFC-EBB7FEDDF9BB}" destId="{D8126E92-42E9-42FB-8F6D-202410B15B26}" srcOrd="1" destOrd="0" presId="urn:microsoft.com/office/officeart/2005/8/layout/matrix1"/>
    <dgm:cxn modelId="{14164CF2-1489-4D96-89CA-D57E0550BB1B}" type="presParOf" srcId="{B625AA73-A0A1-45A7-BDFC-EBB7FEDDF9BB}" destId="{C1A07BBF-19DB-47F4-9F21-3C0561070890}" srcOrd="2" destOrd="0" presId="urn:microsoft.com/office/officeart/2005/8/layout/matrix1"/>
    <dgm:cxn modelId="{586300A3-9BCA-445F-8845-D3587448367C}" type="presParOf" srcId="{B625AA73-A0A1-45A7-BDFC-EBB7FEDDF9BB}" destId="{5917CBDD-A583-4693-AB9B-106C5A766EEA}" srcOrd="3" destOrd="0" presId="urn:microsoft.com/office/officeart/2005/8/layout/matrix1"/>
    <dgm:cxn modelId="{E2BDC62B-5513-4A27-A114-84255E235432}" type="presParOf" srcId="{B625AA73-A0A1-45A7-BDFC-EBB7FEDDF9BB}" destId="{112ECAE4-7AC8-4FA3-8B8F-551C4FD20EFF}" srcOrd="4" destOrd="0" presId="urn:microsoft.com/office/officeart/2005/8/layout/matrix1"/>
    <dgm:cxn modelId="{5CFFEB03-40BC-4715-9F4D-2737AFBECA8C}" type="presParOf" srcId="{B625AA73-A0A1-45A7-BDFC-EBB7FEDDF9BB}" destId="{875BDCF6-7B33-4626-B395-126961013AFC}" srcOrd="5" destOrd="0" presId="urn:microsoft.com/office/officeart/2005/8/layout/matrix1"/>
    <dgm:cxn modelId="{A8530272-69A1-43A1-A8C6-6FE287EF4C65}" type="presParOf" srcId="{B625AA73-A0A1-45A7-BDFC-EBB7FEDDF9BB}" destId="{F0217417-7472-463C-831C-1C5DF6C2E09B}" srcOrd="6" destOrd="0" presId="urn:microsoft.com/office/officeart/2005/8/layout/matrix1"/>
    <dgm:cxn modelId="{5EB3829A-E6C1-4A32-84E0-7F0B63F0D047}" type="presParOf" srcId="{B625AA73-A0A1-45A7-BDFC-EBB7FEDDF9BB}" destId="{B5B8AC5F-E43F-4CC0-988F-21512A2D9A02}" srcOrd="7" destOrd="0" presId="urn:microsoft.com/office/officeart/2005/8/layout/matrix1"/>
    <dgm:cxn modelId="{4B92C567-6B19-4E5D-B431-0BB2903417D1}"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D867FD-E662-438A-9FB0-2FE1DC683C3E}">
      <dsp:nvSpPr>
        <dsp:cNvPr id="0" name=""/>
        <dsp:cNvSpPr/>
      </dsp:nvSpPr>
      <dsp:spPr>
        <a:xfrm rot="16200000">
          <a:off x="-600521" y="601860"/>
          <a:ext cx="4686300" cy="3482578"/>
        </a:xfrm>
        <a:prstGeom prst="flowChartManualOperation">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solidFill>
                <a:schemeClr val="bg1"/>
              </a:solidFill>
              <a:latin typeface="Aptos Display" panose="02110004020202020204"/>
            </a:rPr>
            <a:t>Overview:</a:t>
          </a:r>
          <a:endParaRPr lang="en-US" sz="36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Identify high-potential utility markets where APTIM can serve as Program Administrator </a:t>
          </a:r>
          <a:endParaRPr lang="en-US" sz="2000" kern="1200">
            <a:solidFill>
              <a:schemeClr val="bg1"/>
            </a:solidFill>
          </a:endParaRPr>
        </a:p>
      </dsp:txBody>
      <dsp:txXfrm rot="5400000">
        <a:off x="1340" y="937259"/>
        <a:ext cx="3482578" cy="2811780"/>
      </dsp:txXfrm>
    </dsp:sp>
    <dsp:sp modelId="{052EA765-2E25-4FD1-B7ED-4AE22A54983F}">
      <dsp:nvSpPr>
        <dsp:cNvPr id="0" name=""/>
        <dsp:cNvSpPr/>
      </dsp:nvSpPr>
      <dsp:spPr>
        <a:xfrm rot="16200000">
          <a:off x="3143250" y="601860"/>
          <a:ext cx="4686300" cy="3482578"/>
        </a:xfrm>
        <a:prstGeom prst="flowChartManualOperation">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3200" tIns="0" rIns="203200" bIns="0" numCol="1" spcCol="1270" anchor="t" anchorCtr="0">
          <a:noAutofit/>
        </a:bodyPr>
        <a:lstStyle/>
        <a:p>
          <a:pPr marL="0" lvl="0" indent="0" algn="l" defTabSz="1422400" rtl="0">
            <a:lnSpc>
              <a:spcPct val="90000"/>
            </a:lnSpc>
            <a:spcBef>
              <a:spcPct val="0"/>
            </a:spcBef>
            <a:spcAft>
              <a:spcPct val="35000"/>
            </a:spcAft>
            <a:buNone/>
          </a:pPr>
          <a:r>
            <a:rPr lang="en-US" sz="3200" kern="1200">
              <a:solidFill>
                <a:schemeClr val="bg1"/>
              </a:solidFill>
              <a:latin typeface="Aptos Display" panose="02110004020202020204"/>
            </a:rPr>
            <a:t>Benchmark: California</a:t>
          </a:r>
          <a:endParaRPr lang="en-US" sz="3200" kern="1200">
            <a:solidFill>
              <a:schemeClr val="bg1"/>
            </a:solidFill>
          </a:endParaRPr>
        </a:p>
        <a:p>
          <a:pPr marL="228600" lvl="1" indent="-228600" algn="l" defTabSz="889000" rtl="0">
            <a:lnSpc>
              <a:spcPct val="90000"/>
            </a:lnSpc>
            <a:spcBef>
              <a:spcPct val="0"/>
            </a:spcBef>
            <a:spcAft>
              <a:spcPct val="15000"/>
            </a:spcAft>
            <a:buChar char="•"/>
          </a:pPr>
          <a:r>
            <a:rPr lang="en-US" sz="2000" kern="1200">
              <a:solidFill>
                <a:schemeClr val="bg1"/>
              </a:solidFill>
              <a:latin typeface="Aptos Display" panose="02110004020202020204"/>
            </a:rPr>
            <a:t>Mature solar + storage market and established utility </a:t>
          </a:r>
          <a:r>
            <a:rPr lang="en-US" sz="2000" kern="1200">
              <a:solidFill>
                <a:schemeClr val="bg1"/>
              </a:solidFill>
              <a:latin typeface="Aptos Display"/>
              <a:ea typeface="Calibri"/>
              <a:cs typeface="Calibri"/>
            </a:rPr>
            <a:t>programs </a:t>
          </a:r>
        </a:p>
      </dsp:txBody>
      <dsp:txXfrm rot="5400000">
        <a:off x="3745111" y="937259"/>
        <a:ext cx="3482578" cy="2811780"/>
      </dsp:txXfrm>
    </dsp:sp>
    <dsp:sp modelId="{9069B7CA-D9F5-465E-A07F-BA247150F6E9}">
      <dsp:nvSpPr>
        <dsp:cNvPr id="0" name=""/>
        <dsp:cNvSpPr/>
      </dsp:nvSpPr>
      <dsp:spPr>
        <a:xfrm rot="16200000">
          <a:off x="6887021" y="601860"/>
          <a:ext cx="4686300" cy="3482578"/>
        </a:xfrm>
        <a:prstGeom prst="flowChartManualOperation">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t" anchorCtr="0">
          <a:noAutofit/>
        </a:bodyPr>
        <a:lstStyle/>
        <a:p>
          <a:pPr marL="0" lvl="0" indent="0" algn="l" defTabSz="1600200" rtl="0">
            <a:lnSpc>
              <a:spcPct val="90000"/>
            </a:lnSpc>
            <a:spcBef>
              <a:spcPct val="0"/>
            </a:spcBef>
            <a:spcAft>
              <a:spcPct val="35000"/>
            </a:spcAft>
            <a:buNone/>
          </a:pPr>
          <a:r>
            <a:rPr lang="en-US" sz="3600" kern="1200">
              <a:latin typeface="Aptos Display" panose="02110004020202020204"/>
            </a:rPr>
            <a:t>States Selected for Analysis </a:t>
          </a:r>
          <a:endParaRPr lang="en-US" sz="3600" kern="1200"/>
        </a:p>
        <a:p>
          <a:pPr marL="228600" lvl="1" indent="-228600" algn="l" defTabSz="889000" rtl="0">
            <a:lnSpc>
              <a:spcPct val="90000"/>
            </a:lnSpc>
            <a:spcBef>
              <a:spcPct val="0"/>
            </a:spcBef>
            <a:spcAft>
              <a:spcPct val="15000"/>
            </a:spcAft>
            <a:buChar char="•"/>
          </a:pPr>
          <a:r>
            <a:rPr lang="en-US" sz="2000" kern="1200">
              <a:latin typeface="Aptos Display" panose="02110004020202020204"/>
            </a:rPr>
            <a:t>North Carolina</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Michigan</a:t>
          </a:r>
          <a:endParaRPr lang="en-US" sz="2000" kern="1200"/>
        </a:p>
        <a:p>
          <a:pPr marL="228600" lvl="1" indent="-228600" algn="l" defTabSz="889000">
            <a:lnSpc>
              <a:spcPct val="90000"/>
            </a:lnSpc>
            <a:spcBef>
              <a:spcPct val="0"/>
            </a:spcBef>
            <a:spcAft>
              <a:spcPct val="15000"/>
            </a:spcAft>
            <a:buChar char="•"/>
          </a:pPr>
          <a:r>
            <a:rPr lang="en-US" sz="2000" kern="1200">
              <a:latin typeface="Aptos Display" panose="02110004020202020204"/>
            </a:rPr>
            <a:t>Wisconsin</a:t>
          </a:r>
        </a:p>
      </dsp:txBody>
      <dsp:txXfrm rot="5400000">
        <a:off x="7488882" y="937259"/>
        <a:ext cx="3482578" cy="28117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67F81D-80C0-4020-A73F-08B4994D349A}">
      <dsp:nvSpPr>
        <dsp:cNvPr id="0" name=""/>
        <dsp:cNvSpPr/>
      </dsp:nvSpPr>
      <dsp:spPr>
        <a:xfrm>
          <a:off x="0" y="43414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rtl="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Duke, NC Electric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Duke Energy Carolinas, Duke Energy Progress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Duke Energy</a:t>
          </a:r>
          <a:endParaRPr lang="en-US" sz="1600" kern="1200"/>
        </a:p>
      </dsp:txBody>
      <dsp:txXfrm>
        <a:off x="0" y="434147"/>
        <a:ext cx="5544457" cy="1209600"/>
      </dsp:txXfrm>
    </dsp:sp>
    <dsp:sp modelId="{4DAE4B56-9870-48BA-8F8C-44924084F921}">
      <dsp:nvSpPr>
        <dsp:cNvPr id="0" name=""/>
        <dsp:cNvSpPr/>
      </dsp:nvSpPr>
      <dsp:spPr>
        <a:xfrm>
          <a:off x="277222" y="19798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latin typeface="Calibri"/>
              <a:ea typeface="Calibri"/>
              <a:cs typeface="Calibri"/>
            </a:rPr>
            <a:t>North Carolina</a:t>
          </a:r>
          <a:endParaRPr lang="en-US" sz="1600" kern="1200"/>
        </a:p>
      </dsp:txBody>
      <dsp:txXfrm>
        <a:off x="300279" y="221044"/>
        <a:ext cx="3835005" cy="426206"/>
      </dsp:txXfrm>
    </dsp:sp>
    <dsp:sp modelId="{24227075-829F-461A-A3AB-BAE980BD845A}">
      <dsp:nvSpPr>
        <dsp:cNvPr id="0" name=""/>
        <dsp:cNvSpPr/>
      </dsp:nvSpPr>
      <dsp:spPr>
        <a:xfrm>
          <a:off x="0" y="196630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 </a:t>
          </a:r>
          <a:r>
            <a:rPr lang="en-US" sz="1600" kern="1200">
              <a:solidFill>
                <a:srgbClr val="444444"/>
              </a:solidFill>
              <a:latin typeface="Calibri"/>
              <a:ea typeface="Calibri"/>
              <a:cs typeface="Calibri"/>
            </a:rPr>
            <a:t>– DTE, Consumers, Co-ops, Municipals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DTE Energy, Consumers Energy</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a:t>
          </a:r>
          <a:r>
            <a:rPr lang="en-US" sz="1600" kern="1200">
              <a:solidFill>
                <a:srgbClr val="444444"/>
              </a:solidFill>
              <a:latin typeface="Calibri"/>
              <a:ea typeface="Calibri"/>
              <a:cs typeface="Calibri"/>
            </a:rPr>
            <a:t> – DTE Energy, Consumers Energy</a:t>
          </a:r>
          <a:endParaRPr lang="en-US" sz="1600" kern="1200"/>
        </a:p>
      </dsp:txBody>
      <dsp:txXfrm>
        <a:off x="0" y="1966307"/>
        <a:ext cx="5544457" cy="1209600"/>
      </dsp:txXfrm>
    </dsp:sp>
    <dsp:sp modelId="{9B5BF6AE-95D7-4413-A144-ACC3607C8840}">
      <dsp:nvSpPr>
        <dsp:cNvPr id="0" name=""/>
        <dsp:cNvSpPr/>
      </dsp:nvSpPr>
      <dsp:spPr>
        <a:xfrm>
          <a:off x="277222" y="173014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Michigan</a:t>
          </a:r>
        </a:p>
      </dsp:txBody>
      <dsp:txXfrm>
        <a:off x="300279" y="1753204"/>
        <a:ext cx="3835005" cy="426206"/>
      </dsp:txXfrm>
    </dsp:sp>
    <dsp:sp modelId="{ED375B58-C693-4A3C-AB64-D5B3CA2FD5FC}">
      <dsp:nvSpPr>
        <dsp:cNvPr id="0" name=""/>
        <dsp:cNvSpPr/>
      </dsp:nvSpPr>
      <dsp:spPr>
        <a:xfrm>
          <a:off x="0" y="3498467"/>
          <a:ext cx="5544457" cy="12096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0311" tIns="333248" rIns="430311" bIns="113792" numCol="1" spcCol="1270" anchor="t" anchorCtr="0">
          <a:noAutofit/>
        </a:bodyPr>
        <a:lstStyle/>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TAM</a:t>
          </a:r>
          <a:r>
            <a:rPr lang="en-US" sz="1600" kern="1200">
              <a:solidFill>
                <a:srgbClr val="444444"/>
              </a:solidFill>
              <a:latin typeface="Calibri"/>
              <a:ea typeface="Calibri"/>
              <a:cs typeface="Calibri"/>
            </a:rPr>
            <a:t> – WE Energies, Alliant, MGE, Co-ops</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SAM</a:t>
          </a:r>
          <a:r>
            <a:rPr lang="en-US" sz="1600" kern="1200">
              <a:solidFill>
                <a:srgbClr val="444444"/>
              </a:solidFill>
              <a:latin typeface="Calibri"/>
              <a:ea typeface="Calibri"/>
              <a:cs typeface="Calibri"/>
            </a:rPr>
            <a:t> – WE Energies, Alliant Energy, MGE</a:t>
          </a:r>
        </a:p>
        <a:p>
          <a:pPr marL="171450" lvl="1" indent="-171450" algn="l" defTabSz="711200">
            <a:lnSpc>
              <a:spcPct val="90000"/>
            </a:lnSpc>
            <a:spcBef>
              <a:spcPct val="0"/>
            </a:spcBef>
            <a:spcAft>
              <a:spcPct val="15000"/>
            </a:spcAft>
            <a:buChar char="•"/>
          </a:pPr>
          <a:r>
            <a:rPr lang="en-US" sz="1600" b="1" kern="1200">
              <a:solidFill>
                <a:srgbClr val="444444"/>
              </a:solidFill>
              <a:latin typeface="Calibri"/>
              <a:ea typeface="Calibri"/>
              <a:cs typeface="Calibri"/>
            </a:rPr>
            <a:t>SOM </a:t>
          </a:r>
          <a:r>
            <a:rPr lang="en-US" sz="1600" kern="1200">
              <a:solidFill>
                <a:srgbClr val="444444"/>
              </a:solidFill>
              <a:latin typeface="Calibri"/>
              <a:ea typeface="Calibri"/>
              <a:cs typeface="Calibri"/>
            </a:rPr>
            <a:t>– WE Energies</a:t>
          </a:r>
          <a:endParaRPr lang="en-US" sz="1600" kern="1200"/>
        </a:p>
      </dsp:txBody>
      <dsp:txXfrm>
        <a:off x="0" y="3498467"/>
        <a:ext cx="5544457" cy="1209600"/>
      </dsp:txXfrm>
    </dsp:sp>
    <dsp:sp modelId="{72025782-1FE6-4CA4-A362-5400037DDCE9}">
      <dsp:nvSpPr>
        <dsp:cNvPr id="0" name=""/>
        <dsp:cNvSpPr/>
      </dsp:nvSpPr>
      <dsp:spPr>
        <a:xfrm>
          <a:off x="277222" y="3262307"/>
          <a:ext cx="3881119"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697" tIns="0" rIns="146697" bIns="0" numCol="1" spcCol="1270" anchor="ctr" anchorCtr="0">
          <a:noAutofit/>
        </a:bodyPr>
        <a:lstStyle/>
        <a:p>
          <a:pPr marL="0" lvl="0" indent="0" algn="l" defTabSz="711200" rtl="0">
            <a:lnSpc>
              <a:spcPct val="90000"/>
            </a:lnSpc>
            <a:spcBef>
              <a:spcPct val="0"/>
            </a:spcBef>
            <a:spcAft>
              <a:spcPct val="35000"/>
            </a:spcAft>
            <a:buNone/>
          </a:pPr>
          <a:r>
            <a:rPr lang="en-US" sz="1600" kern="1200">
              <a:solidFill>
                <a:schemeClr val="bg1"/>
              </a:solidFill>
              <a:latin typeface="Calibri"/>
              <a:ea typeface="Calibri"/>
              <a:cs typeface="Calibri"/>
            </a:rPr>
            <a:t>Wisconsin</a:t>
          </a:r>
        </a:p>
      </dsp:txBody>
      <dsp:txXfrm>
        <a:off x="300279" y="3285364"/>
        <a:ext cx="3835005" cy="42620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703DAF2-FF60-4E3E-ADB6-F804A2D9B249}">
      <dsp:nvSpPr>
        <dsp:cNvPr id="0" name=""/>
        <dsp:cNvSpPr/>
      </dsp:nvSpPr>
      <dsp:spPr>
        <a:xfrm>
          <a:off x="0" y="690448"/>
          <a:ext cx="5384800" cy="3365500"/>
        </a:xfrm>
        <a:prstGeom prst="swooshArrow">
          <a:avLst>
            <a:gd name="adj1" fmla="val 25000"/>
            <a:gd name="adj2" fmla="val 25000"/>
          </a:avLst>
        </a:prstGeom>
        <a:solidFill>
          <a:schemeClr val="accent2">
            <a:tint val="5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E23258-0A05-4BB2-B859-4CDB7024C889}">
      <dsp:nvSpPr>
        <dsp:cNvPr id="0" name=""/>
        <dsp:cNvSpPr/>
      </dsp:nvSpPr>
      <dsp:spPr>
        <a:xfrm>
          <a:off x="530402" y="3193034"/>
          <a:ext cx="123850" cy="123850"/>
        </a:xfrm>
        <a:prstGeom prst="ellipse">
          <a:avLst/>
        </a:prstGeom>
        <a:solidFill>
          <a:schemeClr val="accent2">
            <a:shade val="5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B05707-0AE7-494A-A167-757B326A11C2}">
      <dsp:nvSpPr>
        <dsp:cNvPr id="0" name=""/>
        <dsp:cNvSpPr/>
      </dsp:nvSpPr>
      <dsp:spPr>
        <a:xfrm>
          <a:off x="592328" y="3254960"/>
          <a:ext cx="920800" cy="800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5626"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10+ Utilities</a:t>
          </a:r>
          <a:endParaRPr lang="en-US" sz="1600" kern="1200"/>
        </a:p>
      </dsp:txBody>
      <dsp:txXfrm>
        <a:off x="592328" y="3254960"/>
        <a:ext cx="920800" cy="800989"/>
      </dsp:txXfrm>
    </dsp:sp>
    <dsp:sp modelId="{73C992D8-43B5-401C-A0FD-212F76F0BE5E}">
      <dsp:nvSpPr>
        <dsp:cNvPr id="0" name=""/>
        <dsp:cNvSpPr/>
      </dsp:nvSpPr>
      <dsp:spPr>
        <a:xfrm>
          <a:off x="1405432" y="2410219"/>
          <a:ext cx="215392" cy="215392"/>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2A587FA-13B5-416E-9993-304CC3B87622}">
      <dsp:nvSpPr>
        <dsp:cNvPr id="0" name=""/>
        <dsp:cNvSpPr/>
      </dsp:nvSpPr>
      <dsp:spPr>
        <a:xfrm>
          <a:off x="1513128" y="2517915"/>
          <a:ext cx="1130808" cy="153803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4132"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6-8 Utilities</a:t>
          </a:r>
          <a:endParaRPr lang="en-US" sz="1600" kern="1200"/>
        </a:p>
      </dsp:txBody>
      <dsp:txXfrm>
        <a:off x="1513128" y="2517915"/>
        <a:ext cx="1130808" cy="1538033"/>
      </dsp:txXfrm>
    </dsp:sp>
    <dsp:sp modelId="{443FE27B-0199-434B-8962-455B12BA0345}">
      <dsp:nvSpPr>
        <dsp:cNvPr id="0" name=""/>
        <dsp:cNvSpPr/>
      </dsp:nvSpPr>
      <dsp:spPr>
        <a:xfrm>
          <a:off x="2522778" y="1833372"/>
          <a:ext cx="285394" cy="285394"/>
        </a:xfrm>
        <a:prstGeom prst="ellipse">
          <a:avLst/>
        </a:prstGeom>
        <a:solidFill>
          <a:schemeClr val="accent2">
            <a:shade val="50000"/>
            <a:hueOff val="-880881"/>
            <a:satOff val="0"/>
            <a:lumOff val="51601"/>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1B91D04-1560-4F35-A47B-E635003B791A}">
      <dsp:nvSpPr>
        <dsp:cNvPr id="0" name=""/>
        <dsp:cNvSpPr/>
      </dsp:nvSpPr>
      <dsp:spPr>
        <a:xfrm>
          <a:off x="2665476" y="1976069"/>
          <a:ext cx="1130808" cy="207987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1225"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4-5 Utilities</a:t>
          </a:r>
          <a:endParaRPr lang="en-US" sz="1600" kern="1200"/>
        </a:p>
      </dsp:txBody>
      <dsp:txXfrm>
        <a:off x="2665476" y="1976069"/>
        <a:ext cx="1130808" cy="2079879"/>
      </dsp:txXfrm>
    </dsp:sp>
    <dsp:sp modelId="{7BE31338-26E9-444C-AE17-77239B7974C2}">
      <dsp:nvSpPr>
        <dsp:cNvPr id="0" name=""/>
        <dsp:cNvSpPr/>
      </dsp:nvSpPr>
      <dsp:spPr>
        <a:xfrm>
          <a:off x="3739743" y="1451725"/>
          <a:ext cx="382320" cy="382320"/>
        </a:xfrm>
        <a:prstGeom prst="ellipse">
          <a:avLst/>
        </a:prstGeom>
        <a:solidFill>
          <a:schemeClr val="accent2">
            <a:shade val="50000"/>
            <a:hueOff val="-440441"/>
            <a:satOff val="0"/>
            <a:lumOff val="2580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A8B5903-876A-49CA-827D-45AC436DA15C}">
      <dsp:nvSpPr>
        <dsp:cNvPr id="0" name=""/>
        <dsp:cNvSpPr/>
      </dsp:nvSpPr>
      <dsp:spPr>
        <a:xfrm>
          <a:off x="3930904" y="1642885"/>
          <a:ext cx="1130808" cy="241306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584" tIns="0" rIns="0" bIns="0" numCol="1" spcCol="1270" anchor="t" anchorCtr="0">
          <a:noAutofit/>
        </a:bodyPr>
        <a:lstStyle/>
        <a:p>
          <a:pPr marL="0" lvl="0" indent="0" algn="l" defTabSz="711200" rtl="0">
            <a:lnSpc>
              <a:spcPct val="90000"/>
            </a:lnSpc>
            <a:spcBef>
              <a:spcPct val="0"/>
            </a:spcBef>
            <a:spcAft>
              <a:spcPct val="35000"/>
            </a:spcAft>
            <a:buNone/>
          </a:pPr>
          <a:r>
            <a:rPr lang="en-US" sz="1600" kern="1200">
              <a:latin typeface="Aptos Display" panose="02110004020202020204"/>
            </a:rPr>
            <a:t>2 Utility wins in the next 3 years</a:t>
          </a:r>
        </a:p>
      </dsp:txBody>
      <dsp:txXfrm>
        <a:off x="3930904" y="1642885"/>
        <a:ext cx="1130808" cy="241306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endParaRPr lang="en-US" sz="1800" b="1" kern="1200">
            <a:latin typeface="Arial" panose="020B0604020202020204" pitchFamily="34" charset="0"/>
            <a:cs typeface="Arial" panose="020B0604020202020204" pitchFamily="34" charset="0"/>
          </a:endParaRPr>
        </a:p>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Leverages Existing Capabilities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Existing utility expertise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Established contractor network</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customer engagement</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Expands Into New Markets</a:t>
          </a:r>
          <a:br>
            <a:rPr lang="en-US" sz="1800" b="1" kern="1200">
              <a:latin typeface="Arial" panose="020B0604020202020204" pitchFamily="34" charset="0"/>
              <a:cs typeface="Arial" panose="020B0604020202020204" pitchFamily="34" charset="0"/>
            </a:rPr>
          </a:br>
          <a:r>
            <a:rPr lang="en-US" sz="1800" b="1"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Limited direct competition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Utility battery fleet offering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Differentiated market position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Growing DER opportunity</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Scales Through Existing Relationships </a:t>
          </a:r>
        </a:p>
        <a:p>
          <a:pPr marL="0" lvl="0" indent="0" algn="l"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Strong utility partnerships</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Proven regional presence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Easier pilot deployment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Faster program expansion</a:t>
          </a:r>
          <a:endParaRPr lang="en-US" sz="1400" kern="1200">
            <a:latin typeface="Arial" panose="020B0604020202020204" pitchFamily="34" charset="0"/>
            <a:cs typeface="Arial" panose="020B0604020202020204" pitchFamily="34" charset="0"/>
          </a:endParaRP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100000"/>
            </a:lnSpc>
            <a:spcBef>
              <a:spcPct val="0"/>
            </a:spcBef>
            <a:spcAft>
              <a:spcPct val="35000"/>
            </a:spcAft>
            <a:buNone/>
          </a:pPr>
          <a:r>
            <a:rPr lang="en-US" sz="1800" b="1" kern="1200">
              <a:latin typeface="Arial" panose="020B0604020202020204" pitchFamily="34" charset="0"/>
              <a:cs typeface="Arial" panose="020B0604020202020204" pitchFamily="34" charset="0"/>
            </a:rPr>
            <a:t>Creates Resilient Revenue Streams</a:t>
          </a:r>
        </a:p>
        <a:p>
          <a:pPr marL="0" lvl="0" indent="0" algn="r" defTabSz="800100">
            <a:lnSpc>
              <a:spcPct val="100000"/>
            </a:lnSpc>
            <a:spcBef>
              <a:spcPct val="0"/>
            </a:spcBef>
            <a:spcAft>
              <a:spcPct val="35000"/>
            </a:spcAft>
            <a:buNone/>
          </a:pPr>
          <a:r>
            <a:rPr lang="en-US" sz="1800" b="0" i="0" kern="1200">
              <a:latin typeface="Arial" panose="020B0604020202020204" pitchFamily="34" charset="0"/>
              <a:cs typeface="Arial" panose="020B0604020202020204" pitchFamily="34" charset="0"/>
            </a:rPr>
            <a:t>- Utility-funded model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Reduced grant reliance </a:t>
          </a:r>
          <a:br>
            <a:rPr lang="en-US" sz="1800" b="0" i="0" kern="1200">
              <a:latin typeface="Arial" panose="020B0604020202020204" pitchFamily="34" charset="0"/>
              <a:cs typeface="Arial" panose="020B0604020202020204" pitchFamily="34" charset="0"/>
            </a:rPr>
          </a:br>
          <a:r>
            <a:rPr lang="en-US" sz="1800" b="0" i="0" kern="1200">
              <a:latin typeface="Arial" panose="020B0604020202020204" pitchFamily="34" charset="0"/>
              <a:cs typeface="Arial" panose="020B0604020202020204" pitchFamily="34" charset="0"/>
            </a:rPr>
            <a:t>- More stable revenue </a:t>
          </a:r>
          <a:br>
            <a:rPr lang="en-US" sz="1800" b="0" i="0" kern="1200"/>
          </a:br>
          <a:r>
            <a:rPr lang="en-US" sz="1800" b="0" i="0" kern="1200"/>
            <a:t>- Supports grid resilience</a:t>
          </a: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4310" tIns="194310" rIns="194310" bIns="194310" numCol="1" spcCol="1270" anchor="ctr" anchorCtr="0">
          <a:noAutofit/>
        </a:bodyPr>
        <a:lstStyle/>
        <a:p>
          <a:pPr marL="0" lvl="0" indent="0" algn="ctr" defTabSz="2266950">
            <a:lnSpc>
              <a:spcPct val="100000"/>
            </a:lnSpc>
            <a:spcBef>
              <a:spcPct val="0"/>
            </a:spcBef>
            <a:spcAft>
              <a:spcPct val="35000"/>
            </a:spcAft>
            <a:buNone/>
          </a:pPr>
          <a:r>
            <a:rPr lang="en-US" sz="5100" kern="1200"/>
            <a:t>   </a:t>
          </a:r>
          <a:endParaRPr lang="en-US" sz="5100" kern="1200">
            <a:latin typeface="Arial" panose="020B0604020202020204" pitchFamily="34" charset="0"/>
            <a:cs typeface="Arial" panose="020B0604020202020204" pitchFamily="34" charset="0"/>
          </a:endParaRPr>
        </a:p>
      </dsp:txBody>
      <dsp:txXfrm>
        <a:off x="3198124" y="2040437"/>
        <a:ext cx="2557504" cy="118879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BE43F6-F223-4AF5-8CE2-9157967AD81C}">
      <dsp:nvSpPr>
        <dsp:cNvPr id="0" name=""/>
        <dsp:cNvSpPr/>
      </dsp:nvSpPr>
      <dsp:spPr>
        <a:xfrm>
          <a:off x="0" y="2319718"/>
          <a:ext cx="10928908" cy="46863"/>
        </a:xfrm>
        <a:prstGeom prst="rect">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D92825F4-28E2-4E61-98B0-C657AEDE2D41}">
      <dsp:nvSpPr>
        <dsp:cNvPr id="0" name=""/>
        <dsp:cNvSpPr/>
      </dsp:nvSpPr>
      <dsp:spPr>
        <a:xfrm>
          <a:off x="10691622" y="2155698"/>
          <a:ext cx="281178" cy="374904"/>
        </a:xfrm>
        <a:prstGeom prst="chevron">
          <a:avLst>
            <a:gd name="adj" fmla="val 75000"/>
          </a:avLst>
        </a:prstGeom>
        <a:gradFill rotWithShape="0">
          <a:gsLst>
            <a:gs pos="0">
              <a:schemeClr val="accent1">
                <a:tint val="76000"/>
              </a:schemeClr>
            </a:gs>
            <a:gs pos="100000">
              <a:schemeClr val="accent1">
                <a:tint val="76000"/>
              </a:schemeClr>
            </a:gs>
          </a:gsLst>
          <a:lin ang="0" scaled="0"/>
        </a:gradFill>
        <a:ln>
          <a:noFill/>
        </a:ln>
        <a:effectLst/>
      </dsp:spPr>
      <dsp:style>
        <a:lnRef idx="0">
          <a:scrgbClr r="0" g="0" b="0"/>
        </a:lnRef>
        <a:fillRef idx="1">
          <a:scrgbClr r="0" g="0" b="0"/>
        </a:fillRef>
        <a:effectRef idx="0">
          <a:scrgbClr r="0" g="0" b="0"/>
        </a:effectRef>
        <a:fontRef idx="minor"/>
      </dsp:style>
    </dsp:sp>
    <dsp:sp modelId="{9D5D2A40-12E0-4E69-BB9A-71C366C5F380}">
      <dsp:nvSpPr>
        <dsp:cNvPr id="0" name=""/>
        <dsp:cNvSpPr/>
      </dsp:nvSpPr>
      <dsp:spPr>
        <a:xfrm>
          <a:off x="528052" y="659283"/>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Internal Development</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Finalize business case and service offering</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-Secure APTIM leadership approval</a:t>
          </a:r>
          <a:endParaRPr lang="en-US" sz="1800" kern="1200">
            <a:latin typeface="Arial" panose="020B0604020202020204" pitchFamily="34" charset="0"/>
            <a:cs typeface="Arial" panose="020B0604020202020204" pitchFamily="34" charset="0"/>
          </a:endParaRPr>
        </a:p>
      </dsp:txBody>
      <dsp:txXfrm>
        <a:off x="528052" y="659283"/>
        <a:ext cx="3642080" cy="1087221"/>
      </dsp:txXfrm>
    </dsp:sp>
    <dsp:sp modelId="{7DDB962F-4865-43D6-AB4B-B0A6B340D54A}">
      <dsp:nvSpPr>
        <dsp:cNvPr id="0" name=""/>
        <dsp:cNvSpPr/>
      </dsp:nvSpPr>
      <dsp:spPr>
        <a:xfrm>
          <a:off x="528052" y="96927"/>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2026</a:t>
          </a:r>
        </a:p>
      </dsp:txBody>
      <dsp:txXfrm>
        <a:off x="528052" y="96927"/>
        <a:ext cx="3642080" cy="562356"/>
      </dsp:txXfrm>
    </dsp:sp>
    <dsp:sp modelId="{E50A2BB6-7F55-4F75-B84E-77C96C0AC2FA}">
      <dsp:nvSpPr>
        <dsp:cNvPr id="0" name=""/>
        <dsp:cNvSpPr/>
      </dsp:nvSpPr>
      <dsp:spPr>
        <a:xfrm>
          <a:off x="282517"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CC8C6F-DF8A-46A2-BA04-AE7433B0C267}">
      <dsp:nvSpPr>
        <dsp:cNvPr id="0" name=""/>
        <dsp:cNvSpPr/>
      </dsp:nvSpPr>
      <dsp:spPr>
        <a:xfrm>
          <a:off x="2767785" y="3052268"/>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Ann Arbor Pilot Launch</a:t>
          </a: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Partner with DTE and recruit 500 homes</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Begin installation and fleet deployment</a:t>
          </a:r>
          <a:endParaRPr lang="en-US" sz="1800" kern="1200">
            <a:latin typeface="Arial" panose="020B0604020202020204" pitchFamily="34" charset="0"/>
            <a:cs typeface="Arial" panose="020B0604020202020204" pitchFamily="34" charset="0"/>
          </a:endParaRPr>
        </a:p>
      </dsp:txBody>
      <dsp:txXfrm>
        <a:off x="2767785" y="3052268"/>
        <a:ext cx="3642080" cy="881024"/>
      </dsp:txXfrm>
    </dsp:sp>
    <dsp:sp modelId="{E5B5CF21-0F70-4050-B091-FA55635B596F}">
      <dsp:nvSpPr>
        <dsp:cNvPr id="0" name=""/>
        <dsp:cNvSpPr/>
      </dsp:nvSpPr>
      <dsp:spPr>
        <a:xfrm>
          <a:off x="2767785" y="2471167"/>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a:t>
          </a:r>
        </a:p>
      </dsp:txBody>
      <dsp:txXfrm>
        <a:off x="2767785" y="2471167"/>
        <a:ext cx="3642080" cy="581101"/>
      </dsp:txXfrm>
    </dsp:sp>
    <dsp:sp modelId="{4D3F6014-EB4A-48B9-8969-85BBA4C951DA}">
      <dsp:nvSpPr>
        <dsp:cNvPr id="0" name=""/>
        <dsp:cNvSpPr/>
      </dsp:nvSpPr>
      <dsp:spPr>
        <a:xfrm>
          <a:off x="2476541"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C02278-E220-4FBD-855E-0DF2F10CCF66}">
      <dsp:nvSpPr>
        <dsp:cNvPr id="0" name=""/>
        <dsp:cNvSpPr/>
      </dsp:nvSpPr>
      <dsp:spPr>
        <a:xfrm>
          <a:off x="203787"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429E44-2794-433B-A8C6-CD014DDC2CF4}">
      <dsp:nvSpPr>
        <dsp:cNvPr id="0" name=""/>
        <dsp:cNvSpPr/>
      </dsp:nvSpPr>
      <dsp:spPr>
        <a:xfrm>
          <a:off x="2397811"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EA06BA1-0B22-4940-8CF3-05BCE33F82AE}">
      <dsp:nvSpPr>
        <dsp:cNvPr id="0" name=""/>
        <dsp:cNvSpPr/>
      </dsp:nvSpPr>
      <dsp:spPr>
        <a:xfrm>
          <a:off x="5107019" y="562356"/>
          <a:ext cx="3642080" cy="10872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Pilot Operation and Expansion Planning</a:t>
          </a:r>
        </a:p>
        <a:p>
          <a:pPr marL="0" lvl="0" indent="0" algn="l" defTabSz="800100">
            <a:lnSpc>
              <a:spcPct val="90000"/>
            </a:lnSpc>
            <a:spcBef>
              <a:spcPct val="0"/>
            </a:spcBef>
            <a:spcAft>
              <a:spcPct val="35000"/>
            </a:spcAft>
            <a:buNone/>
          </a:pPr>
          <a:r>
            <a:rPr lang="en-US" sz="180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Monitor performance and customer participation</a:t>
          </a:r>
          <a:endParaRPr lang="en-US" sz="180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Build expansion case using pilot results</a:t>
          </a:r>
          <a:endParaRPr lang="en-US" sz="1800" kern="1200">
            <a:latin typeface="Arial" panose="020B0604020202020204" pitchFamily="34" charset="0"/>
            <a:cs typeface="Arial" panose="020B0604020202020204" pitchFamily="34" charset="0"/>
          </a:endParaRPr>
        </a:p>
      </dsp:txBody>
      <dsp:txXfrm>
        <a:off x="5107019" y="562356"/>
        <a:ext cx="3642080" cy="1087221"/>
      </dsp:txXfrm>
    </dsp:sp>
    <dsp:sp modelId="{257F5F98-985A-4ECA-989A-5CD9EC667F9C}">
      <dsp:nvSpPr>
        <dsp:cNvPr id="0" name=""/>
        <dsp:cNvSpPr/>
      </dsp:nvSpPr>
      <dsp:spPr>
        <a:xfrm>
          <a:off x="5107019" y="0"/>
          <a:ext cx="3642080" cy="56235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2027-2030</a:t>
          </a:r>
        </a:p>
      </dsp:txBody>
      <dsp:txXfrm>
        <a:off x="5107019" y="0"/>
        <a:ext cx="3642080" cy="562356"/>
      </dsp:txXfrm>
    </dsp:sp>
    <dsp:sp modelId="{A8098DB4-F493-4752-93B9-E10FAAD88B01}">
      <dsp:nvSpPr>
        <dsp:cNvPr id="0" name=""/>
        <dsp:cNvSpPr/>
      </dsp:nvSpPr>
      <dsp:spPr>
        <a:xfrm>
          <a:off x="4670565" y="468629"/>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B9F70A5-0294-46CC-9AFC-DC1FB259292B}">
      <dsp:nvSpPr>
        <dsp:cNvPr id="0" name=""/>
        <dsp:cNvSpPr/>
      </dsp:nvSpPr>
      <dsp:spPr>
        <a:xfrm>
          <a:off x="7188138" y="3024834"/>
          <a:ext cx="3642080" cy="8810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889000">
            <a:lnSpc>
              <a:spcPct val="90000"/>
            </a:lnSpc>
            <a:spcBef>
              <a:spcPct val="0"/>
            </a:spcBef>
            <a:spcAft>
              <a:spcPct val="35000"/>
            </a:spcAft>
            <a:buNone/>
          </a:pPr>
          <a:r>
            <a:rPr lang="en-US" sz="2000" b="1" kern="1200">
              <a:latin typeface="Arial" panose="020B0604020202020204" pitchFamily="34" charset="0"/>
              <a:cs typeface="Arial" panose="020B0604020202020204" pitchFamily="34" charset="0"/>
            </a:rPr>
            <a:t>Regional Expansion</a:t>
          </a:r>
        </a:p>
        <a:p>
          <a:pPr marL="0" lvl="0" indent="0" algn="l" defTabSz="800100">
            <a:lnSpc>
              <a:spcPct val="90000"/>
            </a:lnSpc>
            <a:spcBef>
              <a:spcPct val="0"/>
            </a:spcBef>
            <a:spcAft>
              <a:spcPct val="35000"/>
            </a:spcAft>
            <a:buNone/>
          </a:pPr>
          <a:r>
            <a:rPr lang="en-US" sz="1800" b="0" kern="1200">
              <a:latin typeface="Arial" panose="020B0604020202020204" pitchFamily="34" charset="0"/>
              <a:cs typeface="Arial" panose="020B0604020202020204" pitchFamily="34" charset="0"/>
            </a:rPr>
            <a:t>- </a:t>
          </a:r>
          <a:r>
            <a:rPr lang="en-US" sz="1800" b="0" i="0" kern="1200">
              <a:latin typeface="Arial" panose="020B0604020202020204" pitchFamily="34" charset="0"/>
              <a:cs typeface="Arial" panose="020B0604020202020204" pitchFamily="34" charset="0"/>
            </a:rPr>
            <a:t>Expand across additional DTE territories</a:t>
          </a:r>
          <a:endParaRPr lang="en-US" sz="1800" b="0" kern="1200">
            <a:latin typeface="Arial" panose="020B0604020202020204" pitchFamily="34" charset="0"/>
            <a:cs typeface="Arial" panose="020B0604020202020204" pitchFamily="34" charset="0"/>
          </a:endParaRPr>
        </a:p>
        <a:p>
          <a:pPr marL="0" lvl="0" indent="0" algn="l" defTabSz="800100">
            <a:lnSpc>
              <a:spcPct val="90000"/>
            </a:lnSpc>
            <a:spcBef>
              <a:spcPct val="0"/>
            </a:spcBef>
            <a:spcAft>
              <a:spcPct val="35000"/>
            </a:spcAft>
            <a:buNone/>
          </a:pPr>
          <a:r>
            <a:rPr lang="en-US" sz="1800" b="0" i="0" kern="1200">
              <a:latin typeface="Arial" panose="020B0604020202020204" pitchFamily="34" charset="0"/>
              <a:cs typeface="Arial" panose="020B0604020202020204" pitchFamily="34" charset="0"/>
            </a:rPr>
            <a:t>- Replicate model in WI, LA, and NC</a:t>
          </a:r>
          <a:endParaRPr lang="en-US" sz="1800" b="0" kern="1200">
            <a:latin typeface="Arial" panose="020B0604020202020204" pitchFamily="34" charset="0"/>
            <a:cs typeface="Arial" panose="020B0604020202020204" pitchFamily="34" charset="0"/>
          </a:endParaRPr>
        </a:p>
      </dsp:txBody>
      <dsp:txXfrm>
        <a:off x="7188138" y="3024834"/>
        <a:ext cx="3642080" cy="881024"/>
      </dsp:txXfrm>
    </dsp:sp>
    <dsp:sp modelId="{5F533469-EA89-4CC4-B714-35E2E6AF8850}">
      <dsp:nvSpPr>
        <dsp:cNvPr id="0" name=""/>
        <dsp:cNvSpPr/>
      </dsp:nvSpPr>
      <dsp:spPr>
        <a:xfrm>
          <a:off x="7188138" y="2443733"/>
          <a:ext cx="3642080" cy="58110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889000">
            <a:lnSpc>
              <a:spcPct val="90000"/>
            </a:lnSpc>
            <a:spcBef>
              <a:spcPct val="0"/>
            </a:spcBef>
            <a:spcAft>
              <a:spcPct val="35000"/>
            </a:spcAft>
            <a:buNone/>
            <a:defRPr b="1"/>
          </a:pPr>
          <a:r>
            <a:rPr lang="en-US" sz="2000" kern="1200">
              <a:latin typeface="Arial" panose="020B0604020202020204" pitchFamily="34" charset="0"/>
              <a:cs typeface="Arial" panose="020B0604020202020204" pitchFamily="34" charset="0"/>
            </a:rPr>
            <a:t>2030+</a:t>
          </a:r>
        </a:p>
      </dsp:txBody>
      <dsp:txXfrm>
        <a:off x="7188138" y="2443733"/>
        <a:ext cx="3642080" cy="581101"/>
      </dsp:txXfrm>
    </dsp:sp>
    <dsp:sp modelId="{D520C184-15C8-4C95-A0CA-D71941C1C11F}">
      <dsp:nvSpPr>
        <dsp:cNvPr id="0" name=""/>
        <dsp:cNvSpPr/>
      </dsp:nvSpPr>
      <dsp:spPr>
        <a:xfrm>
          <a:off x="6864590" y="2343150"/>
          <a:ext cx="37490" cy="1874520"/>
        </a:xfrm>
        <a:prstGeom prst="rect">
          <a:avLst/>
        </a:prstGeom>
        <a:solidFill>
          <a:schemeClr val="accent1">
            <a:shade val="8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D153DC4-9535-419A-AAD7-0E1ACD065A79}">
      <dsp:nvSpPr>
        <dsp:cNvPr id="0" name=""/>
        <dsp:cNvSpPr/>
      </dsp:nvSpPr>
      <dsp:spPr>
        <a:xfrm>
          <a:off x="4591836"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0DE78FF-DA58-4A20-9C28-E7F169E6E10A}">
      <dsp:nvSpPr>
        <dsp:cNvPr id="0" name=""/>
        <dsp:cNvSpPr/>
      </dsp:nvSpPr>
      <dsp:spPr>
        <a:xfrm>
          <a:off x="6785860" y="2245674"/>
          <a:ext cx="194950" cy="194950"/>
        </a:xfrm>
        <a:prstGeom prst="ellips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21020" y="-921020"/>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p>
        <a:p>
          <a:pPr marL="0" lvl="0" indent="0" algn="l" defTabSz="800100">
            <a:lnSpc>
              <a:spcPct val="90000"/>
            </a:lnSpc>
            <a:spcBef>
              <a:spcPct val="0"/>
            </a:spcBef>
            <a:spcAft>
              <a:spcPct val="35000"/>
            </a:spcAft>
            <a:buFont typeface="Arial" panose="020B0604020202020204" pitchFamily="34" charset="0"/>
            <a:buNone/>
          </a:pPr>
          <a:r>
            <a:rPr lang="en-US" sz="1800" b="0" i="0" kern="1200"/>
            <a:t>- Existing utility expertise </a:t>
          </a:r>
        </a:p>
        <a:p>
          <a:pPr marL="0" lvl="0" indent="0" algn="l" defTabSz="800100">
            <a:lnSpc>
              <a:spcPct val="90000"/>
            </a:lnSpc>
            <a:spcBef>
              <a:spcPct val="0"/>
            </a:spcBef>
            <a:spcAft>
              <a:spcPct val="35000"/>
            </a:spcAft>
            <a:buNone/>
          </a:pPr>
          <a:r>
            <a:rPr lang="en-US" sz="1800" b="0" i="0" kern="1200"/>
            <a:t>- Established contractor network </a:t>
          </a:r>
        </a:p>
        <a:p>
          <a:pPr marL="0" lvl="0" indent="0" algn="l" defTabSz="800100">
            <a:lnSpc>
              <a:spcPct val="90000"/>
            </a:lnSpc>
            <a:spcBef>
              <a:spcPct val="0"/>
            </a:spcBef>
            <a:spcAft>
              <a:spcPct val="35000"/>
            </a:spcAft>
            <a:buNone/>
          </a:pPr>
          <a:r>
            <a:rPr lang="en-US" sz="1800" b="0" i="0" kern="1200"/>
            <a:t>- Proven customer engagement </a:t>
          </a:r>
        </a:p>
        <a:p>
          <a:pPr marL="0" lvl="0" indent="0" algn="l" defTabSz="800100">
            <a:lnSpc>
              <a:spcPct val="90000"/>
            </a:lnSpc>
            <a:spcBef>
              <a:spcPct val="0"/>
            </a:spcBef>
            <a:spcAft>
              <a:spcPct val="35000"/>
            </a:spcAft>
            <a:buNone/>
          </a:pPr>
          <a:r>
            <a:rPr lang="en-US" sz="1800" b="0" i="0" kern="1200"/>
            <a:t>- Minimal new infrastructure</a:t>
          </a:r>
        </a:p>
      </dsp:txBody>
      <dsp:txXfrm rot="5400000">
        <a:off x="0" y="0"/>
        <a:ext cx="4476877" cy="1976126"/>
      </dsp:txXfrm>
    </dsp:sp>
    <dsp:sp modelId="{C1A07BBF-19DB-47F4-9F21-3C0561070890}">
      <dsp:nvSpPr>
        <dsp:cNvPr id="0" name=""/>
        <dsp:cNvSpPr/>
      </dsp:nvSpPr>
      <dsp:spPr>
        <a:xfrm>
          <a:off x="4476877" y="0"/>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476877" y="0"/>
        <a:ext cx="4476877" cy="1976126"/>
      </dsp:txXfrm>
    </dsp:sp>
    <dsp:sp modelId="{112ECAE4-7AC8-4FA3-8B8F-551C4FD20EFF}">
      <dsp:nvSpPr>
        <dsp:cNvPr id="0" name=""/>
        <dsp:cNvSpPr/>
      </dsp:nvSpPr>
      <dsp:spPr>
        <a:xfrm rot="10800000">
          <a:off x="0" y="2634835"/>
          <a:ext cx="4476877" cy="2634835"/>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293544"/>
        <a:ext cx="4476877" cy="1976126"/>
      </dsp:txXfrm>
    </dsp:sp>
    <dsp:sp modelId="{F0217417-7472-463C-831C-1C5DF6C2E09B}">
      <dsp:nvSpPr>
        <dsp:cNvPr id="0" name=""/>
        <dsp:cNvSpPr/>
      </dsp:nvSpPr>
      <dsp:spPr>
        <a:xfrm rot="5400000">
          <a:off x="5397897" y="1713814"/>
          <a:ext cx="2634835" cy="4476877"/>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476877" y="3293544"/>
        <a:ext cx="4476877" cy="1976126"/>
      </dsp:txXfrm>
    </dsp:sp>
    <dsp:sp modelId="{5C165AFF-2126-4842-86A3-BA0B41072E73}">
      <dsp:nvSpPr>
        <dsp:cNvPr id="0" name=""/>
        <dsp:cNvSpPr/>
      </dsp:nvSpPr>
      <dsp:spPr>
        <a:xfrm>
          <a:off x="3133813" y="1976126"/>
          <a:ext cx="2686126" cy="131741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05740" tIns="205740" rIns="205740" bIns="205740" numCol="1" spcCol="1270" anchor="ctr" anchorCtr="0">
          <a:noAutofit/>
        </a:bodyPr>
        <a:lstStyle/>
        <a:p>
          <a:pPr marL="0" lvl="0" indent="0" algn="ctr" defTabSz="2400300">
            <a:lnSpc>
              <a:spcPct val="90000"/>
            </a:lnSpc>
            <a:spcBef>
              <a:spcPct val="0"/>
            </a:spcBef>
            <a:spcAft>
              <a:spcPct val="35000"/>
            </a:spcAft>
            <a:buNone/>
          </a:pPr>
          <a:r>
            <a:rPr lang="en-US" sz="5400" kern="1200"/>
            <a:t>   </a:t>
          </a:r>
        </a:p>
      </dsp:txBody>
      <dsp:txXfrm>
        <a:off x="3198124" y="2040437"/>
        <a:ext cx="2557504" cy="1188795"/>
      </dsp:txXfrm>
    </dsp:sp>
  </dsp:spTree>
</dsp:drawing>
</file>

<file path=ppt/diagrams/layout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layout4.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5.xml><?xml version="1.0" encoding="utf-8"?>
<dgm:layoutDef xmlns:dgm="http://schemas.openxmlformats.org/drawingml/2006/diagram" xmlns:a="http://schemas.openxmlformats.org/drawingml/2006/main" uniqueId="urn:microsoft.com/office/officeart/2024/layout/BulletTimeline">
  <dgm:title val=""/>
  <dgm:desc val=""/>
  <dgm:catLst>
    <dgm:cat type="process" pri="7450"/>
    <dgm:cat type="timeline" pri="100"/>
  </dgm:catLst>
  <dgm:sampData>
    <dgm:dataModel>
      <dgm:ptLst>
        <dgm:pt modelId="0" type="doc"/>
        <dgm:pt modelId="10">
          <dgm:prSet phldrT="Add an event" phldr="1"/>
        </dgm:pt>
        <dgm:pt modelId="11">
          <dgm:prSet phldrT="Write a description of the significance of this event" phldr="1"/>
        </dgm:pt>
        <dgm:pt modelId="20">
          <dgm:prSet phldrT="Add an event" phldr="1"/>
        </dgm:pt>
        <dgm:pt modelId="21">
          <dgm:prSet phldrT="Write a description of the significance of this event" phldr="1"/>
        </dgm:pt>
        <dgm:pt modelId="30">
          <dgm:prSet phldrT="Add an event" phldr="1"/>
        </dgm:pt>
        <dgm:pt modelId="31">
          <dgm:prSet phldrT="Write a description of the significance of this event" phldr="1"/>
        </dgm:pt>
        <dgm:pt modelId="40">
          <dgm:prSet phldrT="Add an event" phldr="1"/>
        </dgm:pt>
        <dgm:pt modelId="41">
          <dgm:prSet phldrT="Write a description of the significance of this event" phldr="1"/>
        </dgm:pt>
        <dgm:pt modelId="50">
          <dgm:prSet phldrT="Add an event" phldr="1"/>
        </dgm:pt>
        <dgm:pt modelId="51">
          <dgm:prSet phldrT="Write a description of the significance of this event" phldr="1"/>
        </dgm:pt>
      </dgm:ptLst>
      <dgm:cxnLst>
        <dgm:cxn modelId="100" srcId="0" destId="10" srcOrd="0" destOrd="0"/>
        <dgm:cxn modelId="12" srcId="10" destId="11" srcOrd="0" destOrd="0"/>
        <dgm:cxn modelId="101" srcId="0" destId="20" srcOrd="1" destOrd="0"/>
        <dgm:cxn modelId="22" srcId="20" destId="21" srcOrd="0" destOrd="0"/>
        <dgm:cxn modelId="102" srcId="0" destId="30" srcOrd="2" destOrd="0"/>
        <dgm:cxn modelId="32" srcId="30" destId="31" srcOrd="0" destOrd="0"/>
        <dgm:cxn modelId="103" srcId="0" destId="40" srcOrd="3" destOrd="0"/>
        <dgm:cxn modelId="42" srcId="40" destId="41" srcOrd="0" destOrd="0"/>
        <dgm:cxn modelId="104" srcId="0" destId="50" srcOrd="4" destOrd="0"/>
        <dgm:cxn modelId="52" srcId="50" destId="5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dir/>
      <dgm:animLvl val="lvl"/>
    </dgm:varLst>
    <dgm:alg type="composite"/>
    <dgm:shape xmlns:r="http://schemas.openxmlformats.org/officeDocument/2006/relationships" r:blip="">
      <dgm:adjLst/>
    </dgm:shape>
    <dgm:constrLst>
      <dgm:constr type="w" for="ch" forName="divider" refType="w"/>
      <dgm:constr type="h" for="ch" forName="divider" refType="h" fact="0.1"/>
      <dgm:constr type="ctrY" for="ch" forName="divider" refType="h" fact="0.5"/>
      <dgm:constr type="l" for="ch" forName="divider"/>
      <dgm:constr type="w" for="ch" forName="nodes" refType="w"/>
      <dgm:constr type="h" for="ch" forName="nodes" refType="h" fact="0.8"/>
      <dgm:constr type="ctrY" for="ch" forName="nodes" refType="h" fact="0.5"/>
    </dgm:constrLst>
    <dgm:layoutNode name="divider">
      <dgm:alg type="composite"/>
      <dgm:shape xmlns:r="http://schemas.openxmlformats.org/officeDocument/2006/relationships" r:blip="">
        <dgm:adjLst/>
      </dgm:shape>
      <dgm:presOf/>
      <dgm:choose name="DividerDirection">
        <dgm:if name="DividerLTR" func="var" arg="dir" op="equ" val="norm">
          <dgm:constrLst>
            <dgm:constr type="w" for="ch" forName="rectBar" refType="w" fact="0.996"/>
            <dgm:constr type="h" for="ch" forName="rectBar" refType="h" fact="0.1"/>
            <dgm:constr type="l" for="ch" forName="rectBar"/>
            <dgm:constr type="ctrY" for="ch" forName="rectBar" refType="h" fact="0.5"/>
            <dgm:constr type="w" for="ch" forName="chevronArrow" refType="h" fact="0.6"/>
            <dgm:constr type="h" for="ch" forName="chevronArrow" refType="h" fact="0.8"/>
            <dgm:constr type="r" for="ch" forName="chevronArrow" refType="w"/>
            <dgm:constr type="ctrY" for="ch" forName="chevronArrow" refType="h" fact="0.5"/>
          </dgm:constrLst>
        </dgm:if>
        <dgm:else name="DividerRTL">
          <dgm:constrLst>
            <dgm:constr type="w" for="ch" forName="rectBar" refType="w" fact="0.996"/>
            <dgm:constr type="h" for="ch" forName="rectBar" refType="h" fact="0.1"/>
            <dgm:constr type="r" for="ch" forName="rectBar" refType="w"/>
            <dgm:constr type="ctrY" for="ch" forName="rectBar" refType="h" fact="0.5"/>
            <dgm:constr type="w" for="ch" forName="chevronArrow" refType="h" fact="0.6"/>
            <dgm:constr type="h" for="ch" forName="chevronArrow" refType="h" fact="0.8"/>
            <dgm:constr type="l" for="ch" forName="chevronArrow"/>
            <dgm:constr type="ctrY" for="ch" forName="chevronArrow" refType="h" fact="0.5"/>
          </dgm:constrLst>
        </dgm:else>
      </dgm:choose>
      <dgm:ruleLst/>
      <dgm:layoutNode name="rectBar" styleLbl="dkBgShp">
        <dgm:alg type="sp"/>
        <dgm:shape xmlns:r="http://schemas.openxmlformats.org/officeDocument/2006/relationships" type="rect" r:blip="" zOrderOff="-1">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presOf/>
        <dgm:constrLst/>
        <dgm:ruleLst/>
      </dgm:layoutNode>
      <dgm:layoutNode name="chevronArrow" styleLbl="dkBgShp">
        <dgm:alg type="sp"/>
        <dgm:choose name="ChevronDir">
          <dgm:if name="ChevronLTR" func="var" arg="dir" op="equ" val="norm">
            <dgm:shape xmlns:r="http://schemas.openxmlformats.org/officeDocument/2006/relationships"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if>
          <dgm:else name="ChevronRTL">
            <dgm:shape xmlns:r="http://schemas.openxmlformats.org/officeDocument/2006/relationships" rot="180" type="chevron" r:blip="" zOrderOff="-1">
              <dgm:adjLst>
                <dgm:adj idx="1" val="0.75"/>
              </dgm:adjLst>
              <dgm:extLst>
                <a:ext uri="{B698B0E9-8C71-41B9-8309-B3DCBF30829C}">
                  <dgm1612:spPr xmlns:dgm1612="http://schemas.microsoft.com/office/drawing/2016/12/diagram">
                    <a:gradFill rotWithShape="0">
                      <a:gsLst>
                        <a:gs pos="0">
                          <a:schemeClr val="accent1">
                            <a:tint val="76000"/>
                          </a:schemeClr>
                        </a:gs>
                        <a:gs pos="100000">
                          <a:schemeClr val="accent1">
                            <a:tint val="76000"/>
                          </a:schemeClr>
                        </a:gs>
                      </a:gsLst>
                      <a:lin ang="0" scaled="0"/>
                    </a:gradFill>
                  </dgm1612:spPr>
                </a:ext>
              </dgm:extLst>
            </dgm:shape>
          </dgm:else>
        </dgm:choose>
        <dgm:presOf/>
        <dgm:constrLst/>
        <dgm:ruleLst/>
      </dgm:layoutNode>
    </dgm:layoutNode>
    <dgm:layoutNode name="nodes">
      <dgm:varLst>
        <dgm:chMax/>
        <dgm:chPref/>
        <dgm:animLvl val="lvl"/>
      </dgm:varLst>
      <dgm:choose name="Name1">
        <dgm:if name="Name2" func="var" arg="dir" op="equ" val="norm">
          <dgm:alg type="lin">
            <dgm:param type="fallback" val="1D"/>
          </dgm:alg>
        </dgm:if>
        <dgm:else name="Name3">
          <dgm:alg type="lin">
            <dgm:param type="linDir" val="fromR"/>
            <dgm:param type="fallback" val="1D"/>
          </dgm:alg>
        </dgm:else>
      </dgm:choose>
      <dgm:shape xmlns:r="http://schemas.openxmlformats.org/officeDocument/2006/relationships" r:blip="">
        <dgm:adjLst/>
      </dgm:shape>
      <dgm:constrLst>
        <dgm:constr type="primFontSz" for="des" forName="L1TextContainer" val="20"/>
        <dgm:constr type="primFontSz" for="des" forName="L2TextContainer" refType="primFontSz" refFor="des" refForName="L1TextContainer" op="equ" fact="0.75"/>
        <dgm:constr type="w" for="ch" forName="composite" refType="w"/>
        <dgm:constr type="h" for="ch" forName="composite" refType="h"/>
        <dgm:constr type="w" for="ch" forName="spaceBetweenRectangles" refType="w" refFor="ch" refForName="composite" fact="-0.5"/>
        <dgm:constr type="w" for="ch" ptType="sibTrans" op="equ"/>
        <dgm:constr type="primFontSz" for="des" forName="L1TextContainer" op="equ"/>
        <dgm:constr type="primFontSz" for="des" forName="L2TextContainer" op="equ"/>
        <dgm:constr type="primFontSz" for="des" forName="L1TextContainer1" val="20"/>
        <dgm:constr type="primFontSz" for="des" forName="L2TextContainer1" refType="primFontSz" refFor="des" refForName="L1TextContainer1" op="equ" fact="0.75"/>
        <dgm:constr type="w" for="ch" forName="composite1" refType="w"/>
        <dgm:constr type="h" for="ch" forName="composite1" refType="h"/>
        <dgm:constr type="w" for="ch" forName="spaceBetweenRectangles1" refType="w" refFor="ch" refForName="composite1" fact="0.28"/>
        <dgm:constr type="primFontSz" for="des" forName="L1TextContainer1" op="equ"/>
        <dgm:constr type="primFontSz" for="des" forName="L2TextContainer1" op="equ"/>
      </dgm:constrLst>
      <dgm:choose name="LayoutBasedOnCountOfNodes">
        <dgm:if name="LessThanOrEqualToTwoNodes" axis="ch" ptType="node" func="cnt" op="lte" val="2">
          <dgm:forEach name="nodesForEach1" axis="ch" ptType="node">
            <dgm:layoutNode name="composite1">
              <dgm:alg type="composite"/>
              <dgm:shape xmlns:r="http://schemas.openxmlformats.org/officeDocument/2006/relationships" r:blip="">
                <dgm:adjLst/>
              </dgm:shape>
              <dgm:choose name="CaseForLayoutDirection1">
                <dgm:if name="CaseForLayoutDirectionLTR1" func="var" arg="dir" op="equ" val="norm">
                  <dgm:choose name="CaseForPlacingNodesAboveAndBelowDividerLTR1">
                    <dgm:if name="CaseForPlacingNodeAboveDividerLTR1" axis="self" ptType="node" func="posOdd" op="equ" val="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t" for="ch" forName="DropPinPlaceHolder1" refType="h" fact="0"/>
                        <dgm:constr type="l" for="ch" forName="DropPinPlaceHolder1" refType="w" fact="0"/>
                        <dgm:constr type="w" for="ch" forName="L2TextContainer1" refType="w" fact="0.83"/>
                        <dgm:constr type="l" for="ch" forName="L2TextContainer1" refType="r" refFor="ch" refForName="DropPinPlaceHolder1"/>
                        <dgm:constr type="t" for="ch" forName="L2TextContainer1" refType="h" fact="0.16"/>
                        <dgm:constr type="b" for="ch" forName="L2TextContainer1" refType="h" fact="0.45"/>
                        <dgm:constr type="w" for="ch" forName="L1TextContainer1" refType="w" fact="0.83"/>
                        <dgm:constr type="l" for="ch" forName="L1TextContainer1" refType="r" refFor="ch" refForName="DropPinPlaceHolder1"/>
                        <dgm:constr type="t" for="ch" forName="L1TextContainer1" refType="h" fact="0.01"/>
                        <dgm:constr type="b" for="ch" forName="L1TextContainer1" refType="h" fact="0.16"/>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EmptyPlaceHolder1" refType="w"/>
                        <dgm:constr type="h" for="ch" forName="EmptyPlaceHolder1" refType="h" fact="0.5"/>
                        <dgm:constr type="t" for="ch" forName="EmptyPlaceHolder1" refType="h" fact="0.5"/>
                      </dgm:constrLst>
                    </dgm:if>
                    <dgm:else name="CaseForPlacingNodeBelowDividerLTR1">
                      <dgm:constrLst>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DropPinPlaceHolder1" refType="h" fact="0.16"/>
                        <dgm:constr type="h" for="ch" forName="DropPinPlaceHolder1" refType="h" fact="0.16"/>
                        <dgm:constr type="b" for="ch" forName="DropPinPlaceHolder1" refType="h"/>
                        <dgm:constr type="l" for="ch" forName="DropPinPlaceHolder1" refType="w" fact="0"/>
                        <dgm:constr type="w" for="ch" forName="L1TextContainer1" refType="w" fact="0.83"/>
                        <dgm:constr type="l" for="ch" forName="L1TextContainer1" refType="r" refFor="ch" refForName="DropPinPlaceHolder1"/>
                        <dgm:constr type="b" for="ch" forName="L1TextContainer1" refType="h" fact="0.755"/>
                        <dgm:constr type="t" for="ch" forName="L1TextContainer1" refType="h" fact="0.6"/>
                        <dgm:constr type="w" for="ch" forName="L2TextContainer1" refType="w" fact="0.83"/>
                        <dgm:constr type="l" for="ch" forName="L2TextContainer1" refType="r" refFor="ch" refForName="DropPinPlaceHolder1"/>
                        <dgm:constr type="b" for="ch" forName="L2TextContainer1" refType="h" fact="0.99"/>
                        <dgm:constr type="t" for="ch" forName="L2TextContainer1" refType="h" fact="0.755"/>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EmptyPlaceHolder1" refType="w"/>
                        <dgm:constr type="h" for="ch" forName="EmptyPlaceHolder1" refType="h" fact="0.5"/>
                        <dgm:constr type="t" for="ch" forName="EmptyPlaceHolder1" refType="h" fact="0"/>
                      </dgm:constrLst>
                    </dgm:else>
                  </dgm:choose>
                </dgm:if>
                <dgm:else name="CaseForLayoutDirectionRTL1">
                  <dgm:choose name="CaseForPlacingNodesAboveAndBelowDividerRTL1">
                    <dgm:if name="CaseForPlacingNodeAboveDividerRTL1" axis="self" ptType="node" func="posOdd" op="equ" val="1">
                      <dgm:constrLst>
                        <dgm:constr type="w" for="ch" forName="L1TextContainer1" refType="w" fact="0.83"/>
                        <dgm:constr type="l" for="ch" forName="L1TextContainer1" refType="w" fact="0"/>
                        <dgm:constr type="t" for="ch" forName="L1TextContainer1" refType="h" fact="0.01"/>
                        <dgm:constr type="b" for="ch" forName="L1TextContainer1" refType="h" fact="0.16"/>
                        <dgm:constr type="w" for="ch" forName="L2TextContainer1" refType="w" fact="0.83"/>
                        <dgm:constr type="l" for="ch" forName="L2TextContainer1" refType="w" fact="0"/>
                        <dgm:constr type="t" for="ch" forName="L2TextContainer1" refType="h" fact="0.16"/>
                        <dgm:constr type="b" for="ch" forName="L2TextContainer1" refType="h" fact="0.45"/>
                        <dgm:constr type="w" for="ch" forName="DropPinPlaceHolder1" refType="h" fact="0.16"/>
                        <dgm:constr type="h" for="ch" forName="DropPinPlaceHolder1" refType="h" fact="0.16"/>
                        <dgm:constr type="t" for="ch" forName="DropPinPlaceHolder1" refType="h" fact="0"/>
                        <dgm:constr type="r" for="ch" forName="DropPinPlaceHolder1" refType="w"/>
                        <dgm:constr type="w" for="ch" forName="ConnectLine1" refType="h" fact="0.01"/>
                        <dgm:constr type="ctrX" for="ch" forName="ConnectLine1" refType="ctrX" refFor="ch" refForName="DropPinPlaceHolder1"/>
                        <dgm:constr type="b" for="ch" forName="ConnectLine1" refType="h" fact="0.5"/>
                        <dgm:constr type="t" for="ch" forName="ConnectLine1" refType="b" refFor="ch" refForName="DropPinPlaceHolder1" fact="0"/>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5"/>
                      </dgm:constrLst>
                    </dgm:if>
                    <dgm:else name="CaseForPlacingNodeBelowDividerRTL1">
                      <dgm:constrLst>
                        <dgm:constr type="w" for="ch" forName="L1TextContainer1" refType="w" fact="0.83"/>
                        <dgm:constr type="l" for="ch" forName="L1TextContainer1" refType="w" fact="0"/>
                        <dgm:constr type="b" for="ch" forName="L1TextContainer1" refType="h" fact="0.755"/>
                        <dgm:constr type="t" for="ch" forName="L1TextContainer1" refType="h" fact="0.6"/>
                        <dgm:constr type="w" for="ch" forName="L2TextContainer1" refType="w" fact="0.83"/>
                        <dgm:constr type="l" for="ch" forName="L2TextContainer1" refType="w" fact="0"/>
                        <dgm:constr type="b" for="ch" forName="L2TextContainer1" refType="h" fact="0.99"/>
                        <dgm:constr type="t" for="ch" forName="L2TextContainer1" refType="h" fact="0.755"/>
                        <dgm:constr type="w" for="ch" forName="DropPinPlaceHolder1" refType="h" fact="0.16"/>
                        <dgm:constr type="h" for="ch" forName="DropPinPlaceHolder1" refType="h" fact="0.16"/>
                        <dgm:constr type="b" for="ch" forName="DropPinPlaceHolder1" refType="h"/>
                        <dgm:constr type="r" for="ch" forName="DropPinPlaceHolder1" refType="w"/>
                        <dgm:constr type="w" for="ch" forName="ConnectLine1" refType="h" fact="0.01"/>
                        <dgm:constr type="ctrX" for="ch" forName="ConnectLine1" refType="ctrX" refFor="ch" refForName="DropPinPlaceHolder1"/>
                        <dgm:constr type="t" for="ch" forName="ConnectLine1" refType="h" fact="0.5"/>
                        <dgm:constr type="b" for="ch" forName="ConnectLine1" refType="b" refFor="ch" refForName="DropPinPlaceHolder1"/>
                        <dgm:constr type="w" for="ch" forName="ConnectorPoint1" refType="h" refFor="ch" refForName="DropPinPlaceHolder1" fact="0.325"/>
                        <dgm:constr type="h" for="ch" forName="ConnectorPoint1" refType="h" refFor="ch" refForName="DropPinPlaceHolder1" fact="0.325"/>
                        <dgm:constr type="ctrX" for="ch" forName="ConnectorPoint1" refType="ctrX" refFor="ch" refForName="ConnectLine1"/>
                        <dgm:constr type="ctrY" for="ch" forName="ConnectorPoint1" refType="h" fact="0.5"/>
                        <dgm:constr type="w" for="ch" forName="EmptyPlaceHolder1" refType="w"/>
                        <dgm:constr type="h" for="ch" forName="EmptyPlaceHolder1" refType="h" fact="0.5"/>
                        <dgm:constr type="t" for="ch" forName="EmptyPlaceHolder1" refType="h" fact="0"/>
                      </dgm:constrLst>
                    </dgm:else>
                  </dgm:choose>
                </dgm:else>
              </dgm:choose>
              <dgm:layoutNode name="DropPinPlaceHolder1">
                <dgm:alg type="composite"/>
                <dgm:shape xmlns:r="http://schemas.openxmlformats.org/officeDocument/2006/relationships" r:blip="">
                  <dgm:adjLst/>
                </dgm:shape>
                <dgm:constrLst>
                  <dgm:constr type="w" for="ch" forName="DropPin1" refType="w" fact="0"/>
                  <dgm:constr type="h" for="ch" forName="DropPin1" refType="h" fact="0"/>
                  <dgm:constr type="ctrX" for="ch" forName="DropPin1" refType="w" fact="0"/>
                  <dgm:constr type="ctrY" for="ch" forName="DropPin1" refType="h" fact="0"/>
                  <dgm:constr type="w" for="ch" forName="Ellipse1" refType="w" refFor="ch" refForName="DropPin1" fact="0"/>
                  <dgm:constr type="h" for="ch" forName="Ellipse1" refType="w" refFor="ch" refForName="DropPin1" fact="0"/>
                  <dgm:constr type="ctrX" for="ch" forName="Ellipse1" refType="ctrX" refFor="ch" refForName="DropPin1" fact="0"/>
                  <dgm:constr type="ctrY" for="ch" forName="Ellipse1" refType="ctrY" refFor="ch" refForName="DropPin1" fact="0"/>
                </dgm:constrLst>
                <dgm:layoutNode name="DropPin1" styleLbl="alignNode1">
                  <dgm:alg type="sp"/>
                  <dgm:choose name="CaseForPlacingTearDropAboveAndBelowDivider1">
                    <dgm:if name="CaseForPlacingTearDropAboveDivider1" axis="self" ptType="node" func="posOdd" op="equ" val="1">
                      <dgm:shape xmlns:r="http://schemas.openxmlformats.org/officeDocument/2006/relationships" rot="135" type="teardrop" r:blip="">
                        <dgm:adjLst>
                          <dgm:adj idx="1" val="1.15"/>
                        </dgm:adjLst>
                      </dgm:shape>
                    </dgm:if>
                    <dgm:else name="CaseForPlacingTearDropBelowDivider1">
                      <dgm:shape xmlns:r="http://schemas.openxmlformats.org/officeDocument/2006/relationships" rot="-45" type="teardrop" r:blip="">
                        <dgm:adjLst>
                          <dgm:adj idx="1" val="1.15"/>
                        </dgm:adjLst>
                      </dgm:shape>
                    </dgm:else>
                  </dgm:choose>
                  <dgm:presOf/>
                  <dgm:constrLst/>
                </dgm:layoutNode>
                <dgm:layoutNode name="Ellipse1" styleLbl="fgAcc1" moveWith="DropPin1">
                  <dgm:alg type="sp"/>
                  <dgm:shape xmlns:r="http://schemas.openxmlformats.org/officeDocument/2006/relationships" type="ellipse" r:blip="">
                    <dgm:adjLst/>
                  </dgm:shape>
                  <dgm:presOf/>
                  <dgm:constrLst/>
                </dgm:layoutNode>
              </dgm:layoutNode>
              <dgm:layoutNode name="L2TextContainer1" styleLbl="revTx" moveWith="L1TextContainer">
                <dgm:varLst>
                  <dgm:bulletEnabled val="1"/>
                </dgm:varLst>
                <dgm:choose name="casesForTxtDirLogic1">
                  <dgm:if name="Name771"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1"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1" styleLbl="dkBgShp">
                <dgm:alg type="sp"/>
                <dgm:shape xmlns:r="http://schemas.openxmlformats.org/officeDocument/2006/relationships" type="rect" r:blip="">
                  <dgm:adjLst/>
                </dgm:shape>
                <dgm:presOf/>
                <dgm:constrLst/>
              </dgm:layoutNode>
              <dgm:layoutNode name="ConnectorPoint1" moveWith="ConnectLine1">
                <dgm:alg type="composite"/>
                <dgm:shape xmlns:r="http://schemas.openxmlformats.org/officeDocument/2006/relationships" r:blip="">
                  <dgm:adjLst/>
                </dgm:shape>
                <dgm:presOf/>
                <dgm:constrLst>
                  <dgm:constr type="w" for="ch" forName="Bullet1" refType="w"/>
                  <dgm:constr type="h" for="ch" forName="Bullet1" refType="w"/>
                  <dgm:constr type="ctrX" for="ch" forName="Bullet1" refType="w" fact="0.5"/>
                  <dgm:constr type="ctrY" for="ch" forName="Bullet1" refType="h" fact="0.5"/>
                </dgm:constrLst>
                <dgm:layoutNode name="Bullet1" styleLbl="lnNode1">
                  <dgm:alg type="sp"/>
                  <dgm:shape xmlns:r="http://schemas.openxmlformats.org/officeDocument/2006/relationships" type="ellipse" r:blip="" zOrderOff="10">
                    <dgm:adjLst/>
                  </dgm:shape>
                  <dgm:presOf/>
                  <dgm:constrLst/>
                </dgm:layoutNode>
              </dgm:layoutNode>
              <dgm:layoutNode name="EmptyPlaceHolder1">
                <dgm:alg type="sp"/>
                <dgm:shape xmlns:r="http://schemas.openxmlformats.org/officeDocument/2006/relationships" r:blip="">
                  <dgm:adjLst/>
                </dgm:shape>
                <dgm:presOf/>
                <dgm:constrLst/>
              </dgm:layoutNode>
            </dgm:layoutNode>
            <dgm:forEach name="Name281" axis="followSib" ptType="sibTrans" cnt="1">
              <dgm:layoutNode name="spaceBetweenRectangles1">
                <dgm:alg type="sp"/>
                <dgm:shape xmlns:r="http://schemas.openxmlformats.org/officeDocument/2006/relationships" r:blip="">
                  <dgm:adjLst/>
                </dgm:shape>
                <dgm:presOf/>
                <dgm:constrLst/>
                <dgm:ruleLst/>
              </dgm:layoutNode>
            </dgm:forEach>
          </dgm:forEach>
        </dgm:if>
        <dgm:else name="MoreThanTwoNodes">
          <dgm:forEach name="nodesForEach" axis="ch" ptType="node">
            <dgm:layoutNode name="composite">
              <dgm:alg type="composite"/>
              <dgm:shape xmlns:r="http://schemas.openxmlformats.org/officeDocument/2006/relationships" r:blip="">
                <dgm:adjLst/>
              </dgm:shape>
              <dgm:choose name="CaseForLayoutDirection">
                <dgm:if name="CaseForLayoutDirectionLTR" func="var" arg="dir" op="equ" val="norm">
                  <dgm:choose name="CaseForPlacingNodesAboveAndBelowDividerLTR">
                    <dgm:if name="CaseForPlacingNodeAboveDividerLTR" axis="self" ptType="node" func="posOdd" op="equ" val="1">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t" for="ch" forName="DropPinPlaceHolder" refType="h" fact="0"/>
                        <dgm:constr type="l" for="ch" forName="DropPinPlaceHolder" refType="w" fact="0"/>
                        <dgm:constr type="w" for="ch" forName="L2TextContainer" refType="w" fact="0.83"/>
                        <dgm:constr type="l" for="ch" forName="L2TextContainer" refType="r" refFor="ch" refForName="DropPinPlaceHolder"/>
                        <dgm:constr type="t" for="ch" forName="L2TextContainer" refType="h" fact="0.16"/>
                        <dgm:constr type="b" for="ch" forName="L2TextContainer" refType="h" fact="0.45"/>
                        <dgm:constr type="w" for="ch" forName="L1TextContainer" refType="w" fact="0.83"/>
                        <dgm:constr type="l" for="ch" forName="L1TextContainer" refType="r" refFor="ch" refForName="DropPinPlaceHolder"/>
                        <dgm:constr type="t" for="ch" forName="L1TextContainer" refType="h" fact="0.01"/>
                        <dgm:constr type="b" for="ch" forName="L1TextContainer" refType="h" fact="0.16"/>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EmptyPlaceHolder" refType="w"/>
                        <dgm:constr type="h" for="ch" forName="EmptyPlaceHolder" refType="h" fact="0.5"/>
                        <dgm:constr type="t" for="ch" forName="EmptyPlaceHolder" refType="h" fact="0.5"/>
                      </dgm:constrLst>
                    </dgm:if>
                    <dgm:else name="CaseForPlacingNodeBelowDividerLTR">
                      <dgm:constrLst>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DropPinPlaceHolder" refType="h" fact="0.16"/>
                        <dgm:constr type="h" for="ch" forName="DropPinPlaceHolder" refType="h" fact="0.16"/>
                        <dgm:constr type="b" for="ch" forName="DropPinPlaceHolder" refType="h"/>
                        <dgm:constr type="l" for="ch" forName="DropPinPlaceHolder" refType="w" fact="0"/>
                        <dgm:constr type="w" for="ch" forName="L1TextContainer" refType="w" fact="0.83"/>
                        <dgm:constr type="l" for="ch" forName="L1TextContainer" refType="r" refFor="ch" refForName="DropPinPlaceHolder"/>
                        <dgm:constr type="b" for="ch" forName="L1TextContainer" refType="h" fact="0.755"/>
                        <dgm:constr type="t" for="ch" forName="L1TextContainer" refType="h" fact="0.6"/>
                        <dgm:constr type="w" for="ch" forName="L2TextContainer" refType="w" fact="0.83"/>
                        <dgm:constr type="l" for="ch" forName="L2TextContainer" refType="r" refFor="ch" refForName="DropPinPlaceHolder"/>
                        <dgm:constr type="b" for="ch" forName="L2TextContainer" refType="h" fact="0.99"/>
                        <dgm:constr type="t" for="ch" forName="L2TextContainer" refType="h" fact="0.755"/>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EmptyPlaceHolder" refType="w"/>
                        <dgm:constr type="h" for="ch" forName="EmptyPlaceHolder" refType="h" fact="0.5"/>
                        <dgm:constr type="t" for="ch" forName="EmptyPlaceHolder" refType="h" fact="0"/>
                      </dgm:constrLst>
                    </dgm:else>
                  </dgm:choose>
                </dgm:if>
                <dgm:else name="CaseForLayoutDirectionRTL">
                  <dgm:choose name="CaseForPlacingNodesAboveAndBelowDividerRTL">
                    <dgm:if name="CaseForPlacingNodeAboveDividerRTL" axis="self" ptType="node" func="posOdd" op="equ" val="1">
                      <dgm:constrLst>
                        <dgm:constr type="w" for="ch" forName="L1TextContainer" refType="w" fact="0.83"/>
                        <dgm:constr type="l" for="ch" forName="L1TextContainer" refType="w" fact="0"/>
                        <dgm:constr type="t" for="ch" forName="L1TextContainer" refType="h" fact="0.01"/>
                        <dgm:constr type="b" for="ch" forName="L1TextContainer" refType="h" fact="0.16"/>
                        <dgm:constr type="w" for="ch" forName="L2TextContainer" refType="w" fact="0.83"/>
                        <dgm:constr type="l" for="ch" forName="L2TextContainer" refType="w" fact="0"/>
                        <dgm:constr type="t" for="ch" forName="L2TextContainer" refType="h" fact="0.16"/>
                        <dgm:constr type="b" for="ch" forName="L2TextContainer" refType="h" fact="0.45"/>
                        <dgm:constr type="w" for="ch" forName="DropPinPlaceHolder" refType="h" fact="0.16"/>
                        <dgm:constr type="h" for="ch" forName="DropPinPlaceHolder" refType="h" fact="0.16"/>
                        <dgm:constr type="t" for="ch" forName="DropPinPlaceHolder" refType="h" fact="0"/>
                        <dgm:constr type="r" for="ch" forName="DropPinPlaceHolder" refType="w"/>
                        <dgm:constr type="w" for="ch" forName="ConnectLine" refType="h" fact="0.01"/>
                        <dgm:constr type="ctrX" for="ch" forName="ConnectLine" refType="ctrX" refFor="ch" refForName="DropPinPlaceHolder"/>
                        <dgm:constr type="b" for="ch" forName="ConnectLine" refType="h" fact="0.5"/>
                        <dgm:constr type="t" for="ch" forName="ConnectLine" refType="b" refFor="ch" refForName="DropPinPlaceHolder" fact="0"/>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5"/>
                      </dgm:constrLst>
                    </dgm:if>
                    <dgm:else name="CaseForPlacingNodeBelowDividerRTL">
                      <dgm:constrLst>
                        <dgm:constr type="w" for="ch" forName="L1TextContainer" refType="w" fact="0.83"/>
                        <dgm:constr type="l" for="ch" forName="L1TextContainer" refType="w" fact="0"/>
                        <dgm:constr type="b" for="ch" forName="L1TextContainer" refType="h" fact="0.755"/>
                        <dgm:constr type="t" for="ch" forName="L1TextContainer" refType="h" fact="0.6"/>
                        <dgm:constr type="w" for="ch" forName="L2TextContainer" refType="w" fact="0.83"/>
                        <dgm:constr type="l" for="ch" forName="L2TextContainer" refType="w" fact="0"/>
                        <dgm:constr type="b" for="ch" forName="L2TextContainer" refType="h" fact="0.99"/>
                        <dgm:constr type="t" for="ch" forName="L2TextContainer" refType="h" fact="0.755"/>
                        <dgm:constr type="w" for="ch" forName="DropPinPlaceHolder" refType="h" fact="0.16"/>
                        <dgm:constr type="h" for="ch" forName="DropPinPlaceHolder" refType="h" fact="0.16"/>
                        <dgm:constr type="b" for="ch" forName="DropPinPlaceHolder" refType="h"/>
                        <dgm:constr type="r" for="ch" forName="DropPinPlaceHolder" refType="w"/>
                        <dgm:constr type="w" for="ch" forName="ConnectLine" refType="h" fact="0.01"/>
                        <dgm:constr type="ctrX" for="ch" forName="ConnectLine" refType="ctrX" refFor="ch" refForName="DropPinPlaceHolder"/>
                        <dgm:constr type="t" for="ch" forName="ConnectLine" refType="h" fact="0.5"/>
                        <dgm:constr type="b" for="ch" forName="ConnectLine" refType="b" refFor="ch" refForName="DropPinPlaceHolder"/>
                        <dgm:constr type="w" for="ch" forName="ConnectorPoint" refType="h" refFor="ch" refForName="DropPinPlaceHolder" fact="0.325"/>
                        <dgm:constr type="h" for="ch" forName="ConnectorPoint" refType="h" refFor="ch" refForName="DropPinPlaceHolder" fact="0.325"/>
                        <dgm:constr type="ctrX" for="ch" forName="ConnectorPoint" refType="ctrX" refFor="ch" refForName="ConnectLine"/>
                        <dgm:constr type="ctrY" for="ch" forName="ConnectorPoint" refType="h" fact="0.5"/>
                        <dgm:constr type="w" for="ch" forName="EmptyPlaceHolder" refType="w"/>
                        <dgm:constr type="h" for="ch" forName="EmptyPlaceHolder" refType="h" fact="0.5"/>
                        <dgm:constr type="t" for="ch" forName="EmptyPlaceHolder" refType="h" fact="0"/>
                      </dgm:constrLst>
                    </dgm:else>
                  </dgm:choose>
                </dgm:else>
              </dgm:choose>
              <dgm:layoutNode name="DropPinPlaceHolder">
                <dgm:alg type="composite"/>
                <dgm:shape xmlns:r="http://schemas.openxmlformats.org/officeDocument/2006/relationships" r:blip="">
                  <dgm:adjLst/>
                </dgm:shape>
                <dgm:constrLst>
                  <dgm:constr type="w" for="ch" forName="DropPin" refType="w" fact="0"/>
                  <dgm:constr type="h" for="ch" forName="DropPin" refType="h" fact="0"/>
                  <dgm:constr type="ctrX" for="ch" forName="DropPin" refType="w" fact="0"/>
                  <dgm:constr type="ctrY" for="ch" forName="DropPin" refType="h" fact="0"/>
                  <dgm:constr type="w" for="ch" forName="Ellipse" refType="w" refFor="ch" refForName="DropPin" fact="0"/>
                  <dgm:constr type="h" for="ch" forName="Ellipse" refType="w" refFor="ch" refForName="DropPin" fact="0"/>
                  <dgm:constr type="ctrX" for="ch" forName="Ellipse" refType="ctrX" refFor="ch" refForName="DropPin" fact="0"/>
                  <dgm:constr type="ctrY" for="ch" forName="Ellipse" refType="ctrY" refFor="ch" refForName="DropPin" fact="0"/>
                </dgm:constrLst>
                <dgm:layoutNode name="DropPin" styleLbl="alignNode1">
                  <dgm:alg type="sp"/>
                  <dgm:choose name="CaseForPlacingTearDropAboveAndBelowDivider">
                    <dgm:if name="CaseForPlacingTearDropAboveDivider" axis="self" ptType="node" func="posOdd" op="equ" val="1">
                      <dgm:shape xmlns:r="http://schemas.openxmlformats.org/officeDocument/2006/relationships" rot="135" type="teardrop" r:blip="">
                        <dgm:adjLst>
                          <dgm:adj idx="1" val="1.15"/>
                        </dgm:adjLst>
                      </dgm:shape>
                    </dgm:if>
                    <dgm:else name="CaseForPlacingTearDropBelowDivider">
                      <dgm:shape xmlns:r="http://schemas.openxmlformats.org/officeDocument/2006/relationships" rot="-45" type="teardrop" r:blip="">
                        <dgm:adjLst>
                          <dgm:adj idx="1" val="1.15"/>
                        </dgm:adjLst>
                      </dgm:shape>
                    </dgm:else>
                  </dgm:choose>
                  <dgm:presOf/>
                  <dgm:constrLst/>
                </dgm:layoutNode>
                <dgm:layoutNode name="Ellipse" styleLbl="fgAcc1" moveWith="DropPin">
                  <dgm:alg type="sp"/>
                  <dgm:shape xmlns:r="http://schemas.openxmlformats.org/officeDocument/2006/relationships" type="ellipse" r:blip="">
                    <dgm:adjLst/>
                  </dgm:shape>
                  <dgm:presOf/>
                  <dgm:constrLst/>
                </dgm:layoutNode>
              </dgm:layoutNode>
              <dgm:layoutNode name="L2TextContainer" styleLbl="revTx" moveWith="L1TextContainer">
                <dgm:varLst>
                  <dgm:bulletEnabled val="1"/>
                </dgm:varLst>
                <dgm:choose name="casesForTxtDirLogic">
                  <dgm:if name="Name77" axis="self" ptType="node" func="posOdd" op="equ" val="1">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if>
                  <dgm:else name="Name88">
                    <dgm:alg type="tx">
                      <dgm:param type="txAnchorVert" val="t"/>
                      <dgm:param type="parTxLTRAlign" val="l"/>
                      <dgm:param type="parTxRTLAlign" val="l"/>
                      <dgm:param type="txAnchorVertCh" val="t"/>
                      <dgm:param type="shpTxRTLAlignCh" val="l"/>
                      <dgm:param type="shpTxLTRAlignCh" val="l"/>
                    </dgm:alg>
                    <dgm:constrLst>
                      <dgm:constr type="lMarg"/>
                      <dgm:constr type="rMarg"/>
                      <dgm:constr type="tMarg"/>
                      <dgm:constr type="bMarg"/>
                    </dgm:constrLst>
                  </dgm:else>
                </dgm:choose>
                <dgm:shape xmlns:r="http://schemas.openxmlformats.org/officeDocument/2006/relationships" type="rect" r:blip="">
                  <dgm:adjLst/>
                </dgm:shape>
                <dgm:presOf axis="des" ptType="node"/>
                <dgm:ruleLst>
                  <dgm:rule type="primFontSz" val="5" fact="NaN" max="NaN"/>
                </dgm:ruleLst>
              </dgm:layoutNode>
              <dgm:layoutNode name="L1TextContainer" styleLbl="revTx">
                <dgm:varLst>
                  <dgm:chMax val="1"/>
                  <dgm:chPref val="1"/>
                  <dgm:bulletEnabled val="1"/>
                </dgm:varLst>
                <dgm:alg type="tx">
                  <dgm:param type="txAnchorVert" val="mid"/>
                  <dgm:param type="parTxLTRAlign" val="l"/>
                  <dgm:param type="parTxRTLAlign" val="l"/>
                </dgm:alg>
                <dgm:shape xmlns:r="http://schemas.openxmlformats.org/officeDocument/2006/relationships" type="rect" r:blip="">
                  <dgm:adjLst/>
                </dgm:shape>
                <dgm:presOf axis="self"/>
                <dgm:constrLst>
                  <dgm:constr type="lMarg"/>
                  <dgm:constr type="rMarg"/>
                  <dgm:constr type="tMarg"/>
                  <dgm:constr type="bMarg"/>
                </dgm:constrLst>
                <dgm:ruleLst>
                  <dgm:rule type="primFontSz" val="5" fact="NaN" max="NaN"/>
                </dgm:ruleLst>
              </dgm:layoutNode>
              <dgm:layoutNode name="ConnectLine" styleLbl="dkBgShp">
                <dgm:alg type="sp"/>
                <dgm:shape xmlns:r="http://schemas.openxmlformats.org/officeDocument/2006/relationships" type="rect" r:blip="">
                  <dgm:adjLst/>
                </dgm:shape>
                <dgm:presOf/>
                <dgm:constrLst/>
              </dgm:layoutNode>
              <dgm:layoutNode name="ConnectorPoint" moveWith="ConnectLine">
                <dgm:alg type="composite"/>
                <dgm:shape xmlns:r="http://schemas.openxmlformats.org/officeDocument/2006/relationships" r:blip="">
                  <dgm:adjLst/>
                </dgm:shape>
                <dgm:presOf/>
                <dgm:constrLst>
                  <dgm:constr type="w" for="ch" forName="Bullet" refType="w"/>
                  <dgm:constr type="h" for="ch" forName="Bullet" refType="w"/>
                  <dgm:constr type="ctrX" for="ch" forName="Bullet" refType="w" fact="0.5"/>
                  <dgm:constr type="ctrY" for="ch" forName="Bullet" refType="h" fact="0.5"/>
                </dgm:constrLst>
                <dgm:layoutNode name="Bullet" styleLbl="lnNode1">
                  <dgm:alg type="sp"/>
                  <dgm:shape xmlns:r="http://schemas.openxmlformats.org/officeDocument/2006/relationships" type="ellipse" r:blip="" zOrderOff="10">
                    <dgm:adjLst/>
                  </dgm:shape>
                  <dgm:presOf/>
                  <dgm:constrLst/>
                </dgm:layoutNode>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else>
      </dgm:choose>
    </dgm:layoutNode>
  </dgm:layoutNode>
  <dgm:extLst>
    <a:ext uri="{68A01E43-0DF5-4B5B-8FA6-DAF915123BFB}">
      <dgm1612:lstStyle xmlns:dgm1612="http://schemas.microsoft.com/office/drawing/2016/12/diagram">
        <a:lvl1pPr>
          <a:defRPr b="1"/>
        </a:lvl1pPr>
      </dgm1612:lstStyle>
    </a:ext>
  </dgm:extLst>
</dgm:layoutDef>
</file>

<file path=ppt/diagrams/layout6.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7.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3FAB2-4D9A-F6A1-DFDD-C9B57D2DC2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72A327-1873-DF30-2702-90DEFD8860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737065-8450-A6A0-0499-666852DC66D8}"/>
              </a:ext>
            </a:extLst>
          </p:cNvPr>
          <p:cNvSpPr>
            <a:spLocks noGrp="1"/>
          </p:cNvSpPr>
          <p:nvPr>
            <p:ph type="body" idx="1"/>
          </p:nvPr>
        </p:nvSpPr>
        <p:spPr/>
        <p:txBody>
          <a:bodyPr/>
          <a:lstStyle/>
          <a:p>
            <a:r>
              <a:rPr lang="en-US"/>
              <a:t>To Do:</a:t>
            </a:r>
          </a:p>
          <a:p>
            <a:pPr marL="171450" indent="-171450">
              <a:buFontTx/>
              <a:buChar char="-"/>
            </a:pPr>
            <a:r>
              <a:rPr lang="en-US"/>
              <a:t>Determine Speaker</a:t>
            </a:r>
          </a:p>
          <a:p>
            <a:pPr marL="171450" indent="-171450">
              <a:buFontTx/>
              <a:buChar char="-"/>
            </a:pPr>
            <a:r>
              <a:rPr lang="en-US"/>
              <a:t>Add Talking Points (Use animations to guide/introduction to what the service concept is)</a:t>
            </a:r>
          </a:p>
        </p:txBody>
      </p:sp>
      <p:sp>
        <p:nvSpPr>
          <p:cNvPr id="4" name="Slide Number Placeholder 3">
            <a:extLst>
              <a:ext uri="{FF2B5EF4-FFF2-40B4-BE49-F238E27FC236}">
                <a16:creationId xmlns:a16="http://schemas.microsoft.com/office/drawing/2014/main" id="{AC93DFBB-9257-455A-5B0F-7D60F66F1C83}"/>
              </a:ext>
            </a:extLst>
          </p:cNvPr>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39280785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Do:</a:t>
            </a:r>
          </a:p>
          <a:p>
            <a:pPr marL="171450" indent="-171450">
              <a:buFontTx/>
              <a:buChar char="-"/>
            </a:pPr>
            <a:r>
              <a:rPr lang="en-US"/>
              <a:t>Reformat Slide</a:t>
            </a:r>
          </a:p>
          <a:p>
            <a:pPr marL="171450" indent="-171450">
              <a:buFontTx/>
              <a:buChar char="-"/>
            </a:pPr>
            <a:r>
              <a:rPr lang="en-US"/>
              <a:t>Determine Speaker</a:t>
            </a:r>
          </a:p>
          <a:p>
            <a:pPr marL="171450" indent="-171450">
              <a:buFontTx/>
              <a:buChar char="-"/>
            </a:pPr>
            <a:r>
              <a:rPr lang="en-US"/>
              <a:t>Create Talking Points</a:t>
            </a:r>
          </a:p>
          <a:p>
            <a:r>
              <a:rPr lang="en-US"/>
              <a:t>- </a:t>
            </a:r>
            <a:r>
              <a:t>Open items for RFP-stage negotiation: exact fee %, named installer network, interconnection process for utility-owned residential batteries (flagged as a regulatory question to work through with MPSC, not assumed).</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 Prioritization Framework</a:t>
            </a:r>
          </a:p>
          <a:p>
            <a:r>
              <a:t>Flow: this slide exists to pre-empt the question 'why didn't you just pitch a broader capability?' before anyone asks it.</a:t>
            </a:r>
          </a:p>
          <a:p/>
          <a:p>
            <a:r>
              <a:t>1. Walk the table left to right, land on SELECTED for the battery+solar fleet.</a:t>
            </a:r>
          </a:p>
          <a:p>
            <a:r>
              <a:t>2. Then hit the five reasons in the callout, in order:</a:t>
            </a:r>
          </a:p>
          <a:p>
            <a:r>
              <a:t>   - Utilities procure through RFPs for defined programs -- there's no RFP category for a 'toolkit.'</a:t>
            </a:r>
          </a:p>
          <a:p>
            <a:r>
              <a:t>   - The broad-advisory market is already occupied (CLEAResult ~$528M revenue, ICF) -- competing there is a price war against incumbents who've run it for years.</a:t>
            </a:r>
          </a:p>
          <a:p>
            <a:r>
              <a:t>   - The prompt is about funding UNCERTAINTY. A toolkit only helps triage a budget that's already shrinking (cite: Louisiana ended its 2026 program, Duke withdrew 3 residential programs, CA paused a $290M rebate program). The fleet answers the uncertainty directly by moving the funding source to rate base, which a federal freeze cannot touch.</a:t>
            </a:r>
          </a:p>
          <a:p>
            <a:r>
              <a:t>   - Revenue quality: consulting hours end when the engagement ends. Recurring administration fees are tied to a 20-year physical asset.</a:t>
            </a:r>
          </a:p>
          <a:p>
            <a:r>
              <a:t>   - And directly: leadership (Samantha) asked for one specific, concrete program, not a capability list.</a:t>
            </a:r>
          </a:p>
          <a:p/>
          <a:p>
            <a:r>
              <a:t>If asked 'why not both?' -- answer: the toolkit describes HOW APTIM operates internally; it is not a product a utility issues an RFP for.</a:t>
            </a:r>
          </a:p>
          <a:p/>
          <a:p>
            <a:r>
              <a:t>[Placeholder -- swap in team-provided talking points when received.]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916621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10</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78702-4F05-E994-8BA5-3A41289917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DBFF4-97C5-7744-D1E5-A70EB3AC965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75D3012-3DAD-4A10-447E-66301E676F4A}"/>
              </a:ext>
            </a:extLst>
          </p:cNvPr>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a:extLst>
              <a:ext uri="{FF2B5EF4-FFF2-40B4-BE49-F238E27FC236}">
                <a16:creationId xmlns:a16="http://schemas.microsoft.com/office/drawing/2014/main" id="{70A12920-D0E1-CBF2-86C4-A794E8E59470}"/>
              </a:ext>
            </a:extLst>
          </p:cNvPr>
          <p:cNvSpPr>
            <a:spLocks noGrp="1"/>
          </p:cNvSpPr>
          <p:nvPr>
            <p:ph type="sldNum" sz="quarter" idx="5"/>
          </p:nvPr>
        </p:nvSpPr>
        <p:spPr/>
      </p:sp>
    </p:spTree>
    <p:extLst>
      <p:ext uri="{BB962C8B-B14F-4D97-AF65-F5344CB8AC3E}">
        <p14:creationId xmlns:p14="http://schemas.microsoft.com/office/powerpoint/2010/main" val="12451536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SPEAKER NOTES -- Client Use Case: Michigan</a:t>
            </a:r>
          </a:p>
          <a:p>
            <a:r>
              <a:t>This slide answers ONE question: is this legally buildable in Michigan, and what happens if someone pushes back? Win-the-bid and timeline content live on other slides (How APTIM Wins; Future/Scaling) -- don't re-argue them here, just bridge to them if asked.</a:t>
            </a:r>
          </a:p>
          <a:p/>
          <a:p>
            <a:r>
              <a:t>LEGAL AUDIT (say this, don't read the table verbatim):</a:t>
            </a:r>
          </a:p>
          <a:p>
            <a:r>
              <a:t>- Helps: PA 235 is the strongest citation -- mandate-driven demand exists regardless of federal money, which is the direct answer to the prompt. U-20836 + U-21653 together are the second-strongest: the Commission rejected the VENUE (a residential battery pilot bundled into a general rate case), not the concept, and told DTE to refile as a standalone pilot with deferred accounting. U-21653 (approved April 2025) is that exact venue.</a:t>
            </a:r>
          </a:p>
          <a:p>
            <a:r>
              <a:t>- Hurts, with the answer built in: the March 2026 1,332 MW precedent is grid-scale, NOT residential -- don't oversell it; frame it as 'utility-owned storage is approvable in Michigan,' and our pilot sets the residential template. Rate-fatigue politics around DTE cuts against new spending -- answer is 'capped pilot, no new tax, performance-linked fee.' No interconnection template exists yet for utility-owned in-home equipment -- answer is that Michigan's MIXDG interconnection rules already name the utility as a possible interconnection customer.</a:t>
            </a:r>
          </a:p>
          <a:p/>
          <a:p>
            <a:r>
              <a:t>CAVEATS TO CONCEDE GRACEFULLY IF PRESSED: deferred-accounting cost recovery under U-21653 is expected but not yet confirmed by an order; the PA 235 Dec 31 2029 date is a PETITION deadline, not a build deadline -- don't claim false urgency from it.</a:t>
            </a:r>
          </a:p>
          <a:p/>
          <a:p>
            <a:r>
              <a:t>PILOT NUMBERS STRIP: these are Maija's team-built Ann Arbor sizing assumptions, not committed pricing -- if asked, say 'illustrative sizing for a 500-home pilot; actual fees are set at the RFP stage.' Do NOT cite '850+ MW' for DTE's storage need if it comes up elsewhere in the deck -- the confirmed IRP figure is 760 MW by 2032 (settlement: 780 MW by 2030), not 850+.</a:t>
            </a:r>
          </a:p>
          <a:p/>
          <a:p>
            <a:r>
              <a:t>[Placeholder -- swap in team-provided talking points when received.]</a:t>
            </a:r>
          </a:p>
        </p:txBody>
      </p:sp>
      <p:sp>
        <p:nvSpPr>
          <p:cNvPr id="4" name="Slide Number Placeholder 3"/>
          <p:cNvSpPr>
            <a:spLocks noGrp="1"/>
          </p:cNvSpPr>
          <p:nvPr>
            <p:ph type="sldNum" sz="quarter" idx="5"/>
          </p:nvPr>
        </p:nvSpPr>
        <p:spPr/>
        <p:txBody>
          <a:bodyPr/>
          <a:lstStyle/>
          <a:p>
            <a:fld id="{5D149A2A-2FC7-440C-9AA6-4256354C6A8E}" type="slidenum">
              <a:rPr lang="en-US" smtClean="0"/>
              <a:t>16</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9F669-F24E-93C7-3CCB-B664EE2B5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894779-67FD-9755-6C5A-EDC41EB81E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7E18297-58C0-6424-10F6-342AC2A64392}"/>
              </a:ext>
            </a:extLst>
          </p:cNvPr>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effectLst/>
                <a:latin typeface="+mn-lt"/>
                <a:ea typeface="+mn-ea"/>
                <a:cs typeface="+mn-cs"/>
              </a:rPr>
              <a:t>he system was sized to be realistic and scalable. Each participating home receives a typical 6-kW rooftop solar system paired with a 15-kWh battery, providing both homeowner resilience and utility dispatch capability. Across 500 homes, that creates a 3-MW distributed solar fleet and 7.5 MWh of battery storage for DTE to leverage as a pilot-scale virtual power plant.</a:t>
            </a:r>
          </a:p>
          <a:p>
            <a:endParaRPr/>
          </a:p>
        </p:txBody>
      </p:sp>
      <p:sp>
        <p:nvSpPr>
          <p:cNvPr id="4" name="Slide Number Placeholder 3">
            <a:extLst>
              <a:ext uri="{FF2B5EF4-FFF2-40B4-BE49-F238E27FC236}">
                <a16:creationId xmlns:a16="http://schemas.microsoft.com/office/drawing/2014/main" id="{A9DAA064-CF17-3458-9810-867AEAC58473}"/>
              </a:ext>
            </a:extLst>
          </p:cNvPr>
          <p:cNvSpPr>
            <a:spLocks noGrp="1"/>
          </p:cNvSpPr>
          <p:nvPr>
            <p:ph type="sldNum" sz="quarter" idx="5"/>
          </p:nvPr>
        </p:nvSpPr>
        <p:spPr/>
      </p:sp>
    </p:spTree>
    <p:extLst>
      <p:ext uri="{BB962C8B-B14F-4D97-AF65-F5344CB8AC3E}">
        <p14:creationId xmlns:p14="http://schemas.microsoft.com/office/powerpoint/2010/main" val="29036850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914400" lvl="2" indent="0">
              <a:buFont typeface="Arial" panose="020B0604020202020204" pitchFamily="34" charset="0"/>
              <a:buNone/>
            </a:pPr>
            <a:r>
              <a:rPr lang="en-US"/>
              <a:t>Notes: Profit margin</a:t>
            </a:r>
          </a:p>
          <a:p>
            <a:pPr marL="914400" lvl="2" indent="0">
              <a:buFont typeface="Arial" panose="020B0604020202020204" pitchFamily="34" charset="0"/>
              <a:buNone/>
            </a:pPr>
            <a:r>
              <a:rPr lang="en-US"/>
              <a:t>-  </a:t>
            </a:r>
            <a:r>
              <a:rPr lang="en-US" sz="1000">
                <a:solidFill>
                  <a:srgbClr val="404040"/>
                </a:solidFill>
                <a:latin typeface="Arial"/>
              </a:rPr>
              <a:t>15: Minimum</a:t>
            </a:r>
          </a:p>
          <a:p>
            <a:pPr marL="1085850" lvl="2" indent="-171450">
              <a:buFont typeface="Arial" panose="020B0604020202020204" pitchFamily="34" charset="0"/>
              <a:buChar char="•"/>
            </a:pPr>
            <a:r>
              <a:rPr lang="en-US" sz="1000">
                <a:solidFill>
                  <a:srgbClr val="404040"/>
                </a:solidFill>
                <a:latin typeface="Arial"/>
              </a:rPr>
              <a:t>20: Recommended</a:t>
            </a:r>
          </a:p>
          <a:p>
            <a:pPr marL="1085850" lvl="2" indent="-171450">
              <a:buFont typeface="Arial" panose="020B0604020202020204" pitchFamily="34" charset="0"/>
              <a:buChar char="•"/>
            </a:pPr>
            <a:r>
              <a:rPr lang="en-US" sz="1000">
                <a:solidFill>
                  <a:srgbClr val="404040"/>
                </a:solidFill>
                <a:latin typeface="Arial"/>
              </a:rPr>
              <a:t>25: Aggressive</a:t>
            </a:r>
          </a:p>
          <a:p>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19</a:t>
            </a:fld>
            <a:endParaRPr lang="en-US"/>
          </a:p>
        </p:txBody>
      </p:sp>
    </p:spTree>
    <p:extLst>
      <p:ext uri="{BB962C8B-B14F-4D97-AF65-F5344CB8AC3E}">
        <p14:creationId xmlns:p14="http://schemas.microsoft.com/office/powerpoint/2010/main" val="232270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p:cNvSpPr>
            <a:spLocks noGrp="1"/>
          </p:cNvSpPr>
          <p:nvPr>
            <p:ph type="sldNum" sz="quarter" idx="5"/>
          </p:nvPr>
        </p:nvSpPr>
        <p:spPr/>
        <p:txBody>
          <a:bodyPr/>
          <a:lstStyle/>
          <a:p>
            <a:fld id="{5D149A2A-2FC7-440C-9AA6-4256354C6A8E}" type="slidenum">
              <a:rPr lang="en-US" smtClean="0"/>
              <a:t>20</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Maybe change formatting </a:t>
            </a:r>
          </a:p>
        </p:txBody>
      </p:sp>
      <p:sp>
        <p:nvSpPr>
          <p:cNvPr id="4" name="Slide Number Placeholder 3"/>
          <p:cNvSpPr>
            <a:spLocks noGrp="1"/>
          </p:cNvSpPr>
          <p:nvPr>
            <p:ph type="sldNum" sz="quarter" idx="5"/>
          </p:nvPr>
        </p:nvSpPr>
        <p:spPr/>
        <p:txBody>
          <a:bodyPr/>
          <a:lstStyle/>
          <a:p>
            <a:fld id="{5D149A2A-2FC7-440C-9AA6-4256354C6A8E}" type="slidenum">
              <a:rPr lang="en-US" smtClean="0"/>
              <a:t>21</a:t>
            </a:fld>
            <a:endParaRPr lang="en-US"/>
          </a:p>
        </p:txBody>
      </p:sp>
    </p:spTree>
    <p:extLst>
      <p:ext uri="{BB962C8B-B14F-4D97-AF65-F5344CB8AC3E}">
        <p14:creationId xmlns:p14="http://schemas.microsoft.com/office/powerpoint/2010/main" val="30284282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D6E70-BD13-98EC-6C12-58F08CDCB7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615C-7D79-D85B-E7AD-4FBC60E46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3488B0-6EED-466A-D649-75CB28DF7B16}"/>
              </a:ext>
            </a:extLst>
          </p:cNvPr>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a:extLst>
              <a:ext uri="{FF2B5EF4-FFF2-40B4-BE49-F238E27FC236}">
                <a16:creationId xmlns:a16="http://schemas.microsoft.com/office/drawing/2014/main" id="{095E8A6B-477A-EE2F-EC94-A1C3386C72E1}"/>
              </a:ext>
            </a:extLst>
          </p:cNvPr>
          <p:cNvSpPr>
            <a:spLocks noGrp="1"/>
          </p:cNvSpPr>
          <p:nvPr>
            <p:ph type="sldNum" sz="quarter" idx="5"/>
          </p:nvPr>
        </p:nvSpPr>
        <p:spPr/>
        <p:txBody>
          <a:bodyPr/>
          <a:lstStyle/>
          <a:p>
            <a:fld id="{5D149A2A-2FC7-440C-9AA6-4256354C6A8E}" type="slidenum">
              <a:rPr lang="en-US" smtClean="0"/>
              <a:t>22</a:t>
            </a:fld>
            <a:endParaRPr lang="en-US"/>
          </a:p>
        </p:txBody>
      </p:sp>
    </p:spTree>
    <p:extLst>
      <p:ext uri="{BB962C8B-B14F-4D97-AF65-F5344CB8AC3E}">
        <p14:creationId xmlns:p14="http://schemas.microsoft.com/office/powerpoint/2010/main" val="1708281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23</a:t>
            </a:fld>
            <a:endParaRPr lang="en-US"/>
          </a:p>
        </p:txBody>
      </p:sp>
    </p:spTree>
    <p:extLst>
      <p:ext uri="{BB962C8B-B14F-4D97-AF65-F5344CB8AC3E}">
        <p14:creationId xmlns:p14="http://schemas.microsoft.com/office/powerpoint/2010/main" val="1204086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24</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26</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27</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30</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Compact the chart maybe </a:t>
            </a:r>
          </a:p>
        </p:txBody>
      </p:sp>
      <p:sp>
        <p:nvSpPr>
          <p:cNvPr id="4" name="Slide Number Placeholder 3"/>
          <p:cNvSpPr>
            <a:spLocks noGrp="1"/>
          </p:cNvSpPr>
          <p:nvPr>
            <p:ph type="sldNum" sz="quarter" idx="5"/>
          </p:nvPr>
        </p:nvSpPr>
        <p:spPr/>
        <p:txBody>
          <a:bodyPr/>
          <a:lstStyle/>
          <a:p>
            <a:fld id="{5D149A2A-2FC7-440C-9AA6-4256354C6A8E}" type="slidenum">
              <a:rPr lang="en-US" smtClean="0"/>
              <a:t>31</a:t>
            </a:fld>
            <a:endParaRPr lang="en-US"/>
          </a:p>
        </p:txBody>
      </p:sp>
    </p:spTree>
    <p:extLst>
      <p:ext uri="{BB962C8B-B14F-4D97-AF65-F5344CB8AC3E}">
        <p14:creationId xmlns:p14="http://schemas.microsoft.com/office/powerpoint/2010/main" val="42452292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Talk about:</a:t>
            </a:r>
          </a:p>
          <a:p>
            <a:r>
              <a:t>- PA 235</a:t>
            </a:r>
          </a:p>
          <a:p>
            <a:r>
              <a:t>- DTE's storage requirements</a:t>
            </a:r>
          </a:p>
          <a:p>
            <a:r>
              <a:t>- Why Detroit was not selected</a:t>
            </a:r>
          </a:p>
          <a:p>
            <a:r>
              <a:t>- Why Ann Arbor provides higher probability of success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a:t>
            </a:r>
          </a:p>
          <a:p>
            <a:r>
              <a:t>- Why 15 kWh</a:t>
            </a:r>
          </a:p>
          <a:p>
            <a:r>
              <a:t>- Why 6 kW</a:t>
            </a:r>
          </a:p>
          <a:p>
            <a:r>
              <a:t>- Why 500 homes</a:t>
            </a:r>
          </a:p>
          <a:p>
            <a:r>
              <a:t>- Why existing APTIM inspectors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One or two slides, build this </a:t>
            </a:r>
            <a:r>
              <a:rPr lang="en-US" err="1">
                <a:latin typeface="Calibri"/>
                <a:ea typeface="Calibri"/>
                <a:cs typeface="Calibri"/>
              </a:rPr>
              <a:t>cho</a:t>
            </a:r>
            <a:r>
              <a:rPr lang="en-US">
                <a:latin typeface="Calibri"/>
                <a:ea typeface="Calibri"/>
                <a:cs typeface="Calibri"/>
              </a:rPr>
              <a:t>ice into the entire presentation (market), how did we decide which state to launch in, maybe introduce service concept earlier, look at flow of </a:t>
            </a:r>
            <a:r>
              <a:rPr lang="en-US" err="1">
                <a:latin typeface="Calibri"/>
                <a:ea typeface="Calibri"/>
                <a:cs typeface="Calibri"/>
              </a:rPr>
              <a:t>informaiton</a:t>
            </a:r>
            <a:r>
              <a:rPr lang="en-US">
                <a:latin typeface="Calibri"/>
                <a:ea typeface="Calibri"/>
                <a:cs typeface="Calibri"/>
              </a:rPr>
              <a:t>, focus more on the short term success on why we chose </a:t>
            </a:r>
            <a:r>
              <a:rPr lang="en-US" err="1">
                <a:latin typeface="Calibri"/>
                <a:ea typeface="Calibri"/>
                <a:cs typeface="Calibri"/>
              </a:rPr>
              <a:t>michigan</a:t>
            </a:r>
            <a:r>
              <a:rPr lang="en-US">
                <a:latin typeface="Calibri"/>
                <a:ea typeface="Calibri"/>
                <a:cs typeface="Calibri"/>
              </a:rPr>
              <a:t>, negatives of other states can go on future timeline   </a:t>
            </a:r>
          </a:p>
        </p:txBody>
      </p:sp>
      <p:sp>
        <p:nvSpPr>
          <p:cNvPr id="4" name="Slide Number Placeholder 3"/>
          <p:cNvSpPr>
            <a:spLocks noGrp="1"/>
          </p:cNvSpPr>
          <p:nvPr>
            <p:ph type="sldNum" sz="quarter" idx="5"/>
          </p:nvPr>
        </p:nvSpPr>
        <p:spPr/>
        <p:txBody>
          <a:bodyPr/>
          <a:lstStyle/>
          <a:p>
            <a:fld id="{5D149A2A-2FC7-440C-9AA6-4256354C6A8E}" type="slidenum">
              <a:rPr lang="en-US" smtClean="0"/>
              <a:t>44</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20B042-BA83-3931-A11A-D1D60A6AD7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8D7995-AC04-51DE-126F-152E14CEE0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8FDD81-F5F8-7C34-9697-F7BDFFF61D7A}"/>
              </a:ext>
            </a:extLst>
          </p:cNvPr>
          <p:cNvSpPr>
            <a:spLocks noGrp="1"/>
          </p:cNvSpPr>
          <p:nvPr>
            <p:ph type="body" idx="1"/>
          </p:nvPr>
        </p:nvSpPr>
        <p:spPr/>
        <p:txBody>
          <a:bodyPr/>
          <a:lstStyle/>
          <a:p>
            <a:r>
              <a:rPr lang="en-US">
                <a:latin typeface="Calibri"/>
                <a:ea typeface="Calibri"/>
                <a:cs typeface="Calibri"/>
              </a:rPr>
              <a:t>Practice timing of animations (applies to all of them whole presentation), condense paragraphs into bullet points, lots of words in screen, information is good to use in notes</a:t>
            </a:r>
          </a:p>
        </p:txBody>
      </p:sp>
      <p:sp>
        <p:nvSpPr>
          <p:cNvPr id="4" name="Slide Number Placeholder 3">
            <a:extLst>
              <a:ext uri="{FF2B5EF4-FFF2-40B4-BE49-F238E27FC236}">
                <a16:creationId xmlns:a16="http://schemas.microsoft.com/office/drawing/2014/main" id="{B7A7131A-E84C-32A0-6003-907D0A859A17}"/>
              </a:ext>
            </a:extLst>
          </p:cNvPr>
          <p:cNvSpPr>
            <a:spLocks noGrp="1"/>
          </p:cNvSpPr>
          <p:nvPr>
            <p:ph type="sldNum" sz="quarter" idx="5"/>
          </p:nvPr>
        </p:nvSpPr>
        <p:spPr/>
        <p:txBody>
          <a:bodyPr/>
          <a:lstStyle/>
          <a:p>
            <a:fld id="{5D149A2A-2FC7-440C-9AA6-4256354C6A8E}" type="slidenum">
              <a:rPr lang="en-US" smtClean="0"/>
              <a:t>50</a:t>
            </a:fld>
            <a:endParaRPr lang="en-US"/>
          </a:p>
        </p:txBody>
      </p:sp>
    </p:spTree>
    <p:extLst>
      <p:ext uri="{BB962C8B-B14F-4D97-AF65-F5344CB8AC3E}">
        <p14:creationId xmlns:p14="http://schemas.microsoft.com/office/powerpoint/2010/main" val="1136494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7/29/2026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7/29/2026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7/29/2026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7/29/2026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7/29/2026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7/29/2026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7/29/2026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7/29/2026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7/29/2026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7/29/2026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7/29/2026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 Id="rId3" Type="http://schemas.openxmlformats.org/officeDocument/2006/relationships/image" Target="../media/image10.jpeg"/><Relationship Id="rId4"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3.svg"/><Relationship Id="rId4" Type="http://schemas.openxmlformats.org/officeDocument/2006/relationships/image" Target="../media/image14.svg"/><Relationship Id="rId5" Type="http://schemas.openxmlformats.org/officeDocument/2006/relationships/image" Target="../media/image15.svg"/><Relationship Id="rId6" Type="http://schemas.openxmlformats.org/officeDocument/2006/relationships/image" Target="../media/image16.svg"/><Relationship Id="rId7" Type="http://schemas.openxmlformats.org/officeDocument/2006/relationships/image" Target="../media/image1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diagramData" Target="../diagrams/data3.xml"/><Relationship Id="rId9" Type="http://schemas.openxmlformats.org/officeDocument/2006/relationships/diagramLayout" Target="../diagrams/layout3.xml"/><Relationship Id="rId10" Type="http://schemas.openxmlformats.org/officeDocument/2006/relationships/diagramQuickStyle" Target="../diagrams/quickStyle3.xml"/><Relationship Id="rId11" Type="http://schemas.openxmlformats.org/officeDocument/2006/relationships/diagramColors" Target="../diagrams/colors3.xml"/><Relationship Id="rId12" Type="http://schemas.microsoft.com/office/2007/relationships/diagramDrawing" Target="../diagrams/drawing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diagramData" Target="../diagrams/data4.xml"/><Relationship Id="rId4" Type="http://schemas.openxmlformats.org/officeDocument/2006/relationships/diagramLayout" Target="../diagrams/layout4.xml"/><Relationship Id="rId5" Type="http://schemas.openxmlformats.org/officeDocument/2006/relationships/diagramQuickStyle" Target="../diagrams/quickStyle4.xml"/><Relationship Id="rId6" Type="http://schemas.openxmlformats.org/officeDocument/2006/relationships/diagramColors" Target="../diagrams/colors4.xml"/><Relationship Id="rId7" Type="http://schemas.microsoft.com/office/2007/relationships/diagramDrawing" Target="../diagrams/drawing4.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diagramData" Target="../diagrams/data5.xml"/><Relationship Id="rId4" Type="http://schemas.openxmlformats.org/officeDocument/2006/relationships/diagramLayout" Target="../diagrams/layout5.xml"/><Relationship Id="rId5" Type="http://schemas.openxmlformats.org/officeDocument/2006/relationships/diagramQuickStyle" Target="../diagrams/quickStyle5.xml"/><Relationship Id="rId6" Type="http://schemas.openxmlformats.org/officeDocument/2006/relationships/diagramColors" Target="../diagrams/colors5.xml"/><Relationship Id="rId7" Type="http://schemas.microsoft.com/office/2007/relationships/diagramDrawing" Target="../diagrams/drawing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0.png"/><Relationship Id="rId4" Type="http://schemas.openxmlformats.org/officeDocument/2006/relationships/image" Target="../media/image31.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35.svg"/><Relationship Id="rId4" Type="http://schemas.openxmlformats.org/officeDocument/2006/relationships/image" Target="../media/image36.svg"/><Relationship Id="rId5" Type="http://schemas.openxmlformats.org/officeDocument/2006/relationships/image" Target="../media/image37.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diagramData" Target="../diagrams/data10.xml"/><Relationship Id="rId4" Type="http://schemas.openxmlformats.org/officeDocument/2006/relationships/diagramLayout" Target="../diagrams/layout10.xml"/><Relationship Id="rId5" Type="http://schemas.openxmlformats.org/officeDocument/2006/relationships/diagramQuickStyle" Target="../diagrams/quickStyle10.xml"/><Relationship Id="rId6" Type="http://schemas.openxmlformats.org/officeDocument/2006/relationships/diagramColors" Target="../diagrams/colors10.xml"/><Relationship Id="rId7" Type="http://schemas.microsoft.com/office/2007/relationships/diagramDrawing" Target="../diagrams/drawing10.xml"/><Relationship Id="rId8" Type="http://schemas.openxmlformats.org/officeDocument/2006/relationships/image" Target="../media/image16.svg"/><Relationship Id="rId9" Type="http://schemas.openxmlformats.org/officeDocument/2006/relationships/image" Target="../media/image15.svg"/><Relationship Id="rId10" Type="http://schemas.openxmlformats.org/officeDocument/2006/relationships/image" Target="../media/image23.svg"/><Relationship Id="rId11" Type="http://schemas.openxmlformats.org/officeDocument/2006/relationships/image" Target="../media/image17.svg"/><Relationship Id="rId12" Type="http://schemas.openxmlformats.org/officeDocument/2006/relationships/image" Target="../media/image24.svg"/><Relationship Id="rId13" Type="http://schemas.openxmlformats.org/officeDocument/2006/relationships/image" Target="../media/image25.svg"/><Relationship Id="rId14" Type="http://schemas.openxmlformats.org/officeDocument/2006/relationships/image" Target="../media/image26.svg"/><Relationship Id="rId15" Type="http://schemas.openxmlformats.org/officeDocument/2006/relationships/image" Target="../media/image27.svg"/><Relationship Id="rId16" Type="http://schemas.openxmlformats.org/officeDocument/2006/relationships/image" Target="../media/image28.svg"/><Relationship Id="rId17" Type="http://schemas.openxmlformats.org/officeDocument/2006/relationships/image" Target="../media/image29.sv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August 5</a:t>
            </a:r>
            <a:r>
              <a:rPr lang="en-US" baseline="30000"/>
              <a:t>th</a:t>
            </a:r>
            <a:r>
              <a:rPr lang="en-US"/>
              <a:t>, 2026</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88499" y="2076044"/>
            <a:ext cx="1828329" cy="2431146"/>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vert="horz" wrap="square" lIns="0" tIns="0" rIns="0" bIns="0" rtlCol="0" anchor="t">
            <a:spAutoFit/>
          </a:bodyPr>
          <a:lstStyle/>
          <a:p>
            <a:pPr algn="ctr"/>
            <a:r>
              <a:rPr lang="en-US" b="1"/>
              <a:t>Maija Miller</a:t>
            </a:r>
            <a:endParaRPr lang="en-US"/>
          </a:p>
          <a:p>
            <a:pPr algn="ctr"/>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1172116"/>
          </a:xfrm>
        </p:spPr>
        <p:txBody>
          <a:bodyPr vert="horz" wrap="square" lIns="0" tIns="0" rIns="0" bIns="0" rtlCol="0" anchor="t">
            <a:spAutoFit/>
          </a:bodyPr>
          <a:lstStyle/>
          <a:p>
            <a:pPr algn="ctr"/>
            <a:r>
              <a:rPr lang="en-US" b="1"/>
              <a:t>Christian Garcia</a:t>
            </a:r>
            <a:endParaRPr lang="en-US"/>
          </a:p>
          <a:p>
            <a:pPr algn="ctr"/>
            <a:r>
              <a:rPr lang="en-US"/>
              <a:t>Climate Resilience &amp; Technology Intern</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pPr algn="ctr"/>
            <a:r>
              <a:rPr lang="en-US" b="1"/>
              <a:t>Jenny Isham</a:t>
            </a:r>
            <a:endParaRPr lang="en-US"/>
          </a:p>
          <a:p>
            <a:pPr algn="ctr"/>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pic>
        <p:nvPicPr>
          <p:cNvPr id="7" name="Picture Placeholder 6">
            <a:extLst>
              <a:ext uri="{FF2B5EF4-FFF2-40B4-BE49-F238E27FC236}">
                <a16:creationId xmlns:a16="http://schemas.microsoft.com/office/drawing/2014/main" id="{2CBD7041-05C2-CBFF-68F3-1DC70BE6DA00}"/>
              </a:ext>
            </a:extLst>
          </p:cNvPr>
          <p:cNvPicPr>
            <a:picLocks noGrp="1" noChangeAspect="1"/>
          </p:cNvPicPr>
          <p:nvPr>
            <p:ph type="pic" sz="quarter" idx="20"/>
          </p:nvPr>
        </p:nvPicPr>
        <p:blipFill>
          <a:blip r:embed="rId3"/>
          <a:srcRect l="2057" r="2057"/>
          <a:stretch/>
        </p:blipFill>
        <p:spPr>
          <a:xfrm>
            <a:off x="5170488" y="1754188"/>
            <a:ext cx="1828800" cy="2743200"/>
          </a:xfrm>
          <a:prstGeom prst="rect">
            <a:avLst/>
          </a:prstGeom>
        </p:spPr>
      </p:pic>
      <p:pic>
        <p:nvPicPr>
          <p:cNvPr id="18" name="Picture Placeholder 17">
            <a:extLst>
              <a:ext uri="{FF2B5EF4-FFF2-40B4-BE49-F238E27FC236}">
                <a16:creationId xmlns:a16="http://schemas.microsoft.com/office/drawing/2014/main" id="{DCF8BF28-8627-5D7B-A352-F7DF9453399E}"/>
              </a:ext>
            </a:extLst>
          </p:cNvPr>
          <p:cNvPicPr>
            <a:picLocks noGrp="1" noChangeAspect="1"/>
          </p:cNvPicPr>
          <p:nvPr>
            <p:ph type="pic" sz="quarter" idx="21"/>
          </p:nvPr>
        </p:nvPicPr>
        <p:blipFill>
          <a:blip r:embed="rId4"/>
          <a:srcRect/>
          <a:stretch/>
        </p:blipFill>
        <p:spPr>
          <a:xfrm>
            <a:off x="7380288" y="2246313"/>
            <a:ext cx="1828800" cy="2743200"/>
          </a:xfrm>
          <a:prstGeom prst="rect">
            <a:avLst/>
          </a:prstGeom>
        </p:spPr>
      </p:pic>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pPr algn="ctr"/>
            <a:r>
              <a:rPr lang="en-US" b="1"/>
              <a:t>John Woods</a:t>
            </a:r>
            <a:endParaRPr lang="en-US"/>
          </a:p>
          <a:p>
            <a:pPr algn="ctr"/>
            <a:r>
              <a:rPr lang="en-US"/>
              <a:t>Mechanical Engineering Intern</a:t>
            </a:r>
          </a:p>
          <a:p>
            <a:pPr algn="ctr"/>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What is 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2" name="Isosceles Triangle 1">
            <a:extLst>
              <a:ext uri="{FF2B5EF4-FFF2-40B4-BE49-F238E27FC236}">
                <a16:creationId xmlns:a16="http://schemas.microsoft.com/office/drawing/2014/main" id="{23BB380C-82D2-BA5E-9FD1-531D184A67C9}"/>
              </a:ext>
            </a:extLst>
          </p:cNvPr>
          <p:cNvSpPr/>
          <p:nvPr/>
        </p:nvSpPr>
        <p:spPr>
          <a:xfrm>
            <a:off x="7917976" y="3397775"/>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ACAD5E-D6A3-37FE-8A74-39583F73CCBC}"/>
              </a:ext>
            </a:extLst>
          </p:cNvPr>
          <p:cNvSpPr txBox="1"/>
          <p:nvPr/>
        </p:nvSpPr>
        <p:spPr>
          <a:xfrm>
            <a:off x="8613914" y="952635"/>
            <a:ext cx="2569464" cy="1923604"/>
          </a:xfrm>
          <a:prstGeom prst="rect">
            <a:avLst/>
          </a:prstGeom>
          <a:noFill/>
        </p:spPr>
        <p:txBody>
          <a:bodyPr wrap="square" rtlCol="0">
            <a:spAutoFit/>
          </a:bodyPr>
          <a:lstStyle/>
          <a:p>
            <a:pPr lvl="0">
              <a:spcAft>
                <a:spcPts val="1200"/>
              </a:spcAft>
            </a:pPr>
            <a:r>
              <a:rPr lang="en-US" sz="1900"/>
              <a:t>Constraints </a:t>
            </a:r>
          </a:p>
          <a:p>
            <a:pPr marL="285750" lvl="0" indent="-285750">
              <a:buFont typeface="Arial" panose="020B0604020202020204" pitchFamily="34" charset="0"/>
              <a:buChar char="•"/>
            </a:pPr>
            <a:r>
              <a:rPr lang="en-US" sz="1500"/>
              <a:t>Federal Funding Uncertainty</a:t>
            </a:r>
          </a:p>
          <a:p>
            <a:pPr marL="285750" lvl="0" indent="-285750">
              <a:buFont typeface="Arial" panose="020B0604020202020204" pitchFamily="34" charset="0"/>
              <a:buChar char="•"/>
            </a:pPr>
            <a:r>
              <a:rPr lang="en-US" sz="1500"/>
              <a:t>Changing Incentive Structure </a:t>
            </a:r>
          </a:p>
          <a:p>
            <a:pPr marL="285750" lvl="0" indent="-285750">
              <a:buFont typeface="Arial" panose="020B0604020202020204" pitchFamily="34" charset="0"/>
              <a:buChar char="•"/>
            </a:pPr>
            <a:r>
              <a:rPr lang="en-US" sz="1500"/>
              <a:t>Operational Complexity </a:t>
            </a:r>
          </a:p>
          <a:p>
            <a:pPr marL="285750" lvl="0" indent="-285750">
              <a:buFont typeface="Arial" panose="020B0604020202020204" pitchFamily="34" charset="0"/>
              <a:buChar char="•"/>
            </a:pPr>
            <a:r>
              <a:rPr lang="en-US" sz="1500"/>
              <a:t>Aging Infrastructure </a:t>
            </a:r>
          </a:p>
        </p:txBody>
      </p:sp>
      <p:sp>
        <p:nvSpPr>
          <p:cNvPr id="4" name="TextBox 3">
            <a:extLst>
              <a:ext uri="{FF2B5EF4-FFF2-40B4-BE49-F238E27FC236}">
                <a16:creationId xmlns:a16="http://schemas.microsoft.com/office/drawing/2014/main" id="{70AD5F4C-9CDC-5349-3E70-9A8E2948D747}"/>
              </a:ext>
            </a:extLst>
          </p:cNvPr>
          <p:cNvSpPr txBox="1"/>
          <p:nvPr/>
        </p:nvSpPr>
        <p:spPr>
          <a:xfrm>
            <a:off x="5374951" y="3964703"/>
            <a:ext cx="2569464" cy="1923604"/>
          </a:xfrm>
          <a:prstGeom prst="rect">
            <a:avLst/>
          </a:prstGeom>
          <a:noFill/>
        </p:spPr>
        <p:txBody>
          <a:bodyPr wrap="square" rtlCol="0">
            <a:spAutoFit/>
          </a:bodyPr>
          <a:lstStyle/>
          <a:p>
            <a:pPr lvl="0">
              <a:spcAft>
                <a:spcPts val="1200"/>
              </a:spcAft>
            </a:pPr>
            <a:r>
              <a:rPr lang="en-US" sz="1900"/>
              <a:t>Expectations </a:t>
            </a:r>
          </a:p>
          <a:p>
            <a:pPr marL="285750" lvl="0" indent="-285750">
              <a:buFont typeface="Arial" panose="020B0604020202020204" pitchFamily="34" charset="0"/>
              <a:buChar char="•"/>
            </a:pPr>
            <a:r>
              <a:rPr lang="en-US" sz="1500"/>
              <a:t>Energy Efficiency</a:t>
            </a:r>
          </a:p>
          <a:p>
            <a:pPr marL="285750" lvl="0" indent="-285750">
              <a:buFont typeface="Arial" panose="020B0604020202020204" pitchFamily="34" charset="0"/>
              <a:buChar char="•"/>
            </a:pPr>
            <a:r>
              <a:rPr lang="en-US" sz="1500"/>
              <a:t>Sustainability Initiatives</a:t>
            </a:r>
          </a:p>
          <a:p>
            <a:pPr marL="285750" lvl="0" indent="-285750">
              <a:buFont typeface="Arial" panose="020B0604020202020204" pitchFamily="34" charset="0"/>
              <a:buChar char="•"/>
            </a:pPr>
            <a:r>
              <a:rPr lang="en-US" sz="1500"/>
              <a:t>Grid Resilience </a:t>
            </a:r>
          </a:p>
          <a:p>
            <a:pPr marL="285750" lvl="0" indent="-285750">
              <a:buFont typeface="Arial" panose="020B0604020202020204" pitchFamily="34" charset="0"/>
              <a:buChar char="•"/>
            </a:pPr>
            <a:r>
              <a:rPr lang="en-US" sz="1500"/>
              <a:t>Electrification </a:t>
            </a:r>
          </a:p>
          <a:p>
            <a:pPr marL="285750" lvl="0" indent="-285750">
              <a:buFont typeface="Arial" panose="020B0604020202020204" pitchFamily="34" charset="0"/>
              <a:buChar char="•"/>
            </a:pPr>
            <a:r>
              <a:rPr lang="en-US" sz="1500"/>
              <a:t>Implementation Support</a:t>
            </a:r>
          </a:p>
          <a:p>
            <a:pPr marL="285750" lvl="0" indent="-285750">
              <a:buFont typeface="Arial" panose="020B0604020202020204" pitchFamily="34" charset="0"/>
              <a:buChar char="•"/>
            </a:pPr>
            <a:r>
              <a:rPr lang="en-US" sz="1500"/>
              <a:t>Cost Effective Solutions </a:t>
            </a:r>
          </a:p>
        </p:txBody>
      </p:sp>
      <p:sp>
        <p:nvSpPr>
          <p:cNvPr id="5" name="Minus Sign 4">
            <a:extLst>
              <a:ext uri="{FF2B5EF4-FFF2-40B4-BE49-F238E27FC236}">
                <a16:creationId xmlns:a16="http://schemas.microsoft.com/office/drawing/2014/main" id="{D41A70D8-9DAB-39B9-7AC0-6DC1795886B8}"/>
              </a:ext>
            </a:extLst>
          </p:cNvPr>
          <p:cNvSpPr/>
          <p:nvPr/>
        </p:nvSpPr>
        <p:spPr>
          <a:xfrm>
            <a:off x="4366327" y="2949696"/>
            <a:ext cx="7825673" cy="896157"/>
          </a:xfrm>
          <a:prstGeom prst="mathMinus">
            <a:avLst/>
          </a:prstGeom>
        </p:spPr>
        <p:style>
          <a:lnRef idx="2">
            <a:schemeClr val="lt1">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6" name="Arrow: Down 5">
            <a:extLst>
              <a:ext uri="{FF2B5EF4-FFF2-40B4-BE49-F238E27FC236}">
                <a16:creationId xmlns:a16="http://schemas.microsoft.com/office/drawing/2014/main" id="{864C3051-D7DE-CB13-67F0-268368856F63}"/>
              </a:ext>
            </a:extLst>
          </p:cNvPr>
          <p:cNvSpPr/>
          <p:nvPr/>
        </p:nvSpPr>
        <p:spPr>
          <a:xfrm>
            <a:off x="5374951" y="960399"/>
            <a:ext cx="2362200" cy="1989297"/>
          </a:xfrm>
          <a:prstGeom prst="down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sp>
        <p:nvSpPr>
          <p:cNvPr id="11" name="Arrow: Up 10">
            <a:extLst>
              <a:ext uri="{FF2B5EF4-FFF2-40B4-BE49-F238E27FC236}">
                <a16:creationId xmlns:a16="http://schemas.microsoft.com/office/drawing/2014/main" id="{9C79E366-6BC3-BFDB-2A3E-2B84A079424F}"/>
              </a:ext>
            </a:extLst>
          </p:cNvPr>
          <p:cNvSpPr/>
          <p:nvPr/>
        </p:nvSpPr>
        <p:spPr>
          <a:xfrm>
            <a:off x="8821177" y="3845853"/>
            <a:ext cx="2362200" cy="1989297"/>
          </a:xfrm>
          <a:prstGeom prst="upArrow">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a:p>
        </p:txBody>
      </p:sp>
      <p:pic>
        <p:nvPicPr>
          <p:cNvPr id="12" name="Picture 11">
            <a:extLst>
              <a:ext uri="{FF2B5EF4-FFF2-40B4-BE49-F238E27FC236}">
                <a16:creationId xmlns:a16="http://schemas.microsoft.com/office/drawing/2014/main" id="{200924E6-2128-72C7-D32A-21C099A8775C}"/>
              </a:ext>
            </a:extLst>
          </p:cNvPr>
          <p:cNvPicPr>
            <a:picLocks noChangeAspect="1"/>
          </p:cNvPicPr>
          <p:nvPr/>
        </p:nvPicPr>
        <p:blipFill>
          <a:blip r:embed="rId3"/>
          <a:stretch>
            <a:fillRect/>
          </a:stretch>
        </p:blipFill>
        <p:spPr>
          <a:xfrm>
            <a:off x="7944415" y="3132133"/>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2"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47"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750"/>
                                        <p:tgtEl>
                                          <p:spTgt spid="6"/>
                                        </p:tgtEl>
                                      </p:cBhvr>
                                    </p:animEffect>
                                    <p:anim calcmode="lin" valueType="num">
                                      <p:cBhvr>
                                        <p:cTn id="22" dur="1750" fill="hold"/>
                                        <p:tgtEl>
                                          <p:spTgt spid="6"/>
                                        </p:tgtEl>
                                        <p:attrNameLst>
                                          <p:attrName>ppt_x</p:attrName>
                                        </p:attrNameLst>
                                      </p:cBhvr>
                                      <p:tavLst>
                                        <p:tav tm="0">
                                          <p:val>
                                            <p:strVal val="#ppt_x"/>
                                          </p:val>
                                        </p:tav>
                                        <p:tav tm="100000">
                                          <p:val>
                                            <p:strVal val="#ppt_x"/>
                                          </p:val>
                                        </p:tav>
                                      </p:tavLst>
                                    </p:anim>
                                    <p:anim calcmode="lin" valueType="num">
                                      <p:cBhvr>
                                        <p:cTn id="23" dur="1750" fill="hold"/>
                                        <p:tgtEl>
                                          <p:spTgt spid="6"/>
                                        </p:tgtEl>
                                        <p:attrNameLst>
                                          <p:attrName>ppt_y</p:attrName>
                                        </p:attrNameLst>
                                      </p:cBhvr>
                                      <p:tavLst>
                                        <p:tav tm="0">
                                          <p:val>
                                            <p:strVal val="#ppt_y-.1"/>
                                          </p:val>
                                        </p:tav>
                                        <p:tav tm="100000">
                                          <p:val>
                                            <p:strVal val="#ppt_y"/>
                                          </p:val>
                                        </p:tav>
                                      </p:tavLst>
                                    </p:anim>
                                  </p:childTnLst>
                                </p:cTn>
                              </p:par>
                              <p:par>
                                <p:cTn id="24" presetID="47" presetClass="entr" presetSubtype="0" fill="hold" grpId="0" nodeType="with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1750"/>
                                        <p:tgtEl>
                                          <p:spTgt spid="3"/>
                                        </p:tgtEl>
                                      </p:cBhvr>
                                    </p:animEffect>
                                    <p:anim calcmode="lin" valueType="num">
                                      <p:cBhvr>
                                        <p:cTn id="27" dur="1750" fill="hold"/>
                                        <p:tgtEl>
                                          <p:spTgt spid="3"/>
                                        </p:tgtEl>
                                        <p:attrNameLst>
                                          <p:attrName>ppt_x</p:attrName>
                                        </p:attrNameLst>
                                      </p:cBhvr>
                                      <p:tavLst>
                                        <p:tav tm="0">
                                          <p:val>
                                            <p:strVal val="#ppt_x"/>
                                          </p:val>
                                        </p:tav>
                                        <p:tav tm="100000">
                                          <p:val>
                                            <p:strVal val="#ppt_x"/>
                                          </p:val>
                                        </p:tav>
                                      </p:tavLst>
                                    </p:anim>
                                    <p:anim calcmode="lin" valueType="num">
                                      <p:cBhvr>
                                        <p:cTn id="28" dur="1750" fill="hold"/>
                                        <p:tgtEl>
                                          <p:spTgt spid="3"/>
                                        </p:tgtEl>
                                        <p:attrNameLst>
                                          <p:attrName>ppt_y</p:attrName>
                                        </p:attrNameLst>
                                      </p:cBhvr>
                                      <p:tavLst>
                                        <p:tav tm="0">
                                          <p:val>
                                            <p:strVal val="#ppt_y-.1"/>
                                          </p:val>
                                        </p:tav>
                                        <p:tav tm="100000">
                                          <p:val>
                                            <p:strVal val="#ppt_y"/>
                                          </p:val>
                                        </p:tav>
                                      </p:tavLst>
                                    </p:anim>
                                  </p:childTnLst>
                                </p:cTn>
                              </p:par>
                              <p:par>
                                <p:cTn id="29" presetID="8" presetClass="emph" presetSubtype="0" fill="hold" grpId="0" nodeType="withEffect">
                                  <p:stCondLst>
                                    <p:cond delay="0"/>
                                  </p:stCondLst>
                                  <p:childTnLst>
                                    <p:animRot by="-240000">
                                      <p:cBhvr>
                                        <p:cTn id="30" dur="1750" fill="hold"/>
                                        <p:tgtEl>
                                          <p:spTgt spid="5"/>
                                        </p:tgtEl>
                                        <p:attrNameLst>
                                          <p:attrName>r</p:attrName>
                                        </p:attrNameLst>
                                      </p:cBhvr>
                                    </p:animRot>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animEffect transition="in" filter="fade">
                                      <p:cBhvr>
                                        <p:cTn id="35" dur="1750"/>
                                        <p:tgtEl>
                                          <p:spTgt spid="4"/>
                                        </p:tgtEl>
                                      </p:cBhvr>
                                    </p:animEffect>
                                    <p:anim calcmode="lin" valueType="num">
                                      <p:cBhvr>
                                        <p:cTn id="36" dur="1750" fill="hold"/>
                                        <p:tgtEl>
                                          <p:spTgt spid="4"/>
                                        </p:tgtEl>
                                        <p:attrNameLst>
                                          <p:attrName>ppt_x</p:attrName>
                                        </p:attrNameLst>
                                      </p:cBhvr>
                                      <p:tavLst>
                                        <p:tav tm="0">
                                          <p:val>
                                            <p:strVal val="#ppt_x"/>
                                          </p:val>
                                        </p:tav>
                                        <p:tav tm="100000">
                                          <p:val>
                                            <p:strVal val="#ppt_x"/>
                                          </p:val>
                                        </p:tav>
                                      </p:tavLst>
                                    </p:anim>
                                    <p:anim calcmode="lin" valueType="num">
                                      <p:cBhvr>
                                        <p:cTn id="37" dur="1750" fill="hold"/>
                                        <p:tgtEl>
                                          <p:spTgt spid="4"/>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1750"/>
                                        <p:tgtEl>
                                          <p:spTgt spid="11"/>
                                        </p:tgtEl>
                                      </p:cBhvr>
                                    </p:animEffect>
                                    <p:anim calcmode="lin" valueType="num">
                                      <p:cBhvr>
                                        <p:cTn id="41" dur="1750" fill="hold"/>
                                        <p:tgtEl>
                                          <p:spTgt spid="11"/>
                                        </p:tgtEl>
                                        <p:attrNameLst>
                                          <p:attrName>ppt_x</p:attrName>
                                        </p:attrNameLst>
                                      </p:cBhvr>
                                      <p:tavLst>
                                        <p:tav tm="0">
                                          <p:val>
                                            <p:strVal val="#ppt_x"/>
                                          </p:val>
                                        </p:tav>
                                        <p:tav tm="100000">
                                          <p:val>
                                            <p:strVal val="#ppt_x"/>
                                          </p:val>
                                        </p:tav>
                                      </p:tavLst>
                                    </p:anim>
                                    <p:anim calcmode="lin" valueType="num">
                                      <p:cBhvr>
                                        <p:cTn id="42" dur="1750" fill="hold"/>
                                        <p:tgtEl>
                                          <p:spTgt spid="11"/>
                                        </p:tgtEl>
                                        <p:attrNameLst>
                                          <p:attrName>ppt_y</p:attrName>
                                        </p:attrNameLst>
                                      </p:cBhvr>
                                      <p:tavLst>
                                        <p:tav tm="0">
                                          <p:val>
                                            <p:strVal val="#ppt_y+.1"/>
                                          </p:val>
                                        </p:tav>
                                        <p:tav tm="100000">
                                          <p:val>
                                            <p:strVal val="#ppt_y"/>
                                          </p:val>
                                        </p:tav>
                                      </p:tavLst>
                                    </p:anim>
                                  </p:childTnLst>
                                </p:cTn>
                              </p:par>
                              <p:par>
                                <p:cTn id="43" presetID="8" presetClass="emph" presetSubtype="0" fill="hold" grpId="1" nodeType="withEffect">
                                  <p:stCondLst>
                                    <p:cond delay="0"/>
                                  </p:stCondLst>
                                  <p:childTnLst>
                                    <p:animRot by="-240000">
                                      <p:cBhvr>
                                        <p:cTn id="44" dur="1750" fill="hold"/>
                                        <p:tgtEl>
                                          <p:spTgt spid="5"/>
                                        </p:tgtEl>
                                        <p:attrNameLst>
                                          <p:attrName>r</p:attrName>
                                        </p:attrNameLst>
                                      </p:cBhvr>
                                    </p:animRo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3" grpId="0"/>
      <p:bldP spid="2" grpId="0" animBg="1"/>
      <p:bldP spid="3" grpId="0"/>
      <p:bldP spid="4" grpId="0"/>
      <p:bldP spid="5" grpId="0" animBg="1"/>
      <p:bldP spid="5" grpId="1" animBg="1"/>
      <p:bldP spid="5" grpId="2" animBg="1"/>
      <p:bldP spid="6"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anim calcmode="lin" valueType="num">
                                      <p:cBhvr>
                                        <p:cTn id="8" dur="1000" fill="hold"/>
                                        <p:tgtEl>
                                          <p:spTgt spid="10"/>
                                        </p:tgtEl>
                                        <p:attrNameLst>
                                          <p:attrName>ppt_x</p:attrName>
                                        </p:attrNameLst>
                                      </p:cBhvr>
                                      <p:tavLst>
                                        <p:tav tm="0">
                                          <p:val>
                                            <p:strVal val="#ppt_x"/>
                                          </p:val>
                                        </p:tav>
                                        <p:tav tm="100000">
                                          <p:val>
                                            <p:strVal val="#ppt_x"/>
                                          </p:val>
                                        </p:tav>
                                      </p:tavLst>
                                    </p:anim>
                                    <p:anim calcmode="lin" valueType="num">
                                      <p:cBhvr>
                                        <p:cTn id="9"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000"/>
                                        <p:tgtEl>
                                          <p:spTgt spid="14"/>
                                        </p:tgtEl>
                                      </p:cBhvr>
                                    </p:animEffect>
                                    <p:anim calcmode="lin" valueType="num">
                                      <p:cBhvr>
                                        <p:cTn id="15" dur="1000" fill="hold"/>
                                        <p:tgtEl>
                                          <p:spTgt spid="14"/>
                                        </p:tgtEl>
                                        <p:attrNameLst>
                                          <p:attrName>ppt_x</p:attrName>
                                        </p:attrNameLst>
                                      </p:cBhvr>
                                      <p:tavLst>
                                        <p:tav tm="0">
                                          <p:val>
                                            <p:strVal val="#ppt_x"/>
                                          </p:val>
                                        </p:tav>
                                        <p:tav tm="100000">
                                          <p:val>
                                            <p:strVal val="#ppt_x"/>
                                          </p:val>
                                        </p:tav>
                                      </p:tavLst>
                                    </p:anim>
                                    <p:anim calcmode="lin" valueType="num">
                                      <p:cBhvr>
                                        <p:cTn id="16" dur="10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000"/>
                                        <p:tgtEl>
                                          <p:spTgt spid="8"/>
                                        </p:tgtEl>
                                      </p:cBhvr>
                                    </p:animEffect>
                                    <p:anim calcmode="lin" valueType="num">
                                      <p:cBhvr>
                                        <p:cTn id="20" dur="1000" fill="hold"/>
                                        <p:tgtEl>
                                          <p:spTgt spid="8"/>
                                        </p:tgtEl>
                                        <p:attrNameLst>
                                          <p:attrName>ppt_x</p:attrName>
                                        </p:attrNameLst>
                                      </p:cBhvr>
                                      <p:tavLst>
                                        <p:tav tm="0">
                                          <p:val>
                                            <p:strVal val="#ppt_x"/>
                                          </p:val>
                                        </p:tav>
                                        <p:tav tm="100000">
                                          <p:val>
                                            <p:strVal val="#ppt_x"/>
                                          </p:val>
                                        </p:tav>
                                      </p:tavLst>
                                    </p:anim>
                                    <p:anim calcmode="lin" valueType="num">
                                      <p:cBhvr>
                                        <p:cTn id="2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000"/>
                                        <p:tgtEl>
                                          <p:spTgt spid="16"/>
                                        </p:tgtEl>
                                      </p:cBhvr>
                                    </p:animEffect>
                                    <p:anim calcmode="lin" valueType="num">
                                      <p:cBhvr>
                                        <p:cTn id="27" dur="1000" fill="hold"/>
                                        <p:tgtEl>
                                          <p:spTgt spid="16"/>
                                        </p:tgtEl>
                                        <p:attrNameLst>
                                          <p:attrName>ppt_x</p:attrName>
                                        </p:attrNameLst>
                                      </p:cBhvr>
                                      <p:tavLst>
                                        <p:tav tm="0">
                                          <p:val>
                                            <p:strVal val="#ppt_x"/>
                                          </p:val>
                                        </p:tav>
                                        <p:tav tm="100000">
                                          <p:val>
                                            <p:strVal val="#ppt_x"/>
                                          </p:val>
                                        </p:tav>
                                      </p:tavLst>
                                    </p:anim>
                                    <p:anim calcmode="lin" valueType="num">
                                      <p:cBhvr>
                                        <p:cTn id="28" dur="10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000"/>
                                        <p:tgtEl>
                                          <p:spTgt spid="12"/>
                                        </p:tgtEl>
                                      </p:cBhvr>
                                    </p:animEffect>
                                    <p:anim calcmode="lin" valueType="num">
                                      <p:cBhvr>
                                        <p:cTn id="32" dur="1000" fill="hold"/>
                                        <p:tgtEl>
                                          <p:spTgt spid="12"/>
                                        </p:tgtEl>
                                        <p:attrNameLst>
                                          <p:attrName>ppt_x</p:attrName>
                                        </p:attrNameLst>
                                      </p:cBhvr>
                                      <p:tavLst>
                                        <p:tav tm="0">
                                          <p:val>
                                            <p:strVal val="#ppt_x"/>
                                          </p:val>
                                        </p:tav>
                                        <p:tav tm="100000">
                                          <p:val>
                                            <p:strVal val="#ppt_x"/>
                                          </p:val>
                                        </p:tav>
                                      </p:tavLst>
                                    </p:anim>
                                    <p:anim calcmode="lin" valueType="num">
                                      <p:cBhvr>
                                        <p:cTn id="33"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9E7E4-9329-7F3E-2693-3AA94D672204}"/>
            </a:ext>
          </a:extLst>
        </p:cNvPr>
        <p:cNvGrpSpPr/>
        <p:nvPr/>
      </p:nvGrpSpPr>
      <p:grpSpPr>
        <a:xfrm>
          <a:off x="0" y="0"/>
          <a:ext cx="0" cy="0"/>
          <a:chOff x="0" y="0"/>
          <a:chExt cx="0" cy="0"/>
        </a:xfrm>
      </p:grpSpPr>
      <p:sp>
        <p:nvSpPr>
          <p:cNvPr id="27" name="Freeform: Shape 26">
            <a:extLst>
              <a:ext uri="{FF2B5EF4-FFF2-40B4-BE49-F238E27FC236}">
                <a16:creationId xmlns:a16="http://schemas.microsoft.com/office/drawing/2014/main" id="{76281A60-410A-CACA-6171-BF59B1D16396}"/>
              </a:ext>
            </a:extLst>
          </p:cNvPr>
          <p:cNvSpPr/>
          <p:nvPr/>
        </p:nvSpPr>
        <p:spPr>
          <a:xfrm>
            <a:off x="1454669" y="2771141"/>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Residential Solar and Battery Programs </a:t>
            </a:r>
          </a:p>
        </p:txBody>
      </p:sp>
      <p:sp>
        <p:nvSpPr>
          <p:cNvPr id="33" name="Freeform: Shape 32">
            <a:extLst>
              <a:ext uri="{FF2B5EF4-FFF2-40B4-BE49-F238E27FC236}">
                <a16:creationId xmlns:a16="http://schemas.microsoft.com/office/drawing/2014/main" id="{DBF58CDC-55FB-3815-FF5E-A138391E3115}"/>
              </a:ext>
            </a:extLst>
          </p:cNvPr>
          <p:cNvSpPr/>
          <p:nvPr/>
        </p:nvSpPr>
        <p:spPr>
          <a:xfrm>
            <a:off x="1057087" y="5432612"/>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Small scale 1 to 3-year pilot programs could show what long-term implementation could look like </a:t>
            </a:r>
          </a:p>
        </p:txBody>
      </p:sp>
      <p:sp>
        <p:nvSpPr>
          <p:cNvPr id="9" name="Title 8">
            <a:extLst>
              <a:ext uri="{FF2B5EF4-FFF2-40B4-BE49-F238E27FC236}">
                <a16:creationId xmlns:a16="http://schemas.microsoft.com/office/drawing/2014/main" id="{59B54F6E-0101-26A9-C9A2-2278A39AFE0B}"/>
              </a:ext>
            </a:extLst>
          </p:cNvPr>
          <p:cNvSpPr>
            <a:spLocks noGrp="1"/>
          </p:cNvSpPr>
          <p:nvPr>
            <p:ph type="title"/>
          </p:nvPr>
        </p:nvSpPr>
        <p:spPr/>
        <p:txBody>
          <a:bodyPr/>
          <a:lstStyle/>
          <a:p>
            <a:r>
              <a:rPr lang="en-US">
                <a:latin typeface="Arial Black"/>
                <a:cs typeface="Arial"/>
              </a:rPr>
              <a:t>Key Goals</a:t>
            </a:r>
          </a:p>
        </p:txBody>
      </p:sp>
      <p:sp>
        <p:nvSpPr>
          <p:cNvPr id="24" name="Block Arc 23">
            <a:extLst>
              <a:ext uri="{FF2B5EF4-FFF2-40B4-BE49-F238E27FC236}">
                <a16:creationId xmlns:a16="http://schemas.microsoft.com/office/drawing/2014/main" id="{2BBB9282-583E-F3E7-594B-7BA758CDFD8F}"/>
              </a:ext>
            </a:extLst>
          </p:cNvPr>
          <p:cNvSpPr/>
          <p:nvPr/>
        </p:nvSpPr>
        <p:spPr>
          <a:xfrm>
            <a:off x="-4725016" y="798787"/>
            <a:ext cx="6309187" cy="6309187"/>
          </a:xfrm>
          <a:prstGeom prst="blockArc">
            <a:avLst>
              <a:gd name="adj1" fmla="val 18900000"/>
              <a:gd name="adj2" fmla="val 2700000"/>
              <a:gd name="adj3" fmla="val 342"/>
            </a:avLst>
          </a:prstGeom>
        </p:spPr>
        <p:style>
          <a:lnRef idx="2">
            <a:schemeClr val="accent1">
              <a:shade val="60000"/>
              <a:hueOff val="0"/>
              <a:satOff val="0"/>
              <a:lumOff val="0"/>
              <a:alphaOff val="0"/>
            </a:schemeClr>
          </a:lnRef>
          <a:fillRef idx="0">
            <a:schemeClr val="accent1">
              <a:hueOff val="0"/>
              <a:satOff val="0"/>
              <a:lumOff val="0"/>
              <a:alphaOff val="0"/>
            </a:schemeClr>
          </a:fillRef>
          <a:effectRef idx="0">
            <a:schemeClr val="accent1">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25" name="Freeform: Shape 24">
            <a:extLst>
              <a:ext uri="{FF2B5EF4-FFF2-40B4-BE49-F238E27FC236}">
                <a16:creationId xmlns:a16="http://schemas.microsoft.com/office/drawing/2014/main" id="{E2BE97D6-8E56-310F-93BF-D8D11D90C25D}"/>
              </a:ext>
            </a:extLst>
          </p:cNvPr>
          <p:cNvSpPr/>
          <p:nvPr/>
        </p:nvSpPr>
        <p:spPr>
          <a:xfrm>
            <a:off x="1035405" y="1888176"/>
            <a:ext cx="10465742" cy="585974"/>
          </a:xfrm>
          <a:custGeom>
            <a:avLst/>
            <a:gdLst>
              <a:gd name="csX0" fmla="*/ 0 w 10465742"/>
              <a:gd name="csY0" fmla="*/ 0 h 585974"/>
              <a:gd name="csX1" fmla="*/ 10465742 w 10465742"/>
              <a:gd name="csY1" fmla="*/ 0 h 585974"/>
              <a:gd name="csX2" fmla="*/ 10465742 w 10465742"/>
              <a:gd name="csY2" fmla="*/ 585974 h 585974"/>
              <a:gd name="csX3" fmla="*/ 0 w 10465742"/>
              <a:gd name="csY3" fmla="*/ 585974 h 585974"/>
              <a:gd name="csX4" fmla="*/ 0 w 10465742"/>
              <a:gd name="csY4" fmla="*/ 0 h 585974"/>
            </a:gdLst>
            <a:ahLst/>
            <a:cxnLst>
              <a:cxn ang="0">
                <a:pos x="csX0" y="csY0"/>
              </a:cxn>
              <a:cxn ang="0">
                <a:pos x="csX1" y="csY1"/>
              </a:cxn>
              <a:cxn ang="0">
                <a:pos x="csX2" y="csY2"/>
              </a:cxn>
              <a:cxn ang="0">
                <a:pos x="csX3" y="csY3"/>
              </a:cxn>
              <a:cxn ang="0">
                <a:pos x="csX4" y="csY4"/>
              </a:cxn>
            </a:cxnLst>
            <a:rect l="l" t="t" r="r" b="b"/>
            <a:pathLst>
              <a:path w="10465742" h="585974">
                <a:moveTo>
                  <a:pt x="0" y="0"/>
                </a:moveTo>
                <a:lnTo>
                  <a:pt x="10465742" y="0"/>
                </a:lnTo>
                <a:lnTo>
                  <a:pt x="10465742"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Utilities – focus area</a:t>
            </a:r>
          </a:p>
        </p:txBody>
      </p:sp>
      <p:sp>
        <p:nvSpPr>
          <p:cNvPr id="26" name="Oval 25">
            <a:extLst>
              <a:ext uri="{FF2B5EF4-FFF2-40B4-BE49-F238E27FC236}">
                <a16:creationId xmlns:a16="http://schemas.microsoft.com/office/drawing/2014/main" id="{8591E176-2D5C-3D50-824B-27F1B377A499}"/>
              </a:ext>
            </a:extLst>
          </p:cNvPr>
          <p:cNvSpPr/>
          <p:nvPr/>
        </p:nvSpPr>
        <p:spPr>
          <a:xfrm>
            <a:off x="669171" y="5354800"/>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8" name="Oval 27">
            <a:extLst>
              <a:ext uri="{FF2B5EF4-FFF2-40B4-BE49-F238E27FC236}">
                <a16:creationId xmlns:a16="http://schemas.microsoft.com/office/drawing/2014/main" id="{B43235F0-4C25-9D4F-5222-B46C825C328A}"/>
              </a:ext>
            </a:extLst>
          </p:cNvPr>
          <p:cNvSpPr/>
          <p:nvPr/>
        </p:nvSpPr>
        <p:spPr>
          <a:xfrm>
            <a:off x="669171" y="1814929"/>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29" name="Freeform: Shape 28">
            <a:extLst>
              <a:ext uri="{FF2B5EF4-FFF2-40B4-BE49-F238E27FC236}">
                <a16:creationId xmlns:a16="http://schemas.microsoft.com/office/drawing/2014/main" id="{5CF95732-D7FE-789F-D317-7B00FCDE6387}"/>
              </a:ext>
            </a:extLst>
          </p:cNvPr>
          <p:cNvSpPr/>
          <p:nvPr/>
        </p:nvSpPr>
        <p:spPr>
          <a:xfrm>
            <a:off x="1584171" y="3660394"/>
            <a:ext cx="9916976" cy="585974"/>
          </a:xfrm>
          <a:custGeom>
            <a:avLst/>
            <a:gdLst>
              <a:gd name="csX0" fmla="*/ 0 w 9916976"/>
              <a:gd name="csY0" fmla="*/ 0 h 585974"/>
              <a:gd name="csX1" fmla="*/ 9916976 w 9916976"/>
              <a:gd name="csY1" fmla="*/ 0 h 585974"/>
              <a:gd name="csX2" fmla="*/ 9916976 w 9916976"/>
              <a:gd name="csY2" fmla="*/ 585974 h 585974"/>
              <a:gd name="csX3" fmla="*/ 0 w 9916976"/>
              <a:gd name="csY3" fmla="*/ 585974 h 585974"/>
              <a:gd name="csX4" fmla="*/ 0 w 9916976"/>
              <a:gd name="csY4" fmla="*/ 0 h 585974"/>
            </a:gdLst>
            <a:ahLst/>
            <a:cxnLst>
              <a:cxn ang="0">
                <a:pos x="csX0" y="csY0"/>
              </a:cxn>
              <a:cxn ang="0">
                <a:pos x="csX1" y="csY1"/>
              </a:cxn>
              <a:cxn ang="0">
                <a:pos x="csX2" y="csY2"/>
              </a:cxn>
              <a:cxn ang="0">
                <a:pos x="csX3" y="csY3"/>
              </a:cxn>
              <a:cxn ang="0">
                <a:pos x="csX4" y="csY4"/>
              </a:cxn>
            </a:cxnLst>
            <a:rect l="l" t="t" r="r" b="b"/>
            <a:pathLst>
              <a:path w="9916976" h="585974">
                <a:moveTo>
                  <a:pt x="0" y="0"/>
                </a:moveTo>
                <a:lnTo>
                  <a:pt x="9916976" y="0"/>
                </a:lnTo>
                <a:lnTo>
                  <a:pt x="9916976"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APTIM to work as administer for these programs</a:t>
            </a:r>
          </a:p>
        </p:txBody>
      </p:sp>
      <p:sp>
        <p:nvSpPr>
          <p:cNvPr id="30" name="Oval 29">
            <a:extLst>
              <a:ext uri="{FF2B5EF4-FFF2-40B4-BE49-F238E27FC236}">
                <a16:creationId xmlns:a16="http://schemas.microsoft.com/office/drawing/2014/main" id="{EBE130C1-3134-AF7D-04C2-DC2D520F8629}"/>
              </a:ext>
            </a:extLst>
          </p:cNvPr>
          <p:cNvSpPr/>
          <p:nvPr/>
        </p:nvSpPr>
        <p:spPr>
          <a:xfrm>
            <a:off x="1088435" y="2704183"/>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1" name="Freeform: Shape 30">
            <a:extLst>
              <a:ext uri="{FF2B5EF4-FFF2-40B4-BE49-F238E27FC236}">
                <a16:creationId xmlns:a16="http://schemas.microsoft.com/office/drawing/2014/main" id="{C0A85464-883D-196D-8C7D-FB658DA13881}"/>
              </a:ext>
            </a:extLst>
          </p:cNvPr>
          <p:cNvSpPr/>
          <p:nvPr/>
        </p:nvSpPr>
        <p:spPr>
          <a:xfrm>
            <a:off x="1455298" y="4543359"/>
            <a:ext cx="10045849" cy="585974"/>
          </a:xfrm>
          <a:custGeom>
            <a:avLst/>
            <a:gdLst>
              <a:gd name="csX0" fmla="*/ 0 w 10045849"/>
              <a:gd name="csY0" fmla="*/ 0 h 585974"/>
              <a:gd name="csX1" fmla="*/ 10045849 w 10045849"/>
              <a:gd name="csY1" fmla="*/ 0 h 585974"/>
              <a:gd name="csX2" fmla="*/ 10045849 w 10045849"/>
              <a:gd name="csY2" fmla="*/ 585974 h 585974"/>
              <a:gd name="csX3" fmla="*/ 0 w 10045849"/>
              <a:gd name="csY3" fmla="*/ 585974 h 585974"/>
              <a:gd name="csX4" fmla="*/ 0 w 10045849"/>
              <a:gd name="csY4" fmla="*/ 0 h 585974"/>
            </a:gdLst>
            <a:ahLst/>
            <a:cxnLst>
              <a:cxn ang="0">
                <a:pos x="csX0" y="csY0"/>
              </a:cxn>
              <a:cxn ang="0">
                <a:pos x="csX1" y="csY1"/>
              </a:cxn>
              <a:cxn ang="0">
                <a:pos x="csX2" y="csY2"/>
              </a:cxn>
              <a:cxn ang="0">
                <a:pos x="csX3" y="csY3"/>
              </a:cxn>
              <a:cxn ang="0">
                <a:pos x="csX4" y="csY4"/>
              </a:cxn>
            </a:cxnLst>
            <a:rect l="l" t="t" r="r" b="b"/>
            <a:pathLst>
              <a:path w="10045849" h="585974">
                <a:moveTo>
                  <a:pt x="0" y="0"/>
                </a:moveTo>
                <a:lnTo>
                  <a:pt x="10045849" y="0"/>
                </a:lnTo>
                <a:lnTo>
                  <a:pt x="10045849" y="585974"/>
                </a:lnTo>
                <a:lnTo>
                  <a:pt x="0" y="585974"/>
                </a:lnTo>
                <a:lnTo>
                  <a:pt x="0" y="0"/>
                </a:ln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rial" panose="020B0604020202020204" pitchFamily="34" charset="0"/>
                <a:cs typeface="Arial" panose="020B0604020202020204" pitchFamily="34" charset="0"/>
              </a:rPr>
              <a:t>Start with states that have begun the process of  implementing similar programs</a:t>
            </a:r>
          </a:p>
        </p:txBody>
      </p:sp>
      <p:sp>
        <p:nvSpPr>
          <p:cNvPr id="32" name="Oval 31">
            <a:extLst>
              <a:ext uri="{FF2B5EF4-FFF2-40B4-BE49-F238E27FC236}">
                <a16:creationId xmlns:a16="http://schemas.microsoft.com/office/drawing/2014/main" id="{65B40EFC-3416-FB30-D927-8D0CB27FFCF8}"/>
              </a:ext>
            </a:extLst>
          </p:cNvPr>
          <p:cNvSpPr/>
          <p:nvPr/>
        </p:nvSpPr>
        <p:spPr>
          <a:xfrm>
            <a:off x="1234665" y="3593437"/>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34" name="Oval 33">
            <a:extLst>
              <a:ext uri="{FF2B5EF4-FFF2-40B4-BE49-F238E27FC236}">
                <a16:creationId xmlns:a16="http://schemas.microsoft.com/office/drawing/2014/main" id="{0E48A10C-565A-CDF6-9818-ABC3558826BA}"/>
              </a:ext>
            </a:extLst>
          </p:cNvPr>
          <p:cNvSpPr/>
          <p:nvPr/>
        </p:nvSpPr>
        <p:spPr>
          <a:xfrm>
            <a:off x="1088435" y="4470112"/>
            <a:ext cx="732468" cy="732468"/>
          </a:xfrm>
          <a:prstGeom prst="ellipse">
            <a:avLst/>
          </a:prstGeom>
        </p:spPr>
        <p:style>
          <a:lnRef idx="2">
            <a:schemeClr val="accent1">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endParaRPr lang="en-US"/>
          </a:p>
        </p:txBody>
      </p:sp>
      <p:sp>
        <p:nvSpPr>
          <p:cNvPr id="4" name="Footer Placeholder 3">
            <a:extLst>
              <a:ext uri="{FF2B5EF4-FFF2-40B4-BE49-F238E27FC236}">
                <a16:creationId xmlns:a16="http://schemas.microsoft.com/office/drawing/2014/main" id="{AAFE608D-C3EE-B00C-BCFF-AB7F0A054BA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9159C1F8-4F66-3EED-E3F5-E53725D5C9F6}"/>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22513EC3-30D0-A331-BEDE-8A8761F0273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326C5B4D-7EA5-4780-BD57-BE431BFD2F5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EBFA18F1-BA69-372B-A7B6-A367A273A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B1B8D6B7-3162-0023-9E84-58526782AD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18596CB4-93E0-A54B-95E0-E1A9544A274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1751" y="1901447"/>
            <a:ext cx="559432" cy="559432"/>
          </a:xfrm>
          <a:prstGeom prst="rect">
            <a:avLst/>
          </a:prstGeom>
        </p:spPr>
      </p:pic>
    </p:spTree>
    <p:extLst>
      <p:ext uri="{BB962C8B-B14F-4D97-AF65-F5344CB8AC3E}">
        <p14:creationId xmlns:p14="http://schemas.microsoft.com/office/powerpoint/2010/main" val="4360850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5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5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33" grpId="0" animBg="1"/>
      <p:bldP spid="25" grpId="0" animBg="1"/>
      <p:bldP spid="29"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How It Works</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554480"/>
            <a:ext cx="3483864" cy="2286000"/>
          </a:xfrm>
          <a:prstGeom prst="rect">
            <a:avLst/>
          </a:prstGeom>
          <a:solidFill>
            <a:schemeClr val="accent3"/>
          </a:solidFill>
          <a:ln>
            <a:solidFill>
              <a:schemeClr val="accent3"/>
            </a:solid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2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52544" y="1554480"/>
            <a:ext cx="3483864" cy="228600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2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247888" y="1554480"/>
            <a:ext cx="3483864" cy="228600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2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986784" y="2468880"/>
            <a:ext cx="320040" cy="457200"/>
          </a:xfrm>
          <a:prstGeom prst="rect">
            <a:avLst/>
          </a:prstGeom>
          <a:noFill/>
        </p:spPr>
        <p:txBody>
          <a:bodyPr wrap="square">
            <a:spAutoFit/>
          </a:bodyPr>
          <a:lstStyle/>
          <a:p>
            <a:pPr algn="ctr"/>
            <a:r>
              <a:rPr sz="2200" b="1">
                <a:solidFill>
                  <a:srgbClr val="002856"/>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882128" y="2468880"/>
            <a:ext cx="320040" cy="457200"/>
          </a:xfrm>
          <a:prstGeom prst="rect">
            <a:avLst/>
          </a:prstGeom>
          <a:noFill/>
        </p:spPr>
        <p:txBody>
          <a:bodyPr wrap="square">
            <a:spAutoFit/>
          </a:bodyPr>
          <a:lstStyle/>
          <a:p>
            <a:pPr algn="ctr"/>
            <a:r>
              <a:rPr sz="2200" b="1">
                <a:solidFill>
                  <a:srgbClr val="002856"/>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4206240"/>
            <a:ext cx="11247120" cy="1554480"/>
          </a:xfrm>
          <a:prstGeom prst="rect">
            <a:avLst/>
          </a:prstGeom>
          <a:solidFill>
            <a:srgbClr val="FDF1D9"/>
          </a:solidFill>
          <a:ln w="12700">
            <a:solidFill>
              <a:srgbClr val="FF8200"/>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400" i="1">
                <a:solidFill>
                  <a:srgbClr val="002856"/>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17" name="TextBox 16"/>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Three roles, one flow -- the utility owns, APTIM administers, the household hosts</a:t>
            </a:r>
          </a:p>
        </p:txBody>
      </p:sp>
    </p:spTree>
    <p:extLst>
      <p:ext uri="{BB962C8B-B14F-4D97-AF65-F5344CB8AC3E}">
        <p14:creationId xmlns:p14="http://schemas.microsoft.com/office/powerpoint/2010/main" val="3444185173"/>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TextBox 16"/>
          <p:cNvSpPr txBox="1"/>
          <p:nvPr/>
        </p:nvSpPr>
        <p:spPr>
          <a:xfrm>
            <a:off x="457200" y="1463040"/>
            <a:ext cx="3606698" cy="365760"/>
          </a:xfrm>
          <a:prstGeom prst="rect">
            <a:avLst/>
          </a:prstGeom>
          <a:noFill/>
        </p:spPr>
        <p:txBody>
          <a:bodyPr wrap="none">
            <a:spAutoFit/>
          </a:bodyPr>
          <a:lstStyle/>
          <a:p>
            <a:r>
              <a:rPr sz="1300" b="1">
                <a:solidFill>
                  <a:srgbClr val="FF8200"/>
                </a:solidFill>
                <a:latin typeface="Arial"/>
              </a:rPr>
              <a:t>How APTIM Gets Paid</a:t>
            </a:r>
          </a:p>
        </p:txBody>
      </p:sp>
      <p:sp>
        <p:nvSpPr>
          <p:cNvPr id="18" name="TextBox 17"/>
          <p:cNvSpPr txBox="1"/>
          <p:nvPr/>
        </p:nvSpPr>
        <p:spPr>
          <a:xfrm>
            <a:off x="457200" y="1920240"/>
            <a:ext cx="3606698" cy="3931920"/>
          </a:xfrm>
          <a:prstGeom prst="rect">
            <a:avLst/>
          </a:prstGeom>
          <a:noFill/>
        </p:spPr>
        <p:txBody>
          <a:bodyPr wrap="square">
            <a:spAutoFit/>
          </a:bodyPr>
          <a:lstStyle/>
          <a:p>
            <a:pPr>
              <a:spcAft>
                <a:spcPts val="600"/>
              </a:spcAft>
            </a:pPr>
            <a:r>
              <a:rPr sz="1200" b="1">
                <a:solidFill>
                  <a:srgbClr val="002856"/>
                </a:solidFill>
                <a:latin typeface="Arial"/>
              </a:rPr>
              <a:t>Model: </a:t>
            </a:r>
            <a:r>
              <a:rPr sz="1200">
                <a:solidFill>
                  <a:srgbClr val="002856"/>
                </a:solidFill>
                <a:latin typeface="Arial"/>
              </a:rPr>
              <a:t>Base fee as % of program budget + performance bonus overlay</a:t>
            </a:r>
          </a:p>
          <a:p>
            <a:pPr>
              <a:spcAft>
                <a:spcPts val="600"/>
              </a:spcAft>
            </a:pPr>
            <a:r>
              <a:rPr sz="1200" b="1">
                <a:solidFill>
                  <a:srgbClr val="002856"/>
                </a:solidFill>
                <a:latin typeface="Arial"/>
              </a:rPr>
              <a:t>Precedent: </a:t>
            </a:r>
            <a:r>
              <a:rPr sz="1200">
                <a:solidFill>
                  <a:srgbClr val="002856"/>
                </a:solidFill>
                <a:latin typeface="Arial"/>
              </a:rPr>
              <a:t>APTIM's real Focus on Energy contract (2023-2026) uses this exact structure</a:t>
            </a:r>
          </a:p>
          <a:p>
            <a:pPr>
              <a:spcAft>
                <a:spcPts val="600"/>
              </a:spcAft>
            </a:pPr>
            <a:r>
              <a:rPr sz="1200" b="1">
                <a:solidFill>
                  <a:srgbClr val="002856"/>
                </a:solidFill>
                <a:latin typeface="Arial"/>
              </a:rPr>
              <a:t>Benchmark: </a:t>
            </a:r>
            <a:r>
              <a:rPr sz="1200">
                <a:solidFill>
                  <a:srgbClr val="002856"/>
                </a:solidFill>
                <a:latin typeface="Arial"/>
              </a:rPr>
              <a:t>Federal EECBG caps admin fees at 10% of funds -- a citable floor</a:t>
            </a:r>
          </a:p>
          <a:p>
            <a:pPr>
              <a:spcAft>
                <a:spcPts val="600"/>
              </a:spcAft>
            </a:pPr>
            <a:r>
              <a:rPr sz="1200" b="1">
                <a:solidFill>
                  <a:srgbClr val="002856"/>
                </a:solidFill>
                <a:latin typeface="Arial"/>
              </a:rPr>
              <a:t>Exact %: </a:t>
            </a:r>
            <a:r>
              <a:rPr sz="1200">
                <a:solidFill>
                  <a:srgbClr val="002856"/>
                </a:solidFill>
                <a:latin typeface="Arial"/>
              </a:rPr>
              <a:t>Negotiated at RFP stage, not fixed here</a:t>
            </a:r>
          </a:p>
        </p:txBody>
      </p:sp>
      <p:sp>
        <p:nvSpPr>
          <p:cNvPr id="19" name="TextBox 18"/>
          <p:cNvSpPr txBox="1"/>
          <p:nvPr/>
        </p:nvSpPr>
        <p:spPr>
          <a:xfrm>
            <a:off x="4292498" y="1463040"/>
            <a:ext cx="3606698" cy="365760"/>
          </a:xfrm>
          <a:prstGeom prst="rect">
            <a:avLst/>
          </a:prstGeom>
          <a:noFill/>
        </p:spPr>
        <p:txBody>
          <a:bodyPr wrap="none">
            <a:spAutoFit/>
          </a:bodyPr>
          <a:lstStyle/>
          <a:p>
            <a:r>
              <a:rPr sz="1300" b="1">
                <a:solidFill>
                  <a:srgbClr val="FF8200"/>
                </a:solidFill>
                <a:latin typeface="Arial"/>
              </a:rPr>
              <a:t>Why All Parties Say Yes</a:t>
            </a:r>
          </a:p>
        </p:txBody>
      </p:sp>
      <p:sp>
        <p:nvSpPr>
          <p:cNvPr id="20" name="TextBox 19"/>
          <p:cNvSpPr txBox="1"/>
          <p:nvPr/>
        </p:nvSpPr>
        <p:spPr>
          <a:xfrm>
            <a:off x="4292498" y="1920240"/>
            <a:ext cx="3606698" cy="3931920"/>
          </a:xfrm>
          <a:prstGeom prst="rect">
            <a:avLst/>
          </a:prstGeom>
          <a:noFill/>
        </p:spPr>
        <p:txBody>
          <a:bodyPr wrap="square">
            <a:spAutoFit/>
          </a:bodyPr>
          <a:lstStyle/>
          <a:p>
            <a:pPr>
              <a:spcAft>
                <a:spcPts val="600"/>
              </a:spcAft>
            </a:pPr>
            <a:r>
              <a:rPr sz="1200" b="1">
                <a:solidFill>
                  <a:srgbClr val="002856"/>
                </a:solidFill>
                <a:latin typeface="Arial"/>
              </a:rPr>
              <a:t>Utility: </a:t>
            </a:r>
            <a:r>
              <a:rPr sz="1200">
                <a:solidFill>
                  <a:srgbClr val="002856"/>
                </a:solidFill>
                <a:latin typeface="Arial"/>
              </a:rPr>
              <a:t>Meets storage mandate, grows rate base, cheaper than new peaker capacity</a:t>
            </a:r>
          </a:p>
          <a:p>
            <a:pPr>
              <a:spcAft>
                <a:spcPts val="600"/>
              </a:spcAft>
            </a:pPr>
            <a:r>
              <a:rPr sz="1200" b="1">
                <a:solidFill>
                  <a:srgbClr val="002856"/>
                </a:solidFill>
                <a:latin typeface="Arial"/>
              </a:rPr>
              <a:t>Household: </a:t>
            </a:r>
            <a:r>
              <a:rPr sz="1200">
                <a:solidFill>
                  <a:srgbClr val="002856"/>
                </a:solidFill>
                <a:latin typeface="Arial"/>
              </a:rPr>
              <a:t>Free backup power, zero upfront or monthly cost</a:t>
            </a:r>
          </a:p>
          <a:p>
            <a:pPr>
              <a:spcAft>
                <a:spcPts val="600"/>
              </a:spcAft>
            </a:pPr>
            <a:r>
              <a:rPr sz="1200" b="1">
                <a:solidFill>
                  <a:srgbClr val="002856"/>
                </a:solidFill>
                <a:latin typeface="Arial"/>
              </a:rPr>
              <a:t>APTIM: </a:t>
            </a:r>
            <a:r>
              <a:rPr sz="1200">
                <a:solidFill>
                  <a:srgbClr val="002856"/>
                </a:solidFill>
                <a:latin typeface="Arial"/>
              </a:rPr>
              <a:t>Recurring fee + Michigan market entry, filling an unadministered service niche</a:t>
            </a:r>
          </a:p>
          <a:p>
            <a:pPr>
              <a:spcAft>
                <a:spcPts val="600"/>
              </a:spcAft>
            </a:pPr>
            <a:r>
              <a:rPr sz="1200" b="1">
                <a:solidFill>
                  <a:srgbClr val="002856"/>
                </a:solidFill>
                <a:latin typeface="Arial"/>
              </a:rPr>
              <a:t>Regulator: </a:t>
            </a:r>
            <a:r>
              <a:rPr sz="1200">
                <a:solidFill>
                  <a:srgbClr val="002856"/>
                </a:solidFill>
                <a:latin typeface="Arial"/>
              </a:rPr>
              <a:t>Resilience delivered without a new tax; performance-linked fee keeps utility accountable</a:t>
            </a:r>
          </a:p>
        </p:txBody>
      </p:sp>
      <p:sp>
        <p:nvSpPr>
          <p:cNvPr id="21" name="TextBox 20"/>
          <p:cNvSpPr txBox="1"/>
          <p:nvPr/>
        </p:nvSpPr>
        <p:spPr>
          <a:xfrm>
            <a:off x="8127796" y="1463040"/>
            <a:ext cx="3606698" cy="365760"/>
          </a:xfrm>
          <a:prstGeom prst="rect">
            <a:avLst/>
          </a:prstGeom>
          <a:noFill/>
        </p:spPr>
        <p:txBody>
          <a:bodyPr wrap="none">
            <a:spAutoFit/>
          </a:bodyPr>
          <a:lstStyle/>
          <a:p>
            <a:r>
              <a:rPr sz="1300" b="1">
                <a:solidFill>
                  <a:srgbClr val="FF8200"/>
                </a:solidFill>
                <a:latin typeface="Arial"/>
              </a:rPr>
              <a:t>Design &amp; Rollout</a:t>
            </a:r>
          </a:p>
        </p:txBody>
      </p:sp>
      <p:sp>
        <p:nvSpPr>
          <p:cNvPr id="22" name="TextBox 21"/>
          <p:cNvSpPr txBox="1"/>
          <p:nvPr/>
        </p:nvSpPr>
        <p:spPr>
          <a:xfrm>
            <a:off x="8127796" y="1920240"/>
            <a:ext cx="3606698" cy="3931920"/>
          </a:xfrm>
          <a:prstGeom prst="rect">
            <a:avLst/>
          </a:prstGeom>
          <a:noFill/>
        </p:spPr>
        <p:txBody>
          <a:bodyPr wrap="square">
            <a:spAutoFit/>
          </a:bodyPr>
          <a:lstStyle/>
          <a:p>
            <a:pPr>
              <a:spcAft>
                <a:spcPts val="600"/>
              </a:spcAft>
            </a:pPr>
            <a:r>
              <a:rPr sz="1200" b="1">
                <a:solidFill>
                  <a:srgbClr val="002856"/>
                </a:solidFill>
                <a:latin typeface="Arial"/>
              </a:rPr>
              <a:t>Cold weather: </a:t>
            </a:r>
            <a:r>
              <a:rPr sz="1200">
                <a:solidFill>
                  <a:srgbClr val="002856"/>
                </a:solidFill>
                <a:latin typeface="Arial"/>
              </a:rPr>
              <a:t>Thermally-managed battery chemistry, sized with a winter capacity buffer -- Michigan's worst outages are winter/ice-storm driven</a:t>
            </a:r>
          </a:p>
          <a:p>
            <a:pPr>
              <a:spcAft>
                <a:spcPts val="600"/>
              </a:spcAft>
            </a:pPr>
            <a:r>
              <a:rPr sz="1200" b="1">
                <a:solidFill>
                  <a:srgbClr val="002856"/>
                </a:solidFill>
                <a:latin typeface="Arial"/>
              </a:rPr>
              <a:t>Maintenance: </a:t>
            </a:r>
            <a:r>
              <a:rPr sz="1200">
                <a:solidFill>
                  <a:srgbClr val="002856"/>
                </a:solidFill>
                <a:latin typeface="Arial"/>
              </a:rPr>
              <a:t>Utility owns the fleet, so utility (via APTIM's contractor network) maintains it -- zero burden on the household</a:t>
            </a:r>
          </a:p>
          <a:p>
            <a:pPr>
              <a:spcAft>
                <a:spcPts val="600"/>
              </a:spcAft>
            </a:pPr>
            <a:r>
              <a:rPr sz="1200" b="1">
                <a:solidFill>
                  <a:srgbClr val="002856"/>
                </a:solidFill>
                <a:latin typeface="Arial"/>
              </a:rPr>
              <a:t>Pilot targeting: </a:t>
            </a:r>
            <a:r>
              <a:rPr sz="1200">
                <a:solidFill>
                  <a:srgbClr val="002856"/>
                </a:solidFill>
                <a:latin typeface="Arial"/>
              </a:rPr>
              <a:t>Phase 1 enrolls qualifying, stable homeowners to prove the model; Phase 2 expands to higher-need areas</a:t>
            </a:r>
          </a:p>
        </p:txBody>
      </p:sp>
      <p:sp>
        <p:nvSpPr>
          <p:cNvPr id="2" name="TextBox 1">
            <a:extLst>
              <a:ext uri="{FF2B5EF4-FFF2-40B4-BE49-F238E27FC236}">
                <a16:creationId xmlns:a16="http://schemas.microsoft.com/office/drawing/2014/main" id="{11A4FF38-A895-E5AD-7B7D-E210952D7017}"/>
              </a:ext>
            </a:extLst>
          </p:cNvPr>
          <p:cNvSpPr txBox="1"/>
          <p:nvPr/>
        </p:nvSpPr>
        <p:spPr>
          <a:xfrm>
            <a:off x="457200"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Service Concept: Why It Holds Together</a:t>
            </a:r>
          </a:p>
        </p:txBody>
      </p:sp>
      <p:sp>
        <p:nvSpPr>
          <p:cNvPr id="15" name="TextBox 14">
            <a:extLst>
              <a:ext uri="{FF2B5EF4-FFF2-40B4-BE49-F238E27FC236}">
                <a16:creationId xmlns:a16="http://schemas.microsoft.com/office/drawing/2014/main" id="{42703F9F-40E7-D271-6607-47225C69D6C2}"/>
              </a:ext>
            </a:extLst>
          </p:cNvPr>
          <p:cNvSpPr txBox="1"/>
          <p:nvPr/>
        </p:nvSpPr>
        <p:spPr>
          <a:xfrm>
            <a:off x="2444191" y="6469380"/>
            <a:ext cx="7309713" cy="215444"/>
          </a:xfrm>
          <a:prstGeom prst="rect">
            <a:avLst/>
          </a:prstGeom>
          <a:noFill/>
        </p:spPr>
        <p:txBody>
          <a:bodyPr wrap="square">
            <a:spAutoFit/>
          </a:bodyPr>
          <a:lstStyle/>
          <a:p>
            <a:r>
              <a:rPr sz="1000">
                <a:solidFill>
                  <a:srgbClr val="595959"/>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297412" y="6469380"/>
            <a:ext cx="285292" cy="251460"/>
          </a:xfrm>
          <a:prstGeom prst="rect">
            <a:avLst/>
          </a:prstGeom>
          <a:noFill/>
        </p:spPr>
        <p:txBody>
          <a:bodyPr wrap="none" lIns="91440" tIns="45720" rIns="91440" bIns="45720" anchor="t">
            <a:spAutoFit/>
          </a:bodyPr>
          <a:lstStyle/>
          <a:p>
            <a:r>
              <a:rPr lang="en-US" sz="1000">
                <a:solidFill>
                  <a:srgbClr val="595959"/>
                </a:solidFill>
                <a:latin typeface="Arial"/>
                <a:cs typeface="Arial"/>
              </a:rPr>
              <a:t>10</a:t>
            </a:r>
          </a:p>
        </p:txBody>
      </p:sp>
      <p:sp>
        <p:nvSpPr>
          <p:cNvPr id="23" name="TextBox 22"/>
          <p:cNvSpPr txBox="1"/>
          <p:nvPr/>
        </p:nvSpPr>
        <p:spPr>
          <a:xfrm>
            <a:off x="457200" y="1051560"/>
            <a:ext cx="11247120" cy="256032"/>
          </a:xfrm>
          <a:prstGeom prst="rect">
            <a:avLst/>
          </a:prstGeom>
          <a:noFill/>
        </p:spPr>
        <p:txBody>
          <a:bodyPr wrap="square">
            <a:spAutoFit/>
          </a:bodyPr>
          <a:lstStyle/>
          <a:p>
            <a:r>
              <a:rPr sz="1300" i="1">
                <a:solidFill>
                  <a:srgbClr val="595959"/>
                </a:solidFill>
                <a:latin typeface="Arial"/>
              </a:rPr>
              <a:t>The fee model, the incentives, and the rollout design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49943" y="320040"/>
            <a:ext cx="11247120" cy="685800"/>
          </a:xfrm>
          <a:prstGeom prst="rect">
            <a:avLst/>
          </a:prstGeom>
          <a:noFill/>
        </p:spPr>
        <p:txBody>
          <a:bodyPr wrap="square">
            <a:spAutoFit/>
          </a:bodyPr>
          <a:lstStyle/>
          <a:p>
            <a:r>
              <a:rPr lang="en-US" sz="2200" b="1">
                <a:solidFill>
                  <a:srgbClr val="002856"/>
                </a:solidFill>
                <a:latin typeface="Arial Black" panose="020B0A04020102020204" pitchFamily="34" charset="0"/>
              </a:rPr>
              <a:t>Prioritization Framework: Why Battery + Solar Administration</a:t>
            </a:r>
          </a:p>
        </p:txBody>
      </p:sp>
      <p:graphicFrame>
        <p:nvGraphicFramePr>
          <p:cNvPr id="4" name="Table 3"/>
          <p:cNvGraphicFramePr>
            <a:graphicFrameLocks noGrp="1"/>
          </p:cNvGraphicFramePr>
          <p:nvPr>
            <p:extLst>
              <p:ext uri="{D42A27DB-BD31-4B8C-83A1-F6EECF244321}">
                <p14:modId xmlns:p14="http://schemas.microsoft.com/office/powerpoint/2010/main" val="4045984683"/>
              </p:ext>
            </p:extLst>
          </p:nvPr>
        </p:nvGraphicFramePr>
        <p:xfrm>
          <a:off x="457200" y="1280159"/>
          <a:ext cx="11247120" cy="3109104"/>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1036368">
                <a:tc>
                  <a:txBody>
                    <a:bodyPr/>
                    <a:lstStyle/>
                    <a:p>
                      <a:pPr>
                        <a:defRPr sz="1100" b="1">
                          <a:solidFill>
                            <a:srgbClr val="FFFFFF"/>
                          </a:solidFill>
                          <a:latin typeface="Arial"/>
                        </a:defRPr>
                      </a:pPr>
                      <a:r>
                        <a:t>Approach Considered</a:t>
                      </a:r>
                    </a:p>
                  </a:txBody>
                  <a:tcPr>
                    <a:solidFill>
                      <a:srgbClr val="002856"/>
                    </a:solidFill>
                  </a:tcPr>
                </a:tc>
                <a:tc>
                  <a:txBody>
                    <a:bodyPr/>
                    <a:lstStyle/>
                    <a:p>
                      <a:pPr>
                        <a:defRPr sz="1100" b="1">
                          <a:solidFill>
                            <a:srgbClr val="FFFFFF"/>
                          </a:solidFill>
                          <a:latin typeface="Arial"/>
                        </a:defRPr>
                      </a:pPr>
                      <a:r>
                        <a:t>1-3 Yr Feasibility</a:t>
                      </a:r>
                    </a:p>
                  </a:txBody>
                  <a:tcPr>
                    <a:solidFill>
                      <a:srgbClr val="002856"/>
                    </a:solidFill>
                  </a:tcPr>
                </a:tc>
                <a:tc>
                  <a:txBody>
                    <a:bodyPr/>
                    <a:lstStyle/>
                    <a:p>
                      <a:pPr>
                        <a:defRPr sz="1100" b="1">
                          <a:solidFill>
                            <a:srgbClr val="FFFFFF"/>
                          </a:solidFill>
                          <a:latin typeface="Arial"/>
                        </a:defRPr>
                      </a:pPr>
                      <a:r>
                        <a:t>Alignment with Prompt</a:t>
                      </a:r>
                    </a:p>
                  </a:txBody>
                  <a:tcPr>
                    <a:solidFill>
                      <a:srgbClr val="002856"/>
                    </a:solidFill>
                  </a:tcPr>
                </a:tc>
                <a:tc>
                  <a:txBody>
                    <a:bodyPr/>
                    <a:lstStyle/>
                    <a:p>
                      <a:pPr>
                        <a:defRPr sz="1100" b="1">
                          <a:solidFill>
                            <a:srgbClr val="FFFFFF"/>
                          </a:solidFill>
                          <a:latin typeface="Arial"/>
                        </a:defRPr>
                      </a:pPr>
                      <a:r>
                        <a:t>Verdict</a:t>
                      </a:r>
                    </a:p>
                  </a:txBody>
                  <a:tcPr>
                    <a:solidFill>
                      <a:srgbClr val="002856"/>
                    </a:solidFill>
                  </a:tcPr>
                </a:tc>
                <a:extLst>
                  <a:ext uri="{0D108BD9-81ED-4DB2-BD59-A6C34878D82A}">
                    <a16:rowId xmlns:a16="http://schemas.microsoft.com/office/drawing/2014/main" val="10000"/>
                  </a:ext>
                </a:extLst>
              </a:tr>
              <a:tr h="1036368">
                <a:tc>
                  <a:txBody>
                    <a:bodyPr/>
                    <a:lstStyle/>
                    <a:p>
                      <a:pPr>
                        <a:defRPr sz="1100">
                          <a:solidFill>
                            <a:srgbClr val="002856"/>
                          </a:solidFill>
                          <a:latin typeface="Arial"/>
                        </a:defRPr>
                      </a:pPr>
                      <a:r>
                        <a:t>Broad "Program Resilience Toolkit" (multi-module: adaptation support, funding navigation, compliance/reporting, contractor continuity)</a:t>
                      </a:r>
                    </a:p>
                  </a:txBody>
                  <a:tcPr>
                    <a:solidFill>
                      <a:srgbClr val="F5E4E7"/>
                    </a:solidFill>
                  </a:tcPr>
                </a:tc>
                <a:tc>
                  <a:txBody>
                    <a:bodyPr/>
                    <a:lstStyle/>
                    <a:p>
                      <a:pPr>
                        <a:defRPr sz="1100">
                          <a:solidFill>
                            <a:srgbClr val="002856"/>
                          </a:solidFill>
                          <a:latin typeface="Arial"/>
                        </a:defRPr>
                      </a:pPr>
                      <a:r>
                        <a:t>Medium -- every module individually feasible, but no single concrete offering</a:t>
                      </a:r>
                    </a:p>
                  </a:txBody>
                  <a:tcPr>
                    <a:solidFill>
                      <a:srgbClr val="F5E4E7"/>
                    </a:solidFill>
                  </a:tcPr>
                </a:tc>
                <a:tc>
                  <a:txBody>
                    <a:bodyPr/>
                    <a:lstStyle/>
                    <a:p>
                      <a:pPr>
                        <a:defRPr sz="1100">
                          <a:solidFill>
                            <a:srgbClr val="002856"/>
                          </a:solidFill>
                          <a:latin typeface="Arial"/>
                        </a:defRPr>
                      </a:pPr>
                      <a:r>
                        <a:t>Partial -- leadership explicitly asked for a specific program, not a broad toolkit; prompt calls for a focused solution, not a general capability set</a:t>
                      </a:r>
                    </a:p>
                  </a:txBody>
                  <a:tcPr>
                    <a:solidFill>
                      <a:srgbClr val="F5E4E7"/>
                    </a:solidFill>
                  </a:tcPr>
                </a:tc>
                <a:tc>
                  <a:txBody>
                    <a:bodyPr/>
                    <a:lstStyle/>
                    <a:p>
                      <a:pPr>
                        <a:defRPr sz="1100">
                          <a:solidFill>
                            <a:srgbClr val="002856"/>
                          </a:solidFill>
                          <a:latin typeface="Arial"/>
                        </a:defRPr>
                      </a:pPr>
                      <a:r>
                        <a:t>NOT SELECTED as standalone pitch</a:t>
                      </a:r>
                    </a:p>
                  </a:txBody>
                  <a:tcPr>
                    <a:solidFill>
                      <a:srgbClr val="F5E4E7"/>
                    </a:solidFill>
                  </a:tcPr>
                </a:tc>
                <a:extLst>
                  <a:ext uri="{0D108BD9-81ED-4DB2-BD59-A6C34878D82A}">
                    <a16:rowId xmlns:a16="http://schemas.microsoft.com/office/drawing/2014/main" val="10001"/>
                  </a:ext>
                </a:extLst>
              </a:tr>
              <a:tr h="1036368">
                <a:tc>
                  <a:txBody>
                    <a:bodyPr/>
                    <a:lstStyle/>
                    <a:p>
                      <a:pPr>
                        <a:defRPr sz="1100">
                          <a:solidFill>
                            <a:srgbClr val="002856"/>
                          </a:solidFill>
                          <a:latin typeface="Arial"/>
                        </a:defRPr>
                      </a:pPr>
                      <a:r>
                        <a:t>Utility-Owned Battery + Solar Fleet, APTIM-Administered</a:t>
                      </a:r>
                    </a:p>
                  </a:txBody>
                  <a:tcPr>
                    <a:solidFill>
                      <a:srgbClr val="E0F2F1"/>
                    </a:solidFill>
                  </a:tcPr>
                </a:tc>
                <a:tc>
                  <a:txBody>
                    <a:bodyPr/>
                    <a:lstStyle/>
                    <a:p>
                      <a:pPr>
                        <a:defRPr sz="1100">
                          <a:solidFill>
                            <a:srgbClr val="002856"/>
                          </a:solidFill>
                          <a:latin typeface="Arial"/>
                        </a:defRPr>
                      </a:pPr>
                      <a:r>
                        <a:t>High -- matches an existing, proven APTIM capability</a:t>
                      </a:r>
                    </a:p>
                  </a:txBody>
                  <a:tcPr>
                    <a:solidFill>
                      <a:srgbClr val="E0F2F1"/>
                    </a:solidFill>
                  </a:tcPr>
                </a:tc>
                <a:tc>
                  <a:txBody>
                    <a:bodyPr/>
                    <a:lstStyle/>
                    <a:p>
                      <a:pPr>
                        <a:defRPr sz="1100">
                          <a:solidFill>
                            <a:srgbClr val="002856"/>
                          </a:solidFill>
                          <a:latin typeface="Arial"/>
                        </a:defRPr>
                      </a:pPr>
                      <a:r>
                        <a:t>Full -- single client group (utilities), no new technology, leverages current APTIM capabilities, achievable in 1-3 years, scalable across states</a:t>
                      </a:r>
                    </a:p>
                  </a:txBody>
                  <a:tcPr>
                    <a:solidFill>
                      <a:srgbClr val="E0F2F1"/>
                    </a:solidFill>
                  </a:tcPr>
                </a:tc>
                <a:tc>
                  <a:txBody>
                    <a:bodyPr/>
                    <a:lstStyle/>
                    <a:p>
                      <a:pPr>
                        <a:defRPr sz="1100">
                          <a:solidFill>
                            <a:srgbClr val="002856"/>
                          </a:solidFill>
                          <a:latin typeface="Arial"/>
                        </a:defRPr>
                      </a:pPr>
                      <a:r>
                        <a:t>SELECTED</a:t>
                      </a:r>
                    </a:p>
                  </a:txBody>
                  <a:tcPr>
                    <a:solidFill>
                      <a:srgbClr val="E0F2F1"/>
                    </a:solidFill>
                  </a:tcPr>
                </a:tc>
                <a:extLst>
                  <a:ext uri="{0D108BD9-81ED-4DB2-BD59-A6C34878D82A}">
                    <a16:rowId xmlns:a16="http://schemas.microsoft.com/office/drawing/2014/main" val="10002"/>
                  </a:ext>
                </a:extLst>
              </a:tr>
            </a:tbl>
          </a:graphicData>
        </a:graphic>
      </p:graphicFrame>
      <p:sp>
        <p:nvSpPr>
          <p:cNvPr id="5" name="Rectangle 4"/>
          <p:cNvSpPr/>
          <p:nvPr/>
        </p:nvSpPr>
        <p:spPr>
          <a:xfrm>
            <a:off x="457200" y="4160520"/>
            <a:ext cx="11239863" cy="1965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600"/>
              </a:spcAft>
            </a:pPr>
            <a:r>
              <a:rPr b="1" sz="1400">
                <a:solidFill>
                  <a:srgbClr val="002856"/>
                </a:solidFill>
              </a:rPr>
              <a:t>Why We Didn't Stop at the Toolkit</a:t>
            </a:r>
          </a:p>
          <a:p>
            <a:pPr>
              <a:spcAft>
                <a:spcPts val="600"/>
              </a:spcAft>
            </a:pPr>
            <a:r>
              <a:rPr sz="1200">
                <a:solidFill>
                  <a:srgbClr val="002856"/>
                </a:solidFill>
              </a:rPr>
              <a:t>•  Not procurable: utilities buy defined programs through RFPs -- a toolkit isn't a bid, it's a brochure</a:t>
            </a:r>
          </a:p>
          <a:p>
            <a:pPr>
              <a:spcAft>
                <a:spcPts val="600"/>
              </a:spcAft>
            </a:pPr>
            <a:r>
              <a:rPr sz="1200">
                <a:solidFill>
                  <a:srgbClr val="002856"/>
                </a:solidFill>
              </a:rPr>
              <a:t>•  That seat is taken: CLEAResult and ICF already sell broad program advisory; the fleet-administration seat is empty</a:t>
            </a:r>
          </a:p>
          <a:p>
            <a:pPr>
              <a:spcAft>
                <a:spcPts val="600"/>
              </a:spcAft>
            </a:pPr>
            <a:r>
              <a:rPr sz="1200">
                <a:solidFill>
                  <a:srgbClr val="002856"/>
                </a:solidFill>
              </a:rPr>
              <a:t>•  Wrong answer to the prompt: a toolkit only helps manage shrinking grant budgets -- the fleet creates a NEW ratepayer-financed budget line federal freezes can't touch</a:t>
            </a:r>
          </a:p>
          <a:p>
            <a:pPr>
              <a:spcAft>
                <a:spcPts val="600"/>
              </a:spcAft>
            </a:pPr>
            <a:r>
              <a:rPr sz="1200">
                <a:solidFill>
                  <a:srgbClr val="002856"/>
                </a:solidFill>
              </a:rPr>
              <a:t>•  Revenue quality: toolkit sells consulting hours; the fleet earns recurring fees tied to 20-year infrastructure</a:t>
            </a:r>
          </a:p>
          <a:p>
            <a:pPr>
              <a:spcAft>
                <a:spcPts val="600"/>
              </a:spcAft>
            </a:pPr>
            <a:r>
              <a:rPr sz="1200">
                <a:solidFill>
                  <a:srgbClr val="002856"/>
                </a:solidFill>
              </a:rPr>
              <a:t>•  Leadership directive: one specific, concrete program -- not a capability list</a:t>
            </a:r>
          </a:p>
        </p:txBody>
      </p:sp>
      <p:sp>
        <p:nvSpPr>
          <p:cNvPr id="6" name="TextBox 5"/>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7" name="TextBox 6"/>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6</a:t>
            </a:r>
          </a:p>
        </p:txBody>
      </p:sp>
    </p:spTree>
    <p:extLst>
      <p:ext uri="{BB962C8B-B14F-4D97-AF65-F5344CB8AC3E}">
        <p14:creationId xmlns:p14="http://schemas.microsoft.com/office/powerpoint/2010/main" val="9549527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8C1DBF-00D2-2BD5-8D43-5E26A2FC00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26203F-FAA3-204C-0F9F-C78B361E92C2}"/>
              </a:ext>
            </a:extLst>
          </p:cNvPr>
          <p:cNvSpPr>
            <a:spLocks noGrp="1"/>
          </p:cNvSpPr>
          <p:nvPr>
            <p:ph type="title"/>
          </p:nvPr>
        </p:nvSpPr>
        <p:spPr/>
        <p:txBody>
          <a:bodyPr/>
          <a:lstStyle/>
          <a:p>
            <a:r>
              <a:rPr lang="en-US">
                <a:latin typeface="Arial Black"/>
                <a:cs typeface="Arial"/>
              </a:rPr>
              <a:t>National Competitive Landscape</a:t>
            </a:r>
            <a:endParaRPr lang="en-US"/>
          </a:p>
        </p:txBody>
      </p:sp>
      <p:sp>
        <p:nvSpPr>
          <p:cNvPr id="4" name="Footer Placeholder 3">
            <a:extLst>
              <a:ext uri="{FF2B5EF4-FFF2-40B4-BE49-F238E27FC236}">
                <a16:creationId xmlns:a16="http://schemas.microsoft.com/office/drawing/2014/main" id="{CF2153C5-03FE-C52B-AB72-1ACE773478C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F182A612-0460-57B1-4910-34D58C5DFEA2}"/>
              </a:ext>
            </a:extLst>
          </p:cNvPr>
          <p:cNvSpPr>
            <a:spLocks noGrp="1"/>
          </p:cNvSpPr>
          <p:nvPr>
            <p:ph type="sldNum" sz="quarter" idx="12"/>
          </p:nvPr>
        </p:nvSpPr>
        <p:spPr/>
        <p:txBody>
          <a:bodyPr/>
          <a:lstStyle/>
          <a:p>
            <a:fld id="{F8F6B9CD-BE6B-498B-93B3-0FAD7ADE75E3}" type="slidenum">
              <a:rPr lang="en-US" smtClean="0"/>
              <a:t>8</a:t>
            </a:fld>
            <a:endParaRPr lang="en-US"/>
          </a:p>
        </p:txBody>
      </p:sp>
      <p:sp>
        <p:nvSpPr>
          <p:cNvPr id="8" name="TextBox 7">
            <a:extLst>
              <a:ext uri="{FF2B5EF4-FFF2-40B4-BE49-F238E27FC236}">
                <a16:creationId xmlns:a16="http://schemas.microsoft.com/office/drawing/2014/main" id="{FC2A4717-2B42-A73A-96A5-EC766367F73F}"/>
              </a:ext>
            </a:extLst>
          </p:cNvPr>
          <p:cNvSpPr txBox="1"/>
          <p:nvPr/>
        </p:nvSpPr>
        <p:spPr>
          <a:xfrm>
            <a:off x="195943" y="1389018"/>
            <a:ext cx="3593735" cy="236988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CLEAResult</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Acquisition and Participation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Large Contractor and Utility Networks</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Large-Scale Program Implementation</a:t>
            </a:r>
          </a:p>
          <a:p>
            <a:pPr marL="285750" indent="-285750">
              <a:buFont typeface="Calibri"/>
              <a:buChar char="-"/>
            </a:pPr>
            <a:endParaRPr lang="en-US" sz="2000"/>
          </a:p>
        </p:txBody>
      </p:sp>
      <p:sp>
        <p:nvSpPr>
          <p:cNvPr id="9" name="TextBox 8">
            <a:extLst>
              <a:ext uri="{FF2B5EF4-FFF2-40B4-BE49-F238E27FC236}">
                <a16:creationId xmlns:a16="http://schemas.microsoft.com/office/drawing/2014/main" id="{A381B1B7-5CE4-B478-16FF-573FF931233F}"/>
              </a:ext>
            </a:extLst>
          </p:cNvPr>
          <p:cNvSpPr txBox="1"/>
          <p:nvPr/>
        </p:nvSpPr>
        <p:spPr>
          <a:xfrm>
            <a:off x="4147456" y="1359452"/>
            <a:ext cx="3897083" cy="178510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ICF</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Cost-Effective Program Design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Customer Targeting and Segmentation</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Advanced Analytics and Program Optimization</a:t>
            </a:r>
          </a:p>
        </p:txBody>
      </p:sp>
      <p:sp>
        <p:nvSpPr>
          <p:cNvPr id="10" name="TextBox 9">
            <a:extLst>
              <a:ext uri="{FF2B5EF4-FFF2-40B4-BE49-F238E27FC236}">
                <a16:creationId xmlns:a16="http://schemas.microsoft.com/office/drawing/2014/main" id="{2CA1AC09-2B36-ADA1-F182-F01702388FBA}"/>
              </a:ext>
            </a:extLst>
          </p:cNvPr>
          <p:cNvSpPr txBox="1"/>
          <p:nvPr/>
        </p:nvSpPr>
        <p:spPr>
          <a:xfrm>
            <a:off x="8551817" y="1387567"/>
            <a:ext cx="3480525" cy="206210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000" b="1">
                <a:latin typeface="Arial" panose="020B0604020202020204" pitchFamily="34" charset="0"/>
                <a:cs typeface="Arial" panose="020B0604020202020204" pitchFamily="34" charset="0"/>
              </a:rPr>
              <a:t>Stantec</a:t>
            </a:r>
            <a:endParaRPr lang="en-US" b="1">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Grid and Infrastructure Engineering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Energy System Planning</a:t>
            </a:r>
          </a:p>
          <a:p>
            <a:pPr marL="342900" indent="-342900">
              <a:buFont typeface="Arial" panose="020B0604020202020204" pitchFamily="34" charset="0"/>
              <a:buChar char="•"/>
            </a:pPr>
            <a:r>
              <a:rPr lang="en-US">
                <a:latin typeface="Arial" panose="020B0604020202020204" pitchFamily="34" charset="0"/>
                <a:cs typeface="Arial" panose="020B0604020202020204" pitchFamily="34" charset="0"/>
              </a:rPr>
              <a:t>Focus on Utility Infrastructure and DER Integration</a:t>
            </a:r>
          </a:p>
        </p:txBody>
      </p:sp>
      <p:pic>
        <p:nvPicPr>
          <p:cNvPr id="6" name="Picture 5" descr="250+ Map Of Usa Network Stock Photos, Pictures &amp; Royalty-Free Images ...">
            <a:extLst>
              <a:ext uri="{FF2B5EF4-FFF2-40B4-BE49-F238E27FC236}">
                <a16:creationId xmlns:a16="http://schemas.microsoft.com/office/drawing/2014/main" id="{83F5F855-5A3B-588B-0848-1C40F24F70C8}"/>
              </a:ext>
            </a:extLst>
          </p:cNvPr>
          <p:cNvPicPr>
            <a:picLocks noChangeAspect="1"/>
          </p:cNvPicPr>
          <p:nvPr/>
        </p:nvPicPr>
        <p:blipFill>
          <a:blip r:embed="rId3"/>
          <a:stretch>
            <a:fillRect/>
          </a:stretch>
        </p:blipFill>
        <p:spPr>
          <a:xfrm>
            <a:off x="365579" y="3944484"/>
            <a:ext cx="3245758" cy="2394404"/>
          </a:xfrm>
          <a:prstGeom prst="rect">
            <a:avLst/>
          </a:prstGeom>
        </p:spPr>
      </p:pic>
      <p:pic>
        <p:nvPicPr>
          <p:cNvPr id="7" name="Picture 6" descr="Statistics graph 3d icon growing bars columns | Premium AI-generated image">
            <a:extLst>
              <a:ext uri="{FF2B5EF4-FFF2-40B4-BE49-F238E27FC236}">
                <a16:creationId xmlns:a16="http://schemas.microsoft.com/office/drawing/2014/main" id="{1A644B81-E5E8-7E52-02B6-D78B4559DCFC}"/>
              </a:ext>
            </a:extLst>
          </p:cNvPr>
          <p:cNvPicPr>
            <a:picLocks noChangeAspect="1"/>
          </p:cNvPicPr>
          <p:nvPr/>
        </p:nvPicPr>
        <p:blipFill>
          <a:blip r:embed="rId4"/>
          <a:stretch>
            <a:fillRect/>
          </a:stretch>
        </p:blipFill>
        <p:spPr>
          <a:xfrm>
            <a:off x="4724400" y="3617686"/>
            <a:ext cx="2743200" cy="2721428"/>
          </a:xfrm>
          <a:prstGeom prst="rect">
            <a:avLst/>
          </a:prstGeom>
        </p:spPr>
      </p:pic>
      <p:pic>
        <p:nvPicPr>
          <p:cNvPr id="12" name="Picture 11" descr="Google-backed IPX Power launches with 4.4 GW solar portfolio after">
            <a:extLst>
              <a:ext uri="{FF2B5EF4-FFF2-40B4-BE49-F238E27FC236}">
                <a16:creationId xmlns:a16="http://schemas.microsoft.com/office/drawing/2014/main" id="{86914FBD-3EE9-74A3-2C0E-01AED2BB8C09}"/>
              </a:ext>
            </a:extLst>
          </p:cNvPr>
          <p:cNvPicPr>
            <a:picLocks noChangeAspect="1"/>
          </p:cNvPicPr>
          <p:nvPr/>
        </p:nvPicPr>
        <p:blipFill>
          <a:blip r:embed="rId5"/>
          <a:stretch>
            <a:fillRect/>
          </a:stretch>
        </p:blipFill>
        <p:spPr>
          <a:xfrm>
            <a:off x="8776607" y="3944484"/>
            <a:ext cx="3035300" cy="2256518"/>
          </a:xfrm>
          <a:prstGeom prst="rect">
            <a:avLst/>
          </a:prstGeom>
        </p:spPr>
      </p:pic>
    </p:spTree>
    <p:extLst>
      <p:ext uri="{BB962C8B-B14F-4D97-AF65-F5344CB8AC3E}">
        <p14:creationId xmlns:p14="http://schemas.microsoft.com/office/powerpoint/2010/main" val="38372841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7A61-4829-B6C1-D5ED-C82677BAA59D}"/>
              </a:ext>
            </a:extLst>
          </p:cNvPr>
          <p:cNvSpPr>
            <a:spLocks noGrp="1"/>
          </p:cNvSpPr>
          <p:nvPr>
            <p:ph type="title"/>
          </p:nvPr>
        </p:nvSpPr>
        <p:spPr/>
        <p:txBody>
          <a:bodyPr/>
          <a:lstStyle/>
          <a:p>
            <a:r>
              <a:rPr lang="en-US">
                <a:latin typeface="Arial Black"/>
                <a:cs typeface="Arial"/>
              </a:rPr>
              <a:t>Market Analysis: Opportunity Assessment</a:t>
            </a:r>
            <a:endParaRPr lang="en-US"/>
          </a:p>
        </p:txBody>
      </p:sp>
      <p:graphicFrame>
        <p:nvGraphicFramePr>
          <p:cNvPr id="889" name="Content Placeholder 888">
            <a:extLst>
              <a:ext uri="{FF2B5EF4-FFF2-40B4-BE49-F238E27FC236}">
                <a16:creationId xmlns:a16="http://schemas.microsoft.com/office/drawing/2014/main" id="{51A8CCA6-EAA8-8822-AB74-F96AF758C3D2}"/>
              </a:ext>
            </a:extLst>
          </p:cNvPr>
          <p:cNvGraphicFramePr>
            <a:graphicFrameLocks noGrp="1"/>
          </p:cNvGraphicFramePr>
          <p:nvPr>
            <p:ph idx="1"/>
            <p:extLst>
              <p:ext uri="{D42A27DB-BD31-4B8C-83A1-F6EECF244321}">
                <p14:modId xmlns:p14="http://schemas.microsoft.com/office/powerpoint/2010/main" val="117002499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Footer Placeholder 4">
            <a:extLst>
              <a:ext uri="{FF2B5EF4-FFF2-40B4-BE49-F238E27FC236}">
                <a16:creationId xmlns:a16="http://schemas.microsoft.com/office/drawing/2014/main" id="{E9066A03-4D7E-0198-5673-F149F7D158A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0B119E32-8D67-F0A4-DD0A-FF3BCD7068F1}"/>
              </a:ext>
            </a:extLst>
          </p:cNvPr>
          <p:cNvSpPr>
            <a:spLocks noGrp="1"/>
          </p:cNvSpPr>
          <p:nvPr>
            <p:ph type="sldNum" sz="quarter" idx="12"/>
          </p:nvPr>
        </p:nvSpPr>
        <p:spPr/>
        <p:txBody>
          <a:bodyPr/>
          <a:lstStyle/>
          <a:p>
            <a:fld id="{F8F6B9CD-BE6B-498B-93B3-0FAD7ADE75E3}" type="slidenum">
              <a:rPr lang="en-US" smtClean="0"/>
              <a:t>9</a:t>
            </a:fld>
            <a:endParaRPr lang="en-US"/>
          </a:p>
        </p:txBody>
      </p:sp>
    </p:spTree>
    <p:extLst>
      <p:ext uri="{BB962C8B-B14F-4D97-AF65-F5344CB8AC3E}">
        <p14:creationId xmlns:p14="http://schemas.microsoft.com/office/powerpoint/2010/main" val="25824805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p:txBody>
          <a:bodyPr/>
          <a:lstStyle/>
          <a:p>
            <a:r>
              <a:rPr lang="en-US">
                <a:latin typeface="Arial Black"/>
                <a:cs typeface="Arial"/>
              </a:rPr>
              <a:t>Market Analysis: State Opportunities and APTIM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idx="1"/>
          </p:nvPr>
        </p:nvSpPr>
        <p:spPr/>
        <p:txBody>
          <a:bodyPr vert="horz" lIns="0" tIns="0" rIns="0" bIns="0" rtlCol="0" anchor="t">
            <a:noAutofit/>
          </a:bodyPr>
          <a:lstStyle/>
          <a:p>
            <a:pPr marL="233045" indent="-233045"/>
            <a:endParaRPr lang="en-US"/>
          </a:p>
          <a:p>
            <a:pPr marL="233045" indent="-233045"/>
            <a:endParaRPr lang="en-US"/>
          </a:p>
          <a:p>
            <a:pPr marL="233045" indent="-233045"/>
            <a:endParaRPr lang="en-US"/>
          </a:p>
        </p:txBody>
      </p:sp>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p:txBody>
          <a:bodyPr/>
          <a:lstStyle/>
          <a:p>
            <a:fld id="{F8F6B9CD-BE6B-498B-93B3-0FAD7ADE75E3}" type="slidenum">
              <a:rPr lang="en-US" smtClean="0"/>
              <a:t>10</a:t>
            </a:fld>
            <a:endParaRPr lang="en-US"/>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294967295"/>
            <p:extLst>
              <p:ext uri="{D42A27DB-BD31-4B8C-83A1-F6EECF244321}">
                <p14:modId xmlns:p14="http://schemas.microsoft.com/office/powerpoint/2010/main" val="1053780890"/>
              </p:ext>
            </p:extLst>
          </p:nvPr>
        </p:nvGraphicFramePr>
        <p:xfrm>
          <a:off x="587828" y="1168400"/>
          <a:ext cx="11025223" cy="5937190"/>
        </p:xfrm>
        <a:graphic>
          <a:graphicData uri="http://schemas.openxmlformats.org/drawingml/2006/table">
            <a:tbl>
              <a:tblPr firstRow="1" bandRow="1">
                <a:tableStyleId>{5C22544A-7EE6-4342-B048-85BDC9FD1C3A}</a:tableStyleId>
              </a:tblPr>
              <a:tblGrid>
                <a:gridCol w="1461303">
                  <a:extLst>
                    <a:ext uri="{9D8B030D-6E8A-4147-A177-3AD203B41FA5}">
                      <a16:colId xmlns:a16="http://schemas.microsoft.com/office/drawing/2014/main" val="957739651"/>
                    </a:ext>
                  </a:extLst>
                </a:gridCol>
                <a:gridCol w="1388961">
                  <a:extLst>
                    <a:ext uri="{9D8B030D-6E8A-4147-A177-3AD203B41FA5}">
                      <a16:colId xmlns:a16="http://schemas.microsoft.com/office/drawing/2014/main" val="3082199612"/>
                    </a:ext>
                  </a:extLst>
                </a:gridCol>
                <a:gridCol w="2662015">
                  <a:extLst>
                    <a:ext uri="{9D8B030D-6E8A-4147-A177-3AD203B41FA5}">
                      <a16:colId xmlns:a16="http://schemas.microsoft.com/office/drawing/2014/main" val="613011870"/>
                    </a:ext>
                  </a:extLst>
                </a:gridCol>
                <a:gridCol w="2691113">
                  <a:extLst>
                    <a:ext uri="{9D8B030D-6E8A-4147-A177-3AD203B41FA5}">
                      <a16:colId xmlns:a16="http://schemas.microsoft.com/office/drawing/2014/main" val="182092073"/>
                    </a:ext>
                  </a:extLst>
                </a:gridCol>
                <a:gridCol w="2821831">
                  <a:extLst>
                    <a:ext uri="{9D8B030D-6E8A-4147-A177-3AD203B41FA5}">
                      <a16:colId xmlns:a16="http://schemas.microsoft.com/office/drawing/2014/main" val="2373816757"/>
                    </a:ext>
                  </a:extLst>
                </a:gridCol>
              </a:tblGrid>
              <a:tr h="789519">
                <a:tc>
                  <a:txBody>
                    <a:bodyPr/>
                    <a:lstStyle/>
                    <a:p>
                      <a:r>
                        <a:rPr lang="en-US"/>
                        <a:t>State</a:t>
                      </a:r>
                    </a:p>
                  </a:txBody>
                  <a:tcPr/>
                </a:tc>
                <a:tc>
                  <a:txBody>
                    <a:bodyPr/>
                    <a:lstStyle/>
                    <a:p>
                      <a:r>
                        <a:rPr lang="en-US"/>
                        <a:t>Market Status</a:t>
                      </a:r>
                    </a:p>
                  </a:txBody>
                  <a:tcPr/>
                </a:tc>
                <a:tc>
                  <a:txBody>
                    <a:bodyPr/>
                    <a:lstStyle/>
                    <a:p>
                      <a:r>
                        <a:rPr lang="en-US"/>
                        <a:t>Challenge</a:t>
                      </a:r>
                    </a:p>
                  </a:txBody>
                  <a:tcPr/>
                </a:tc>
                <a:tc>
                  <a:txBody>
                    <a:bodyPr/>
                    <a:lstStyle/>
                    <a:p>
                      <a:r>
                        <a:rPr lang="en-US"/>
                        <a:t>Opportunity</a:t>
                      </a:r>
                    </a:p>
                  </a:txBody>
                  <a:tcPr/>
                </a:tc>
                <a:tc>
                  <a:txBody>
                    <a:bodyPr/>
                    <a:lstStyle/>
                    <a:p>
                      <a:pPr lvl="0">
                        <a:buNone/>
                      </a:pPr>
                      <a:r>
                        <a:rPr lang="en-US"/>
                        <a:t>APTIM Role</a:t>
                      </a:r>
                    </a:p>
                  </a:txBody>
                  <a:tcPr/>
                </a:tc>
                <a:extLst>
                  <a:ext uri="{0D108BD9-81ED-4DB2-BD59-A6C34878D82A}">
                    <a16:rowId xmlns:a16="http://schemas.microsoft.com/office/drawing/2014/main" val="2062150352"/>
                  </a:ext>
                </a:extLst>
              </a:tr>
              <a:tr h="789519">
                <a:tc>
                  <a:txBody>
                    <a:bodyPr/>
                    <a:lstStyle/>
                    <a:p>
                      <a:pPr lvl="0">
                        <a:buNone/>
                      </a:pPr>
                      <a:r>
                        <a:rPr lang="en-US"/>
                        <a:t>California</a:t>
                      </a:r>
                    </a:p>
                  </a:txBody>
                  <a:tcPr/>
                </a:tc>
                <a:tc>
                  <a:txBody>
                    <a:bodyPr/>
                    <a:lstStyle/>
                    <a:p>
                      <a:pPr lvl="0">
                        <a:buNone/>
                      </a:pPr>
                      <a:r>
                        <a:rPr lang="en-US"/>
                        <a:t>Mature</a:t>
                      </a:r>
                    </a:p>
                  </a:txBody>
                  <a:tcPr/>
                </a:tc>
                <a:tc>
                  <a:txBody>
                    <a:bodyPr/>
                    <a:lstStyle/>
                    <a:p>
                      <a:pPr lvl="0">
                        <a:buNone/>
                      </a:pPr>
                      <a:endParaRPr lang="en-US"/>
                    </a:p>
                  </a:txBody>
                  <a:tcPr/>
                </a:tc>
                <a:tc>
                  <a:txBody>
                    <a:bodyPr/>
                    <a:lstStyle/>
                    <a:p>
                      <a:pPr lvl="0">
                        <a:buNone/>
                      </a:pPr>
                      <a:endParaRPr lang="en-US"/>
                    </a:p>
                  </a:txBody>
                  <a:tcPr/>
                </a:tc>
                <a:tc>
                  <a:txBody>
                    <a:bodyPr/>
                    <a:lstStyle/>
                    <a:p>
                      <a:pPr lvl="0">
                        <a:buNone/>
                      </a:pPr>
                      <a:endParaRPr lang="en-US"/>
                    </a:p>
                  </a:txBody>
                  <a:tcPr/>
                </a:tc>
                <a:extLst>
                  <a:ext uri="{0D108BD9-81ED-4DB2-BD59-A6C34878D82A}">
                    <a16:rowId xmlns:a16="http://schemas.microsoft.com/office/drawing/2014/main" val="3381376302"/>
                  </a:ext>
                </a:extLst>
              </a:tr>
              <a:tr h="1436927">
                <a:tc>
                  <a:txBody>
                    <a:bodyPr/>
                    <a:lstStyle/>
                    <a:p>
                      <a:r>
                        <a:rPr lang="en-US"/>
                        <a:t>North Carolina </a:t>
                      </a:r>
                    </a:p>
                  </a:txBody>
                  <a:tcPr>
                    <a:lnB w="12700">
                      <a:solidFill>
                        <a:schemeClr val="tx1"/>
                      </a:solidFill>
                    </a:lnB>
                  </a:tcPr>
                </a:tc>
                <a:tc>
                  <a:txBody>
                    <a:bodyPr/>
                    <a:lstStyle/>
                    <a:p>
                      <a:r>
                        <a:rPr lang="en-US"/>
                        <a:t>Growing </a:t>
                      </a:r>
                    </a:p>
                  </a:txBody>
                  <a:tcPr>
                    <a:lnB w="12700">
                      <a:solidFill>
                        <a:schemeClr val="tx1"/>
                      </a:solidFill>
                    </a:lnB>
                  </a:tcPr>
                </a:tc>
                <a:tc>
                  <a:txBody>
                    <a:bodyPr/>
                    <a:lstStyle/>
                    <a:p>
                      <a:r>
                        <a:rPr lang="en-US"/>
                        <a:t>Managing load growth and distributed resource integration</a:t>
                      </a:r>
                    </a:p>
                  </a:txBody>
                  <a:tcPr>
                    <a:lnB w="12700">
                      <a:solidFill>
                        <a:schemeClr val="tx1"/>
                      </a:solidFill>
                    </a:lnB>
                  </a:tcPr>
                </a:tc>
                <a:tc>
                  <a:txBody>
                    <a:bodyPr/>
                    <a:lstStyle/>
                    <a:p>
                      <a:r>
                        <a:rPr lang="en-US"/>
                        <a:t>Mature solar market with growing interest</a:t>
                      </a:r>
                    </a:p>
                  </a:txBody>
                  <a:tcPr>
                    <a:lnB w="12700" cap="flat" cmpd="sng" algn="ctr">
                      <a:solidFill>
                        <a:schemeClr val="tx1"/>
                      </a:solidFill>
                      <a:prstDash val="solid"/>
                      <a:round/>
                      <a:headEnd type="none" w="med" len="med"/>
                      <a:tailEnd type="none" w="med" len="med"/>
                    </a:lnB>
                  </a:tcPr>
                </a:tc>
                <a:tc>
                  <a:txBody>
                    <a:bodyPr/>
                    <a:lstStyle/>
                    <a:p>
                      <a:pPr lvl="0">
                        <a:buNone/>
                      </a:pPr>
                      <a:r>
                        <a:rPr lang="en-US"/>
                        <a:t>Program design and implementation</a:t>
                      </a:r>
                    </a:p>
                  </a:txBody>
                  <a:tcPr>
                    <a:lnB w="12700">
                      <a:solidFill>
                        <a:schemeClr val="tx1"/>
                      </a:solidFill>
                    </a:lnB>
                  </a:tcPr>
                </a:tc>
                <a:extLst>
                  <a:ext uri="{0D108BD9-81ED-4DB2-BD59-A6C34878D82A}">
                    <a16:rowId xmlns:a16="http://schemas.microsoft.com/office/drawing/2014/main" val="1662102389"/>
                  </a:ext>
                </a:extLst>
              </a:tr>
              <a:tr h="1436927">
                <a:tc>
                  <a:txBody>
                    <a:bodyPr/>
                    <a:lstStyle/>
                    <a:p>
                      <a:pPr lvl="0">
                        <a:buNone/>
                      </a:pPr>
                      <a:r>
                        <a:rPr lang="en-US"/>
                        <a:t>Michigan</a:t>
                      </a:r>
                    </a:p>
                  </a:txBody>
                  <a:tcPr>
                    <a:lnL w="12700">
                      <a:solidFill>
                        <a:schemeClr val="tx1"/>
                      </a:solidFill>
                    </a:lnL>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Emerging (Pilot)</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Establishing regulatory and economic justification for programs</a:t>
                      </a:r>
                    </a:p>
                  </a:txBody>
                  <a:tcPr>
                    <a:lnT w="12700">
                      <a:solidFill>
                        <a:schemeClr val="tx1"/>
                      </a:solidFill>
                    </a:lnT>
                    <a:lnB w="12700">
                      <a:solidFill>
                        <a:schemeClr val="tx1"/>
                      </a:solidFill>
                    </a:lnB>
                    <a:solidFill>
                      <a:schemeClr val="accent2">
                        <a:lumMod val="20000"/>
                        <a:lumOff val="80000"/>
                      </a:schemeClr>
                    </a:solidFill>
                  </a:tcPr>
                </a:tc>
                <a:tc>
                  <a:txBody>
                    <a:bodyPr/>
                    <a:lstStyle/>
                    <a:p>
                      <a:pPr lvl="0">
                        <a:buNone/>
                      </a:pPr>
                      <a:r>
                        <a:rPr lang="en-US"/>
                        <a:t>Utility and regulatory interest in storage, DER aggregation, and VPPS</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lvl="0">
                        <a:buNone/>
                      </a:pPr>
                      <a:r>
                        <a:rPr lang="en-US"/>
                        <a:t>Regulatory support, business case development, and pilot administration </a:t>
                      </a:r>
                    </a:p>
                  </a:txBody>
                  <a:tcPr>
                    <a:lnR w="12700">
                      <a:solidFill>
                        <a:schemeClr val="tx1"/>
                      </a:solidFill>
                    </a:lnR>
                    <a:lnT w="12700">
                      <a:solidFill>
                        <a:schemeClr val="tx1"/>
                      </a:solidFill>
                    </a:lnT>
                    <a:lnB w="12700">
                      <a:solidFill>
                        <a:schemeClr val="tx1"/>
                      </a:solidFill>
                    </a:lnB>
                    <a:solidFill>
                      <a:schemeClr val="accent2">
                        <a:lumMod val="20000"/>
                        <a:lumOff val="80000"/>
                      </a:schemeClr>
                    </a:solidFill>
                  </a:tcPr>
                </a:tc>
                <a:extLst>
                  <a:ext uri="{0D108BD9-81ED-4DB2-BD59-A6C34878D82A}">
                    <a16:rowId xmlns:a16="http://schemas.microsoft.com/office/drawing/2014/main" val="3893195930"/>
                  </a:ext>
                </a:extLst>
              </a:tr>
              <a:tr h="1484298">
                <a:tc>
                  <a:txBody>
                    <a:bodyPr/>
                    <a:lstStyle/>
                    <a:p>
                      <a:r>
                        <a:rPr lang="en-US"/>
                        <a:t>Wisconsin </a:t>
                      </a:r>
                    </a:p>
                  </a:txBody>
                  <a:tcPr>
                    <a:lnT w="12700">
                      <a:solidFill>
                        <a:schemeClr val="tx1"/>
                      </a:solidFill>
                    </a:lnT>
                  </a:tcPr>
                </a:tc>
                <a:tc>
                  <a:txBody>
                    <a:bodyPr/>
                    <a:lstStyle/>
                    <a:p>
                      <a:endParaRPr lang="en-US"/>
                    </a:p>
                  </a:txBody>
                  <a:tcPr>
                    <a:lnT w="12700">
                      <a:solidFill>
                        <a:schemeClr val="tx1"/>
                      </a:solidFill>
                    </a:lnT>
                  </a:tcPr>
                </a:tc>
                <a:tc>
                  <a:txBody>
                    <a:bodyPr/>
                    <a:lstStyle/>
                    <a:p>
                      <a:r>
                        <a:rPr lang="en-US"/>
                        <a:t>Lower customer awareness and early-stage market development</a:t>
                      </a:r>
                    </a:p>
                  </a:txBody>
                  <a:tcPr>
                    <a:lnT w="12700">
                      <a:solidFill>
                        <a:schemeClr val="tx1"/>
                      </a:solidFill>
                    </a:lnT>
                  </a:tcPr>
                </a:tc>
                <a:tc>
                  <a:txBody>
                    <a:bodyPr/>
                    <a:lstStyle/>
                    <a:p>
                      <a:r>
                        <a:rPr lang="en-US"/>
                        <a:t>Emerging opportunity for residential storage and grid flexibility programs. </a:t>
                      </a:r>
                    </a:p>
                  </a:txBody>
                  <a:tcPr>
                    <a:lnT w="12700" cap="flat" cmpd="sng" algn="ctr">
                      <a:solidFill>
                        <a:schemeClr val="tx1"/>
                      </a:solidFill>
                      <a:prstDash val="solid"/>
                      <a:round/>
                      <a:headEnd type="none" w="med" len="med"/>
                      <a:tailEnd type="none" w="med" len="med"/>
                    </a:lnT>
                  </a:tcPr>
                </a:tc>
                <a:tc>
                  <a:txBody>
                    <a:bodyPr/>
                    <a:lstStyle/>
                    <a:p>
                      <a:pPr lvl="0">
                        <a:buNone/>
                      </a:pPr>
                      <a:r>
                        <a:rPr lang="en-US"/>
                        <a:t>Customer recruitment, and program launch support</a:t>
                      </a:r>
                    </a:p>
                  </a:txBody>
                  <a:tcPr>
                    <a:lnT w="12700">
                      <a:solidFill>
                        <a:schemeClr val="tx1"/>
                      </a:solidFill>
                    </a:lnT>
                  </a:tcPr>
                </a:tc>
                <a:extLst>
                  <a:ext uri="{0D108BD9-81ED-4DB2-BD59-A6C34878D82A}">
                    <a16:rowId xmlns:a16="http://schemas.microsoft.com/office/drawing/2014/main" val="3743746382"/>
                  </a:ext>
                </a:extLst>
              </a:tr>
            </a:tbl>
          </a:graphicData>
        </a:graphic>
      </p:graphicFrame>
    </p:spTree>
    <p:extLst>
      <p:ext uri="{BB962C8B-B14F-4D97-AF65-F5344CB8AC3E}">
        <p14:creationId xmlns:p14="http://schemas.microsoft.com/office/powerpoint/2010/main" val="1457029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p:txBody>
          <a:bodyPr/>
          <a:lstStyle/>
          <a:p>
            <a:r>
              <a:rPr lang="en-US">
                <a:latin typeface="Arial Black"/>
                <a:cs typeface="Arial"/>
              </a:rPr>
              <a:t>Market Analysis: Market Size and APTIM's Goal</a:t>
            </a:r>
            <a:endParaRPr lang="en-US"/>
          </a:p>
        </p:txBody>
      </p:sp>
      <p:graphicFrame>
        <p:nvGraphicFramePr>
          <p:cNvPr id="2435" name="Content Placeholder 2434">
            <a:extLst>
              <a:ext uri="{FF2B5EF4-FFF2-40B4-BE49-F238E27FC236}">
                <a16:creationId xmlns:a16="http://schemas.microsoft.com/office/drawing/2014/main" id="{6D14276C-A3B0-4E40-DBD0-B18394AA12DC}"/>
              </a:ext>
            </a:extLst>
          </p:cNvPr>
          <p:cNvGraphicFramePr>
            <a:graphicFrameLocks noGrp="1"/>
          </p:cNvGraphicFramePr>
          <p:nvPr>
            <p:ph sz="half" idx="1"/>
            <p:extLst>
              <p:ext uri="{D42A27DB-BD31-4B8C-83A1-F6EECF244321}">
                <p14:modId xmlns:p14="http://schemas.microsoft.com/office/powerpoint/2010/main" val="2453689262"/>
              </p:ext>
            </p:extLst>
          </p:nvPr>
        </p:nvGraphicFramePr>
        <p:xfrm>
          <a:off x="438604" y="1259115"/>
          <a:ext cx="5544457" cy="490605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2823" name="Content Placeholder 2822">
            <a:extLst>
              <a:ext uri="{FF2B5EF4-FFF2-40B4-BE49-F238E27FC236}">
                <a16:creationId xmlns:a16="http://schemas.microsoft.com/office/drawing/2014/main" id="{2F0B048E-CBFE-A567-E013-FE7F500CC153}"/>
              </a:ext>
            </a:extLst>
          </p:cNvPr>
          <p:cNvGraphicFramePr>
            <a:graphicFrameLocks noGrp="1"/>
          </p:cNvGraphicFramePr>
          <p:nvPr>
            <p:ph sz="half" idx="2"/>
            <p:extLst>
              <p:ext uri="{D42A27DB-BD31-4B8C-83A1-F6EECF244321}">
                <p14:modId xmlns:p14="http://schemas.microsoft.com/office/powerpoint/2010/main" val="3102658218"/>
              </p:ext>
            </p:extLst>
          </p:nvPr>
        </p:nvGraphicFramePr>
        <p:xfrm>
          <a:off x="6378575" y="1411515"/>
          <a:ext cx="5384800" cy="4746398"/>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p:txBody>
          <a:bodyPr/>
          <a:lstStyle/>
          <a:p>
            <a:fld id="{F8F6B9CD-BE6B-498B-93B3-0FAD7ADE75E3}" type="slidenum">
              <a:rPr lang="en-US" smtClean="0"/>
              <a:t>11</a:t>
            </a:fld>
            <a:endParaRPr lang="en-US"/>
          </a:p>
        </p:txBody>
      </p:sp>
    </p:spTree>
    <p:extLst>
      <p:ext uri="{BB962C8B-B14F-4D97-AF65-F5344CB8AC3E}">
        <p14:creationId xmlns:p14="http://schemas.microsoft.com/office/powerpoint/2010/main" val="3717839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2" presetClass="entr" presetSubtype="4" fill="hold" grpId="0" nodeType="clickEffect">
                                  <p:stCondLst>
                                    <p:cond delay="0"/>
                                  </p:stCondLst>
                                  <p:childTnLst>
                                    <p:set>
                                      <p:cBhvr>
                                        <p:cTn id="10" dur="1" fill="hold">
                                          <p:stCondLst>
                                            <p:cond delay="0"/>
                                          </p:stCondLst>
                                        </p:cTn>
                                        <p:tgtEl>
                                          <p:spTgt spid="2823"/>
                                        </p:tgtEl>
                                        <p:attrNameLst>
                                          <p:attrName>style.visibility</p:attrName>
                                        </p:attrNameLst>
                                      </p:cBhvr>
                                      <p:to>
                                        <p:strVal val="visible"/>
                                      </p:to>
                                    </p:set>
                                    <p:anim calcmode="lin" valueType="num">
                                      <p:cBhvr additive="base">
                                        <p:cTn id="11" dur="500"/>
                                        <p:tgtEl>
                                          <p:spTgt spid="2823"/>
                                        </p:tgtEl>
                                        <p:attrNameLst>
                                          <p:attrName>ppt_y</p:attrName>
                                        </p:attrNameLst>
                                      </p:cBhvr>
                                      <p:tavLst>
                                        <p:tav tm="0">
                                          <p:val>
                                            <p:strVal val="#ppt_y+#ppt_h*1.125000"/>
                                          </p:val>
                                        </p:tav>
                                        <p:tav tm="100000">
                                          <p:val>
                                            <p:strVal val="#ppt_y"/>
                                          </p:val>
                                        </p:tav>
                                      </p:tavLst>
                                    </p:anim>
                                    <p:animEffect transition="in" filter="wipe(up)">
                                      <p:cBhvr>
                                        <p:cTn id="12" dur="500"/>
                                        <p:tgtEl>
                                          <p:spTgt spid="28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435" grpId="0">
        <p:bldAsOne/>
      </p:bldGraphic>
      <p:bldGraphic spid="2823" grpId="0">
        <p:bldAsOne/>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619780"/>
            <a:ext cx="11247120" cy="523220"/>
          </a:xfrm>
          <a:prstGeom prst="rect">
            <a:avLst/>
          </a:prstGeom>
          <a:noFill/>
        </p:spPr>
        <p:txBody>
          <a:bodyPr wrap="square">
            <a:spAutoFit/>
          </a:bodyPr>
          <a:lstStyle/>
          <a:p>
            <a:r>
              <a:rPr sz="2800" b="1">
                <a:solidFill>
                  <a:srgbClr val="002856"/>
                </a:solidFill>
                <a:latin typeface="Arial Black" panose="020B0A04020102020204" pitchFamily="34" charset="0"/>
              </a:rPr>
              <a:t>The Big Picture: How This Program Works</a:t>
            </a:r>
          </a:p>
        </p:txBody>
      </p:sp>
      <p:sp>
        <p:nvSpPr>
          <p:cNvPr id="4" name="Rectangle 3"/>
          <p:cNvSpPr/>
          <p:nvPr/>
        </p:nvSpPr>
        <p:spPr>
          <a:xfrm>
            <a:off x="365760" y="1463040"/>
            <a:ext cx="2555748" cy="2651760"/>
          </a:xfrm>
          <a:prstGeom prst="rect">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1. The Problem</a:t>
            </a:r>
          </a:p>
          <a:p>
            <a:pPr algn="ctr"/>
            <a:r>
              <a:rPr sz="1200">
                <a:solidFill>
                  <a:srgbClr val="FFFFFF"/>
                </a:solidFill>
                <a:latin typeface="Arial"/>
              </a:rPr>
              <a:t>Utilities must keep energy programs</a:t>
            </a:r>
            <a:r>
              <a:rPr lang="en-US" sz="1200">
                <a:solidFill>
                  <a:srgbClr val="FFFFFF"/>
                </a:solidFill>
                <a:latin typeface="Arial"/>
              </a:rPr>
              <a:t> </a:t>
            </a:r>
            <a:r>
              <a:rPr sz="1200">
                <a:solidFill>
                  <a:srgbClr val="FFFFFF"/>
                </a:solidFill>
                <a:latin typeface="Arial"/>
              </a:rPr>
              <a:t>running, but federal funding is</a:t>
            </a:r>
            <a:r>
              <a:rPr lang="en-US" sz="1200">
                <a:solidFill>
                  <a:srgbClr val="FFFFFF"/>
                </a:solidFill>
                <a:latin typeface="Arial"/>
              </a:rPr>
              <a:t> </a:t>
            </a:r>
            <a:r>
              <a:rPr sz="1200">
                <a:solidFill>
                  <a:srgbClr val="FFFFFF"/>
                </a:solidFill>
                <a:latin typeface="Arial"/>
              </a:rPr>
              <a:t>unreliable and mandates don't go away</a:t>
            </a:r>
          </a:p>
        </p:txBody>
      </p:sp>
      <p:sp>
        <p:nvSpPr>
          <p:cNvPr id="5" name="Rectangle 4"/>
          <p:cNvSpPr/>
          <p:nvPr/>
        </p:nvSpPr>
        <p:spPr>
          <a:xfrm>
            <a:off x="3332988" y="1463040"/>
            <a:ext cx="2555748" cy="2651760"/>
          </a:xfrm>
          <a:prstGeom prst="rect">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2. The Fix</a:t>
            </a:r>
          </a:p>
          <a:p>
            <a:pPr algn="ctr"/>
            <a:r>
              <a:rPr sz="1200">
                <a:solidFill>
                  <a:srgbClr val="FFFFFF"/>
                </a:solidFill>
                <a:latin typeface="Arial"/>
              </a:rPr>
              <a:t>The UTILITY buys and owns a fleet</a:t>
            </a:r>
            <a:r>
              <a:rPr lang="en-US" sz="1200">
                <a:solidFill>
                  <a:srgbClr val="FFFFFF"/>
                </a:solidFill>
                <a:latin typeface="Arial"/>
              </a:rPr>
              <a:t> </a:t>
            </a:r>
            <a:r>
              <a:rPr sz="1200">
                <a:solidFill>
                  <a:srgbClr val="FFFFFF"/>
                </a:solidFill>
                <a:latin typeface="Arial"/>
              </a:rPr>
              <a:t>of home batteries + solar -</a:t>
            </a:r>
            <a:r>
              <a:rPr lang="en-US" sz="1200">
                <a:solidFill>
                  <a:srgbClr val="FFFFFF"/>
                </a:solidFill>
                <a:latin typeface="Arial"/>
              </a:rPr>
              <a:t>-</a:t>
            </a:r>
            <a:r>
              <a:rPr sz="1200">
                <a:solidFill>
                  <a:srgbClr val="FFFFFF"/>
                </a:solidFill>
                <a:latin typeface="Arial"/>
              </a:rPr>
              <a:t>financed like any grid</a:t>
            </a:r>
            <a:r>
              <a:rPr lang="en-US" sz="1200">
                <a:solidFill>
                  <a:srgbClr val="FFFFFF"/>
                </a:solidFill>
                <a:latin typeface="Arial"/>
              </a:rPr>
              <a:t> </a:t>
            </a:r>
            <a:r>
              <a:rPr sz="1200">
                <a:solidFill>
                  <a:srgbClr val="FFFFFF"/>
                </a:solidFill>
                <a:latin typeface="Arial"/>
              </a:rPr>
              <a:t>infrastructure,</a:t>
            </a:r>
            <a:r>
              <a:rPr lang="en-US" sz="1200">
                <a:solidFill>
                  <a:srgbClr val="FFFFFF"/>
                </a:solidFill>
                <a:latin typeface="Arial"/>
              </a:rPr>
              <a:t> </a:t>
            </a:r>
            <a:r>
              <a:rPr sz="1200">
                <a:solidFill>
                  <a:srgbClr val="FFFFFF"/>
                </a:solidFill>
                <a:latin typeface="Arial"/>
              </a:rPr>
              <a:t>not a grant</a:t>
            </a:r>
          </a:p>
        </p:txBody>
      </p:sp>
      <p:sp>
        <p:nvSpPr>
          <p:cNvPr id="6" name="Rectangle 5"/>
          <p:cNvSpPr/>
          <p:nvPr/>
        </p:nvSpPr>
        <p:spPr>
          <a:xfrm>
            <a:off x="6300216" y="1463040"/>
            <a:ext cx="2555748" cy="2651760"/>
          </a:xfrm>
          <a:prstGeom prst="rect">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3. The Roles</a:t>
            </a:r>
          </a:p>
          <a:p>
            <a:pPr algn="ctr"/>
            <a:r>
              <a:rPr sz="1200">
                <a:solidFill>
                  <a:srgbClr val="FFFFFF"/>
                </a:solidFill>
                <a:latin typeface="Arial"/>
              </a:rPr>
              <a:t>APTIM administers the program.
The household just hosts the
equipment -- $0 cost to them</a:t>
            </a:r>
          </a:p>
        </p:txBody>
      </p:sp>
      <p:sp>
        <p:nvSpPr>
          <p:cNvPr id="7" name="Rectangle 6"/>
          <p:cNvSpPr/>
          <p:nvPr/>
        </p:nvSpPr>
        <p:spPr>
          <a:xfrm>
            <a:off x="9267444" y="1463040"/>
            <a:ext cx="2555748" cy="2651760"/>
          </a:xfrm>
          <a:prstGeom prst="rect">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137160" tIns="137160" rIns="137160" rtlCol="0" anchor="ctr"/>
          <a:lstStyle/>
          <a:p>
            <a:pPr algn="ctr"/>
            <a:r>
              <a:rPr sz="1500" b="1">
                <a:solidFill>
                  <a:srgbClr val="FFFFFF"/>
                </a:solidFill>
                <a:latin typeface="Arial"/>
              </a:rPr>
              <a:t>4. The Outcome</a:t>
            </a:r>
          </a:p>
          <a:p>
            <a:pPr algn="ctr"/>
            <a:r>
              <a:rPr sz="1200">
                <a:solidFill>
                  <a:srgbClr val="FFFFFF"/>
                </a:solidFill>
                <a:latin typeface="Arial"/>
              </a:rPr>
              <a:t>Utility meets its resilience mandate</a:t>
            </a:r>
            <a:r>
              <a:rPr lang="en-US" sz="1200">
                <a:solidFill>
                  <a:srgbClr val="FFFFFF"/>
                </a:solidFill>
                <a:latin typeface="Arial"/>
              </a:rPr>
              <a:t> </a:t>
            </a:r>
            <a:r>
              <a:rPr sz="1200">
                <a:solidFill>
                  <a:srgbClr val="FFFFFF"/>
                </a:solidFill>
                <a:latin typeface="Arial"/>
              </a:rPr>
              <a:t>and earns a return. APTIM gains a</a:t>
            </a:r>
            <a:r>
              <a:rPr lang="en-US" sz="1200">
                <a:solidFill>
                  <a:srgbClr val="FFFFFF"/>
                </a:solidFill>
                <a:latin typeface="Arial"/>
              </a:rPr>
              <a:t> </a:t>
            </a:r>
            <a:r>
              <a:rPr sz="1200">
                <a:solidFill>
                  <a:srgbClr val="FFFFFF"/>
                </a:solidFill>
                <a:latin typeface="Arial"/>
              </a:rPr>
              <a:t>new revenue line.</a:t>
            </a:r>
            <a:r>
              <a:rPr lang="en-US" sz="1200">
                <a:solidFill>
                  <a:srgbClr val="FFFFFF"/>
                </a:solidFill>
                <a:latin typeface="Arial"/>
              </a:rPr>
              <a:t> </a:t>
            </a:r>
            <a:r>
              <a:rPr sz="1200">
                <a:solidFill>
                  <a:srgbClr val="FFFFFF"/>
                </a:solidFill>
                <a:latin typeface="Arial"/>
              </a:rPr>
              <a:t>Household gets</a:t>
            </a:r>
            <a:r>
              <a:rPr lang="en-US" sz="1200">
                <a:solidFill>
                  <a:srgbClr val="FFFFFF"/>
                </a:solidFill>
                <a:latin typeface="Arial"/>
              </a:rPr>
              <a:t> </a:t>
            </a:r>
            <a:r>
              <a:rPr sz="1200">
                <a:solidFill>
                  <a:srgbClr val="FFFFFF"/>
                </a:solidFill>
                <a:latin typeface="Arial"/>
              </a:rPr>
              <a:t>free backup power</a:t>
            </a:r>
          </a:p>
        </p:txBody>
      </p:sp>
      <p:sp>
        <p:nvSpPr>
          <p:cNvPr id="8" name="TextBox 7"/>
          <p:cNvSpPr txBox="1"/>
          <p:nvPr/>
        </p:nvSpPr>
        <p:spPr>
          <a:xfrm>
            <a:off x="2967227" y="2560320"/>
            <a:ext cx="320040" cy="457200"/>
          </a:xfrm>
          <a:prstGeom prst="rect">
            <a:avLst/>
          </a:prstGeom>
          <a:noFill/>
        </p:spPr>
        <p:txBody>
          <a:bodyPr wrap="none">
            <a:spAutoFit/>
          </a:bodyPr>
          <a:lstStyle/>
          <a:p>
            <a:pPr algn="ctr"/>
            <a:r>
              <a:rPr sz="2200" b="1">
                <a:solidFill>
                  <a:srgbClr val="002856"/>
                </a:solidFill>
              </a:rPr>
              <a:t>→</a:t>
            </a:r>
          </a:p>
        </p:txBody>
      </p:sp>
      <p:sp>
        <p:nvSpPr>
          <p:cNvPr id="9" name="TextBox 8"/>
          <p:cNvSpPr txBox="1"/>
          <p:nvPr/>
        </p:nvSpPr>
        <p:spPr>
          <a:xfrm>
            <a:off x="5934456" y="2560320"/>
            <a:ext cx="320040" cy="457200"/>
          </a:xfrm>
          <a:prstGeom prst="rect">
            <a:avLst/>
          </a:prstGeom>
          <a:noFill/>
        </p:spPr>
        <p:txBody>
          <a:bodyPr wrap="none">
            <a:spAutoFit/>
          </a:bodyPr>
          <a:lstStyle/>
          <a:p>
            <a:pPr algn="ctr"/>
            <a:r>
              <a:rPr sz="2200" b="1">
                <a:solidFill>
                  <a:srgbClr val="002856"/>
                </a:solidFill>
              </a:rPr>
              <a:t>→</a:t>
            </a:r>
          </a:p>
        </p:txBody>
      </p:sp>
      <p:sp>
        <p:nvSpPr>
          <p:cNvPr id="10" name="TextBox 9"/>
          <p:cNvSpPr txBox="1"/>
          <p:nvPr/>
        </p:nvSpPr>
        <p:spPr>
          <a:xfrm>
            <a:off x="8901684" y="2560320"/>
            <a:ext cx="320040" cy="457200"/>
          </a:xfrm>
          <a:prstGeom prst="rect">
            <a:avLst/>
          </a:prstGeom>
          <a:noFill/>
        </p:spPr>
        <p:txBody>
          <a:bodyPr wrap="none">
            <a:spAutoFit/>
          </a:bodyPr>
          <a:lstStyle/>
          <a:p>
            <a:pPr algn="ctr"/>
            <a:r>
              <a:rPr sz="2200" b="1">
                <a:solidFill>
                  <a:srgbClr val="002856"/>
                </a:solidFill>
              </a:rPr>
              <a:t>→</a:t>
            </a:r>
          </a:p>
        </p:txBody>
      </p:sp>
      <p:sp>
        <p:nvSpPr>
          <p:cNvPr id="11" name="Rectangle 10"/>
          <p:cNvSpPr/>
          <p:nvPr/>
        </p:nvSpPr>
        <p:spPr>
          <a:xfrm>
            <a:off x="365760" y="4434840"/>
            <a:ext cx="11430000" cy="822960"/>
          </a:xfrm>
          <a:prstGeom prst="rect">
            <a:avLst/>
          </a:prstGeom>
          <a:solidFill>
            <a:srgbClr val="E9EEF5"/>
          </a:solidFill>
          <a:ln w="19050">
            <a:solidFill>
              <a:srgbClr val="FF8200"/>
            </a:solidFill>
          </a:ln>
        </p:spPr>
        <p:style>
          <a:lnRef idx="1">
            <a:schemeClr val="accent1"/>
          </a:lnRef>
          <a:fillRef idx="3">
            <a:schemeClr val="accent1"/>
          </a:fillRef>
          <a:effectRef idx="2">
            <a:schemeClr val="accent1"/>
          </a:effectRef>
          <a:fontRef idx="minor">
            <a:schemeClr val="lt1"/>
          </a:fontRef>
        </p:style>
        <p:txBody>
          <a:bodyPr wrap="square" lIns="182880" tIns="91440" rtlCol="0" anchor="ctr"/>
          <a:lstStyle/>
          <a:p>
            <a:pPr algn="ctr"/>
            <a:r>
              <a:rPr sz="1400" b="1">
                <a:solidFill>
                  <a:srgbClr val="002856"/>
                </a:solidFill>
                <a:latin typeface="Arial"/>
              </a:rPr>
              <a:t>In one sentence: </a:t>
            </a:r>
            <a:r>
              <a:rPr sz="1400">
                <a:solidFill>
                  <a:srgbClr val="002856"/>
                </a:solidFill>
                <a:latin typeface="Arial"/>
              </a:rPr>
              <a:t>APTIM administers a utility-owned battery + solar fleet -- the utility finances it, APTIM runs it, the household hosts it for free.</a:t>
            </a:r>
          </a:p>
        </p:txBody>
      </p:sp>
      <p:sp>
        <p:nvSpPr>
          <p:cNvPr id="13" name="TextBox 12"/>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4" name="TextBox 13"/>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9</a:t>
            </a:r>
          </a:p>
        </p:txBody>
      </p:sp>
    </p:spTree>
    <p:extLst>
      <p:ext uri="{BB962C8B-B14F-4D97-AF65-F5344CB8AC3E}">
        <p14:creationId xmlns:p14="http://schemas.microsoft.com/office/powerpoint/2010/main" val="490324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4DC992-5EDA-83F7-3535-28BDF8D6544E}"/>
              </a:ext>
            </a:extLst>
          </p:cNvPr>
          <p:cNvSpPr>
            <a:spLocks noGrp="1"/>
          </p:cNvSpPr>
          <p:nvPr>
            <p:ph type="title"/>
          </p:nvPr>
        </p:nvSpPr>
        <p:spPr/>
        <p:txBody>
          <a:bodyPr/>
          <a:lstStyle/>
          <a:p>
            <a:r>
              <a:rPr lang="en-US"/>
              <a:t>Michigan specific</a:t>
            </a:r>
          </a:p>
        </p:txBody>
      </p:sp>
      <p:sp>
        <p:nvSpPr>
          <p:cNvPr id="5" name="Content Placeholder 4">
            <a:extLst>
              <a:ext uri="{FF2B5EF4-FFF2-40B4-BE49-F238E27FC236}">
                <a16:creationId xmlns:a16="http://schemas.microsoft.com/office/drawing/2014/main" id="{6B27E51D-D8C4-0854-166B-159524DD7E5A}"/>
              </a:ext>
            </a:extLst>
          </p:cNvPr>
          <p:cNvSpPr>
            <a:spLocks noGrp="1"/>
          </p:cNvSpPr>
          <p:nvPr>
            <p:ph idx="1"/>
          </p:nvPr>
        </p:nvSpPr>
        <p:spPr/>
        <p:txBody>
          <a:bodyPr/>
          <a:lstStyle/>
          <a:p>
            <a:r>
              <a:rPr lang="en-US"/>
              <a:t>DTE </a:t>
            </a:r>
          </a:p>
          <a:p>
            <a:r>
              <a:rPr lang="en-US"/>
              <a:t>Other one</a:t>
            </a:r>
          </a:p>
        </p:txBody>
      </p:sp>
      <p:sp>
        <p:nvSpPr>
          <p:cNvPr id="2" name="Footer Placeholder 1">
            <a:extLst>
              <a:ext uri="{FF2B5EF4-FFF2-40B4-BE49-F238E27FC236}">
                <a16:creationId xmlns:a16="http://schemas.microsoft.com/office/drawing/2014/main" id="{74FB00AA-6700-5B52-93EC-FC7D4A0DE61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AC91A70-5251-34D0-3463-F320B34366BC}"/>
              </a:ext>
            </a:extLst>
          </p:cNvPr>
          <p:cNvSpPr>
            <a:spLocks noGrp="1"/>
          </p:cNvSpPr>
          <p:nvPr>
            <p:ph type="sldNum" sz="quarter" idx="12"/>
          </p:nvPr>
        </p:nvSpPr>
        <p:spPr/>
        <p:txBody>
          <a:bodyPr/>
          <a:lstStyle/>
          <a:p>
            <a:fld id="{F8F6B9CD-BE6B-498B-93B3-0FAD7ADE75E3}" type="slidenum">
              <a:rPr lang="en-US" smtClean="0"/>
              <a:t>13</a:t>
            </a:fld>
            <a:endParaRPr lang="en-US"/>
          </a:p>
        </p:txBody>
      </p:sp>
    </p:spTree>
    <p:extLst>
      <p:ext uri="{BB962C8B-B14F-4D97-AF65-F5344CB8AC3E}">
        <p14:creationId xmlns:p14="http://schemas.microsoft.com/office/powerpoint/2010/main" val="3650009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0FDFA-04BC-BAFE-3177-E20862F86F1C}"/>
              </a:ext>
            </a:extLst>
          </p:cNvPr>
          <p:cNvSpPr>
            <a:spLocks noGrp="1"/>
          </p:cNvSpPr>
          <p:nvPr>
            <p:ph type="title"/>
          </p:nvPr>
        </p:nvSpPr>
        <p:spPr/>
        <p:txBody>
          <a:bodyPr/>
          <a:lstStyle/>
          <a:p>
            <a:r>
              <a:rPr lang="en-US">
                <a:latin typeface="Arial Black"/>
                <a:cs typeface="Arial"/>
              </a:rPr>
              <a:t>How APTIM Wins</a:t>
            </a:r>
            <a:endParaRPr lang="en-US"/>
          </a:p>
        </p:txBody>
      </p:sp>
      <p:sp>
        <p:nvSpPr>
          <p:cNvPr id="4" name="Footer Placeholder 3">
            <a:extLst>
              <a:ext uri="{FF2B5EF4-FFF2-40B4-BE49-F238E27FC236}">
                <a16:creationId xmlns:a16="http://schemas.microsoft.com/office/drawing/2014/main" id="{027B9ABC-0F7E-D81C-3CEC-92EC59BD66B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309818-9792-1286-3A9C-088C82A3F3AB}"/>
              </a:ext>
            </a:extLst>
          </p:cNvPr>
          <p:cNvSpPr>
            <a:spLocks noGrp="1"/>
          </p:cNvSpPr>
          <p:nvPr>
            <p:ph type="sldNum" sz="quarter" idx="12"/>
          </p:nvPr>
        </p:nvSpPr>
        <p:spPr/>
        <p:txBody>
          <a:bodyPr/>
          <a:lstStyle/>
          <a:p>
            <a:fld id="{F8F6B9CD-BE6B-498B-93B3-0FAD7ADE75E3}" type="slidenum">
              <a:rPr lang="en-US" smtClean="0"/>
              <a:t>14</a:t>
            </a:fld>
            <a:endParaRPr lang="en-US"/>
          </a:p>
        </p:txBody>
      </p:sp>
      <p:sp>
        <p:nvSpPr>
          <p:cNvPr id="11" name="TextBox 10">
            <a:extLst>
              <a:ext uri="{FF2B5EF4-FFF2-40B4-BE49-F238E27FC236}">
                <a16:creationId xmlns:a16="http://schemas.microsoft.com/office/drawing/2014/main" id="{F1EEF561-8855-7215-01EC-51D188B2E042}"/>
              </a:ext>
            </a:extLst>
          </p:cNvPr>
          <p:cNvSpPr txBox="1"/>
          <p:nvPr/>
        </p:nvSpPr>
        <p:spPr>
          <a:xfrm>
            <a:off x="533110" y="1788161"/>
            <a:ext cx="4715546"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Large-Scale Delivery</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Combines Implementation, Analytics, and Infrastructure Expertise</a:t>
            </a:r>
          </a:p>
          <a:p>
            <a:pPr marL="342900" indent="-342900">
              <a:buFont typeface="Arial" panose="020B0604020202020204" pitchFamily="34" charset="0"/>
              <a:buChar char="•"/>
            </a:pPr>
            <a:r>
              <a:rPr lang="en-US" sz="2000">
                <a:latin typeface="Arial" panose="020B0604020202020204" pitchFamily="34" charset="0"/>
                <a:cs typeface="Arial" panose="020B0604020202020204" pitchFamily="34" charset="0"/>
              </a:rPr>
              <a:t>Proven Success in Resilience, Compliance, and Public-Sector Programs</a:t>
            </a:r>
          </a:p>
        </p:txBody>
      </p:sp>
      <p:pic>
        <p:nvPicPr>
          <p:cNvPr id="16" name="Picture 15">
            <a:extLst>
              <a:ext uri="{FF2B5EF4-FFF2-40B4-BE49-F238E27FC236}">
                <a16:creationId xmlns:a16="http://schemas.microsoft.com/office/drawing/2014/main" id="{B7221E20-18C8-00EE-9CB3-C5086A960485}"/>
              </a:ext>
            </a:extLst>
          </p:cNvPr>
          <p:cNvPicPr>
            <a:picLocks noChangeAspect="1"/>
          </p:cNvPicPr>
          <p:nvPr/>
        </p:nvPicPr>
        <p:blipFill>
          <a:blip r:embed="rId3"/>
          <a:srcRect l="5009" r="1949" b="-227"/>
          <a:stretch>
            <a:fillRect/>
          </a:stretch>
        </p:blipFill>
        <p:spPr>
          <a:xfrm>
            <a:off x="4997449" y="1170442"/>
            <a:ext cx="6447843" cy="5337182"/>
          </a:xfrm>
          <a:prstGeom prst="rect">
            <a:avLst/>
          </a:prstGeom>
        </p:spPr>
      </p:pic>
    </p:spTree>
    <p:extLst>
      <p:ext uri="{BB962C8B-B14F-4D97-AF65-F5344CB8AC3E}">
        <p14:creationId xmlns:p14="http://schemas.microsoft.com/office/powerpoint/2010/main" val="38799359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700AB-5518-DEAE-C384-787352C836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92087F-8433-6B3E-26CE-FC4EBDE89385}"/>
              </a:ext>
            </a:extLst>
          </p:cNvPr>
          <p:cNvSpPr>
            <a:spLocks noGrp="1"/>
          </p:cNvSpPr>
          <p:nvPr>
            <p:ph type="title"/>
          </p:nvPr>
        </p:nvSpPr>
        <p:spPr/>
        <p:txBody>
          <a:bodyPr/>
          <a:lstStyle/>
          <a:p>
            <a:r>
              <a:rPr>
                <a:solidFill>
                  <a:srgbClr val="002856"/>
                </a:solidFill>
              </a:rPr>
              <a:t>Why Michigan?</a:t>
            </a:r>
          </a:p>
        </p:txBody>
      </p:sp>
      <p:sp>
        <p:nvSpPr>
          <p:cNvPr id="6" name="Rounded Rectangle 5">
            <a:extLst>
              <a:ext uri="{FF2B5EF4-FFF2-40B4-BE49-F238E27FC236}">
                <a16:creationId xmlns:a16="http://schemas.microsoft.com/office/drawing/2014/main" id="{F82E2E83-BBBC-A445-CB0C-7692E7318F5E}"/>
              </a:ext>
            </a:extLst>
          </p:cNvPr>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a:extLst>
              <a:ext uri="{FF2B5EF4-FFF2-40B4-BE49-F238E27FC236}">
                <a16:creationId xmlns:a16="http://schemas.microsoft.com/office/drawing/2014/main" id="{24393B27-99EA-09FB-134F-10CE16A4E6D3}"/>
              </a:ext>
            </a:extLst>
          </p:cNvPr>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a:extLst>
              <a:ext uri="{FF2B5EF4-FFF2-40B4-BE49-F238E27FC236}">
                <a16:creationId xmlns:a16="http://schemas.microsoft.com/office/drawing/2014/main" id="{7FF61D92-E000-E14B-3370-685876C64803}"/>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pic>
        <p:nvPicPr>
          <p:cNvPr id="13" name="Picture 12" descr="E-book available: Ann Arbor @ Work (Acquiring Talent in the Greater Ann ...">
            <a:extLst>
              <a:ext uri="{FF2B5EF4-FFF2-40B4-BE49-F238E27FC236}">
                <a16:creationId xmlns:a16="http://schemas.microsoft.com/office/drawing/2014/main" id="{19000AEE-5102-3EC6-45FD-997341239897}"/>
              </a:ext>
            </a:extLst>
          </p:cNvPr>
          <p:cNvPicPr>
            <a:picLocks noChangeAspect="1"/>
          </p:cNvPicPr>
          <p:nvPr/>
        </p:nvPicPr>
        <p:blipFill>
          <a:blip r:embed="rId3"/>
          <a:stretch>
            <a:fillRect/>
          </a:stretch>
        </p:blipFill>
        <p:spPr>
          <a:xfrm>
            <a:off x="4318944" y="1352741"/>
            <a:ext cx="3554108" cy="3580434"/>
          </a:xfrm>
          <a:prstGeom prst="rect">
            <a:avLst/>
          </a:prstGeom>
        </p:spPr>
      </p:pic>
      <p:sp>
        <p:nvSpPr>
          <p:cNvPr id="17" name="Rounded Rectangle 3">
            <a:extLst>
              <a:ext uri="{FF2B5EF4-FFF2-40B4-BE49-F238E27FC236}">
                <a16:creationId xmlns:a16="http://schemas.microsoft.com/office/drawing/2014/main" id="{52B32613-EC13-1D66-4789-F53D2F9A0BF7}"/>
              </a:ext>
            </a:extLst>
          </p:cNvPr>
          <p:cNvSpPr/>
          <p:nvPr/>
        </p:nvSpPr>
        <p:spPr>
          <a:xfrm>
            <a:off x="609599" y="1661643"/>
            <a:ext cx="3328416" cy="3154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21" name="Rounded Rectangle 4">
            <a:extLst>
              <a:ext uri="{FF2B5EF4-FFF2-40B4-BE49-F238E27FC236}">
                <a16:creationId xmlns:a16="http://schemas.microsoft.com/office/drawing/2014/main" id="{FFE63B24-9097-EF93-54A3-D4B31C9D6DFC}"/>
              </a:ext>
            </a:extLst>
          </p:cNvPr>
          <p:cNvSpPr/>
          <p:nvPr/>
        </p:nvSpPr>
        <p:spPr>
          <a:xfrm>
            <a:off x="8253981" y="1565618"/>
            <a:ext cx="3387778" cy="315468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chemeClr val="bg1"/>
                </a:solidFill>
                <a:latin typeface="Arial"/>
              </a:rPr>
              <a:t>Why Ann Arbor?</a:t>
            </a:r>
            <a:endParaRPr lang="en-US" sz="1800" b="1">
              <a:solidFill>
                <a:schemeClr val="bg1"/>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Tree>
    <p:extLst>
      <p:ext uri="{BB962C8B-B14F-4D97-AF65-F5344CB8AC3E}">
        <p14:creationId xmlns:p14="http://schemas.microsoft.com/office/powerpoint/2010/main" val="40408307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449610"/>
            <a:ext cx="5632439" cy="523220"/>
          </a:xfrm>
          <a:prstGeom prst="rect">
            <a:avLst/>
          </a:prstGeom>
          <a:noFill/>
        </p:spPr>
        <p:txBody>
          <a:bodyPr wrap="none" lIns="91440" tIns="45720" rIns="91440" bIns="45720" anchor="t">
            <a:spAutoFit/>
          </a:bodyPr>
          <a:lstStyle/>
          <a:p>
            <a:r>
              <a:rPr lang="en-US" sz="2800" b="1">
                <a:solidFill>
                  <a:srgbClr val="002856"/>
                </a:solidFill>
                <a:latin typeface="Arial Black" panose="020B0A04020102020204" pitchFamily="34" charset="0"/>
              </a:rPr>
              <a:t>Client Use Case: Michigan</a:t>
            </a:r>
          </a:p>
        </p:txBody>
      </p:sp>
      <p:sp>
        <p:nvSpPr>
          <p:cNvPr id="4" name="TextBox 3"/>
          <p:cNvSpPr txBox="1"/>
          <p:nvPr/>
        </p:nvSpPr>
        <p:spPr>
          <a:xfrm>
            <a:off x="365760" y="1143000"/>
            <a:ext cx="5486400" cy="274320"/>
          </a:xfrm>
          <a:prstGeom prst="rect">
            <a:avLst/>
          </a:prstGeom>
          <a:noFill/>
        </p:spPr>
        <p:txBody>
          <a:bodyPr wrap="none">
            <a:spAutoFit/>
          </a:bodyPr>
          <a:lstStyle/>
          <a:p>
            <a:r>
              <a:rPr sz="1500" b="1">
                <a:solidFill>
                  <a:srgbClr val="FF8200"/>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002856"/>
                </a:solidFill>
                <a:latin typeface="Arial"/>
              </a:rPr>
              <a:t>✓  MPSC precedent: 1,332 MW utility-owned storage approved (Mar 2026)</a:t>
            </a:r>
          </a:p>
          <a:p>
            <a:pPr>
              <a:spcAft>
                <a:spcPts val="800"/>
              </a:spcAft>
            </a:pPr>
            <a:r>
              <a:rPr sz="1300">
                <a:solidFill>
                  <a:srgbClr val="002856"/>
                </a:solidFill>
                <a:latin typeface="Arial"/>
              </a:rPr>
              <a:t>✓  PA 235 mandate: 2,500 MW statewide storage target by 2029</a:t>
            </a:r>
          </a:p>
          <a:p>
            <a:pPr>
              <a:spcAft>
                <a:spcPts val="800"/>
              </a:spcAft>
            </a:pPr>
            <a:r>
              <a:rPr sz="1300">
                <a:solidFill>
                  <a:srgbClr val="002856"/>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00A19B"/>
                </a:solidFill>
              </a:rPr>
              <a:t>De-risked: </a:t>
            </a:r>
            <a:r>
              <a:rPr sz="1200">
                <a:solidFill>
                  <a:srgbClr val="002856"/>
                </a:solidFill>
              </a:rPr>
              <a:t>DTE's 2022 pilot rejection (Case U-20836) was about venue, not batteries -- the Commission encouraged refiling outside rate cases with deferred accounting. That refiling route now exists: U-21653.</a:t>
            </a:r>
          </a:p>
        </p:txBody>
      </p:sp>
      <p:sp>
        <p:nvSpPr>
          <p:cNvPr id="9" name="TextBox 8"/>
          <p:cNvSpPr txBox="1"/>
          <p:nvPr/>
        </p:nvSpPr>
        <p:spPr>
          <a:xfrm>
            <a:off x="6172200" y="1143000"/>
            <a:ext cx="5577840" cy="274320"/>
          </a:xfrm>
          <a:prstGeom prst="rect">
            <a:avLst/>
          </a:prstGeom>
          <a:noFill/>
        </p:spPr>
        <p:txBody>
          <a:bodyPr wrap="none">
            <a:spAutoFit/>
          </a:bodyPr>
          <a:lstStyle/>
          <a:p>
            <a:r>
              <a:rPr sz="1500" b="1">
                <a:solidFill>
                  <a:srgbClr val="FF8200"/>
                </a:solidFill>
                <a:latin typeface="Arial"/>
              </a:rPr>
              <a:t>Legal Scorecard: Helps vs. Hurts</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tblGrid>
              <a:tr h="434340">
                <a:tc>
                  <a:txBody>
                    <a:bodyPr/>
                    <a:lstStyle/>
                    <a:p>
                      <a:pPr>
                        <a:defRPr sz="1100" b="1">
                          <a:solidFill>
                            <a:srgbClr val="FFFFFF"/>
                          </a:solidFill>
                          <a:latin typeface="Arial"/>
                        </a:defRPr>
                      </a:pPr>
                      <a:r>
                        <a:rPr sz="1200" b="1">
                          <a:solidFill>
                            <a:srgbClr val="FFFFFF"/>
                          </a:solidFill>
                        </a:rPr>
                        <a:t>Helps our case</a:t>
                      </a:r>
                    </a:p>
                  </a:txBody>
                  <a:tcPr>
                    <a:solidFill>
                      <a:srgbClr val="002856"/>
                    </a:solidFill>
                  </a:tcPr>
                </a:tc>
                <a:tc>
                  <a:txBody>
                    <a:bodyPr/>
                    <a:lstStyle/>
                    <a:p>
                      <a:pPr>
                        <a:defRPr sz="1100" b="1">
                          <a:solidFill>
                            <a:srgbClr val="FFFFFF"/>
                          </a:solidFill>
                          <a:latin typeface="Arial"/>
                        </a:defRPr>
                      </a:pPr>
                      <a:r>
                        <a:rPr sz="1200" b="1">
                          <a:solidFill>
                            <a:srgbClr val="FFFFFF"/>
                          </a:solidFill>
                        </a:rPr>
                        <a:t>Cuts against us  →  our answer</a:t>
                      </a:r>
                    </a:p>
                  </a:txBody>
                  <a:tcPr>
                    <a:solidFill>
                      <a:srgbClr val="002856"/>
                    </a:solidFill>
                  </a:tcPr>
                </a:tc>
                <a:extLst>
                  <a:ext uri="{0D108BD9-81ED-4DB2-BD59-A6C34878D82A}">
                    <a16:rowId xmlns:a16="http://schemas.microsoft.com/office/drawing/2014/main" val="10000"/>
                  </a:ext>
                </a:extLst>
              </a:tr>
              <a:tr h="434340">
                <a:tc>
                  <a:txBody>
                    <a:bodyPr/>
                    <a:lstStyle/>
                    <a:p>
                      <a:pPr>
                        <a:defRPr sz="1100">
                          <a:solidFill>
                            <a:srgbClr val="002856"/>
                          </a:solidFill>
                          <a:latin typeface="Arial"/>
                        </a:defRPr>
                      </a:pPr>
                      <a:r>
                        <a:rPr sz="1100" b="0">
                          <a:solidFill>
                            <a:srgbClr val="002856"/>
                          </a:solidFill>
                        </a:rPr>
                        <a:t>PA 235 mandate: compliance demand exists regardless of federal funding -- the exact hedge the prompt asks for</a:t>
                      </a:r>
                    </a:p>
                  </a:txBody>
                  <a:tcPr>
                    <a:solidFill>
                      <a:srgbClr val="E9EEF5"/>
                    </a:solidFill>
                  </a:tcPr>
                </a:tc>
                <a:tc>
                  <a:txBody>
                    <a:bodyPr/>
                    <a:lstStyle/>
                    <a:p>
                      <a:pPr>
                        <a:defRPr sz="1100">
                          <a:solidFill>
                            <a:srgbClr val="002856"/>
                          </a:solidFill>
                          <a:latin typeface="Arial"/>
                        </a:defRPr>
                      </a:pPr>
                      <a:r>
                        <a:rPr sz="1100" b="0">
                          <a:solidFill>
                            <a:srgbClr val="002856"/>
                          </a:solidFill>
                        </a:rPr>
                        <a:t>1,332 MW precedent is GRID-SCALE, not residential  →  the capped pilot is how the residential template gets set</a:t>
                      </a:r>
                    </a:p>
                  </a:txBody>
                  <a:tcPr>
                    <a:solidFill>
                      <a:srgbClr val="E9EEF5"/>
                    </a:solidFill>
                  </a:tcPr>
                </a:tc>
                <a:extLst>
                  <a:ext uri="{0D108BD9-81ED-4DB2-BD59-A6C34878D82A}">
                    <a16:rowId xmlns:a16="http://schemas.microsoft.com/office/drawing/2014/main" val="10001"/>
                  </a:ext>
                </a:extLst>
              </a:tr>
              <a:tr h="434340">
                <a:tc>
                  <a:txBody>
                    <a:bodyPr/>
                    <a:lstStyle/>
                    <a:p>
                      <a:pPr>
                        <a:defRPr sz="1100">
                          <a:solidFill>
                            <a:srgbClr val="002856"/>
                          </a:solidFill>
                          <a:latin typeface="Arial"/>
                        </a:defRPr>
                      </a:pPr>
                      <a:r>
                        <a:rPr sz="1100" b="0">
                          <a:solidFill>
                            <a:srgbClr val="002856"/>
                          </a:solidFill>
                        </a:rPr>
                        <a:t>U-20836 rejection was venue, not batteries -- the Commission invited standalone refiling with deferred accounting</a:t>
                      </a:r>
                    </a:p>
                  </a:txBody>
                  <a:tcPr>
                    <a:solidFill>
                      <a:srgbClr val="FFFFFF"/>
                    </a:solidFill>
                  </a:tcPr>
                </a:tc>
                <a:tc>
                  <a:txBody>
                    <a:bodyPr/>
                    <a:lstStyle/>
                    <a:p>
                      <a:pPr>
                        <a:defRPr sz="1100">
                          <a:solidFill>
                            <a:srgbClr val="002856"/>
                          </a:solidFill>
                          <a:latin typeface="Arial"/>
                        </a:defRPr>
                      </a:pPr>
                      <a:r>
                        <a:rPr sz="1100" b="0">
                          <a:solidFill>
                            <a:srgbClr val="002856"/>
                          </a:solidFill>
                        </a:rPr>
                        <a:t>Rate-fatigue politics: DTE under reliability criticism  →  pilot adds no new tax; fee is performance-linked</a:t>
                      </a:r>
                    </a:p>
                  </a:txBody>
                  <a:tcPr>
                    <a:solidFill>
                      <a:srgbClr val="FFFFFF"/>
                    </a:solidFill>
                  </a:tcPr>
                </a:tc>
                <a:extLst>
                  <a:ext uri="{0D108BD9-81ED-4DB2-BD59-A6C34878D82A}">
                    <a16:rowId xmlns:a16="http://schemas.microsoft.com/office/drawing/2014/main" val="10002"/>
                  </a:ext>
                </a:extLst>
              </a:tr>
              <a:tr h="434340">
                <a:tc>
                  <a:txBody>
                    <a:bodyPr/>
                    <a:lstStyle/>
                    <a:p>
                      <a:pPr>
                        <a:defRPr sz="1100">
                          <a:solidFill>
                            <a:srgbClr val="002856"/>
                          </a:solidFill>
                          <a:latin typeface="Arial"/>
                        </a:defRPr>
                      </a:pPr>
                      <a:r>
                        <a:rPr sz="1100" b="0">
                          <a:solidFill>
                            <a:srgbClr val="002856"/>
                          </a:solidFill>
                        </a:rPr>
                        <a:t>U-21653 expedited 90-day route exists and covers DER integration -- the invited venue now has a door</a:t>
                      </a:r>
                    </a:p>
                  </a:txBody>
                  <a:tcPr>
                    <a:solidFill>
                      <a:srgbClr val="E9EEF5"/>
                    </a:solidFill>
                  </a:tcPr>
                </a:tc>
                <a:tc>
                  <a:txBody>
                    <a:bodyPr/>
                    <a:lstStyle/>
                    <a:p>
                      <a:pPr>
                        <a:defRPr sz="1100">
                          <a:solidFill>
                            <a:srgbClr val="002856"/>
                          </a:solidFill>
                          <a:latin typeface="Arial"/>
                        </a:defRPr>
                      </a:pPr>
                      <a:r>
                        <a:rPr sz="1100" b="0">
                          <a:solidFill>
                            <a:srgbClr val="002856"/>
                          </a:solidFill>
                        </a:rPr>
                        <a:t>No interconnection template for utility-owned in-home equipment  →  MIXDG rules already name the utility as a possible interconnection customer</a:t>
                      </a:r>
                    </a:p>
                  </a:txBody>
                  <a:tcPr>
                    <a:solidFill>
                      <a:srgbClr val="E9EEF5"/>
                    </a:solidFill>
                  </a:tcPr>
                </a:tc>
                <a:extLst>
                  <a:ext uri="{0D108BD9-81ED-4DB2-BD59-A6C34878D82A}">
                    <a16:rowId xmlns:a16="http://schemas.microsoft.com/office/drawing/2014/main" val="10003"/>
                  </a:ext>
                </a:extLst>
              </a:tr>
            </a:tbl>
          </a:graphicData>
        </a:graphic>
      </p:graphicFrame>
      <p:sp>
        <p:nvSpPr>
          <p:cNvPr id="13" name="Rounded Rectangle 12"/>
          <p:cNvSpPr/>
          <p:nvPr/>
        </p:nvSpPr>
        <p:spPr>
          <a:xfrm>
            <a:off x="365760" y="5806440"/>
            <a:ext cx="11384280" cy="594360"/>
          </a:xfrm>
          <a:prstGeom prst="roundRect">
            <a:avLst/>
          </a:prstGeom>
          <a:solidFill>
            <a:srgbClr val="E0F2F1"/>
          </a:solidFill>
          <a:ln w="12700">
            <a:solidFill>
              <a:srgbClr val="00A19B"/>
            </a:solidFill>
          </a:ln>
        </p:spPr>
        <p:style>
          <a:lnRef idx="1">
            <a:schemeClr val="accent1"/>
          </a:lnRef>
          <a:fillRef idx="3">
            <a:schemeClr val="accent1"/>
          </a:fillRef>
          <a:effectRef idx="2">
            <a:schemeClr val="accent1"/>
          </a:effectRef>
          <a:fontRef idx="minor">
            <a:schemeClr val="lt1"/>
          </a:fontRef>
        </p:style>
        <p:txBody>
          <a:bodyPr wrap="square" lIns="182880" tIns="54864" rtlCol="0" anchor="ctr"/>
          <a:lstStyle/>
          <a:p>
            <a:pPr algn="ctr"/>
            <a:r>
              <a:rPr sz="1200" b="1">
                <a:solidFill>
                  <a:srgbClr val="002856"/>
                </a:solidFill>
                <a:latin typeface="Arial"/>
              </a:rPr>
              <a:t>Answers the prompt: </a:t>
            </a:r>
            <a:r>
              <a:rPr sz="1200">
                <a:solidFill>
                  <a:srgbClr val="002856"/>
                </a:solidFill>
                <a:latin typeface="Arial"/>
              </a:rPr>
              <a:t>no new technology | single client group | leverages APTIM capabilities | 1-3 year feasibility | scalable</a:t>
            </a:r>
          </a:p>
        </p:txBody>
      </p:sp>
      <p:sp>
        <p:nvSpPr>
          <p:cNvPr id="14" name="TextBox 13"/>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15" name="TextBox 14"/>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14</a:t>
            </a:r>
          </a:p>
        </p:txBody>
      </p:sp>
      <p:sp>
        <p:nvSpPr>
          <p:cNvPr id="16" name="Rectangle 15"/>
          <p:cNvSpPr/>
          <p:nvPr/>
        </p:nvSpPr>
        <p:spPr>
          <a:xfrm>
            <a:off x="457200" y="5074920"/>
            <a:ext cx="11247120" cy="64008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002856"/>
                </a:solidFill>
              </a:rPr>
              <a:t>Illustrative pilot sizing (Ann Arbor / DTE, team analysis): </a:t>
            </a:r>
            <a:r>
              <a:rPr sz="1100">
                <a:solidFill>
                  <a:srgbClr val="002856"/>
                </a:solidFill>
              </a:rPr>
              <a:t>500 homes  |  6 kW solar + 15 kWh battery per home  |  3 MW / 7.5 MWh fleet  |  ~$34,500/home ($17.25M CAPEX)  |  ~$700/yr customer savings, $0 upfront</a:t>
            </a:r>
          </a:p>
        </p:txBody>
      </p:sp>
    </p:spTree>
    <p:extLst>
      <p:ext uri="{BB962C8B-B14F-4D97-AF65-F5344CB8AC3E}">
        <p14:creationId xmlns:p14="http://schemas.microsoft.com/office/powerpoint/2010/main" val="39263258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CD89B-02F0-8B4D-2F55-4665A4354C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DC9869-1AEF-88CF-C114-93FF95032D78}"/>
              </a:ext>
            </a:extLst>
          </p:cNvPr>
          <p:cNvSpPr>
            <a:spLocks noGrp="1"/>
          </p:cNvSpPr>
          <p:nvPr>
            <p:ph type="title"/>
          </p:nvPr>
        </p:nvSpPr>
        <p:spPr/>
        <p:txBody>
          <a:bodyPr/>
          <a:lstStyle/>
          <a:p>
            <a:r>
              <a:rPr lang="en-US">
                <a:solidFill>
                  <a:srgbClr val="002856"/>
                </a:solidFill>
              </a:rPr>
              <a:t>Ann Arbor </a:t>
            </a:r>
            <a:r>
              <a:rPr>
                <a:solidFill>
                  <a:srgbClr val="002856"/>
                </a:solidFill>
              </a:rPr>
              <a:t>Deployment Model</a:t>
            </a:r>
          </a:p>
        </p:txBody>
      </p:sp>
      <p:sp>
        <p:nvSpPr>
          <p:cNvPr id="10" name="Chevron 9">
            <a:extLst>
              <a:ext uri="{FF2B5EF4-FFF2-40B4-BE49-F238E27FC236}">
                <a16:creationId xmlns:a16="http://schemas.microsoft.com/office/drawing/2014/main" id="{4974FEF7-C00A-E565-8389-56DA6513F309}"/>
              </a:ext>
            </a:extLst>
          </p:cNvPr>
          <p:cNvSpPr/>
          <p:nvPr/>
        </p:nvSpPr>
        <p:spPr>
          <a:xfrm>
            <a:off x="7724708" y="2807208"/>
            <a:ext cx="2046941" cy="1261873"/>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Participating Homes</a:t>
            </a:r>
          </a:p>
          <a:p>
            <a:pPr algn="ctr"/>
            <a:r>
              <a:rPr lang="en-US" sz="900" i="1">
                <a:solidFill>
                  <a:srgbClr val="FFFFFF"/>
                </a:solidFill>
                <a:latin typeface="Arial"/>
              </a:rPr>
              <a:t>Hosts</a:t>
            </a:r>
            <a:endParaRPr sz="900" i="1">
              <a:solidFill>
                <a:srgbClr val="FFFFFF"/>
              </a:solidFill>
              <a:latin typeface="Arial"/>
            </a:endParaRPr>
          </a:p>
        </p:txBody>
      </p:sp>
      <p:sp>
        <p:nvSpPr>
          <p:cNvPr id="12" name="Rounded Rectangle 11">
            <a:extLst>
              <a:ext uri="{FF2B5EF4-FFF2-40B4-BE49-F238E27FC236}">
                <a16:creationId xmlns:a16="http://schemas.microsoft.com/office/drawing/2014/main" id="{72A6D886-8921-0C65-4CA6-1B64547B514D}"/>
              </a:ext>
            </a:extLst>
          </p:cNvPr>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a:extLst>
              <a:ext uri="{FF2B5EF4-FFF2-40B4-BE49-F238E27FC236}">
                <a16:creationId xmlns:a16="http://schemas.microsoft.com/office/drawing/2014/main" id="{354CC9E6-9962-AE84-F397-272AD79DBB58}"/>
              </a:ext>
            </a:extLst>
          </p:cNvPr>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a:extLst>
              <a:ext uri="{FF2B5EF4-FFF2-40B4-BE49-F238E27FC236}">
                <a16:creationId xmlns:a16="http://schemas.microsoft.com/office/drawing/2014/main" id="{FD6CF6DD-8D9A-CBA7-735E-9E1F6E2177C6}"/>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76B10A63-4FEB-AA2A-13D6-DDEFC43C412A}"/>
              </a:ext>
            </a:extLst>
          </p:cNvPr>
          <p:cNvSpPr/>
          <p:nvPr/>
        </p:nvSpPr>
        <p:spPr>
          <a:xfrm>
            <a:off x="2420351" y="2807208"/>
            <a:ext cx="2046941" cy="1261873"/>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DTE Energy</a:t>
            </a:r>
          </a:p>
          <a:p>
            <a:pPr algn="ctr"/>
            <a:r>
              <a:rPr sz="900" i="1">
                <a:solidFill>
                  <a:srgbClr val="FFFFFF"/>
                </a:solidFill>
                <a:latin typeface="Arial"/>
              </a:rPr>
              <a:t>Owns Assets</a:t>
            </a:r>
          </a:p>
        </p:txBody>
      </p:sp>
      <p:sp>
        <p:nvSpPr>
          <p:cNvPr id="16" name="Chevron 7">
            <a:extLst>
              <a:ext uri="{FF2B5EF4-FFF2-40B4-BE49-F238E27FC236}">
                <a16:creationId xmlns:a16="http://schemas.microsoft.com/office/drawing/2014/main" id="{B3629165-1DD9-DA8C-8DF2-825DAFA9C9BC}"/>
              </a:ext>
            </a:extLst>
          </p:cNvPr>
          <p:cNvSpPr/>
          <p:nvPr/>
        </p:nvSpPr>
        <p:spPr>
          <a:xfrm>
            <a:off x="4188589" y="2807208"/>
            <a:ext cx="2046941" cy="1261873"/>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100" b="1">
                <a:solidFill>
                  <a:srgbClr val="FFFFFF"/>
                </a:solidFill>
                <a:latin typeface="Arial"/>
              </a:rPr>
              <a:t>APTIM</a:t>
            </a:r>
          </a:p>
          <a:p>
            <a:pPr algn="ctr"/>
            <a:r>
              <a:rPr sz="900" i="1">
                <a:solidFill>
                  <a:srgbClr val="FFFFFF"/>
                </a:solidFill>
                <a:latin typeface="Arial"/>
              </a:rPr>
              <a:t>Administ</a:t>
            </a:r>
            <a:r>
              <a:rPr lang="en-US" sz="900" i="1">
                <a:solidFill>
                  <a:srgbClr val="FFFFFF"/>
                </a:solidFill>
                <a:latin typeface="Arial"/>
              </a:rPr>
              <a:t>er</a:t>
            </a:r>
            <a:r>
              <a:rPr sz="900" i="1">
                <a:solidFill>
                  <a:srgbClr val="FFFFFF"/>
                </a:solidFill>
                <a:latin typeface="Arial"/>
              </a:rPr>
              <a:t>s</a:t>
            </a:r>
          </a:p>
        </p:txBody>
      </p:sp>
      <p:sp>
        <p:nvSpPr>
          <p:cNvPr id="17" name="Chevron 8">
            <a:extLst>
              <a:ext uri="{FF2B5EF4-FFF2-40B4-BE49-F238E27FC236}">
                <a16:creationId xmlns:a16="http://schemas.microsoft.com/office/drawing/2014/main" id="{429840EC-4D94-324B-ECFE-70C1BE29D6A5}"/>
              </a:ext>
            </a:extLst>
          </p:cNvPr>
          <p:cNvSpPr/>
          <p:nvPr/>
        </p:nvSpPr>
        <p:spPr>
          <a:xfrm>
            <a:off x="5925141" y="2807208"/>
            <a:ext cx="2115323" cy="1261873"/>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100" b="1">
                <a:solidFill>
                  <a:srgbClr val="FFFFFF"/>
                </a:solidFill>
                <a:latin typeface="Arial"/>
              </a:rPr>
              <a:t>Certified Subcontractors</a:t>
            </a:r>
          </a:p>
          <a:p>
            <a:pPr algn="ctr"/>
            <a:r>
              <a:rPr lang="en-US" sz="900" i="1">
                <a:solidFill>
                  <a:srgbClr val="FFFFFF"/>
                </a:solidFill>
                <a:latin typeface="Arial"/>
              </a:rPr>
              <a:t>Installs</a:t>
            </a:r>
            <a:endParaRPr sz="900" i="1">
              <a:solidFill>
                <a:srgbClr val="FFFFFF"/>
              </a:solidFill>
              <a:latin typeface="Arial"/>
            </a:endParaRPr>
          </a:p>
        </p:txBody>
      </p:sp>
      <p:graphicFrame>
        <p:nvGraphicFramePr>
          <p:cNvPr id="3" name="Table 2">
            <a:extLst>
              <a:ext uri="{FF2B5EF4-FFF2-40B4-BE49-F238E27FC236}">
                <a16:creationId xmlns:a16="http://schemas.microsoft.com/office/drawing/2014/main" id="{6923C9B5-5D1C-AE4E-E854-C6219BF50AAA}"/>
              </a:ext>
            </a:extLst>
          </p:cNvPr>
          <p:cNvGraphicFramePr>
            <a:graphicFrameLocks noGrp="1"/>
          </p:cNvGraphicFramePr>
          <p:nvPr>
            <p:extLst>
              <p:ext uri="{D42A27DB-BD31-4B8C-83A1-F6EECF244321}">
                <p14:modId xmlns:p14="http://schemas.microsoft.com/office/powerpoint/2010/main" val="1217044900"/>
              </p:ext>
            </p:extLst>
          </p:nvPr>
        </p:nvGraphicFramePr>
        <p:xfrm>
          <a:off x="9808702" y="2125813"/>
          <a:ext cx="1964046" cy="3165294"/>
        </p:xfrm>
        <a:graphic>
          <a:graphicData uri="http://schemas.openxmlformats.org/drawingml/2006/table">
            <a:tbl>
              <a:tblPr firstRow="1" bandRow="1">
                <a:tableStyleId>{69CF1AB2-1976-4502-BF36-3FF5EA218861}</a:tableStyleId>
              </a:tblPr>
              <a:tblGrid>
                <a:gridCol w="982023">
                  <a:extLst>
                    <a:ext uri="{9D8B030D-6E8A-4147-A177-3AD203B41FA5}">
                      <a16:colId xmlns:a16="http://schemas.microsoft.com/office/drawing/2014/main" val="4201315330"/>
                    </a:ext>
                  </a:extLst>
                </a:gridCol>
                <a:gridCol w="982023">
                  <a:extLst>
                    <a:ext uri="{9D8B030D-6E8A-4147-A177-3AD203B41FA5}">
                      <a16:colId xmlns:a16="http://schemas.microsoft.com/office/drawing/2014/main" val="3627878481"/>
                    </a:ext>
                  </a:extLst>
                </a:gridCol>
              </a:tblGrid>
              <a:tr h="365763">
                <a:tc>
                  <a:txBody>
                    <a:bodyPr/>
                    <a:lstStyle/>
                    <a:p>
                      <a:r>
                        <a:rPr lang="en-US" sz="1400" b="0">
                          <a:latin typeface="Arial" panose="020B0604020202020204" pitchFamily="34" charset="0"/>
                          <a:cs typeface="Arial" panose="020B0604020202020204" pitchFamily="34" charset="0"/>
                        </a:rPr>
                        <a:t>Homes</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500</a:t>
                      </a:r>
                    </a:p>
                  </a:txBody>
                  <a:tcPr>
                    <a:solidFill>
                      <a:srgbClr val="F4F6F9"/>
                    </a:solidFill>
                  </a:tcPr>
                </a:tc>
                <a:extLst>
                  <a:ext uri="{0D108BD9-81ED-4DB2-BD59-A6C34878D82A}">
                    <a16:rowId xmlns:a16="http://schemas.microsoft.com/office/drawing/2014/main" val="2777178892"/>
                  </a:ext>
                </a:extLst>
              </a:tr>
              <a:tr h="608442">
                <a:tc>
                  <a:txBody>
                    <a:bodyPr/>
                    <a:lstStyle/>
                    <a:p>
                      <a:r>
                        <a:rPr lang="en-US" sz="1400" b="0">
                          <a:latin typeface="Arial" panose="020B0604020202020204" pitchFamily="34" charset="0"/>
                          <a:cs typeface="Arial" panose="020B0604020202020204" pitchFamily="34" charset="0"/>
                        </a:rPr>
                        <a:t>Solar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6 kW</a:t>
                      </a:r>
                    </a:p>
                  </a:txBody>
                  <a:tcPr>
                    <a:solidFill>
                      <a:srgbClr val="F4F6F9"/>
                    </a:solidFill>
                  </a:tcPr>
                </a:tc>
                <a:extLst>
                  <a:ext uri="{0D108BD9-81ED-4DB2-BD59-A6C34878D82A}">
                    <a16:rowId xmlns:a16="http://schemas.microsoft.com/office/drawing/2014/main" val="1917675104"/>
                  </a:ext>
                </a:extLst>
              </a:tr>
              <a:tr h="608442">
                <a:tc>
                  <a:txBody>
                    <a:bodyPr/>
                    <a:lstStyle/>
                    <a:p>
                      <a:r>
                        <a:rPr lang="en-US" sz="1400" b="0">
                          <a:latin typeface="Arial" panose="020B0604020202020204" pitchFamily="34" charset="0"/>
                          <a:cs typeface="Arial" panose="020B0604020202020204" pitchFamily="34" charset="0"/>
                        </a:rPr>
                        <a:t>Battery – Home</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15 kWh</a:t>
                      </a:r>
                    </a:p>
                  </a:txBody>
                  <a:tcPr>
                    <a:solidFill>
                      <a:srgbClr val="F4F6F9"/>
                    </a:solidFill>
                  </a:tcPr>
                </a:tc>
                <a:extLst>
                  <a:ext uri="{0D108BD9-81ED-4DB2-BD59-A6C34878D82A}">
                    <a16:rowId xmlns:a16="http://schemas.microsoft.com/office/drawing/2014/main" val="3696487784"/>
                  </a:ext>
                </a:extLst>
              </a:tr>
              <a:tr h="608442">
                <a:tc>
                  <a:txBody>
                    <a:bodyPr/>
                    <a:lstStyle/>
                    <a:p>
                      <a:r>
                        <a:rPr lang="en-US" sz="1400" b="0">
                          <a:latin typeface="Arial" panose="020B0604020202020204" pitchFamily="34" charset="0"/>
                          <a:cs typeface="Arial" panose="020B0604020202020204" pitchFamily="34" charset="0"/>
                        </a:rPr>
                        <a:t>Solar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MW</a:t>
                      </a:r>
                    </a:p>
                  </a:txBody>
                  <a:tcPr>
                    <a:solidFill>
                      <a:srgbClr val="F4F6F9"/>
                    </a:solidFill>
                  </a:tcPr>
                </a:tc>
                <a:extLst>
                  <a:ext uri="{0D108BD9-81ED-4DB2-BD59-A6C34878D82A}">
                    <a16:rowId xmlns:a16="http://schemas.microsoft.com/office/drawing/2014/main" val="2893519264"/>
                  </a:ext>
                </a:extLst>
              </a:tr>
              <a:tr h="608442">
                <a:tc>
                  <a:txBody>
                    <a:bodyPr/>
                    <a:lstStyle/>
                    <a:p>
                      <a:r>
                        <a:rPr lang="en-US" sz="1400" b="0">
                          <a:latin typeface="Arial" panose="020B0604020202020204" pitchFamily="34" charset="0"/>
                          <a:cs typeface="Arial" panose="020B0604020202020204" pitchFamily="34" charset="0"/>
                        </a:rPr>
                        <a:t>Battery – Fleet</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7.5 MWh</a:t>
                      </a:r>
                    </a:p>
                  </a:txBody>
                  <a:tcPr>
                    <a:solidFill>
                      <a:srgbClr val="F4F6F9"/>
                    </a:solidFill>
                  </a:tcPr>
                </a:tc>
                <a:extLst>
                  <a:ext uri="{0D108BD9-81ED-4DB2-BD59-A6C34878D82A}">
                    <a16:rowId xmlns:a16="http://schemas.microsoft.com/office/drawing/2014/main" val="664332646"/>
                  </a:ext>
                </a:extLst>
              </a:tr>
              <a:tr h="365763">
                <a:tc>
                  <a:txBody>
                    <a:bodyPr/>
                    <a:lstStyle/>
                    <a:p>
                      <a:r>
                        <a:rPr lang="en-US" sz="1400" b="0">
                          <a:latin typeface="Arial" panose="020B0604020202020204" pitchFamily="34" charset="0"/>
                          <a:cs typeface="Arial" panose="020B0604020202020204" pitchFamily="34" charset="0"/>
                        </a:rPr>
                        <a:t>Duration</a:t>
                      </a:r>
                    </a:p>
                  </a:txBody>
                  <a:tcPr>
                    <a:solidFill>
                      <a:srgbClr val="F4F6F9"/>
                    </a:solidFill>
                  </a:tcPr>
                </a:tc>
                <a:tc>
                  <a:txBody>
                    <a:bodyPr/>
                    <a:lstStyle/>
                    <a:p>
                      <a:r>
                        <a:rPr lang="en-US" sz="1400" b="0">
                          <a:latin typeface="Arial" panose="020B0604020202020204" pitchFamily="34" charset="0"/>
                          <a:cs typeface="Arial" panose="020B0604020202020204" pitchFamily="34" charset="0"/>
                        </a:rPr>
                        <a:t>3 Years</a:t>
                      </a:r>
                    </a:p>
                  </a:txBody>
                  <a:tcPr>
                    <a:solidFill>
                      <a:srgbClr val="F4F6F9"/>
                    </a:solidFill>
                  </a:tcPr>
                </a:tc>
                <a:extLst>
                  <a:ext uri="{0D108BD9-81ED-4DB2-BD59-A6C34878D82A}">
                    <a16:rowId xmlns:a16="http://schemas.microsoft.com/office/drawing/2014/main" val="1109986313"/>
                  </a:ext>
                </a:extLst>
              </a:tr>
            </a:tbl>
          </a:graphicData>
        </a:graphic>
      </p:graphicFrame>
      <p:sp>
        <p:nvSpPr>
          <p:cNvPr id="20" name="Rectangle: Rounded Corners 19">
            <a:extLst>
              <a:ext uri="{FF2B5EF4-FFF2-40B4-BE49-F238E27FC236}">
                <a16:creationId xmlns:a16="http://schemas.microsoft.com/office/drawing/2014/main" id="{09EB9930-1FA5-C3B8-3D6A-8D0B9A3505C1}"/>
              </a:ext>
            </a:extLst>
          </p:cNvPr>
          <p:cNvSpPr/>
          <p:nvPr/>
        </p:nvSpPr>
        <p:spPr>
          <a:xfrm>
            <a:off x="367674" y="2176676"/>
            <a:ext cx="1964046" cy="3063568"/>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spcAft>
                <a:spcPts val="700"/>
              </a:spcAft>
            </a:pPr>
            <a:r>
              <a:rPr lang="en-US" sz="1400" b="1">
                <a:solidFill>
                  <a:srgbClr val="FF8200"/>
                </a:solidFill>
                <a:latin typeface="Arial"/>
              </a:rPr>
              <a:t>•  </a:t>
            </a:r>
            <a:r>
              <a:rPr lang="en-US" sz="1400">
                <a:solidFill>
                  <a:schemeClr val="tx1"/>
                </a:solidFill>
                <a:latin typeface="Arial"/>
              </a:rPr>
              <a:t>DTE customer</a:t>
            </a:r>
          </a:p>
          <a:p>
            <a:pPr>
              <a:spcAft>
                <a:spcPts val="700"/>
              </a:spcAft>
            </a:pPr>
            <a:r>
              <a:rPr lang="en-US" sz="1400" b="1">
                <a:solidFill>
                  <a:srgbClr val="FF8200"/>
                </a:solidFill>
                <a:latin typeface="Arial"/>
              </a:rPr>
              <a:t>•  </a:t>
            </a:r>
            <a:r>
              <a:rPr lang="en-US" sz="1400">
                <a:solidFill>
                  <a:schemeClr val="tx1"/>
                </a:solidFill>
                <a:latin typeface="Arial"/>
              </a:rPr>
              <a:t>Owner occupied</a:t>
            </a:r>
          </a:p>
          <a:p>
            <a:pPr>
              <a:spcAft>
                <a:spcPts val="700"/>
              </a:spcAft>
            </a:pPr>
            <a:r>
              <a:rPr lang="en-US" sz="1400" b="1">
                <a:solidFill>
                  <a:srgbClr val="FF8200"/>
                </a:solidFill>
                <a:latin typeface="Arial"/>
              </a:rPr>
              <a:t>•  </a:t>
            </a:r>
            <a:r>
              <a:rPr lang="en-US" sz="1400">
                <a:solidFill>
                  <a:schemeClr val="tx1"/>
                </a:solidFill>
                <a:latin typeface="Arial"/>
              </a:rPr>
              <a:t>Suitable roof condition</a:t>
            </a:r>
          </a:p>
          <a:p>
            <a:pPr>
              <a:spcAft>
                <a:spcPts val="700"/>
              </a:spcAft>
            </a:pPr>
            <a:r>
              <a:rPr lang="en-US" sz="1400" b="1">
                <a:solidFill>
                  <a:srgbClr val="FF8200"/>
                </a:solidFill>
                <a:latin typeface="Arial"/>
              </a:rPr>
              <a:t>•  </a:t>
            </a:r>
            <a:r>
              <a:rPr lang="en-US" sz="1400">
                <a:solidFill>
                  <a:schemeClr val="tx1"/>
                </a:solidFill>
                <a:latin typeface="Arial"/>
              </a:rPr>
              <a:t>Minimal shading</a:t>
            </a:r>
          </a:p>
          <a:p>
            <a:pPr>
              <a:spcAft>
                <a:spcPts val="700"/>
              </a:spcAft>
            </a:pPr>
            <a:r>
              <a:rPr lang="en-US" sz="1400" b="1">
                <a:solidFill>
                  <a:srgbClr val="FF8200"/>
                </a:solidFill>
                <a:latin typeface="Arial"/>
              </a:rPr>
              <a:t>•  </a:t>
            </a:r>
            <a:r>
              <a:rPr lang="en-US" sz="1400">
                <a:solidFill>
                  <a:schemeClr val="tx1"/>
                </a:solidFill>
                <a:latin typeface="Arial"/>
              </a:rPr>
              <a:t>South-facing roof preferred</a:t>
            </a:r>
          </a:p>
          <a:p>
            <a:pPr>
              <a:spcAft>
                <a:spcPts val="700"/>
              </a:spcAft>
            </a:pPr>
            <a:r>
              <a:rPr lang="en-US" sz="1400" b="1">
                <a:solidFill>
                  <a:srgbClr val="FF8200"/>
                </a:solidFill>
                <a:latin typeface="Arial"/>
              </a:rPr>
              <a:t>•  </a:t>
            </a:r>
            <a:r>
              <a:rPr lang="en-US" sz="1400">
                <a:solidFill>
                  <a:schemeClr val="tx1"/>
                </a:solidFill>
                <a:latin typeface="Arial"/>
              </a:rPr>
              <a:t>Long-term residency likelihood</a:t>
            </a:r>
          </a:p>
          <a:p>
            <a:pPr algn="ctr"/>
            <a:endParaRPr lang="en-US"/>
          </a:p>
        </p:txBody>
      </p:sp>
      <p:sp>
        <p:nvSpPr>
          <p:cNvPr id="23" name="Rectangle: Rounded Corners 22">
            <a:extLst>
              <a:ext uri="{FF2B5EF4-FFF2-40B4-BE49-F238E27FC236}">
                <a16:creationId xmlns:a16="http://schemas.microsoft.com/office/drawing/2014/main" id="{6E927714-82DE-4CC1-A9F0-BDC9152FEEE9}"/>
              </a:ext>
            </a:extLst>
          </p:cNvPr>
          <p:cNvSpPr/>
          <p:nvPr/>
        </p:nvSpPr>
        <p:spPr>
          <a:xfrm>
            <a:off x="365760"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Requirements</a:t>
            </a:r>
          </a:p>
        </p:txBody>
      </p:sp>
      <p:sp>
        <p:nvSpPr>
          <p:cNvPr id="27" name="Rectangle: Rounded Corners 26">
            <a:extLst>
              <a:ext uri="{FF2B5EF4-FFF2-40B4-BE49-F238E27FC236}">
                <a16:creationId xmlns:a16="http://schemas.microsoft.com/office/drawing/2014/main" id="{A473D389-6B13-EB98-CF5C-77031F9A66CA}"/>
              </a:ext>
            </a:extLst>
          </p:cNvPr>
          <p:cNvSpPr/>
          <p:nvPr/>
        </p:nvSpPr>
        <p:spPr>
          <a:xfrm>
            <a:off x="9808702"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Results</a:t>
            </a:r>
          </a:p>
        </p:txBody>
      </p:sp>
      <p:sp>
        <p:nvSpPr>
          <p:cNvPr id="29" name="Rectangle: Rounded Corners 28">
            <a:extLst>
              <a:ext uri="{FF2B5EF4-FFF2-40B4-BE49-F238E27FC236}">
                <a16:creationId xmlns:a16="http://schemas.microsoft.com/office/drawing/2014/main" id="{D335352E-6085-0779-1F3C-0E4DE697F269}"/>
              </a:ext>
            </a:extLst>
          </p:cNvPr>
          <p:cNvSpPr/>
          <p:nvPr/>
        </p:nvSpPr>
        <p:spPr>
          <a:xfrm>
            <a:off x="5087231" y="1435608"/>
            <a:ext cx="1964046" cy="567496"/>
          </a:xfrm>
          <a:prstGeom prst="roundRect">
            <a:avLst/>
          </a:prstGeom>
          <a:solidFill>
            <a:srgbClr val="F4F6F9"/>
          </a:solidFill>
          <a:ln>
            <a:solidFill>
              <a:srgbClr val="F4F6F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b="1">
                <a:solidFill>
                  <a:schemeClr val="tx1"/>
                </a:solidFill>
                <a:latin typeface="Arial" panose="020B0604020202020204" pitchFamily="34" charset="0"/>
                <a:cs typeface="Arial" panose="020B0604020202020204" pitchFamily="34" charset="0"/>
              </a:rPr>
              <a:t>Deployment</a:t>
            </a:r>
          </a:p>
        </p:txBody>
      </p:sp>
    </p:spTree>
    <p:extLst>
      <p:ext uri="{BB962C8B-B14F-4D97-AF65-F5344CB8AC3E}">
        <p14:creationId xmlns:p14="http://schemas.microsoft.com/office/powerpoint/2010/main" val="2222127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CE805-6574-3FD4-6CDF-B1FC9DADE6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018D9EE-D9B7-5C8F-D3D4-60B082E09A40}"/>
              </a:ext>
            </a:extLst>
          </p:cNvPr>
          <p:cNvSpPr>
            <a:spLocks noGrp="1"/>
          </p:cNvSpPr>
          <p:nvPr>
            <p:ph type="title"/>
          </p:nvPr>
        </p:nvSpPr>
        <p:spPr>
          <a:xfrm>
            <a:off x="365760" y="429705"/>
            <a:ext cx="10972799" cy="804735"/>
          </a:xfrm>
        </p:spPr>
        <p:txBody>
          <a:bodyPr/>
          <a:lstStyle/>
          <a:p>
            <a:r>
              <a:rPr lang="en-US">
                <a:solidFill>
                  <a:srgbClr val="002856"/>
                </a:solidFill>
              </a:rPr>
              <a:t>Business Case: Value Proposition  </a:t>
            </a:r>
            <a:endParaRPr>
              <a:solidFill>
                <a:srgbClr val="002856"/>
              </a:solidFill>
            </a:endParaRPr>
          </a:p>
        </p:txBody>
      </p:sp>
      <p:sp>
        <p:nvSpPr>
          <p:cNvPr id="4" name="Rounded Rectangle 3">
            <a:extLst>
              <a:ext uri="{FF2B5EF4-FFF2-40B4-BE49-F238E27FC236}">
                <a16:creationId xmlns:a16="http://schemas.microsoft.com/office/drawing/2014/main" id="{DD6788E0-2E29-EFCE-0F9D-C90A12DF0134}"/>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205746E8-974C-A3A2-FA58-47A224F051AC}"/>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7D208EC4-2235-5EDD-E30A-EB729580CF5B}"/>
              </a:ext>
            </a:extLst>
          </p:cNvPr>
          <p:cNvSpPr txBox="1"/>
          <p:nvPr/>
        </p:nvSpPr>
        <p:spPr>
          <a:xfrm>
            <a:off x="548640" y="2148840"/>
            <a:ext cx="3271418" cy="1169551"/>
          </a:xfrm>
          <a:prstGeom prst="rect">
            <a:avLst/>
          </a:prstGeom>
          <a:noFill/>
        </p:spPr>
        <p:txBody>
          <a:bodyPr wrap="square">
            <a:spAutoFit/>
          </a:bodyPr>
          <a:lstStyle/>
          <a:p>
            <a:pPr>
              <a:spcAft>
                <a:spcPts val="0"/>
              </a:spcAft>
            </a:pPr>
            <a:r>
              <a:rPr lang="en-US" sz="1000">
                <a:solidFill>
                  <a:srgbClr val="404040"/>
                </a:solidFill>
                <a:latin typeface="Arial"/>
              </a:rPr>
              <a:t>(This is what AI gave me for them lol – Maija)</a:t>
            </a:r>
          </a:p>
          <a:p>
            <a:pPr>
              <a:spcAft>
                <a:spcPts val="0"/>
              </a:spcAft>
            </a:pPr>
            <a:endParaRPr lang="en-US" sz="1000">
              <a:solidFill>
                <a:srgbClr val="404040"/>
              </a:solidFill>
              <a:latin typeface="Arial"/>
            </a:endParaRPr>
          </a:p>
          <a:p>
            <a:pPr>
              <a:spcAft>
                <a:spcPts val="0"/>
              </a:spcAft>
            </a:pPr>
            <a:endParaRPr lang="en-US" sz="1000">
              <a:solidFill>
                <a:srgbClr val="404040"/>
              </a:solidFill>
              <a:latin typeface="Arial"/>
            </a:endParaRPr>
          </a:p>
          <a:p>
            <a:pPr marL="171450" indent="-171450">
              <a:spcAft>
                <a:spcPts val="0"/>
              </a:spcAft>
              <a:buFontTx/>
              <a:buChar char="-"/>
            </a:pPr>
            <a:r>
              <a:rPr lang="en-US" sz="1000">
                <a:solidFill>
                  <a:srgbClr val="404040"/>
                </a:solidFill>
                <a:latin typeface="Arial"/>
              </a:rPr>
              <a:t>Supports PA 235 storage goals</a:t>
            </a:r>
          </a:p>
          <a:p>
            <a:pPr marL="171450" indent="-171450">
              <a:spcAft>
                <a:spcPts val="0"/>
              </a:spcAft>
              <a:buFontTx/>
              <a:buChar char="-"/>
            </a:pPr>
            <a:r>
              <a:rPr lang="en-US" sz="1000">
                <a:solidFill>
                  <a:srgbClr val="404040"/>
                </a:solidFill>
                <a:latin typeface="Arial"/>
              </a:rPr>
              <a:t>Improves grid resilience</a:t>
            </a:r>
          </a:p>
          <a:p>
            <a:pPr marL="171450" indent="-171450">
              <a:spcAft>
                <a:spcPts val="0"/>
              </a:spcAft>
              <a:buFontTx/>
              <a:buChar char="-"/>
            </a:pPr>
            <a:r>
              <a:rPr lang="en-US" sz="1000">
                <a:solidFill>
                  <a:srgbClr val="404040"/>
                </a:solidFill>
                <a:latin typeface="Arial"/>
              </a:rPr>
              <a:t>Generates operational fleet data</a:t>
            </a:r>
          </a:p>
          <a:p>
            <a:pPr marL="171450" indent="-171450">
              <a:spcAft>
                <a:spcPts val="0"/>
              </a:spcAft>
              <a:buFontTx/>
              <a:buChar char="-"/>
            </a:pPr>
            <a:r>
              <a:rPr lang="en-US" sz="1000">
                <a:solidFill>
                  <a:srgbClr val="404040"/>
                </a:solidFill>
                <a:latin typeface="Arial"/>
              </a:rPr>
              <a:t>Expands distributed energy resources</a:t>
            </a:r>
            <a:endParaRPr sz="1000">
              <a:solidFill>
                <a:srgbClr val="404040"/>
              </a:solidFill>
              <a:latin typeface="Arial"/>
            </a:endParaRPr>
          </a:p>
        </p:txBody>
      </p:sp>
      <p:sp>
        <p:nvSpPr>
          <p:cNvPr id="7" name="Rounded Rectangle 6">
            <a:extLst>
              <a:ext uri="{FF2B5EF4-FFF2-40B4-BE49-F238E27FC236}">
                <a16:creationId xmlns:a16="http://schemas.microsoft.com/office/drawing/2014/main" id="{D59A49D5-66B2-464D-EC72-09F8FC4A6F16}"/>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0B142DC9-658B-344C-371F-36DE46CD81BD}"/>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3C93293B-3921-D370-09D8-C9DD59911760}"/>
              </a:ext>
            </a:extLst>
          </p:cNvPr>
          <p:cNvSpPr txBox="1"/>
          <p:nvPr/>
        </p:nvSpPr>
        <p:spPr>
          <a:xfrm>
            <a:off x="4460138" y="2148840"/>
            <a:ext cx="3271418" cy="707886"/>
          </a:xfrm>
          <a:prstGeom prst="rect">
            <a:avLst/>
          </a:prstGeom>
          <a:noFill/>
        </p:spPr>
        <p:txBody>
          <a:bodyPr wrap="square">
            <a:spAutoFit/>
          </a:bodyPr>
          <a:lstStyle/>
          <a:p>
            <a:pPr marL="171450" indent="-171450">
              <a:spcAft>
                <a:spcPts val="0"/>
              </a:spcAft>
              <a:buFontTx/>
              <a:buChar char="-"/>
            </a:pPr>
            <a:r>
              <a:rPr lang="en-US" sz="1000">
                <a:solidFill>
                  <a:srgbClr val="404040"/>
                </a:solidFill>
                <a:latin typeface="Arial"/>
              </a:rPr>
              <a:t>Michigan market entry</a:t>
            </a:r>
          </a:p>
          <a:p>
            <a:pPr marL="171450" indent="-171450">
              <a:spcAft>
                <a:spcPts val="0"/>
              </a:spcAft>
              <a:buFontTx/>
              <a:buChar char="-"/>
            </a:pPr>
            <a:r>
              <a:rPr lang="en-US" sz="1000">
                <a:solidFill>
                  <a:srgbClr val="404040"/>
                </a:solidFill>
                <a:latin typeface="Arial"/>
              </a:rPr>
              <a:t>Recurring contract revenue</a:t>
            </a:r>
          </a:p>
          <a:p>
            <a:pPr marL="171450" indent="-171450">
              <a:spcAft>
                <a:spcPts val="0"/>
              </a:spcAft>
              <a:buFontTx/>
              <a:buChar char="-"/>
            </a:pPr>
            <a:r>
              <a:rPr lang="en-US" sz="1000">
                <a:solidFill>
                  <a:srgbClr val="404040"/>
                </a:solidFill>
                <a:latin typeface="Arial"/>
              </a:rPr>
              <a:t>Leverages existing capabilities</a:t>
            </a:r>
          </a:p>
          <a:p>
            <a:pPr marL="171450" indent="-171450">
              <a:spcAft>
                <a:spcPts val="0"/>
              </a:spcAft>
              <a:buFontTx/>
              <a:buChar char="-"/>
            </a:pPr>
            <a:r>
              <a:rPr lang="en-US" sz="1000">
                <a:solidFill>
                  <a:srgbClr val="404040"/>
                </a:solidFill>
                <a:latin typeface="Arial"/>
              </a:rPr>
              <a:t>Scalable to future utility clients</a:t>
            </a:r>
            <a:endParaRPr sz="1000">
              <a:solidFill>
                <a:srgbClr val="404040"/>
              </a:solidFill>
              <a:latin typeface="Arial"/>
            </a:endParaRPr>
          </a:p>
        </p:txBody>
      </p:sp>
      <p:sp>
        <p:nvSpPr>
          <p:cNvPr id="10" name="Rounded Rectangle 9">
            <a:extLst>
              <a:ext uri="{FF2B5EF4-FFF2-40B4-BE49-F238E27FC236}">
                <a16:creationId xmlns:a16="http://schemas.microsoft.com/office/drawing/2014/main" id="{E8D189F7-284B-5D16-335E-F424C9B9A736}"/>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A935BC41-F4D2-840E-BD87-2AC9C917EE97}"/>
              </a:ext>
            </a:extLst>
          </p:cNvPr>
          <p:cNvSpPr/>
          <p:nvPr/>
        </p:nvSpPr>
        <p:spPr>
          <a:xfrm>
            <a:off x="8154314"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02A9D64A-06A2-2343-2694-5DDAF50FDC67}"/>
              </a:ext>
            </a:extLst>
          </p:cNvPr>
          <p:cNvSpPr txBox="1"/>
          <p:nvPr/>
        </p:nvSpPr>
        <p:spPr>
          <a:xfrm>
            <a:off x="8371636" y="2240280"/>
            <a:ext cx="3271418" cy="1123384"/>
          </a:xfrm>
          <a:prstGeom prst="rect">
            <a:avLst/>
          </a:prstGeom>
          <a:noFill/>
        </p:spPr>
        <p:txBody>
          <a:bodyPr wrap="square">
            <a:spAutoFit/>
          </a:bodyPr>
          <a:lstStyle/>
          <a:p>
            <a:pPr marL="285750" indent="-285750">
              <a:spcAft>
                <a:spcPts val="1000"/>
              </a:spcAft>
              <a:buFontTx/>
              <a:buChar char="-"/>
            </a:pPr>
            <a:r>
              <a:rPr lang="en-US" sz="1050">
                <a:solidFill>
                  <a:srgbClr val="404040"/>
                </a:solidFill>
                <a:latin typeface="Arial"/>
              </a:rPr>
              <a:t>~$700 annual savings</a:t>
            </a:r>
          </a:p>
          <a:p>
            <a:pPr marL="285750" indent="-285750">
              <a:spcAft>
                <a:spcPts val="1000"/>
              </a:spcAft>
              <a:buFontTx/>
              <a:buChar char="-"/>
            </a:pPr>
            <a:r>
              <a:rPr lang="en-US" sz="1050">
                <a:solidFill>
                  <a:srgbClr val="404040"/>
                </a:solidFill>
                <a:latin typeface="Arial"/>
              </a:rPr>
              <a:t>40–50% bill reduction</a:t>
            </a:r>
          </a:p>
          <a:p>
            <a:pPr marL="285750" indent="-285750">
              <a:spcAft>
                <a:spcPts val="1000"/>
              </a:spcAft>
              <a:buFontTx/>
              <a:buChar char="-"/>
            </a:pPr>
            <a:r>
              <a:rPr lang="en-US" sz="1050">
                <a:solidFill>
                  <a:srgbClr val="404040"/>
                </a:solidFill>
                <a:latin typeface="Arial"/>
              </a:rPr>
              <a:t>Backup power during outages</a:t>
            </a:r>
          </a:p>
          <a:p>
            <a:pPr marL="285750" indent="-285750">
              <a:spcAft>
                <a:spcPts val="1000"/>
              </a:spcAft>
              <a:buFontTx/>
              <a:buChar char="-"/>
            </a:pPr>
            <a:r>
              <a:rPr lang="en-US" sz="105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BC0EBD76-5E22-C2BA-7438-70FD917F7B9C}"/>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500" b="1">
                <a:solidFill>
                  <a:srgbClr val="FFFFFF"/>
                </a:solidFill>
                <a:latin typeface="Arial"/>
              </a:rPr>
              <a:t>Creates value for DTE, participating homeowners, and APTIM while advancing Michigan's long-term storage goals.</a:t>
            </a:r>
            <a:endParaRPr sz="1500" b="1">
              <a:solidFill>
                <a:srgbClr val="FFFFFF"/>
              </a:solidFill>
              <a:latin typeface="Arial"/>
            </a:endParaRPr>
          </a:p>
        </p:txBody>
      </p:sp>
      <p:sp>
        <p:nvSpPr>
          <p:cNvPr id="14" name="TextBox 13">
            <a:extLst>
              <a:ext uri="{FF2B5EF4-FFF2-40B4-BE49-F238E27FC236}">
                <a16:creationId xmlns:a16="http://schemas.microsoft.com/office/drawing/2014/main" id="{69E28569-579C-7243-6739-326C0E800676}"/>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4347DFFA-EF6D-C91C-4F0A-607B89B0712E}"/>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4092208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8408-D7B6-D257-E121-3E1E465DCD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B46E48-AEF8-2D49-D86D-08472E6F8BB5}"/>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E6A058AC-DDB8-F9EB-0C62-CB553C336745}"/>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63C1BC85-80D2-7A93-9730-8A2206E34111}"/>
              </a:ext>
            </a:extLst>
          </p:cNvPr>
          <p:cNvSpPr/>
          <p:nvPr/>
        </p:nvSpPr>
        <p:spPr>
          <a:xfrm>
            <a:off x="329184" y="1372234"/>
            <a:ext cx="3710330" cy="593726"/>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600" b="1">
                <a:solidFill>
                  <a:srgbClr val="FFFFFF"/>
                </a:solidFill>
                <a:latin typeface="Arial"/>
              </a:rPr>
              <a:t>DTE Benefits</a:t>
            </a:r>
            <a:endParaRPr sz="1600" b="1">
              <a:solidFill>
                <a:srgbClr val="FFFFFF"/>
              </a:solidFill>
              <a:latin typeface="Arial"/>
            </a:endParaRPr>
          </a:p>
        </p:txBody>
      </p:sp>
      <p:sp>
        <p:nvSpPr>
          <p:cNvPr id="6" name="TextBox 5">
            <a:extLst>
              <a:ext uri="{FF2B5EF4-FFF2-40B4-BE49-F238E27FC236}">
                <a16:creationId xmlns:a16="http://schemas.microsoft.com/office/drawing/2014/main" id="{B4411DC8-9ECF-F4DA-E5A2-CB1F34425607}"/>
              </a:ext>
            </a:extLst>
          </p:cNvPr>
          <p:cNvSpPr txBox="1"/>
          <p:nvPr/>
        </p:nvSpPr>
        <p:spPr>
          <a:xfrm>
            <a:off x="518466" y="2056766"/>
            <a:ext cx="3271418" cy="3149580"/>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$17.25M Gross CAPEX</a:t>
            </a:r>
          </a:p>
          <a:p>
            <a:pPr marL="628650" lvl="1" indent="-171450">
              <a:spcAft>
                <a:spcPts val="200"/>
              </a:spcAft>
              <a:buFont typeface="Arial" panose="020B0604020202020204" pitchFamily="34" charset="0"/>
              <a:buChar char="•"/>
            </a:pPr>
            <a:r>
              <a:rPr lang="en-US" sz="1400">
                <a:solidFill>
                  <a:srgbClr val="404040"/>
                </a:solidFill>
                <a:latin typeface="Arial"/>
              </a:rPr>
              <a:t>Solar Cost/Home = 6 kW × $3.50/W = $21,000</a:t>
            </a:r>
          </a:p>
          <a:p>
            <a:pPr marL="628650" lvl="1" indent="-171450">
              <a:spcAft>
                <a:spcPts val="200"/>
              </a:spcAft>
              <a:buFont typeface="Arial" panose="020B0604020202020204" pitchFamily="34" charset="0"/>
              <a:buChar char="•"/>
            </a:pPr>
            <a:r>
              <a:rPr lang="en-US" sz="1400">
                <a:solidFill>
                  <a:srgbClr val="404040"/>
                </a:solidFill>
                <a:latin typeface="Arial"/>
              </a:rPr>
              <a:t>Battery Cost/Home = $13,500</a:t>
            </a:r>
          </a:p>
          <a:p>
            <a:pPr marL="628650" lvl="1" indent="-171450">
              <a:spcAft>
                <a:spcPts val="200"/>
              </a:spcAft>
              <a:buFont typeface="Arial" panose="020B0604020202020204" pitchFamily="34" charset="0"/>
              <a:buChar char="•"/>
            </a:pPr>
            <a:r>
              <a:rPr lang="en-US" sz="1400">
                <a:solidFill>
                  <a:srgbClr val="404040"/>
                </a:solidFill>
                <a:latin typeface="Arial"/>
              </a:rPr>
              <a:t>Total Cost/Home = $34,500</a:t>
            </a:r>
          </a:p>
          <a:p>
            <a:pPr marL="628650" lvl="1" indent="-171450">
              <a:spcAft>
                <a:spcPts val="200"/>
              </a:spcAft>
              <a:buFont typeface="Arial" panose="020B0604020202020204" pitchFamily="34" charset="0"/>
              <a:buChar char="•"/>
            </a:pPr>
            <a:r>
              <a:rPr lang="en-US" sz="1400">
                <a:solidFill>
                  <a:srgbClr val="404040"/>
                </a:solidFill>
                <a:latin typeface="Arial"/>
              </a:rPr>
              <a:t>500 Homes × $34,500 = $17.25M</a:t>
            </a:r>
          </a:p>
          <a:p>
            <a:pPr marL="171450" indent="-171450">
              <a:spcAft>
                <a:spcPts val="200"/>
              </a:spcAft>
              <a:buFont typeface="Arial" panose="020B0604020202020204" pitchFamily="34" charset="0"/>
              <a:buChar char="•"/>
            </a:pPr>
            <a:r>
              <a:rPr lang="en-US" sz="1400">
                <a:solidFill>
                  <a:srgbClr val="404040"/>
                </a:solidFill>
                <a:latin typeface="Arial"/>
              </a:rPr>
              <a:t>3 MW Solar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6 kW/Home</a:t>
            </a:r>
          </a:p>
          <a:p>
            <a:pPr marL="628650" lvl="1" indent="-171450">
              <a:spcAft>
                <a:spcPts val="200"/>
              </a:spcAft>
              <a:buFont typeface="Arial" panose="020B0604020202020204" pitchFamily="34" charset="0"/>
              <a:buChar char="•"/>
            </a:pPr>
            <a:r>
              <a:rPr lang="en-US" sz="1400">
                <a:solidFill>
                  <a:srgbClr val="404040"/>
                </a:solidFill>
                <a:latin typeface="Arial"/>
              </a:rPr>
              <a:t>= 3,000 kW = 3 MW</a:t>
            </a:r>
          </a:p>
          <a:p>
            <a:pPr marL="171450" indent="-171450">
              <a:spcAft>
                <a:spcPts val="200"/>
              </a:spcAft>
              <a:buFont typeface="Arial" panose="020B0604020202020204" pitchFamily="34" charset="0"/>
              <a:buChar char="•"/>
            </a:pPr>
            <a:r>
              <a:rPr lang="en-US" sz="1400">
                <a:solidFill>
                  <a:srgbClr val="404040"/>
                </a:solidFill>
                <a:latin typeface="Arial"/>
              </a:rPr>
              <a:t>7.5 MWh Battery Capacity</a:t>
            </a:r>
          </a:p>
          <a:p>
            <a:pPr marL="628650" lvl="1" indent="-171450">
              <a:spcAft>
                <a:spcPts val="200"/>
              </a:spcAft>
              <a:buFont typeface="Arial" panose="020B0604020202020204" pitchFamily="34" charset="0"/>
              <a:buChar char="•"/>
            </a:pPr>
            <a:r>
              <a:rPr lang="en-US" sz="1400">
                <a:solidFill>
                  <a:srgbClr val="404040"/>
                </a:solidFill>
                <a:latin typeface="Arial"/>
              </a:rPr>
              <a:t>500 Homes × 15 kWh/Home</a:t>
            </a:r>
          </a:p>
          <a:p>
            <a:pPr marL="628650" lvl="1" indent="-171450">
              <a:spcAft>
                <a:spcPts val="200"/>
              </a:spcAft>
              <a:buFont typeface="Arial" panose="020B0604020202020204" pitchFamily="34" charset="0"/>
              <a:buChar char="•"/>
            </a:pPr>
            <a:r>
              <a:rPr lang="en-US" sz="1400">
                <a:solidFill>
                  <a:srgbClr val="404040"/>
                </a:solidFill>
                <a:latin typeface="Arial"/>
              </a:rPr>
              <a:t>= 7,500 kWh = 7.5 MWh</a:t>
            </a:r>
          </a:p>
        </p:txBody>
      </p:sp>
      <p:sp>
        <p:nvSpPr>
          <p:cNvPr id="7" name="Rounded Rectangle 6">
            <a:extLst>
              <a:ext uri="{FF2B5EF4-FFF2-40B4-BE49-F238E27FC236}">
                <a16:creationId xmlns:a16="http://schemas.microsoft.com/office/drawing/2014/main" id="{60401357-93E3-1D7F-3F55-5A48A609C2A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CAAE56D0-16D1-D1D1-583E-D96EFA6BFF71}"/>
              </a:ext>
            </a:extLst>
          </p:cNvPr>
          <p:cNvSpPr/>
          <p:nvPr/>
        </p:nvSpPr>
        <p:spPr>
          <a:xfrm>
            <a:off x="4240682" y="1372234"/>
            <a:ext cx="3710330" cy="593726"/>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APTIM </a:t>
            </a:r>
            <a:r>
              <a:rPr lang="en-US" sz="1600" b="1">
                <a:solidFill>
                  <a:srgbClr val="FFFFFF"/>
                </a:solidFill>
                <a:latin typeface="Arial"/>
              </a:rPr>
              <a:t>Benefits</a:t>
            </a:r>
            <a:endParaRPr sz="1600" b="1">
              <a:solidFill>
                <a:srgbClr val="FFFFFF"/>
              </a:solidFill>
              <a:latin typeface="Arial"/>
            </a:endParaRPr>
          </a:p>
        </p:txBody>
      </p:sp>
      <p:sp>
        <p:nvSpPr>
          <p:cNvPr id="9" name="TextBox 8">
            <a:extLst>
              <a:ext uri="{FF2B5EF4-FFF2-40B4-BE49-F238E27FC236}">
                <a16:creationId xmlns:a16="http://schemas.microsoft.com/office/drawing/2014/main" id="{F93820BD-AF34-E37C-682E-7EBF8526D231}"/>
              </a:ext>
            </a:extLst>
          </p:cNvPr>
          <p:cNvSpPr txBox="1"/>
          <p:nvPr/>
        </p:nvSpPr>
        <p:spPr>
          <a:xfrm>
            <a:off x="4429964" y="2056766"/>
            <a:ext cx="3271418" cy="2641749"/>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$1.25M Estimated Annual Program Cost</a:t>
            </a:r>
          </a:p>
          <a:p>
            <a:pPr marL="628650" lvl="1" indent="-171450">
              <a:spcAft>
                <a:spcPts val="200"/>
              </a:spcAft>
              <a:buFont typeface="Arial" panose="020B0604020202020204" pitchFamily="34" charset="0"/>
              <a:buChar char="•"/>
            </a:pPr>
            <a:r>
              <a:rPr lang="en-US" sz="1400">
                <a:solidFill>
                  <a:srgbClr val="404040"/>
                </a:solidFill>
                <a:latin typeface="Arial"/>
              </a:rPr>
              <a:t>Staffing ~ $ 950K</a:t>
            </a:r>
          </a:p>
          <a:p>
            <a:pPr marL="628650" lvl="1" indent="-171450">
              <a:spcAft>
                <a:spcPts val="200"/>
              </a:spcAft>
              <a:buFont typeface="Arial" panose="020B0604020202020204" pitchFamily="34" charset="0"/>
              <a:buChar char="•"/>
            </a:pPr>
            <a:r>
              <a:rPr lang="en-US" sz="1400">
                <a:solidFill>
                  <a:srgbClr val="404040"/>
                </a:solidFill>
                <a:latin typeface="Arial"/>
              </a:rPr>
              <a:t>Overhead/Admin ~ $300K</a:t>
            </a:r>
          </a:p>
          <a:p>
            <a:pPr marL="628650" lvl="1" indent="-171450">
              <a:spcAft>
                <a:spcPts val="200"/>
              </a:spcAft>
              <a:buFont typeface="Arial" panose="020B0604020202020204" pitchFamily="34" charset="0"/>
              <a:buChar char="•"/>
            </a:pPr>
            <a:r>
              <a:rPr lang="en-US" sz="1400">
                <a:solidFill>
                  <a:srgbClr val="404040"/>
                </a:solidFill>
                <a:latin typeface="Arial"/>
              </a:rPr>
              <a:t>Internal Hiring</a:t>
            </a:r>
          </a:p>
          <a:p>
            <a:pPr marL="171450" indent="-171450">
              <a:spcAft>
                <a:spcPts val="200"/>
              </a:spcAft>
              <a:buFont typeface="Arial" panose="020B0604020202020204" pitchFamily="34" charset="0"/>
              <a:buChar char="•"/>
            </a:pPr>
            <a:r>
              <a:rPr lang="en-US" sz="1400">
                <a:solidFill>
                  <a:srgbClr val="404040"/>
                </a:solidFill>
                <a:latin typeface="Arial"/>
              </a:rPr>
              <a:t>$1.47M - $1.67M Suggested DTE Contract Ranges</a:t>
            </a:r>
          </a:p>
          <a:p>
            <a:pPr marL="628650" lvl="1" indent="-171450">
              <a:spcAft>
                <a:spcPts val="200"/>
              </a:spcAft>
              <a:buFont typeface="Arial" panose="020B0604020202020204" pitchFamily="34" charset="0"/>
              <a:buChar char="•"/>
            </a:pPr>
            <a:r>
              <a:rPr lang="en-US" sz="1400">
                <a:solidFill>
                  <a:srgbClr val="404040"/>
                </a:solidFill>
                <a:latin typeface="Arial"/>
              </a:rPr>
              <a:t>15-25% Target Profit Margin</a:t>
            </a:r>
          </a:p>
          <a:p>
            <a:pPr marL="171450" indent="-171450">
              <a:spcAft>
                <a:spcPts val="200"/>
              </a:spcAft>
              <a:buFont typeface="Arial" panose="020B0604020202020204" pitchFamily="34" charset="0"/>
              <a:buChar char="•"/>
            </a:pPr>
            <a:r>
              <a:rPr lang="en-US" sz="1400">
                <a:solidFill>
                  <a:srgbClr val="404040"/>
                </a:solidFill>
                <a:latin typeface="Arial"/>
              </a:rPr>
              <a:t>$220K – $417K Estimated Annual APTIM Profit </a:t>
            </a:r>
          </a:p>
          <a:p>
            <a:pPr marL="628650" lvl="1" indent="-171450">
              <a:spcAft>
                <a:spcPts val="200"/>
              </a:spcAft>
              <a:buFont typeface="Arial" panose="020B0604020202020204" pitchFamily="34" charset="0"/>
              <a:buChar char="•"/>
            </a:pPr>
            <a:r>
              <a:rPr lang="en-US" sz="1400">
                <a:solidFill>
                  <a:srgbClr val="404040"/>
                </a:solidFill>
                <a:latin typeface="Arial"/>
              </a:rPr>
              <a:t>Based on negotiated contract </a:t>
            </a:r>
          </a:p>
        </p:txBody>
      </p:sp>
      <p:sp>
        <p:nvSpPr>
          <p:cNvPr id="10" name="Rounded Rectangle 9">
            <a:extLst>
              <a:ext uri="{FF2B5EF4-FFF2-40B4-BE49-F238E27FC236}">
                <a16:creationId xmlns:a16="http://schemas.microsoft.com/office/drawing/2014/main" id="{0D9FF997-11C2-B6B0-3E8C-9245B546BEC3}"/>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118D8600-A8B2-7C30-BCE6-8BC6266D5F8C}"/>
              </a:ext>
            </a:extLst>
          </p:cNvPr>
          <p:cNvSpPr/>
          <p:nvPr/>
        </p:nvSpPr>
        <p:spPr>
          <a:xfrm>
            <a:off x="8152180" y="1372234"/>
            <a:ext cx="3710330" cy="593726"/>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Arial"/>
              </a:rPr>
              <a:t>Customer Benefits</a:t>
            </a:r>
          </a:p>
        </p:txBody>
      </p:sp>
      <p:sp>
        <p:nvSpPr>
          <p:cNvPr id="12" name="TextBox 11">
            <a:extLst>
              <a:ext uri="{FF2B5EF4-FFF2-40B4-BE49-F238E27FC236}">
                <a16:creationId xmlns:a16="http://schemas.microsoft.com/office/drawing/2014/main" id="{94E06F27-4AB5-1B9E-C07D-71912ADDBE22}"/>
              </a:ext>
            </a:extLst>
          </p:cNvPr>
          <p:cNvSpPr txBox="1"/>
          <p:nvPr/>
        </p:nvSpPr>
        <p:spPr>
          <a:xfrm>
            <a:off x="8341462" y="2056766"/>
            <a:ext cx="3271418" cy="2667397"/>
          </a:xfrm>
          <a:prstGeom prst="rect">
            <a:avLst/>
          </a:prstGeom>
          <a:noFill/>
        </p:spPr>
        <p:txBody>
          <a:bodyPr wrap="square">
            <a:spAutoFit/>
          </a:bodyPr>
          <a:lstStyle/>
          <a:p>
            <a:pPr marL="171450" indent="-171450">
              <a:spcAft>
                <a:spcPts val="200"/>
              </a:spcAft>
              <a:buFont typeface="Arial" panose="020B0604020202020204" pitchFamily="34" charset="0"/>
              <a:buChar char="•"/>
            </a:pPr>
            <a:r>
              <a:rPr lang="en-US" sz="1400">
                <a:solidFill>
                  <a:srgbClr val="404040"/>
                </a:solidFill>
                <a:latin typeface="Arial"/>
              </a:rPr>
              <a:t>~$700 Annual Savings</a:t>
            </a:r>
          </a:p>
          <a:p>
            <a:pPr marL="628650" lvl="1" indent="-171450">
              <a:spcAft>
                <a:spcPts val="200"/>
              </a:spcAft>
              <a:buFont typeface="Arial" panose="020B0604020202020204" pitchFamily="34" charset="0"/>
              <a:buChar char="•"/>
            </a:pPr>
            <a:r>
              <a:rPr lang="en-US" sz="1400">
                <a:solidFill>
                  <a:srgbClr val="404040"/>
                </a:solidFill>
                <a:latin typeface="Arial"/>
              </a:rPr>
              <a:t>Electricity Cost = $0.1932/kWh</a:t>
            </a:r>
          </a:p>
          <a:p>
            <a:pPr marL="628650" lvl="1" indent="-171450">
              <a:spcAft>
                <a:spcPts val="200"/>
              </a:spcAft>
              <a:buFont typeface="Arial" panose="020B0604020202020204" pitchFamily="34" charset="0"/>
              <a:buChar char="•"/>
            </a:pPr>
            <a:r>
              <a:rPr lang="en-US" sz="1400">
                <a:solidFill>
                  <a:srgbClr val="404040"/>
                </a:solidFill>
                <a:latin typeface="Arial"/>
              </a:rPr>
              <a:t>~ 10 kWh/day Solar Offset</a:t>
            </a:r>
          </a:p>
          <a:p>
            <a:pPr marL="171450" indent="-171450">
              <a:spcAft>
                <a:spcPts val="200"/>
              </a:spcAft>
              <a:buFont typeface="Arial" panose="020B0604020202020204" pitchFamily="34" charset="0"/>
              <a:buChar char="•"/>
            </a:pPr>
            <a:r>
              <a:rPr lang="en-US" sz="1400">
                <a:solidFill>
                  <a:srgbClr val="404040"/>
                </a:solidFill>
                <a:latin typeface="Arial"/>
              </a:rPr>
              <a:t>Up to 50% Bill Reduction</a:t>
            </a:r>
          </a:p>
          <a:p>
            <a:pPr marL="628650" lvl="1" indent="-171450">
              <a:spcAft>
                <a:spcPts val="200"/>
              </a:spcAft>
              <a:buFont typeface="Arial" panose="020B0604020202020204" pitchFamily="34" charset="0"/>
              <a:buChar char="•"/>
            </a:pPr>
            <a:r>
              <a:rPr lang="en-US" sz="1400">
                <a:solidFill>
                  <a:srgbClr val="404040"/>
                </a:solidFill>
                <a:latin typeface="Arial"/>
              </a:rPr>
              <a:t>Solar + Battery Reduces Grid Dependence</a:t>
            </a:r>
          </a:p>
          <a:p>
            <a:pPr marL="628650" lvl="1" indent="-171450">
              <a:spcAft>
                <a:spcPts val="200"/>
              </a:spcAft>
              <a:buFont typeface="Arial" panose="020B0604020202020204" pitchFamily="34" charset="0"/>
              <a:buChar char="•"/>
            </a:pPr>
            <a:r>
              <a:rPr lang="en-US" sz="1400">
                <a:solidFill>
                  <a:srgbClr val="404040"/>
                </a:solidFill>
                <a:latin typeface="Arial"/>
              </a:rPr>
              <a:t>Assume ~ 22.5 kWh/day Household Use</a:t>
            </a:r>
          </a:p>
          <a:p>
            <a:pPr marL="171450" indent="-171450">
              <a:spcAft>
                <a:spcPts val="200"/>
              </a:spcAft>
              <a:buFont typeface="Arial" panose="020B0604020202020204" pitchFamily="34" charset="0"/>
              <a:buChar char="•"/>
            </a:pPr>
            <a:r>
              <a:rPr lang="en-US" sz="1400">
                <a:solidFill>
                  <a:srgbClr val="404040"/>
                </a:solidFill>
                <a:latin typeface="Arial"/>
              </a:rPr>
              <a:t>$0 Upfront Investment</a:t>
            </a:r>
          </a:p>
          <a:p>
            <a:pPr marL="628650" lvl="1" indent="-171450">
              <a:spcAft>
                <a:spcPts val="200"/>
              </a:spcAft>
              <a:buFont typeface="Arial" panose="020B0604020202020204" pitchFamily="34" charset="0"/>
              <a:buChar char="•"/>
            </a:pPr>
            <a:r>
              <a:rPr lang="en-US" sz="1400">
                <a:solidFill>
                  <a:srgbClr val="404040"/>
                </a:solidFill>
                <a:latin typeface="Arial"/>
              </a:rPr>
              <a:t>DTE Owns Assets</a:t>
            </a:r>
          </a:p>
          <a:p>
            <a:pPr marL="628650" lvl="1" indent="-171450">
              <a:spcAft>
                <a:spcPts val="200"/>
              </a:spcAft>
              <a:buFont typeface="Arial" panose="020B0604020202020204" pitchFamily="34" charset="0"/>
              <a:buChar char="•"/>
            </a:pPr>
            <a:r>
              <a:rPr lang="en-US" sz="1400">
                <a:solidFill>
                  <a:srgbClr val="404040"/>
                </a:solidFill>
                <a:latin typeface="Arial"/>
              </a:rPr>
              <a:t>DTE Covers Installation Costs</a:t>
            </a:r>
          </a:p>
        </p:txBody>
      </p:sp>
      <p:sp>
        <p:nvSpPr>
          <p:cNvPr id="13" name="Rounded Rectangle 12">
            <a:extLst>
              <a:ext uri="{FF2B5EF4-FFF2-40B4-BE49-F238E27FC236}">
                <a16:creationId xmlns:a16="http://schemas.microsoft.com/office/drawing/2014/main" id="{B19E97C0-84F2-8627-D88B-05570BB9676C}"/>
              </a:ext>
            </a:extLst>
          </p:cNvPr>
          <p:cNvSpPr/>
          <p:nvPr/>
        </p:nvSpPr>
        <p:spPr>
          <a:xfrm>
            <a:off x="472440" y="5608279"/>
            <a:ext cx="11247120" cy="804736"/>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32F0A9D8-F27A-EC38-C56D-509CF784C930}"/>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A6C6D23B-FB23-9A2F-4F46-718CF3E99F5F}"/>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
        <p:nvSpPr>
          <p:cNvPr id="17" name="TextBox 16">
            <a:extLst>
              <a:ext uri="{FF2B5EF4-FFF2-40B4-BE49-F238E27FC236}">
                <a16:creationId xmlns:a16="http://schemas.microsoft.com/office/drawing/2014/main" id="{E48BDDFD-7DD6-285B-1C2E-B3A7B57E0321}"/>
              </a:ext>
            </a:extLst>
          </p:cNvPr>
          <p:cNvSpPr txBox="1"/>
          <p:nvPr/>
        </p:nvSpPr>
        <p:spPr>
          <a:xfrm>
            <a:off x="9207396" y="5310227"/>
            <a:ext cx="2685288" cy="261610"/>
          </a:xfrm>
          <a:prstGeom prst="rect">
            <a:avLst/>
          </a:prstGeom>
          <a:noFill/>
        </p:spPr>
        <p:txBody>
          <a:bodyPr wrap="square" rtlCol="0">
            <a:spAutoFit/>
          </a:bodyPr>
          <a:lstStyle/>
          <a:p>
            <a:r>
              <a:rPr lang="en-US" sz="1100">
                <a:solidFill>
                  <a:schemeClr val="bg2">
                    <a:lumMod val="50000"/>
                  </a:schemeClr>
                </a:solidFill>
              </a:rPr>
              <a:t>Source: </a:t>
            </a:r>
            <a:r>
              <a:rPr lang="en-US" sz="1100" err="1">
                <a:solidFill>
                  <a:schemeClr val="bg2">
                    <a:lumMod val="50000"/>
                  </a:schemeClr>
                </a:solidFill>
              </a:rPr>
              <a:t>EcoWatch</a:t>
            </a:r>
            <a:r>
              <a:rPr lang="en-US" sz="1100">
                <a:solidFill>
                  <a:schemeClr val="bg2">
                    <a:lumMod val="50000"/>
                  </a:schemeClr>
                </a:solidFill>
              </a:rPr>
              <a:t> Michigan Solar Guide</a:t>
            </a:r>
          </a:p>
        </p:txBody>
      </p:sp>
    </p:spTree>
    <p:extLst>
      <p:ext uri="{BB962C8B-B14F-4D97-AF65-F5344CB8AC3E}">
        <p14:creationId xmlns:p14="http://schemas.microsoft.com/office/powerpoint/2010/main" val="23136756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1E3825-42A2-BB61-3E09-696CB0B714AD}"/>
              </a:ext>
            </a:extLst>
          </p:cNvPr>
          <p:cNvSpPr>
            <a:spLocks noGrp="1"/>
          </p:cNvSpPr>
          <p:nvPr>
            <p:ph type="title"/>
          </p:nvPr>
        </p:nvSpPr>
        <p:spPr/>
        <p:txBody>
          <a:bodyPr/>
          <a:lstStyle/>
          <a:p>
            <a:r>
              <a:rPr lang="en-US">
                <a:latin typeface="Arial Black"/>
                <a:cs typeface="Arial"/>
              </a:rPr>
              <a:t>Strategic Fit </a:t>
            </a:r>
            <a:endParaRPr lang="en-US"/>
          </a:p>
        </p:txBody>
      </p:sp>
      <p:sp>
        <p:nvSpPr>
          <p:cNvPr id="4" name="Footer Placeholder 3">
            <a:extLst>
              <a:ext uri="{FF2B5EF4-FFF2-40B4-BE49-F238E27FC236}">
                <a16:creationId xmlns:a16="http://schemas.microsoft.com/office/drawing/2014/main" id="{F45FB31A-C0EE-EFF1-62DA-5E4B30F7BA2F}"/>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D2F6F7C-79A1-D4E3-4372-322365F4C2F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20</a:t>
            </a:fld>
            <a:endParaRPr lang="en-US"/>
          </a:p>
        </p:txBody>
      </p:sp>
      <p:graphicFrame>
        <p:nvGraphicFramePr>
          <p:cNvPr id="3" name="Diagram 2">
            <a:extLst>
              <a:ext uri="{FF2B5EF4-FFF2-40B4-BE49-F238E27FC236}">
                <a16:creationId xmlns:a16="http://schemas.microsoft.com/office/drawing/2014/main" id="{04C95007-5CC2-35DF-7561-E04658A58393}"/>
              </a:ext>
            </a:extLst>
          </p:cNvPr>
          <p:cNvGraphicFramePr/>
          <p:nvPr>
            <p:extLst>
              <p:ext uri="{D42A27DB-BD31-4B8C-83A1-F6EECF244321}">
                <p14:modId xmlns:p14="http://schemas.microsoft.com/office/powerpoint/2010/main" val="1914515963"/>
              </p:ext>
            </p:extLst>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94DAB289-C1DE-CB70-E36F-44D04AED135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1172A044-3527-F7BB-C20C-999E34884F3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D34F9CFB-B106-E126-96E0-034ADAC673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BA057E1F-6917-68A5-1D1C-2DAD32C2D6D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1B209809-C997-1623-E4DE-02DE4CF0043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40CD30B9-4B76-D253-D68B-C86C94C1B68D}"/>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4B08A274-E3D0-0884-46B1-B2E56198FBB7}"/>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38B3012C-9223-956B-F18A-C08C36640C23}"/>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3F20729A-1D10-A142-763C-B5741ADD508D}"/>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9C8159F7-24EC-0B33-0A2D-E27E4FF49F15}"/>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F45D697A-B83F-8CBA-A883-6C9906F3428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1BF0C31E-45F1-11B8-82DF-FEB4CA027AAE}"/>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C0C1EB17-0953-224A-3BD7-2850C1BB2D44}"/>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801B8F2E-F917-A576-B0BC-2F847513E4D4}"/>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93981EDE-1A87-9FC9-505B-AFE8639813D7}"/>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6866304D-5250-D141-791A-A103AAFA404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3B977976-6888-49A7-1341-3B06508B9329}"/>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A84E4DD5-7CD1-4BC4-A65D-7FC69516AD90}"/>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DA3DB6D3-9EA3-8716-5DC7-091A4D225DDC}"/>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E998A-3924-CBE9-20B9-69518C39C8B9}"/>
              </a:ext>
            </a:extLst>
          </p:cNvPr>
          <p:cNvSpPr>
            <a:spLocks noGrp="1"/>
          </p:cNvSpPr>
          <p:nvPr>
            <p:ph type="title"/>
          </p:nvPr>
        </p:nvSpPr>
        <p:spPr/>
        <p:txBody>
          <a:bodyPr/>
          <a:lstStyle/>
          <a:p>
            <a:r>
              <a:rPr lang="en-US"/>
              <a:t> Growth Timeline (Re format)</a:t>
            </a:r>
          </a:p>
        </p:txBody>
      </p:sp>
      <p:graphicFrame>
        <p:nvGraphicFramePr>
          <p:cNvPr id="7" name="Content Placeholder 6">
            <a:extLst>
              <a:ext uri="{FF2B5EF4-FFF2-40B4-BE49-F238E27FC236}">
                <a16:creationId xmlns:a16="http://schemas.microsoft.com/office/drawing/2014/main" id="{91FA3FC4-9324-758A-FBE9-BAFCABE203B3}"/>
              </a:ext>
            </a:extLst>
          </p:cNvPr>
          <p:cNvGraphicFramePr>
            <a:graphicFrameLocks noGrp="1"/>
          </p:cNvGraphicFramePr>
          <p:nvPr>
            <p:ph idx="1"/>
            <p:extLst>
              <p:ext uri="{D42A27DB-BD31-4B8C-83A1-F6EECF244321}">
                <p14:modId xmlns:p14="http://schemas.microsoft.com/office/powerpoint/2010/main" val="1422145008"/>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203608F2-BA07-F550-1B74-EFF1D6EEB36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90F9017-357B-5A42-792C-75670CF4665E}"/>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11282495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7000"/>
            <a:lum/>
          </a:blip>
          <a:srcRect/>
          <a:stretch>
            <a:fillRect t="-3000" b="-3000"/>
          </a:stretch>
        </a:blipFill>
        <a:effectLst/>
      </p:bgPr>
    </p:bg>
    <p:spTree>
      <p:nvGrpSpPr>
        <p:cNvPr id="1" name="">
          <a:extLst>
            <a:ext uri="{FF2B5EF4-FFF2-40B4-BE49-F238E27FC236}">
              <a16:creationId xmlns:a16="http://schemas.microsoft.com/office/drawing/2014/main" id="{D659E1B3-E51D-4D37-7000-7F328E430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DAD35-9BE8-CB0D-76AF-F0441AF57513}"/>
              </a:ext>
            </a:extLst>
          </p:cNvPr>
          <p:cNvSpPr>
            <a:spLocks noGrp="1"/>
          </p:cNvSpPr>
          <p:nvPr>
            <p:ph type="ctrTitle"/>
          </p:nvPr>
        </p:nvSpPr>
        <p:spPr/>
        <p:txBody>
          <a:bodyPr/>
          <a:lstStyle/>
          <a:p>
            <a:r>
              <a:rPr lang="en-US">
                <a:solidFill>
                  <a:schemeClr val="tx1"/>
                </a:solidFill>
              </a:rPr>
              <a:t>Thank you!</a:t>
            </a:r>
          </a:p>
        </p:txBody>
      </p:sp>
      <p:sp>
        <p:nvSpPr>
          <p:cNvPr id="3" name="Subtitle 2">
            <a:extLst>
              <a:ext uri="{FF2B5EF4-FFF2-40B4-BE49-F238E27FC236}">
                <a16:creationId xmlns:a16="http://schemas.microsoft.com/office/drawing/2014/main" id="{99A45562-B1D7-EC2D-CF82-A12A86772DA0}"/>
              </a:ext>
            </a:extLst>
          </p:cNvPr>
          <p:cNvSpPr>
            <a:spLocks noGrp="1"/>
          </p:cNvSpPr>
          <p:nvPr>
            <p:ph type="subTitle" idx="1"/>
          </p:nvPr>
        </p:nvSpPr>
        <p:spPr/>
        <p:txBody>
          <a:bodyPr/>
          <a:lstStyle/>
          <a:p>
            <a:r>
              <a:rPr lang="en-US">
                <a:solidFill>
                  <a:schemeClr val="tx1"/>
                </a:solidFill>
              </a:rPr>
              <a:t>Any questions? </a:t>
            </a:r>
          </a:p>
        </p:txBody>
      </p:sp>
      <p:sp>
        <p:nvSpPr>
          <p:cNvPr id="4" name="Footer Placeholder 3">
            <a:extLst>
              <a:ext uri="{FF2B5EF4-FFF2-40B4-BE49-F238E27FC236}">
                <a16:creationId xmlns:a16="http://schemas.microsoft.com/office/drawing/2014/main" id="{305B84F3-DCB0-3B3D-F8FF-A06E8803746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51A1C40-1A46-DFAB-ACB6-DD253434130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94332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23</a:t>
            </a:fld>
            <a:endParaRPr lang="en-US"/>
          </a:p>
        </p:txBody>
      </p:sp>
    </p:spTree>
    <p:extLst>
      <p:ext uri="{BB962C8B-B14F-4D97-AF65-F5344CB8AC3E}">
        <p14:creationId xmlns:p14="http://schemas.microsoft.com/office/powerpoint/2010/main" val="9479916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blipFill dpi="0" rotWithShape="1">
          <a:blip r:embed="rId3">
            <a:alphaModFix amt="77000"/>
            <a:lum/>
          </a:blip>
          <a:srcRect/>
          <a:stretch>
            <a:fillRect t="-3000" b="-3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24</a:t>
            </a:fld>
            <a:endParaRPr lang="en-US"/>
          </a:p>
        </p:txBody>
      </p:sp>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07662" y="842968"/>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405A8E4-5510-BACE-E91E-E24FA1E45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7BD04-2722-784A-9B23-0DB40EDF512C}"/>
              </a:ext>
            </a:extLst>
          </p:cNvPr>
          <p:cNvSpPr>
            <a:spLocks noGrp="1"/>
          </p:cNvSpPr>
          <p:nvPr>
            <p:ph type="title"/>
          </p:nvPr>
        </p:nvSpPr>
        <p:spPr>
          <a:xfrm>
            <a:off x="365760" y="429705"/>
            <a:ext cx="10972799" cy="804735"/>
          </a:xfrm>
        </p:spPr>
        <p:txBody>
          <a:bodyPr/>
          <a:lstStyle/>
          <a:p>
            <a:r>
              <a:rPr lang="en-US">
                <a:solidFill>
                  <a:srgbClr val="002856"/>
                </a:solidFill>
              </a:rPr>
              <a:t>Business Case: Financial Summary </a:t>
            </a:r>
            <a:endParaRPr>
              <a:solidFill>
                <a:srgbClr val="002856"/>
              </a:solidFill>
            </a:endParaRPr>
          </a:p>
        </p:txBody>
      </p:sp>
      <p:sp>
        <p:nvSpPr>
          <p:cNvPr id="4" name="Rounded Rectangle 3">
            <a:extLst>
              <a:ext uri="{FF2B5EF4-FFF2-40B4-BE49-F238E27FC236}">
                <a16:creationId xmlns:a16="http://schemas.microsoft.com/office/drawing/2014/main" id="{2E071690-8639-7287-E20D-6F32D40155DE}"/>
              </a:ext>
            </a:extLst>
          </p:cNvPr>
          <p:cNvSpPr/>
          <p:nvPr/>
        </p:nvSpPr>
        <p:spPr>
          <a:xfrm>
            <a:off x="365760" y="1463040"/>
            <a:ext cx="3637178" cy="3794760"/>
          </a:xfrm>
          <a:prstGeom prst="roundRect">
            <a:avLst>
              <a:gd name="adj" fmla="val 6000"/>
            </a:avLst>
          </a:prstGeom>
          <a:solidFill>
            <a:srgbClr val="FFFFFF"/>
          </a:solidFill>
          <a:ln w="19050">
            <a:solidFill>
              <a:srgbClr val="002856"/>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903DCB5B-ECEE-62BF-71E4-6E431989CA55}"/>
              </a:ext>
            </a:extLst>
          </p:cNvPr>
          <p:cNvSpPr/>
          <p:nvPr/>
        </p:nvSpPr>
        <p:spPr>
          <a:xfrm>
            <a:off x="365760" y="1463040"/>
            <a:ext cx="3637178" cy="502920"/>
          </a:xfrm>
          <a:prstGeom prst="roundRect">
            <a:avLst>
              <a:gd name="adj" fmla="val 12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a:solidFill>
                  <a:srgbClr val="FFFFFF"/>
                </a:solidFill>
                <a:latin typeface="Arial"/>
              </a:rPr>
              <a:t>DTE Benefits</a:t>
            </a:r>
            <a:endParaRPr sz="1400" b="1">
              <a:solidFill>
                <a:srgbClr val="FFFFFF"/>
              </a:solidFill>
              <a:latin typeface="Arial"/>
            </a:endParaRPr>
          </a:p>
        </p:txBody>
      </p:sp>
      <p:sp>
        <p:nvSpPr>
          <p:cNvPr id="6" name="TextBox 5">
            <a:extLst>
              <a:ext uri="{FF2B5EF4-FFF2-40B4-BE49-F238E27FC236}">
                <a16:creationId xmlns:a16="http://schemas.microsoft.com/office/drawing/2014/main" id="{439345A5-E0BE-B659-9DBF-F167A02938CC}"/>
              </a:ext>
            </a:extLst>
          </p:cNvPr>
          <p:cNvSpPr txBox="1"/>
          <p:nvPr/>
        </p:nvSpPr>
        <p:spPr>
          <a:xfrm>
            <a:off x="548640" y="2148840"/>
            <a:ext cx="3271418" cy="2926080"/>
          </a:xfrm>
          <a:prstGeom prst="rect">
            <a:avLst/>
          </a:prstGeom>
          <a:noFill/>
        </p:spPr>
        <p:txBody>
          <a:bodyPr wrap="square">
            <a:spAutoFit/>
          </a:bodyPr>
          <a:lstStyle/>
          <a:p>
            <a:pPr>
              <a:spcAft>
                <a:spcPts val="0"/>
              </a:spcAft>
            </a:pPr>
            <a:r>
              <a:rPr sz="1700" b="1">
                <a:solidFill>
                  <a:srgbClr val="002856"/>
                </a:solidFill>
                <a:latin typeface="Arial"/>
              </a:rPr>
              <a:t>500</a:t>
            </a:r>
          </a:p>
          <a:p>
            <a:pPr>
              <a:spcAft>
                <a:spcPts val="900"/>
              </a:spcAft>
            </a:pPr>
            <a:r>
              <a:rPr sz="1000">
                <a:solidFill>
                  <a:srgbClr val="404040"/>
                </a:solidFill>
                <a:latin typeface="Arial"/>
              </a:rPr>
              <a:t>Homes</a:t>
            </a:r>
          </a:p>
          <a:p>
            <a:pPr>
              <a:spcAft>
                <a:spcPts val="0"/>
              </a:spcAft>
            </a:pPr>
            <a:r>
              <a:rPr sz="1700" b="1">
                <a:solidFill>
                  <a:srgbClr val="002856"/>
                </a:solidFill>
                <a:latin typeface="Arial"/>
              </a:rPr>
              <a:t>3 MW</a:t>
            </a:r>
          </a:p>
          <a:p>
            <a:pPr>
              <a:spcAft>
                <a:spcPts val="900"/>
              </a:spcAft>
            </a:pPr>
            <a:r>
              <a:rPr sz="1000">
                <a:solidFill>
                  <a:srgbClr val="404040"/>
                </a:solidFill>
                <a:latin typeface="Arial"/>
              </a:rPr>
              <a:t>Solar Capacity</a:t>
            </a:r>
          </a:p>
          <a:p>
            <a:pPr>
              <a:spcAft>
                <a:spcPts val="0"/>
              </a:spcAft>
            </a:pPr>
            <a:r>
              <a:rPr sz="1700" b="1">
                <a:solidFill>
                  <a:srgbClr val="002856"/>
                </a:solidFill>
                <a:latin typeface="Arial"/>
              </a:rPr>
              <a:t>7.5 MWh</a:t>
            </a:r>
          </a:p>
          <a:p>
            <a:pPr>
              <a:spcAft>
                <a:spcPts val="900"/>
              </a:spcAft>
            </a:pPr>
            <a:r>
              <a:rPr sz="1000">
                <a:solidFill>
                  <a:srgbClr val="404040"/>
                </a:solidFill>
                <a:latin typeface="Arial"/>
              </a:rPr>
              <a:t>Battery Capacity</a:t>
            </a:r>
          </a:p>
          <a:p>
            <a:pPr>
              <a:spcAft>
                <a:spcPts val="0"/>
              </a:spcAft>
            </a:pPr>
            <a:r>
              <a:rPr sz="1700" b="1">
                <a:solidFill>
                  <a:srgbClr val="002856"/>
                </a:solidFill>
                <a:latin typeface="Arial"/>
              </a:rPr>
              <a:t>$34,500</a:t>
            </a:r>
          </a:p>
          <a:p>
            <a:pPr>
              <a:spcAft>
                <a:spcPts val="900"/>
              </a:spcAft>
            </a:pPr>
            <a:r>
              <a:rPr sz="1000">
                <a:solidFill>
                  <a:srgbClr val="404040"/>
                </a:solidFill>
                <a:latin typeface="Arial"/>
              </a:rPr>
              <a:t>Cost per Home</a:t>
            </a:r>
          </a:p>
          <a:p>
            <a:pPr>
              <a:spcAft>
                <a:spcPts val="0"/>
              </a:spcAft>
            </a:pPr>
            <a:r>
              <a:rPr sz="1700" b="1">
                <a:solidFill>
                  <a:srgbClr val="002856"/>
                </a:solidFill>
                <a:latin typeface="Arial"/>
              </a:rPr>
              <a:t>$17.25M</a:t>
            </a:r>
          </a:p>
          <a:p>
            <a:pPr>
              <a:spcAft>
                <a:spcPts val="900"/>
              </a:spcAft>
            </a:pPr>
            <a:r>
              <a:rPr sz="1000">
                <a:solidFill>
                  <a:srgbClr val="404040"/>
                </a:solidFill>
                <a:latin typeface="Arial"/>
              </a:rPr>
              <a:t>Gross CAPEX</a:t>
            </a:r>
          </a:p>
        </p:txBody>
      </p:sp>
      <p:sp>
        <p:nvSpPr>
          <p:cNvPr id="7" name="Rounded Rectangle 6">
            <a:extLst>
              <a:ext uri="{FF2B5EF4-FFF2-40B4-BE49-F238E27FC236}">
                <a16:creationId xmlns:a16="http://schemas.microsoft.com/office/drawing/2014/main" id="{FFB2CAB2-0578-385E-1460-F745947358DA}"/>
              </a:ext>
            </a:extLst>
          </p:cNvPr>
          <p:cNvSpPr/>
          <p:nvPr/>
        </p:nvSpPr>
        <p:spPr>
          <a:xfrm>
            <a:off x="4277258" y="1463040"/>
            <a:ext cx="3637178" cy="3794760"/>
          </a:xfrm>
          <a:prstGeom prst="roundRect">
            <a:avLst>
              <a:gd name="adj" fmla="val 6000"/>
            </a:avLst>
          </a:prstGeom>
          <a:solidFill>
            <a:srgbClr val="FFFFFF"/>
          </a:solidFill>
          <a:ln w="19050">
            <a:solidFill>
              <a:srgbClr val="FF8200"/>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a:extLst>
              <a:ext uri="{FF2B5EF4-FFF2-40B4-BE49-F238E27FC236}">
                <a16:creationId xmlns:a16="http://schemas.microsoft.com/office/drawing/2014/main" id="{ED9BB94C-8892-94A7-F468-4545BA8E87CE}"/>
              </a:ext>
            </a:extLst>
          </p:cNvPr>
          <p:cNvSpPr/>
          <p:nvPr/>
        </p:nvSpPr>
        <p:spPr>
          <a:xfrm>
            <a:off x="4277258" y="1463040"/>
            <a:ext cx="3637178" cy="502920"/>
          </a:xfrm>
          <a:prstGeom prst="roundRect">
            <a:avLst>
              <a:gd name="adj" fmla="val 12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APTIM </a:t>
            </a:r>
            <a:r>
              <a:rPr lang="en-US" sz="1400" b="1">
                <a:solidFill>
                  <a:srgbClr val="FFFFFF"/>
                </a:solidFill>
                <a:latin typeface="Arial"/>
              </a:rPr>
              <a:t>Benefits</a:t>
            </a:r>
            <a:endParaRPr sz="1400" b="1">
              <a:solidFill>
                <a:srgbClr val="FFFFFF"/>
              </a:solidFill>
              <a:latin typeface="Arial"/>
            </a:endParaRPr>
          </a:p>
        </p:txBody>
      </p:sp>
      <p:sp>
        <p:nvSpPr>
          <p:cNvPr id="9" name="TextBox 8">
            <a:extLst>
              <a:ext uri="{FF2B5EF4-FFF2-40B4-BE49-F238E27FC236}">
                <a16:creationId xmlns:a16="http://schemas.microsoft.com/office/drawing/2014/main" id="{C6CE4761-B2C1-5BCD-6585-A1AE633B80BF}"/>
              </a:ext>
            </a:extLst>
          </p:cNvPr>
          <p:cNvSpPr txBox="1"/>
          <p:nvPr/>
        </p:nvSpPr>
        <p:spPr>
          <a:xfrm>
            <a:off x="4460138" y="2148840"/>
            <a:ext cx="3271418" cy="2926080"/>
          </a:xfrm>
          <a:prstGeom prst="rect">
            <a:avLst/>
          </a:prstGeom>
          <a:noFill/>
        </p:spPr>
        <p:txBody>
          <a:bodyPr wrap="square">
            <a:spAutoFit/>
          </a:bodyPr>
          <a:lstStyle/>
          <a:p>
            <a:pPr>
              <a:spcAft>
                <a:spcPts val="0"/>
              </a:spcAft>
            </a:pPr>
            <a:r>
              <a:rPr sz="1700" b="1">
                <a:solidFill>
                  <a:srgbClr val="FF8200"/>
                </a:solidFill>
                <a:latin typeface="Arial"/>
              </a:rPr>
              <a:t>$1.5M</a:t>
            </a:r>
          </a:p>
          <a:p>
            <a:pPr>
              <a:spcAft>
                <a:spcPts val="900"/>
              </a:spcAft>
            </a:pPr>
            <a:r>
              <a:rPr sz="1000">
                <a:solidFill>
                  <a:srgbClr val="404040"/>
                </a:solidFill>
                <a:latin typeface="Arial"/>
              </a:rPr>
              <a:t>Annual Contract</a:t>
            </a:r>
          </a:p>
          <a:p>
            <a:pPr>
              <a:spcAft>
                <a:spcPts val="0"/>
              </a:spcAft>
            </a:pPr>
            <a:r>
              <a:rPr sz="1700" b="1">
                <a:solidFill>
                  <a:srgbClr val="FF8200"/>
                </a:solidFill>
                <a:latin typeface="Arial"/>
              </a:rPr>
              <a:t>3 Years</a:t>
            </a:r>
          </a:p>
          <a:p>
            <a:pPr>
              <a:spcAft>
                <a:spcPts val="900"/>
              </a:spcAft>
            </a:pPr>
            <a:r>
              <a:rPr sz="1000">
                <a:solidFill>
                  <a:srgbClr val="404040"/>
                </a:solidFill>
                <a:latin typeface="Arial"/>
              </a:rPr>
              <a:t>Pilot Length</a:t>
            </a:r>
          </a:p>
          <a:p>
            <a:pPr>
              <a:spcAft>
                <a:spcPts val="0"/>
              </a:spcAft>
            </a:pPr>
            <a:r>
              <a:rPr sz="1700" b="1">
                <a:solidFill>
                  <a:srgbClr val="FF8200"/>
                </a:solidFill>
                <a:latin typeface="Arial"/>
              </a:rPr>
              <a:t>$4.5M</a:t>
            </a:r>
          </a:p>
          <a:p>
            <a:pPr>
              <a:spcAft>
                <a:spcPts val="900"/>
              </a:spcAft>
            </a:pPr>
            <a:r>
              <a:rPr sz="1000">
                <a:solidFill>
                  <a:srgbClr val="404040"/>
                </a:solidFill>
                <a:latin typeface="Arial"/>
              </a:rPr>
              <a:t>Total Revenue</a:t>
            </a:r>
          </a:p>
        </p:txBody>
      </p:sp>
      <p:sp>
        <p:nvSpPr>
          <p:cNvPr id="10" name="Rounded Rectangle 9">
            <a:extLst>
              <a:ext uri="{FF2B5EF4-FFF2-40B4-BE49-F238E27FC236}">
                <a16:creationId xmlns:a16="http://schemas.microsoft.com/office/drawing/2014/main" id="{0421D296-1E9C-AA6F-0149-B901CC11EBFF}"/>
              </a:ext>
            </a:extLst>
          </p:cNvPr>
          <p:cNvSpPr/>
          <p:nvPr/>
        </p:nvSpPr>
        <p:spPr>
          <a:xfrm>
            <a:off x="8188756" y="1463040"/>
            <a:ext cx="3637178" cy="3794760"/>
          </a:xfrm>
          <a:prstGeom prst="roundRect">
            <a:avLst>
              <a:gd name="adj" fmla="val 6000"/>
            </a:avLst>
          </a:prstGeom>
          <a:solidFill>
            <a:srgbClr val="FFFFFF"/>
          </a:solidFill>
          <a:ln w="19050">
            <a:solidFill>
              <a:srgbClr val="00A19B"/>
            </a:solid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a:extLst>
              <a:ext uri="{FF2B5EF4-FFF2-40B4-BE49-F238E27FC236}">
                <a16:creationId xmlns:a16="http://schemas.microsoft.com/office/drawing/2014/main" id="{D3285091-B454-DFE5-9A92-36D091A0CBA6}"/>
              </a:ext>
            </a:extLst>
          </p:cNvPr>
          <p:cNvSpPr/>
          <p:nvPr/>
        </p:nvSpPr>
        <p:spPr>
          <a:xfrm>
            <a:off x="8188756" y="1463040"/>
            <a:ext cx="3637178" cy="502920"/>
          </a:xfrm>
          <a:prstGeom prst="roundRect">
            <a:avLst>
              <a:gd name="adj" fmla="val 12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Customer Benefits</a:t>
            </a:r>
          </a:p>
        </p:txBody>
      </p:sp>
      <p:sp>
        <p:nvSpPr>
          <p:cNvPr id="12" name="TextBox 11">
            <a:extLst>
              <a:ext uri="{FF2B5EF4-FFF2-40B4-BE49-F238E27FC236}">
                <a16:creationId xmlns:a16="http://schemas.microsoft.com/office/drawing/2014/main" id="{D99F80E0-8F65-B6A6-A402-D703CC6B2C96}"/>
              </a:ext>
            </a:extLst>
          </p:cNvPr>
          <p:cNvSpPr txBox="1"/>
          <p:nvPr/>
        </p:nvSpPr>
        <p:spPr>
          <a:xfrm>
            <a:off x="8371636" y="2240280"/>
            <a:ext cx="3271418" cy="2834640"/>
          </a:xfrm>
          <a:prstGeom prst="rect">
            <a:avLst/>
          </a:prstGeom>
          <a:noFill/>
        </p:spPr>
        <p:txBody>
          <a:bodyPr wrap="square">
            <a:spAutoFit/>
          </a:bodyPr>
          <a:lstStyle/>
          <a:p>
            <a:pPr>
              <a:spcAft>
                <a:spcPts val="1000"/>
              </a:spcAft>
            </a:pPr>
            <a:r>
              <a:rPr sz="1300" b="1">
                <a:solidFill>
                  <a:srgbClr val="00A19B"/>
                </a:solidFill>
                <a:latin typeface="Arial"/>
              </a:rPr>
              <a:t>✓  </a:t>
            </a:r>
            <a:r>
              <a:rPr sz="1300">
                <a:solidFill>
                  <a:srgbClr val="404040"/>
                </a:solidFill>
                <a:latin typeface="Arial"/>
              </a:rPr>
              <a:t>~$700 annual savings</a:t>
            </a:r>
          </a:p>
          <a:p>
            <a:pPr>
              <a:spcAft>
                <a:spcPts val="1000"/>
              </a:spcAft>
            </a:pPr>
            <a:r>
              <a:rPr sz="1300" b="1">
                <a:solidFill>
                  <a:srgbClr val="00A19B"/>
                </a:solidFill>
                <a:latin typeface="Arial"/>
              </a:rPr>
              <a:t>✓  </a:t>
            </a:r>
            <a:r>
              <a:rPr sz="1300">
                <a:solidFill>
                  <a:srgbClr val="404040"/>
                </a:solidFill>
                <a:latin typeface="Arial"/>
              </a:rPr>
              <a:t>40-50% bill reduction</a:t>
            </a:r>
          </a:p>
          <a:p>
            <a:pPr>
              <a:spcAft>
                <a:spcPts val="1000"/>
              </a:spcAft>
            </a:pPr>
            <a:r>
              <a:rPr sz="1300" b="1">
                <a:solidFill>
                  <a:srgbClr val="00A19B"/>
                </a:solidFill>
                <a:latin typeface="Arial"/>
              </a:rPr>
              <a:t>✓  </a:t>
            </a:r>
            <a:r>
              <a:rPr sz="1300">
                <a:solidFill>
                  <a:srgbClr val="404040"/>
                </a:solidFill>
                <a:latin typeface="Arial"/>
              </a:rPr>
              <a:t>Backup power</a:t>
            </a:r>
          </a:p>
          <a:p>
            <a:pPr>
              <a:spcAft>
                <a:spcPts val="1000"/>
              </a:spcAft>
            </a:pPr>
            <a:r>
              <a:rPr sz="1300" b="1">
                <a:solidFill>
                  <a:srgbClr val="00A19B"/>
                </a:solidFill>
                <a:latin typeface="Arial"/>
              </a:rPr>
              <a:t>✓  </a:t>
            </a:r>
            <a:r>
              <a:rPr sz="1300">
                <a:solidFill>
                  <a:srgbClr val="404040"/>
                </a:solidFill>
                <a:latin typeface="Arial"/>
              </a:rPr>
              <a:t>No upfront investment</a:t>
            </a:r>
          </a:p>
        </p:txBody>
      </p:sp>
      <p:sp>
        <p:nvSpPr>
          <p:cNvPr id="13" name="Rounded Rectangle 12">
            <a:extLst>
              <a:ext uri="{FF2B5EF4-FFF2-40B4-BE49-F238E27FC236}">
                <a16:creationId xmlns:a16="http://schemas.microsoft.com/office/drawing/2014/main" id="{4E720CAD-20D2-9021-F18F-40A53CAF20D9}"/>
              </a:ext>
            </a:extLst>
          </p:cNvPr>
          <p:cNvSpPr/>
          <p:nvPr/>
        </p:nvSpPr>
        <p:spPr>
          <a:xfrm>
            <a:off x="457200" y="5486400"/>
            <a:ext cx="11247120" cy="86868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500" b="1">
                <a:solidFill>
                  <a:srgbClr val="FFFFFF"/>
                </a:solidFill>
                <a:latin typeface="Arial"/>
              </a:rPr>
              <a:t>Launch a 500-home Ann Arbor pilot to demonstrate a scalable utility-owned solar and battery fleet model while supporting Michigan's long-term storage objectives.</a:t>
            </a:r>
          </a:p>
        </p:txBody>
      </p:sp>
      <p:sp>
        <p:nvSpPr>
          <p:cNvPr id="14" name="TextBox 13">
            <a:extLst>
              <a:ext uri="{FF2B5EF4-FFF2-40B4-BE49-F238E27FC236}">
                <a16:creationId xmlns:a16="http://schemas.microsoft.com/office/drawing/2014/main" id="{74662F29-E35F-B243-95E5-9FA207620AC4}"/>
              </a:ext>
            </a:extLst>
          </p:cNvPr>
          <p:cNvSpPr txBox="1"/>
          <p:nvPr/>
        </p:nvSpPr>
        <p:spPr>
          <a:xfrm>
            <a:off x="3820058" y="6492874"/>
            <a:ext cx="559826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a:extLst>
              <a:ext uri="{FF2B5EF4-FFF2-40B4-BE49-F238E27FC236}">
                <a16:creationId xmlns:a16="http://schemas.microsoft.com/office/drawing/2014/main" id="{BE3A2027-9813-8F0E-725C-E07C533BD16B}"/>
              </a:ext>
            </a:extLst>
          </p:cNvPr>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17</a:t>
            </a:r>
          </a:p>
        </p:txBody>
      </p:sp>
    </p:spTree>
    <p:extLst>
      <p:ext uri="{BB962C8B-B14F-4D97-AF65-F5344CB8AC3E}">
        <p14:creationId xmlns:p14="http://schemas.microsoft.com/office/powerpoint/2010/main" val="3667531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436900"/>
            <a:ext cx="10099881" cy="523220"/>
          </a:xfrm>
          <a:prstGeom prst="rect">
            <a:avLst/>
          </a:prstGeom>
          <a:noFill/>
        </p:spPr>
        <p:txBody>
          <a:bodyPr wrap="none" lIns="91440" tIns="45720" rIns="91440" bIns="45720" anchor="t">
            <a:spAutoFit/>
          </a:bodyPr>
          <a:lstStyle/>
          <a:p>
            <a:r>
              <a:rPr sz="2800" b="1">
                <a:solidFill>
                  <a:srgbClr val="002856"/>
                </a:solidFill>
                <a:latin typeface="Arial Black" panose="020B0A04020102020204" pitchFamily="34" charset="0"/>
              </a:rPr>
              <a:t>How APTIM Wins</a:t>
            </a:r>
            <a:r>
              <a:rPr lang="en-US" sz="2800" b="1">
                <a:solidFill>
                  <a:srgbClr val="002856"/>
                </a:solidFill>
                <a:latin typeface="Arial Black" panose="020B0A04020102020204" pitchFamily="34" charset="0"/>
              </a:rPr>
              <a:t> (Christian Slide delete if needed)</a:t>
            </a:r>
            <a:endParaRPr sz="2800" b="1">
              <a:solidFill>
                <a:srgbClr val="002856"/>
              </a:solidFill>
              <a:latin typeface="Arial Black" panose="020B0A04020102020204" pitchFamily="34" charset="0"/>
            </a:endParaRPr>
          </a:p>
        </p:txBody>
      </p:sp>
      <p:sp>
        <p:nvSpPr>
          <p:cNvPr id="4" name="Rounded Rectangle 3"/>
          <p:cNvSpPr/>
          <p:nvPr/>
        </p:nvSpPr>
        <p:spPr>
          <a:xfrm>
            <a:off x="457200" y="1463040"/>
            <a:ext cx="5394960" cy="2103120"/>
          </a:xfrm>
          <a:prstGeom prst="roundRect">
            <a:avLst>
              <a:gd name="adj" fmla="val 6000"/>
            </a:avLst>
          </a:prstGeom>
          <a:solidFill>
            <a:srgbClr val="00285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FF8200"/>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A19B"/>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A32036"/>
          </a:solidFill>
          <a:ln>
            <a:noFill/>
          </a:ln>
        </p:spPr>
        <p:style>
          <a:lnRef idx="1">
            <a:schemeClr val="accent1"/>
          </a:lnRef>
          <a:fillRef idx="3">
            <a:schemeClr val="accent1"/>
          </a:fillRef>
          <a:effectRef idx="2">
            <a:schemeClr val="accent1"/>
          </a:effectRef>
          <a:fontRef idx="minor">
            <a:schemeClr val="lt1"/>
          </a:fontRef>
        </p:style>
        <p:txBody>
          <a:bodyPr wrap="square" lIns="228600" rIns="228600" rtlCol="0" anchor="ctr"/>
          <a:lstStyle/>
          <a:p>
            <a:pPr algn="ctr">
              <a:spcAft>
                <a:spcPts val="800"/>
              </a:spcAft>
            </a:pPr>
            <a:r>
              <a:rPr sz="1800" b="1">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444191" y="6469380"/>
            <a:ext cx="7309713" cy="274320"/>
          </a:xfrm>
          <a:prstGeom prst="rect">
            <a:avLst/>
          </a:prstGeom>
          <a:noFill/>
        </p:spPr>
        <p:txBody>
          <a:bodyPr wrap="none">
            <a:spAutoFit/>
          </a:bodyPr>
          <a:lstStyle/>
          <a:p>
            <a:r>
              <a:rPr sz="1000">
                <a:solidFill>
                  <a:srgbClr val="595959"/>
                </a:solidFill>
                <a:latin typeface="Arial"/>
              </a:rPr>
              <a:t>Confidential. Not to be copied, distributed, or reproduced without prior approval. © 2026 APTIM - All rights reserved.</a:t>
            </a:r>
          </a:p>
        </p:txBody>
      </p:sp>
      <p:sp>
        <p:nvSpPr>
          <p:cNvPr id="9" name="TextBox 8"/>
          <p:cNvSpPr txBox="1"/>
          <p:nvPr/>
        </p:nvSpPr>
        <p:spPr>
          <a:xfrm>
            <a:off x="11297412" y="6469380"/>
            <a:ext cx="285292" cy="251460"/>
          </a:xfrm>
          <a:prstGeom prst="rect">
            <a:avLst/>
          </a:prstGeom>
          <a:noFill/>
        </p:spPr>
        <p:txBody>
          <a:bodyPr wrap="none">
            <a:spAutoFit/>
          </a:bodyPr>
          <a:lstStyle/>
          <a:p>
            <a:r>
              <a:rPr sz="1000">
                <a:solidFill>
                  <a:srgbClr val="595959"/>
                </a:solidFill>
                <a:latin typeface="Arial"/>
              </a:rPr>
              <a:t>16</a:t>
            </a:r>
          </a:p>
        </p:txBody>
      </p:sp>
    </p:spTree>
    <p:extLst>
      <p:ext uri="{BB962C8B-B14F-4D97-AF65-F5344CB8AC3E}">
        <p14:creationId xmlns:p14="http://schemas.microsoft.com/office/powerpoint/2010/main" val="32998071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a:xfrm>
            <a:off x="457200" y="228600"/>
            <a:ext cx="11247120" cy="502920"/>
          </a:xfrm>
        </p:spPr>
        <p:txBody>
          <a:bodyPr/>
          <a:lstStyle/>
          <a:p>
            <a:r>
              <a:rPr lang="en-US" sz="2600" b="1">
                <a:solidFill>
                  <a:srgbClr val="002856"/>
                </a:solidFill>
                <a:latin typeface="Arial"/>
                <a:cs typeface="Arial"/>
              </a:rPr>
              <a:t>Market Analysis (Christian Quick Market slide, delete if needed)</a:t>
            </a:r>
            <a:endParaRPr lang="en-US" sz="2600" b="1">
              <a:latin typeface="Arial"/>
            </a:endParaRPr>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a:xfrm>
            <a:off x="460248" y="1234440"/>
            <a:ext cx="5310187" cy="301752"/>
          </a:xfrm>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a:xfrm>
            <a:off x="460248" y="1592943"/>
            <a:ext cx="5310187" cy="4588782"/>
          </a:xfrm>
        </p:spPr>
        <p:txBody>
          <a:bodyPr vert="horz" lIns="0" tIns="0" rIns="0" bIns="0" rtlCol="0" anchor="t">
            <a:noAutofit/>
          </a:bodyPr>
          <a:lstStyle/>
          <a:p>
            <a:pPr>
              <a:spcAft>
                <a:spcPts val="300"/>
              </a:spcAft>
              <a:buNone/>
            </a:pPr>
            <a:r>
              <a:rPr sz="1300" b="1">
                <a:solidFill>
                  <a:srgbClr val="002856"/>
                </a:solidFill>
              </a:rPr>
              <a:t>The funding gap is real and current:</a:t>
            </a:r>
          </a:p>
          <a:p>
            <a:pPr marL="233045" indent="-233045">
              <a:spcAft>
                <a:spcPts val="400"/>
              </a:spcAft>
              <a:buNone/>
            </a:pPr>
            <a:r>
              <a:rPr sz="1200">
                <a:solidFill>
                  <a:srgbClr val="002856"/>
                </a:solidFill>
              </a:rPr>
              <a:t>•  $8.8B IRA HOMES/HEAR rebates frozen Jan 2025 -- only 23 states live by Feb 2026</a:t>
            </a:r>
          </a:p>
          <a:p>
            <a:pPr>
              <a:spcAft>
                <a:spcPts val="400"/>
              </a:spcAft>
              <a:buNone/>
            </a:pPr>
            <a:r>
              <a:rPr sz="1200">
                <a:solidFill>
                  <a:srgbClr val="002856"/>
                </a:solidFill>
              </a:rPr>
              <a:t>•  25C/25D consumer tax credits eliminated Dec 31, 2025</a:t>
            </a:r>
          </a:p>
          <a:p>
            <a:pPr marL="233045" indent="-233045">
              <a:spcAft>
                <a:spcPts val="1000"/>
              </a:spcAft>
              <a:buNone/>
            </a:pPr>
            <a:r>
              <a:rPr sz="1200">
                <a:solidFill>
                  <a:srgbClr val="002856"/>
                </a:solidFill>
              </a:rPr>
              <a:t>•  26 states + DC still have legal savings mandates utilities must hit regardless</a:t>
            </a:r>
          </a:p>
          <a:p>
            <a:pPr>
              <a:spcAft>
                <a:spcPts val="300"/>
              </a:spcAft>
              <a:buNone/>
            </a:pPr>
            <a:r>
              <a:rPr sz="1300" b="1">
                <a:solidFill>
                  <a:srgbClr val="002856"/>
                </a:solidFill>
              </a:rPr>
              <a:t>Utilities are already reacting:</a:t>
            </a:r>
          </a:p>
          <a:p>
            <a:pPr>
              <a:spcAft>
                <a:spcPts val="400"/>
              </a:spcAft>
              <a:buNone/>
            </a:pPr>
            <a:r>
              <a:rPr sz="1200">
                <a:solidFill>
                  <a:srgbClr val="002856"/>
                </a:solidFill>
              </a:rPr>
              <a:t>•  Duke Energy (NC) withdrew 3 residential programs in 2025</a:t>
            </a:r>
          </a:p>
          <a:p>
            <a:pPr>
              <a:spcAft>
                <a:spcPts val="400"/>
              </a:spcAft>
              <a:buNone/>
            </a:pPr>
            <a:r>
              <a:rPr sz="1200">
                <a:solidFill>
                  <a:srgbClr val="002856"/>
                </a:solidFill>
              </a:rPr>
              <a:t>•  Louisiana ended its entire 2026 efficiency program</a:t>
            </a:r>
          </a:p>
          <a:p>
            <a:pPr>
              <a:spcAft>
                <a:spcPts val="1000"/>
              </a:spcAft>
              <a:buNone/>
            </a:pPr>
            <a:r>
              <a:rPr sz="1200">
                <a:solidFill>
                  <a:srgbClr val="002856"/>
                </a:solidFill>
              </a:rPr>
              <a:t>•  California paused a $290M rebate program citing uncertainty</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a:xfrm>
            <a:off x="6025242" y="1234440"/>
            <a:ext cx="5553302" cy="301752"/>
          </a:xfrm>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3533164398"/>
              </p:ext>
            </p:extLst>
          </p:nvPr>
        </p:nvGraphicFramePr>
        <p:xfrm>
          <a:off x="6023428" y="1596571"/>
          <a:ext cx="5906174" cy="4556832"/>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591796">
                <a:tc>
                  <a:txBody>
                    <a:bodyPr/>
                    <a:lstStyle/>
                    <a:p>
                      <a:r>
                        <a:rPr sz="1200" b="1"/>
                        <a:t>State</a:t>
                      </a:r>
                    </a:p>
                  </a:txBody>
                  <a:tcPr/>
                </a:tc>
                <a:tc>
                  <a:txBody>
                    <a:bodyPr/>
                    <a:lstStyle/>
                    <a:p>
                      <a:r>
                        <a:rPr sz="1200" b="1"/>
                        <a:t>Market Status</a:t>
                      </a:r>
                    </a:p>
                  </a:txBody>
                  <a:tcPr/>
                </a:tc>
                <a:tc>
                  <a:txBody>
                    <a:bodyPr/>
                    <a:lstStyle/>
                    <a:p>
                      <a:r>
                        <a:rPr sz="1200" b="1"/>
                        <a:t>Challenge</a:t>
                      </a:r>
                    </a:p>
                  </a:txBody>
                  <a:tcPr/>
                </a:tc>
                <a:tc>
                  <a:txBody>
                    <a:bodyPr/>
                    <a:lstStyle/>
                    <a:p>
                      <a:r>
                        <a:rPr sz="1200" b="1"/>
                        <a:t>Opportunity</a:t>
                      </a:r>
                    </a:p>
                  </a:txBody>
                  <a:tcPr/>
                </a:tc>
                <a:extLst>
                  <a:ext uri="{0D108BD9-81ED-4DB2-BD59-A6C34878D82A}">
                    <a16:rowId xmlns:a16="http://schemas.microsoft.com/office/drawing/2014/main" val="2062150352"/>
                  </a:ext>
                </a:extLst>
              </a:tr>
              <a:tr h="858107">
                <a:tc>
                  <a:txBody>
                    <a:bodyPr/>
                    <a:lstStyle/>
                    <a:p>
                      <a:r>
                        <a:rPr sz="1200"/>
                        <a:t>California</a:t>
                      </a:r>
                    </a:p>
                  </a:txBody>
                  <a:tcPr/>
                </a:tc>
                <a:tc>
                  <a:txBody>
                    <a:bodyPr/>
                    <a:lstStyle/>
                    <a:p>
                      <a:r>
                        <a:rPr sz="1200"/>
                        <a:t>Mature</a:t>
                      </a:r>
                    </a:p>
                  </a:txBody>
                  <a:tcPr/>
                </a:tc>
                <a:tc>
                  <a:txBody>
                    <a:bodyPr/>
                    <a:lstStyle/>
                    <a:p>
                      <a:r>
                        <a:rPr sz="1200"/>
                        <a:t>Highly saturated -- competitors entrenched</a:t>
                      </a:r>
                    </a:p>
                  </a:txBody>
                  <a:tcPr/>
                </a:tc>
                <a:tc>
                  <a:txBody>
                    <a:bodyPr/>
                    <a:lstStyle/>
                    <a:p>
                      <a:r>
                        <a:rPr sz="1200"/>
                        <a:t>Reference case proving the model works</a:t>
                      </a:r>
                    </a:p>
                  </a:txBody>
                  <a:tcPr/>
                </a:tc>
                <a:extLst>
                  <a:ext uri="{0D108BD9-81ED-4DB2-BD59-A6C34878D82A}">
                    <a16:rowId xmlns:a16="http://schemas.microsoft.com/office/drawing/2014/main" val="4077176013"/>
                  </a:ext>
                </a:extLst>
              </a:tr>
              <a:tr h="858107">
                <a:tc>
                  <a:txBody>
                    <a:bodyPr/>
                    <a:lstStyle/>
                    <a:p>
                      <a:r>
                        <a:rPr sz="1200"/>
                        <a:t>North Carolina</a:t>
                      </a:r>
                    </a:p>
                  </a:txBody>
                  <a:tcPr/>
                </a:tc>
                <a:tc>
                  <a:txBody>
                    <a:bodyPr/>
                    <a:lstStyle/>
                    <a:p>
                      <a:r>
                        <a:rPr sz="1200"/>
                        <a:t>Growing</a:t>
                      </a:r>
                    </a:p>
                  </a:txBody>
                  <a:tcPr/>
                </a:tc>
                <a:tc>
                  <a:txBody>
                    <a:bodyPr/>
                    <a:lstStyle/>
                    <a:p>
                      <a:r>
                        <a:rPr sz="1200"/>
                        <a:t>Solar adoption straining the grid</a:t>
                      </a:r>
                    </a:p>
                  </a:txBody>
                  <a:tcPr/>
                </a:tc>
                <a:tc>
                  <a:txBody>
                    <a:bodyPr/>
                    <a:lstStyle/>
                    <a:p>
                      <a:r>
                        <a:rPr sz="1200"/>
                        <a:t>Duke </a:t>
                      </a:r>
                      <a:r>
                        <a:rPr sz="1200" err="1"/>
                        <a:t>PowerPair</a:t>
                      </a:r>
                      <a:r>
                        <a:rPr sz="1200"/>
                        <a:t> fully subscribed -- proves demand exists</a:t>
                      </a:r>
                    </a:p>
                  </a:txBody>
                  <a:tcPr/>
                </a:tc>
                <a:extLst>
                  <a:ext uri="{0D108BD9-81ED-4DB2-BD59-A6C34878D82A}">
                    <a16:rowId xmlns:a16="http://schemas.microsoft.com/office/drawing/2014/main" val="1662102389"/>
                  </a:ext>
                </a:extLst>
              </a:tr>
              <a:tr h="1124411">
                <a:tc>
                  <a:txBody>
                    <a:bodyPr/>
                    <a:lstStyle/>
                    <a:p>
                      <a:r>
                        <a:rPr sz="1200"/>
                        <a:t>Michigan</a:t>
                      </a:r>
                    </a:p>
                  </a:txBody>
                  <a:tcPr/>
                </a:tc>
                <a:tc>
                  <a:txBody>
                    <a:bodyPr/>
                    <a:lstStyle/>
                    <a:p>
                      <a:r>
                        <a:rPr sz="1200"/>
                        <a:t>Emerging (pilot)</a:t>
                      </a:r>
                    </a:p>
                  </a:txBody>
                  <a:tcPr/>
                </a:tc>
                <a:tc>
                  <a:txBody>
                    <a:bodyPr/>
                    <a:lstStyle/>
                    <a:p>
                      <a:r>
                        <a:rPr sz="1200"/>
                        <a:t>No residential storage program exists yet</a:t>
                      </a:r>
                    </a:p>
                  </a:txBody>
                  <a:tcPr/>
                </a:tc>
                <a:tc>
                  <a:txBody>
                    <a:bodyPr/>
                    <a:lstStyle/>
                    <a:p>
                      <a:r>
                        <a:rPr sz="1200"/>
                        <a:t>Worst outages in the nation + statutory storage mandate</a:t>
                      </a:r>
                    </a:p>
                  </a:txBody>
                  <a:tcPr/>
                </a:tc>
                <a:extLst>
                  <a:ext uri="{0D108BD9-81ED-4DB2-BD59-A6C34878D82A}">
                    <a16:rowId xmlns:a16="http://schemas.microsoft.com/office/drawing/2014/main" val="3893195930"/>
                  </a:ext>
                </a:extLst>
              </a:tr>
              <a:tr h="1124411">
                <a:tc>
                  <a:txBody>
                    <a:bodyPr/>
                    <a:lstStyle/>
                    <a:p>
                      <a:r>
                        <a:rPr sz="1200">
                          <a:solidFill>
                            <a:schemeClr val="tx1"/>
                          </a:solidFill>
                        </a:rPr>
                        <a:t>Wisconsin</a:t>
                      </a:r>
                    </a:p>
                  </a:txBody>
                  <a:tcPr/>
                </a:tc>
                <a:tc>
                  <a:txBody>
                    <a:bodyPr/>
                    <a:lstStyle/>
                    <a:p>
                      <a:r>
                        <a:rPr sz="1200">
                          <a:solidFill>
                            <a:schemeClr val="tx1"/>
                          </a:solidFill>
                        </a:rPr>
                        <a:t>Incumbent base</a:t>
                      </a:r>
                    </a:p>
                  </a:txBody>
                  <a:tcPr/>
                </a:tc>
                <a:tc>
                  <a:txBody>
                    <a:bodyPr/>
                    <a:lstStyle/>
                    <a:p>
                      <a:r>
                        <a:rPr sz="1200">
                          <a:solidFill>
                            <a:schemeClr val="tx1"/>
                          </a:solidFill>
                        </a:rPr>
                        <a:t>Focus on Energy budget already strained by demand</a:t>
                      </a:r>
                    </a:p>
                  </a:txBody>
                  <a:tcPr/>
                </a:tc>
                <a:tc>
                  <a:txBody>
                    <a:bodyPr/>
                    <a:lstStyle/>
                    <a:p>
                      <a:r>
                        <a:rPr sz="1200">
                          <a:solidFill>
                            <a:schemeClr val="tx1"/>
                          </a:solidFill>
                        </a:rPr>
                        <a:t>APTIM holds the administrator seat -- fastest expansion path</a:t>
                      </a:r>
                    </a:p>
                  </a:txBody>
                  <a:tcPr/>
                </a:tc>
                <a:extLst>
                  <a:ext uri="{0D108BD9-81ED-4DB2-BD59-A6C34878D82A}">
                    <a16:rowId xmlns:a16="http://schemas.microsoft.com/office/drawing/2014/main" val="3664841019"/>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a:xfrm>
            <a:off x="2444191" y="6469380"/>
            <a:ext cx="7309713" cy="0"/>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a:xfrm>
            <a:off x="11297412" y="6469380"/>
            <a:ext cx="285292" cy="251460"/>
          </a:xfrm>
        </p:spPr>
        <p:txBody>
          <a:bodyPr/>
          <a:lstStyle/>
          <a:p>
            <a:r>
              <a:rPr sz="1000">
                <a:solidFill>
                  <a:srgbClr val="595959"/>
                </a:solidFill>
                <a:latin typeface="Arial"/>
              </a:rPr>
              <a:t>7</a:t>
            </a:r>
            <a:endParaRPr lang="en-US"/>
          </a:p>
        </p:txBody>
      </p:sp>
      <p:sp>
        <p:nvSpPr>
          <p:cNvPr id="12" name="TextBox 11"/>
          <p:cNvSpPr txBox="1"/>
          <p:nvPr/>
        </p:nvSpPr>
        <p:spPr>
          <a:xfrm>
            <a:off x="457200" y="822960"/>
            <a:ext cx="11472091" cy="292388"/>
          </a:xfrm>
          <a:prstGeom prst="rect">
            <a:avLst/>
          </a:prstGeom>
          <a:noFill/>
        </p:spPr>
        <p:txBody>
          <a:bodyPr wrap="square">
            <a:spAutoFit/>
          </a:bodyPr>
          <a:lstStyle/>
          <a:p>
            <a:r>
              <a:rPr sz="1300" i="1">
                <a:solidFill>
                  <a:srgbClr val="595959"/>
                </a:solidFill>
                <a:latin typeface="Arial"/>
              </a:rPr>
              <a:t>Where APTIM already operates, and where the opportunity is emerging</a:t>
            </a:r>
          </a:p>
        </p:txBody>
      </p:sp>
    </p:spTree>
    <p:extLst>
      <p:ext uri="{BB962C8B-B14F-4D97-AF65-F5344CB8AC3E}">
        <p14:creationId xmlns:p14="http://schemas.microsoft.com/office/powerpoint/2010/main" val="18541184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28</a:t>
            </a:fld>
            <a:endParaRPr lang="en-US"/>
          </a:p>
        </p:txBody>
      </p:sp>
    </p:spTree>
    <p:extLst>
      <p:ext uri="{BB962C8B-B14F-4D97-AF65-F5344CB8AC3E}">
        <p14:creationId xmlns:p14="http://schemas.microsoft.com/office/powerpoint/2010/main" val="32650049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29</a:t>
            </a:fld>
            <a:endParaRPr lang="en-US"/>
          </a:p>
        </p:txBody>
      </p:sp>
    </p:spTree>
    <p:extLst>
      <p:ext uri="{BB962C8B-B14F-4D97-AF65-F5344CB8AC3E}">
        <p14:creationId xmlns:p14="http://schemas.microsoft.com/office/powerpoint/2010/main" val="17188323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0604226-3838-8214-635C-4D541F98305F}"/>
              </a:ext>
            </a:extLst>
          </p:cNvPr>
          <p:cNvSpPr>
            <a:spLocks noGrp="1"/>
          </p:cNvSpPr>
          <p:nvPr>
            <p:ph type="title"/>
          </p:nvPr>
        </p:nvSpPr>
        <p:spPr/>
        <p:txBody>
          <a:bodyPr/>
          <a:lstStyle/>
          <a:p>
            <a:r>
              <a:rPr lang="en-US"/>
              <a:t>Competitive Landscape (update with research)</a:t>
            </a:r>
          </a:p>
        </p:txBody>
      </p:sp>
      <p:sp>
        <p:nvSpPr>
          <p:cNvPr id="10" name="Text Placeholder 9">
            <a:extLst>
              <a:ext uri="{FF2B5EF4-FFF2-40B4-BE49-F238E27FC236}">
                <a16:creationId xmlns:a16="http://schemas.microsoft.com/office/drawing/2014/main" id="{3B81970E-7CCA-B370-F4F1-C22F5396A9E7}"/>
              </a:ext>
            </a:extLst>
          </p:cNvPr>
          <p:cNvSpPr>
            <a:spLocks noGrp="1"/>
          </p:cNvSpPr>
          <p:nvPr>
            <p:ph type="body" idx="1"/>
          </p:nvPr>
        </p:nvSpPr>
        <p:spPr>
          <a:xfrm>
            <a:off x="612649" y="1329243"/>
            <a:ext cx="3424834" cy="301752"/>
          </a:xfrm>
        </p:spPr>
        <p:txBody>
          <a:bodyPr/>
          <a:lstStyle/>
          <a:p>
            <a:r>
              <a:rPr lang="en-US"/>
              <a:t>CLEAResult</a:t>
            </a:r>
          </a:p>
        </p:txBody>
      </p:sp>
      <p:sp>
        <p:nvSpPr>
          <p:cNvPr id="11" name="Content Placeholder 10">
            <a:extLst>
              <a:ext uri="{FF2B5EF4-FFF2-40B4-BE49-F238E27FC236}">
                <a16:creationId xmlns:a16="http://schemas.microsoft.com/office/drawing/2014/main" id="{D7796DE7-8AE6-E692-6745-F22B0A5340D6}"/>
              </a:ext>
            </a:extLst>
          </p:cNvPr>
          <p:cNvSpPr>
            <a:spLocks noGrp="1"/>
          </p:cNvSpPr>
          <p:nvPr>
            <p:ph sz="half" idx="2"/>
          </p:nvPr>
        </p:nvSpPr>
        <p:spPr>
          <a:xfrm>
            <a:off x="612649" y="1695003"/>
            <a:ext cx="3424834" cy="4581525"/>
          </a:xfrm>
        </p:spPr>
        <p:txBody>
          <a:bodyPr/>
          <a:lstStyle/>
          <a:p>
            <a:pPr marL="0" indent="0">
              <a:buNone/>
            </a:pPr>
            <a:r>
              <a:rPr lang="en-US" sz="1600" b="1"/>
              <a:t>Energy Efficiency &amp; Sustainability Program Consultant </a:t>
            </a:r>
          </a:p>
          <a:p>
            <a:pPr>
              <a:buFont typeface="Wingdings" panose="05000000000000000000" pitchFamily="2" charset="2"/>
              <a:buChar char="§"/>
            </a:pPr>
            <a:r>
              <a:rPr lang="en-US" sz="1600"/>
              <a:t>Largest energy efficiency implementer in North America</a:t>
            </a:r>
          </a:p>
          <a:p>
            <a:pPr>
              <a:buFont typeface="Wingdings" panose="05000000000000000000" pitchFamily="2" charset="2"/>
              <a:buChar char="§"/>
            </a:pPr>
            <a:r>
              <a:rPr lang="en-US" sz="1600"/>
              <a:t>1,650 + active programs across the U.S and Canada</a:t>
            </a:r>
          </a:p>
          <a:p>
            <a:pPr>
              <a:buFont typeface="Wingdings" panose="05000000000000000000" pitchFamily="2" charset="2"/>
              <a:buChar char="§"/>
            </a:pPr>
            <a:r>
              <a:rPr lang="en-US" sz="1600"/>
              <a:t>Utility, government, commercial, contractor, residential </a:t>
            </a:r>
          </a:p>
          <a:p>
            <a:pPr>
              <a:buFont typeface="Wingdings" panose="05000000000000000000" pitchFamily="2" charset="2"/>
              <a:buChar char="§"/>
            </a:pPr>
            <a:r>
              <a:rPr lang="en-US" sz="1600"/>
              <a:t>Assessments, rebate, customer engagement, contractor networks, installations</a:t>
            </a:r>
          </a:p>
        </p:txBody>
      </p:sp>
      <p:sp>
        <p:nvSpPr>
          <p:cNvPr id="12" name="Text Placeholder 11">
            <a:extLst>
              <a:ext uri="{FF2B5EF4-FFF2-40B4-BE49-F238E27FC236}">
                <a16:creationId xmlns:a16="http://schemas.microsoft.com/office/drawing/2014/main" id="{F8F48C21-3E92-396A-F0AC-A06B184A2774}"/>
              </a:ext>
            </a:extLst>
          </p:cNvPr>
          <p:cNvSpPr>
            <a:spLocks noGrp="1"/>
          </p:cNvSpPr>
          <p:nvPr>
            <p:ph type="body" sz="quarter" idx="3"/>
          </p:nvPr>
        </p:nvSpPr>
        <p:spPr>
          <a:xfrm>
            <a:off x="4184395" y="1329243"/>
            <a:ext cx="3441701" cy="301752"/>
          </a:xfrm>
        </p:spPr>
        <p:txBody>
          <a:bodyPr/>
          <a:lstStyle/>
          <a:p>
            <a:r>
              <a:rPr lang="en-US"/>
              <a:t>APTIM</a:t>
            </a:r>
          </a:p>
        </p:txBody>
      </p:sp>
      <p:sp>
        <p:nvSpPr>
          <p:cNvPr id="13" name="Content Placeholder 12">
            <a:extLst>
              <a:ext uri="{FF2B5EF4-FFF2-40B4-BE49-F238E27FC236}">
                <a16:creationId xmlns:a16="http://schemas.microsoft.com/office/drawing/2014/main" id="{DB545E8E-0263-9C9C-90BF-32646B6A834D}"/>
              </a:ext>
            </a:extLst>
          </p:cNvPr>
          <p:cNvSpPr>
            <a:spLocks noGrp="1"/>
          </p:cNvSpPr>
          <p:nvPr>
            <p:ph sz="quarter" idx="4"/>
          </p:nvPr>
        </p:nvSpPr>
        <p:spPr>
          <a:xfrm>
            <a:off x="4184395" y="1695003"/>
            <a:ext cx="3441701" cy="4581525"/>
          </a:xfrm>
        </p:spPr>
        <p:txBody>
          <a:bodyPr/>
          <a:lstStyle/>
          <a:p>
            <a:pPr marL="0" indent="0">
              <a:buNone/>
            </a:pPr>
            <a:r>
              <a:rPr lang="en-US" sz="1600" b="1"/>
              <a:t>Environmental, Sustainability, Resilience, &amp; Infrastructure Solutions Firm </a:t>
            </a:r>
          </a:p>
          <a:p>
            <a:pPr>
              <a:buFont typeface="Wingdings" panose="05000000000000000000" pitchFamily="2" charset="2"/>
              <a:buChar char="§"/>
            </a:pPr>
            <a:r>
              <a:rPr lang="en-US" sz="1600"/>
              <a:t>End-to-end consulting, implementation, and program administration </a:t>
            </a:r>
          </a:p>
          <a:p>
            <a:pPr>
              <a:buFont typeface="Wingdings" panose="05000000000000000000" pitchFamily="2" charset="2"/>
              <a:buChar char="§"/>
            </a:pPr>
            <a:r>
              <a:rPr lang="en-US" sz="1600"/>
              <a:t>Utility, government, commercial, industrial and residential</a:t>
            </a:r>
          </a:p>
          <a:p>
            <a:pPr>
              <a:buFont typeface="Wingdings" panose="05000000000000000000" pitchFamily="2" charset="2"/>
              <a:buChar char="§"/>
            </a:pPr>
            <a:r>
              <a:rPr lang="en-US" sz="1600"/>
              <a:t>Energy-efficiency, electrification, demand-side management, EV, storage, solar, and grid modernization programs</a:t>
            </a:r>
          </a:p>
        </p:txBody>
      </p:sp>
      <p:sp>
        <p:nvSpPr>
          <p:cNvPr id="7" name="Footer Placeholder 6">
            <a:extLst>
              <a:ext uri="{FF2B5EF4-FFF2-40B4-BE49-F238E27FC236}">
                <a16:creationId xmlns:a16="http://schemas.microsoft.com/office/drawing/2014/main" id="{723EB8E1-1FE9-AF58-5D51-F2EF04F60FE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1D7BD579-A7AF-7BE9-8493-9EE8384618F9}"/>
              </a:ext>
            </a:extLst>
          </p:cNvPr>
          <p:cNvSpPr>
            <a:spLocks noGrp="1"/>
          </p:cNvSpPr>
          <p:nvPr>
            <p:ph type="sldNum" sz="quarter" idx="12"/>
          </p:nvPr>
        </p:nvSpPr>
        <p:spPr/>
        <p:txBody>
          <a:bodyPr/>
          <a:lstStyle/>
          <a:p>
            <a:fld id="{F8F6B9CD-BE6B-498B-93B3-0FAD7ADE75E3}" type="slidenum">
              <a:rPr lang="en-US" smtClean="0"/>
              <a:t>30</a:t>
            </a:fld>
            <a:endParaRPr lang="en-US"/>
          </a:p>
        </p:txBody>
      </p:sp>
      <p:sp>
        <p:nvSpPr>
          <p:cNvPr id="17" name="Text Placeholder 11">
            <a:extLst>
              <a:ext uri="{FF2B5EF4-FFF2-40B4-BE49-F238E27FC236}">
                <a16:creationId xmlns:a16="http://schemas.microsoft.com/office/drawing/2014/main" id="{C590D4CF-A9EE-DFBD-76AC-57BFEFF812D8}"/>
              </a:ext>
            </a:extLst>
          </p:cNvPr>
          <p:cNvSpPr txBox="1">
            <a:spLocks/>
          </p:cNvSpPr>
          <p:nvPr/>
        </p:nvSpPr>
        <p:spPr>
          <a:xfrm>
            <a:off x="7773008" y="1329243"/>
            <a:ext cx="3441701" cy="301752"/>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500"/>
              </a:spcAft>
              <a:buFont typeface="Arial" panose="020B0604020202020204" pitchFamily="34" charset="0"/>
              <a:buNone/>
              <a:defRPr sz="2000" b="0" kern="1200">
                <a:solidFill>
                  <a:schemeClr val="accent3"/>
                </a:solidFill>
                <a:latin typeface="Arial" panose="020B0604020202020204" pitchFamily="34" charset="0"/>
                <a:ea typeface="+mn-ea"/>
                <a:cs typeface="Arial" panose="020B0604020202020204" pitchFamily="34" charset="0"/>
              </a:defRPr>
            </a:lvl1pPr>
            <a:lvl2pPr marL="457200" indent="0" algn="l" defTabSz="914400" rtl="0" eaLnBrk="1" latinLnBrk="0" hangingPunct="1">
              <a:lnSpc>
                <a:spcPct val="100000"/>
              </a:lnSpc>
              <a:spcBef>
                <a:spcPts val="0"/>
              </a:spcBef>
              <a:spcAft>
                <a:spcPts val="500"/>
              </a:spcAft>
              <a:buFont typeface="Arial" panose="020B0604020202020204" pitchFamily="34" charset="0"/>
              <a:buNone/>
              <a:defRPr sz="2000" b="1" kern="1200">
                <a:solidFill>
                  <a:schemeClr val="tx2"/>
                </a:solidFill>
                <a:latin typeface="Arial" panose="020B0604020202020204" pitchFamily="34" charset="0"/>
                <a:ea typeface="+mn-ea"/>
                <a:cs typeface="Arial" panose="020B0604020202020204" pitchFamily="34" charset="0"/>
              </a:defRPr>
            </a:lvl2pPr>
            <a:lvl3pPr marL="914400" indent="0" algn="l" defTabSz="914400" rtl="0" eaLnBrk="1" latinLnBrk="0" hangingPunct="1">
              <a:lnSpc>
                <a:spcPct val="100000"/>
              </a:lnSpc>
              <a:spcBef>
                <a:spcPts val="0"/>
              </a:spcBef>
              <a:spcAft>
                <a:spcPts val="500"/>
              </a:spcAft>
              <a:buFont typeface="Arial" panose="020B0604020202020204" pitchFamily="34" charset="0"/>
              <a:buNone/>
              <a:defRPr sz="1800" b="1" kern="1200">
                <a:solidFill>
                  <a:schemeClr val="tx2"/>
                </a:solidFill>
                <a:latin typeface="Arial" panose="020B0604020202020204" pitchFamily="34" charset="0"/>
                <a:ea typeface="+mn-ea"/>
                <a:cs typeface="Arial" panose="020B0604020202020204" pitchFamily="34" charset="0"/>
              </a:defRPr>
            </a:lvl3pPr>
            <a:lvl4pPr marL="13716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4pPr>
            <a:lvl5pPr marL="1828800" indent="0" algn="l" defTabSz="914400" rtl="0" eaLnBrk="1" latinLnBrk="0" hangingPunct="1">
              <a:lnSpc>
                <a:spcPct val="100000"/>
              </a:lnSpc>
              <a:spcBef>
                <a:spcPts val="0"/>
              </a:spcBef>
              <a:spcAft>
                <a:spcPts val="500"/>
              </a:spcAft>
              <a:buFont typeface="Arial" panose="020B0604020202020204" pitchFamily="34" charset="0"/>
              <a:buNone/>
              <a:defRPr sz="1600" b="1" kern="1200">
                <a:solidFill>
                  <a:schemeClr val="tx2"/>
                </a:solidFill>
                <a:latin typeface="Arial" panose="020B0604020202020204" pitchFamily="34" charset="0"/>
                <a:ea typeface="+mn-ea"/>
                <a:cs typeface="Arial" panose="020B0604020202020204" pitchFamily="34" charset="0"/>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US"/>
              <a:t>Stantec</a:t>
            </a:r>
          </a:p>
        </p:txBody>
      </p:sp>
      <p:sp>
        <p:nvSpPr>
          <p:cNvPr id="18" name="Content Placeholder 12">
            <a:extLst>
              <a:ext uri="{FF2B5EF4-FFF2-40B4-BE49-F238E27FC236}">
                <a16:creationId xmlns:a16="http://schemas.microsoft.com/office/drawing/2014/main" id="{26341665-D57A-5E94-E777-CCC8CE5A0800}"/>
              </a:ext>
            </a:extLst>
          </p:cNvPr>
          <p:cNvSpPr txBox="1">
            <a:spLocks/>
          </p:cNvSpPr>
          <p:nvPr/>
        </p:nvSpPr>
        <p:spPr>
          <a:xfrm>
            <a:off x="7773008" y="1695003"/>
            <a:ext cx="3441701" cy="4581525"/>
          </a:xfrm>
          <a:prstGeom prst="rect">
            <a:avLst/>
          </a:prstGeom>
        </p:spPr>
        <p:txBody>
          <a:bodyPr vert="horz" lIns="0" tIns="0" rIns="0" bIns="0" rtlCol="0">
            <a:noAutofit/>
          </a:bodyPr>
          <a:lst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b="1"/>
              <a:t>Engineering, Architecture &amp; Environmental Consulting Firm</a:t>
            </a:r>
          </a:p>
          <a:p>
            <a:pPr>
              <a:buFont typeface="Wingdings" panose="05000000000000000000" pitchFamily="2" charset="2"/>
              <a:buChar char="§"/>
            </a:pPr>
            <a:r>
              <a:rPr lang="en-US" sz="1600"/>
              <a:t>Global consulting firm with 34,000+ employees</a:t>
            </a:r>
          </a:p>
          <a:p>
            <a:pPr>
              <a:buFont typeface="Wingdings" panose="05000000000000000000" pitchFamily="2" charset="2"/>
              <a:buChar char="§"/>
            </a:pPr>
            <a:r>
              <a:rPr lang="en-US" sz="1600"/>
              <a:t>Engineering, environmental consulting, infrastructure development, construction management, and sustainability services</a:t>
            </a:r>
          </a:p>
          <a:p>
            <a:pPr>
              <a:buFont typeface="Wingdings" panose="05000000000000000000" pitchFamily="2" charset="2"/>
              <a:buChar char="§"/>
            </a:pPr>
            <a:r>
              <a:rPr lang="en-US" sz="1600"/>
              <a:t>Utility planning, grid modernization, and asset management </a:t>
            </a:r>
          </a:p>
          <a:p>
            <a:pPr marL="0" indent="0">
              <a:buNone/>
            </a:pPr>
            <a:endParaRPr lang="en-US" sz="1600"/>
          </a:p>
          <a:p>
            <a:pPr>
              <a:buFont typeface="Wingdings" panose="05000000000000000000" pitchFamily="2" charset="2"/>
              <a:buChar char="v"/>
            </a:pPr>
            <a:endParaRPr lang="en-US" sz="1600"/>
          </a:p>
        </p:txBody>
      </p:sp>
      <p:pic>
        <p:nvPicPr>
          <p:cNvPr id="1026" name="Picture 2" descr="16 Rebates Clearesult">
            <a:extLst>
              <a:ext uri="{FF2B5EF4-FFF2-40B4-BE49-F238E27FC236}">
                <a16:creationId xmlns:a16="http://schemas.microsoft.com/office/drawing/2014/main" id="{AAFF081B-B0C0-708E-57B3-455F194355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646" y="5508192"/>
            <a:ext cx="3255266" cy="4203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Who we serve - ehsAI">
            <a:extLst>
              <a:ext uri="{FF2B5EF4-FFF2-40B4-BE49-F238E27FC236}">
                <a16:creationId xmlns:a16="http://schemas.microsoft.com/office/drawing/2014/main" id="{8D17E3B9-30F1-3050-20F9-9B302A8B03C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4371"/>
          <a:stretch>
            <a:fillRect/>
          </a:stretch>
        </p:blipFill>
        <p:spPr bwMode="auto">
          <a:xfrm>
            <a:off x="4184395" y="5062720"/>
            <a:ext cx="3103373" cy="1298829"/>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Logo Stantec Architecture Design Brand, PNG, 696x392px, Logo ...">
            <a:extLst>
              <a:ext uri="{FF2B5EF4-FFF2-40B4-BE49-F238E27FC236}">
                <a16:creationId xmlns:a16="http://schemas.microsoft.com/office/drawing/2014/main" id="{A9F095F7-76AA-F602-7C3E-0E8128B275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26096" y="5183253"/>
            <a:ext cx="3027350" cy="1070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416689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EFE1B0-6F57-530D-9593-94BFBBD19E3E}"/>
              </a:ext>
            </a:extLst>
          </p:cNvPr>
          <p:cNvSpPr>
            <a:spLocks noGrp="1"/>
          </p:cNvSpPr>
          <p:nvPr>
            <p:ph type="title"/>
          </p:nvPr>
        </p:nvSpPr>
        <p:spPr>
          <a:xfrm>
            <a:off x="609599" y="326074"/>
            <a:ext cx="10972799" cy="804735"/>
          </a:xfrm>
        </p:spPr>
        <p:txBody>
          <a:bodyPr/>
          <a:lstStyle/>
          <a:p>
            <a:r>
              <a:rPr lang="en-US"/>
              <a:t>Competitive Landscape (update with new research) </a:t>
            </a:r>
          </a:p>
        </p:txBody>
      </p:sp>
      <p:sp>
        <p:nvSpPr>
          <p:cNvPr id="7" name="Footer Placeholder 6">
            <a:extLst>
              <a:ext uri="{FF2B5EF4-FFF2-40B4-BE49-F238E27FC236}">
                <a16:creationId xmlns:a16="http://schemas.microsoft.com/office/drawing/2014/main" id="{D13D0766-EB05-04E7-4692-0C8DFD5912A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301D12B0-53A1-D6A2-A416-7C627B02DC6A}"/>
              </a:ext>
            </a:extLst>
          </p:cNvPr>
          <p:cNvSpPr>
            <a:spLocks noGrp="1"/>
          </p:cNvSpPr>
          <p:nvPr>
            <p:ph type="sldNum" sz="quarter" idx="12"/>
          </p:nvPr>
        </p:nvSpPr>
        <p:spPr/>
        <p:txBody>
          <a:bodyPr/>
          <a:lstStyle/>
          <a:p>
            <a:fld id="{F8F6B9CD-BE6B-498B-93B3-0FAD7ADE75E3}" type="slidenum">
              <a:rPr lang="en-US" smtClean="0"/>
              <a:t>31</a:t>
            </a:fld>
            <a:endParaRPr lang="en-US"/>
          </a:p>
        </p:txBody>
      </p:sp>
      <p:graphicFrame>
        <p:nvGraphicFramePr>
          <p:cNvPr id="10" name="Table 9">
            <a:extLst>
              <a:ext uri="{FF2B5EF4-FFF2-40B4-BE49-F238E27FC236}">
                <a16:creationId xmlns:a16="http://schemas.microsoft.com/office/drawing/2014/main" id="{B87EBA81-0AD1-8A55-ECC6-4BC33E0D97A3}"/>
              </a:ext>
            </a:extLst>
          </p:cNvPr>
          <p:cNvGraphicFramePr>
            <a:graphicFrameLocks noGrp="1"/>
          </p:cNvGraphicFramePr>
          <p:nvPr>
            <p:extLst>
              <p:ext uri="{D42A27DB-BD31-4B8C-83A1-F6EECF244321}">
                <p14:modId xmlns:p14="http://schemas.microsoft.com/office/powerpoint/2010/main" val="2204395734"/>
              </p:ext>
            </p:extLst>
          </p:nvPr>
        </p:nvGraphicFramePr>
        <p:xfrm>
          <a:off x="3843498" y="1130809"/>
          <a:ext cx="8128000" cy="48514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485582818"/>
                    </a:ext>
                  </a:extLst>
                </a:gridCol>
                <a:gridCol w="2032000">
                  <a:extLst>
                    <a:ext uri="{9D8B030D-6E8A-4147-A177-3AD203B41FA5}">
                      <a16:colId xmlns:a16="http://schemas.microsoft.com/office/drawing/2014/main" val="1747859947"/>
                    </a:ext>
                  </a:extLst>
                </a:gridCol>
                <a:gridCol w="2032000">
                  <a:extLst>
                    <a:ext uri="{9D8B030D-6E8A-4147-A177-3AD203B41FA5}">
                      <a16:colId xmlns:a16="http://schemas.microsoft.com/office/drawing/2014/main" val="4232195191"/>
                    </a:ext>
                  </a:extLst>
                </a:gridCol>
                <a:gridCol w="2032000">
                  <a:extLst>
                    <a:ext uri="{9D8B030D-6E8A-4147-A177-3AD203B41FA5}">
                      <a16:colId xmlns:a16="http://schemas.microsoft.com/office/drawing/2014/main" val="2948462084"/>
                    </a:ext>
                  </a:extLst>
                </a:gridCol>
              </a:tblGrid>
              <a:tr h="370840">
                <a:tc>
                  <a:txBody>
                    <a:bodyPr/>
                    <a:lstStyle/>
                    <a:p>
                      <a:r>
                        <a:rPr lang="en-US"/>
                        <a:t>Capability</a:t>
                      </a:r>
                    </a:p>
                  </a:txBody>
                  <a:tcPr/>
                </a:tc>
                <a:tc>
                  <a:txBody>
                    <a:bodyPr/>
                    <a:lstStyle/>
                    <a:p>
                      <a:r>
                        <a:rPr lang="en-US"/>
                        <a:t>CLEAResult</a:t>
                      </a:r>
                    </a:p>
                  </a:txBody>
                  <a:tcPr/>
                </a:tc>
                <a:tc>
                  <a:txBody>
                    <a:bodyPr/>
                    <a:lstStyle/>
                    <a:p>
                      <a:r>
                        <a:rPr lang="en-US"/>
                        <a:t>APTIM</a:t>
                      </a:r>
                    </a:p>
                  </a:txBody>
                  <a:tcPr/>
                </a:tc>
                <a:tc>
                  <a:txBody>
                    <a:bodyPr/>
                    <a:lstStyle/>
                    <a:p>
                      <a:r>
                        <a:rPr lang="en-US"/>
                        <a:t>Stantec</a:t>
                      </a:r>
                    </a:p>
                  </a:txBody>
                  <a:tcPr/>
                </a:tc>
                <a:extLst>
                  <a:ext uri="{0D108BD9-81ED-4DB2-BD59-A6C34878D82A}">
                    <a16:rowId xmlns:a16="http://schemas.microsoft.com/office/drawing/2014/main" val="569480121"/>
                  </a:ext>
                </a:extLst>
              </a:tr>
              <a:tr h="370840">
                <a:tc>
                  <a:txBody>
                    <a:bodyPr/>
                    <a:lstStyle/>
                    <a:p>
                      <a:r>
                        <a:rPr lang="en-US"/>
                        <a:t>Energy Efficiency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147685195"/>
                  </a:ext>
                </a:extLst>
              </a:tr>
              <a:tr h="370840">
                <a:tc>
                  <a:txBody>
                    <a:bodyPr/>
                    <a:lstStyle/>
                    <a:p>
                      <a:r>
                        <a:rPr lang="en-US"/>
                        <a:t>Rebate Administration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722445081"/>
                  </a:ext>
                </a:extLst>
              </a:tr>
              <a:tr h="370840">
                <a:tc>
                  <a:txBody>
                    <a:bodyPr/>
                    <a:lstStyle/>
                    <a:p>
                      <a:r>
                        <a:rPr lang="en-US"/>
                        <a:t>Government Programs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951025814"/>
                  </a:ext>
                </a:extLst>
              </a:tr>
              <a:tr h="370840">
                <a:tc>
                  <a:txBody>
                    <a:bodyPr/>
                    <a:lstStyle/>
                    <a:p>
                      <a:r>
                        <a:rPr lang="en-US"/>
                        <a:t>Environmental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1105359184"/>
                  </a:ext>
                </a:extLst>
              </a:tr>
              <a:tr h="370840">
                <a:tc>
                  <a:txBody>
                    <a:bodyPr/>
                    <a:lstStyle/>
                    <a:p>
                      <a:r>
                        <a:rPr lang="en-US"/>
                        <a:t>Infrastructure Services</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21944683"/>
                  </a:ext>
                </a:extLst>
              </a:tr>
              <a:tr h="370840">
                <a:tc>
                  <a:txBody>
                    <a:bodyPr/>
                    <a:lstStyle/>
                    <a:p>
                      <a:r>
                        <a:rPr lang="en-US"/>
                        <a:t>Engineering &amp; Design</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524962677"/>
                  </a:ext>
                </a:extLst>
              </a:tr>
              <a:tr h="370840">
                <a:tc>
                  <a:txBody>
                    <a:bodyPr/>
                    <a:lstStyle/>
                    <a:p>
                      <a:r>
                        <a:rPr lang="en-US"/>
                        <a:t>Scale/Market Reach</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5820072"/>
                  </a:ext>
                </a:extLst>
              </a:tr>
            </a:tbl>
          </a:graphicData>
        </a:graphic>
      </p:graphicFrame>
      <p:pic>
        <p:nvPicPr>
          <p:cNvPr id="17" name="Graphic 16" descr="Checkbox Checked with solid fill">
            <a:extLst>
              <a:ext uri="{FF2B5EF4-FFF2-40B4-BE49-F238E27FC236}">
                <a16:creationId xmlns:a16="http://schemas.microsoft.com/office/drawing/2014/main" id="{25BBA70E-0DAF-BE7B-8045-FA70CE33ED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0500" y="1275588"/>
            <a:ext cx="591312" cy="591312"/>
          </a:xfrm>
          <a:prstGeom prst="rect">
            <a:avLst/>
          </a:prstGeom>
        </p:spPr>
      </p:pic>
      <p:pic>
        <p:nvPicPr>
          <p:cNvPr id="19" name="Graphic 18" descr="Checkbox Crossed with solid fill">
            <a:extLst>
              <a:ext uri="{FF2B5EF4-FFF2-40B4-BE49-F238E27FC236}">
                <a16:creationId xmlns:a16="http://schemas.microsoft.com/office/drawing/2014/main" id="{ABEE9939-D8C6-83EA-1EAA-FDDF48000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0500" y="2368391"/>
            <a:ext cx="591313" cy="591313"/>
          </a:xfrm>
          <a:prstGeom prst="rect">
            <a:avLst/>
          </a:prstGeom>
        </p:spPr>
      </p:pic>
      <p:pic>
        <p:nvPicPr>
          <p:cNvPr id="22" name="Graphic 21" descr="Badge Unfollow with solid fill">
            <a:extLst>
              <a:ext uri="{FF2B5EF4-FFF2-40B4-BE49-F238E27FC236}">
                <a16:creationId xmlns:a16="http://schemas.microsoft.com/office/drawing/2014/main" id="{FBF75704-72B1-89CE-488A-5B4C907B0F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9085" y="1914477"/>
            <a:ext cx="394145" cy="394145"/>
          </a:xfrm>
          <a:prstGeom prst="rect">
            <a:avLst/>
          </a:prstGeom>
        </p:spPr>
      </p:pic>
      <p:sp>
        <p:nvSpPr>
          <p:cNvPr id="23" name="TextBox 22">
            <a:extLst>
              <a:ext uri="{FF2B5EF4-FFF2-40B4-BE49-F238E27FC236}">
                <a16:creationId xmlns:a16="http://schemas.microsoft.com/office/drawing/2014/main" id="{29C7197C-7606-22DD-847E-561449D8154B}"/>
              </a:ext>
            </a:extLst>
          </p:cNvPr>
          <p:cNvSpPr txBox="1"/>
          <p:nvPr/>
        </p:nvSpPr>
        <p:spPr>
          <a:xfrm>
            <a:off x="811814" y="1387602"/>
            <a:ext cx="2370298" cy="369332"/>
          </a:xfrm>
          <a:prstGeom prst="rect">
            <a:avLst/>
          </a:prstGeom>
          <a:noFill/>
        </p:spPr>
        <p:txBody>
          <a:bodyPr wrap="square" rtlCol="0">
            <a:spAutoFit/>
          </a:bodyPr>
          <a:lstStyle/>
          <a:p>
            <a:r>
              <a:rPr lang="en-US"/>
              <a:t>Core/primary service</a:t>
            </a:r>
          </a:p>
        </p:txBody>
      </p:sp>
      <p:sp>
        <p:nvSpPr>
          <p:cNvPr id="24" name="TextBox 23">
            <a:extLst>
              <a:ext uri="{FF2B5EF4-FFF2-40B4-BE49-F238E27FC236}">
                <a16:creationId xmlns:a16="http://schemas.microsoft.com/office/drawing/2014/main" id="{0860BE8A-5CA9-B098-071C-0DCB349587FF}"/>
              </a:ext>
            </a:extLst>
          </p:cNvPr>
          <p:cNvSpPr txBox="1"/>
          <p:nvPr/>
        </p:nvSpPr>
        <p:spPr>
          <a:xfrm>
            <a:off x="811814" y="1926669"/>
            <a:ext cx="2306290" cy="369332"/>
          </a:xfrm>
          <a:prstGeom prst="rect">
            <a:avLst/>
          </a:prstGeom>
          <a:noFill/>
        </p:spPr>
        <p:txBody>
          <a:bodyPr wrap="square" rtlCol="0">
            <a:spAutoFit/>
          </a:bodyPr>
          <a:lstStyle/>
          <a:p>
            <a:r>
              <a:rPr lang="en-US"/>
              <a:t>Secondary service</a:t>
            </a:r>
          </a:p>
        </p:txBody>
      </p:sp>
      <p:sp>
        <p:nvSpPr>
          <p:cNvPr id="25" name="TextBox 24">
            <a:extLst>
              <a:ext uri="{FF2B5EF4-FFF2-40B4-BE49-F238E27FC236}">
                <a16:creationId xmlns:a16="http://schemas.microsoft.com/office/drawing/2014/main" id="{E6605090-D284-3C91-0756-9DA01CE6A520}"/>
              </a:ext>
            </a:extLst>
          </p:cNvPr>
          <p:cNvSpPr txBox="1"/>
          <p:nvPr/>
        </p:nvSpPr>
        <p:spPr>
          <a:xfrm>
            <a:off x="811813" y="2368391"/>
            <a:ext cx="1892808" cy="646331"/>
          </a:xfrm>
          <a:prstGeom prst="rect">
            <a:avLst/>
          </a:prstGeom>
          <a:noFill/>
        </p:spPr>
        <p:txBody>
          <a:bodyPr wrap="square" rtlCol="0">
            <a:spAutoFit/>
          </a:bodyPr>
          <a:lstStyle/>
          <a:p>
            <a:r>
              <a:rPr lang="en-US"/>
              <a:t>Not offered/ weak service</a:t>
            </a:r>
          </a:p>
        </p:txBody>
      </p:sp>
      <p:pic>
        <p:nvPicPr>
          <p:cNvPr id="26" name="Graphic 25" descr="Checkbox Checked with solid fill">
            <a:extLst>
              <a:ext uri="{FF2B5EF4-FFF2-40B4-BE49-F238E27FC236}">
                <a16:creationId xmlns:a16="http://schemas.microsoft.com/office/drawing/2014/main" id="{6ECB1DEB-7D97-06F5-7711-A8035A4ED52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3456895"/>
            <a:ext cx="591312" cy="591312"/>
          </a:xfrm>
          <a:prstGeom prst="rect">
            <a:avLst/>
          </a:prstGeom>
        </p:spPr>
      </p:pic>
      <p:pic>
        <p:nvPicPr>
          <p:cNvPr id="27" name="Graphic 26" descr="Checkbox Checked with solid fill">
            <a:extLst>
              <a:ext uri="{FF2B5EF4-FFF2-40B4-BE49-F238E27FC236}">
                <a16:creationId xmlns:a16="http://schemas.microsoft.com/office/drawing/2014/main" id="{FBE69ED9-5B80-95F6-D968-6FD727BC4DF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1520023"/>
            <a:ext cx="591312" cy="591312"/>
          </a:xfrm>
          <a:prstGeom prst="rect">
            <a:avLst/>
          </a:prstGeom>
        </p:spPr>
      </p:pic>
      <p:pic>
        <p:nvPicPr>
          <p:cNvPr id="28" name="Graphic 27" descr="Checkbox Checked with solid fill">
            <a:extLst>
              <a:ext uri="{FF2B5EF4-FFF2-40B4-BE49-F238E27FC236}">
                <a16:creationId xmlns:a16="http://schemas.microsoft.com/office/drawing/2014/main" id="{42BD89F5-0050-0DCC-72FE-72202FB4B98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1520023"/>
            <a:ext cx="591312" cy="591312"/>
          </a:xfrm>
          <a:prstGeom prst="rect">
            <a:avLst/>
          </a:prstGeom>
        </p:spPr>
      </p:pic>
      <p:pic>
        <p:nvPicPr>
          <p:cNvPr id="29" name="Graphic 28" descr="Checkbox Checked with solid fill">
            <a:extLst>
              <a:ext uri="{FF2B5EF4-FFF2-40B4-BE49-F238E27FC236}">
                <a16:creationId xmlns:a16="http://schemas.microsoft.com/office/drawing/2014/main" id="{94B1BD17-7715-F4EB-2316-6D4833B5C7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2179278"/>
            <a:ext cx="591312" cy="591312"/>
          </a:xfrm>
          <a:prstGeom prst="rect">
            <a:avLst/>
          </a:prstGeom>
        </p:spPr>
      </p:pic>
      <p:pic>
        <p:nvPicPr>
          <p:cNvPr id="30" name="Graphic 29" descr="Checkbox Checked with solid fill">
            <a:extLst>
              <a:ext uri="{FF2B5EF4-FFF2-40B4-BE49-F238E27FC236}">
                <a16:creationId xmlns:a16="http://schemas.microsoft.com/office/drawing/2014/main" id="{D83F7210-D804-FCB9-2ECB-79C1932118F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101562"/>
            <a:ext cx="591312" cy="591312"/>
          </a:xfrm>
          <a:prstGeom prst="rect">
            <a:avLst/>
          </a:prstGeom>
        </p:spPr>
      </p:pic>
      <p:pic>
        <p:nvPicPr>
          <p:cNvPr id="31" name="Graphic 30" descr="Checkbox Checked with solid fill">
            <a:extLst>
              <a:ext uri="{FF2B5EF4-FFF2-40B4-BE49-F238E27FC236}">
                <a16:creationId xmlns:a16="http://schemas.microsoft.com/office/drawing/2014/main" id="{C79782A8-121A-72C8-1647-4C374C8028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801915"/>
            <a:ext cx="591312" cy="591312"/>
          </a:xfrm>
          <a:prstGeom prst="rect">
            <a:avLst/>
          </a:prstGeom>
        </p:spPr>
      </p:pic>
      <p:pic>
        <p:nvPicPr>
          <p:cNvPr id="32" name="Graphic 31" descr="Checkbox Checked with solid fill">
            <a:extLst>
              <a:ext uri="{FF2B5EF4-FFF2-40B4-BE49-F238E27FC236}">
                <a16:creationId xmlns:a16="http://schemas.microsoft.com/office/drawing/2014/main" id="{E1BD3BF4-8D9B-2B17-795E-1073CCE270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4075300"/>
            <a:ext cx="591312" cy="591312"/>
          </a:xfrm>
          <a:prstGeom prst="rect">
            <a:avLst/>
          </a:prstGeom>
        </p:spPr>
      </p:pic>
      <p:pic>
        <p:nvPicPr>
          <p:cNvPr id="33" name="Graphic 32" descr="Checkbox Checked with solid fill">
            <a:extLst>
              <a:ext uri="{FF2B5EF4-FFF2-40B4-BE49-F238E27FC236}">
                <a16:creationId xmlns:a16="http://schemas.microsoft.com/office/drawing/2014/main" id="{0625FEA1-7F50-628C-55AC-B2DF4844A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2179278"/>
            <a:ext cx="591312" cy="591312"/>
          </a:xfrm>
          <a:prstGeom prst="rect">
            <a:avLst/>
          </a:prstGeom>
        </p:spPr>
      </p:pic>
      <p:pic>
        <p:nvPicPr>
          <p:cNvPr id="34" name="Graphic 33" descr="Checkbox Checked with solid fill">
            <a:extLst>
              <a:ext uri="{FF2B5EF4-FFF2-40B4-BE49-F238E27FC236}">
                <a16:creationId xmlns:a16="http://schemas.microsoft.com/office/drawing/2014/main" id="{1C6BEE9F-9CCF-8F5C-2500-4361FE8367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4692874"/>
            <a:ext cx="591312" cy="591312"/>
          </a:xfrm>
          <a:prstGeom prst="rect">
            <a:avLst/>
          </a:prstGeom>
        </p:spPr>
      </p:pic>
      <p:pic>
        <p:nvPicPr>
          <p:cNvPr id="35" name="Graphic 34" descr="Checkbox Checked with solid fill">
            <a:extLst>
              <a:ext uri="{FF2B5EF4-FFF2-40B4-BE49-F238E27FC236}">
                <a16:creationId xmlns:a16="http://schemas.microsoft.com/office/drawing/2014/main" id="{3FF8126E-55D1-9A0D-8F87-54D9E29927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71283" y="5390897"/>
            <a:ext cx="591312" cy="591312"/>
          </a:xfrm>
          <a:prstGeom prst="rect">
            <a:avLst/>
          </a:prstGeom>
        </p:spPr>
      </p:pic>
      <p:pic>
        <p:nvPicPr>
          <p:cNvPr id="36" name="Graphic 35" descr="Checkbox Checked with solid fill">
            <a:extLst>
              <a:ext uri="{FF2B5EF4-FFF2-40B4-BE49-F238E27FC236}">
                <a16:creationId xmlns:a16="http://schemas.microsoft.com/office/drawing/2014/main" id="{12B4219B-30B7-E55B-89CB-5CA7B7977A6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32263" y="5390897"/>
            <a:ext cx="591312" cy="591312"/>
          </a:xfrm>
          <a:prstGeom prst="rect">
            <a:avLst/>
          </a:prstGeom>
        </p:spPr>
      </p:pic>
      <p:pic>
        <p:nvPicPr>
          <p:cNvPr id="37" name="Graphic 36" descr="Checkbox Checked with solid fill">
            <a:extLst>
              <a:ext uri="{FF2B5EF4-FFF2-40B4-BE49-F238E27FC236}">
                <a16:creationId xmlns:a16="http://schemas.microsoft.com/office/drawing/2014/main" id="{1FCAFEFA-5512-3E63-3A8D-3E6B12D6FAB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69436" y="3473769"/>
            <a:ext cx="591312" cy="591312"/>
          </a:xfrm>
          <a:prstGeom prst="rect">
            <a:avLst/>
          </a:prstGeom>
        </p:spPr>
      </p:pic>
      <p:pic>
        <p:nvPicPr>
          <p:cNvPr id="38" name="Graphic 37" descr="Badge Unfollow with solid fill">
            <a:extLst>
              <a:ext uri="{FF2B5EF4-FFF2-40B4-BE49-F238E27FC236}">
                <a16:creationId xmlns:a16="http://schemas.microsoft.com/office/drawing/2014/main" id="{57E0C906-168D-3EE2-7D42-C07778DEEDD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6" y="2898584"/>
            <a:ext cx="394145" cy="394145"/>
          </a:xfrm>
          <a:prstGeom prst="rect">
            <a:avLst/>
          </a:prstGeom>
        </p:spPr>
      </p:pic>
      <p:pic>
        <p:nvPicPr>
          <p:cNvPr id="39" name="Graphic 38" descr="Badge Unfollow with solid fill">
            <a:extLst>
              <a:ext uri="{FF2B5EF4-FFF2-40B4-BE49-F238E27FC236}">
                <a16:creationId xmlns:a16="http://schemas.microsoft.com/office/drawing/2014/main" id="{6308A87B-9771-133D-BE5A-3449BB625DF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669866" y="2898585"/>
            <a:ext cx="394145" cy="394145"/>
          </a:xfrm>
          <a:prstGeom prst="rect">
            <a:avLst/>
          </a:prstGeom>
        </p:spPr>
      </p:pic>
      <p:pic>
        <p:nvPicPr>
          <p:cNvPr id="40" name="Graphic 39" descr="Badge Unfollow with solid fill">
            <a:extLst>
              <a:ext uri="{FF2B5EF4-FFF2-40B4-BE49-F238E27FC236}">
                <a16:creationId xmlns:a16="http://schemas.microsoft.com/office/drawing/2014/main" id="{C51767DF-E5B9-F002-73DB-4C85BD2F3E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730845" y="1618606"/>
            <a:ext cx="394145" cy="394145"/>
          </a:xfrm>
          <a:prstGeom prst="rect">
            <a:avLst/>
          </a:prstGeom>
        </p:spPr>
      </p:pic>
      <p:pic>
        <p:nvPicPr>
          <p:cNvPr id="41" name="Graphic 40" descr="Badge Unfollow with solid fill">
            <a:extLst>
              <a:ext uri="{FF2B5EF4-FFF2-40B4-BE49-F238E27FC236}">
                <a16:creationId xmlns:a16="http://schemas.microsoft.com/office/drawing/2014/main" id="{210D2DAA-D0AC-3200-3955-A2743EAD82D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9" y="4791457"/>
            <a:ext cx="394145" cy="394145"/>
          </a:xfrm>
          <a:prstGeom prst="rect">
            <a:avLst/>
          </a:prstGeom>
        </p:spPr>
      </p:pic>
      <p:pic>
        <p:nvPicPr>
          <p:cNvPr id="42" name="Graphic 41" descr="Badge Unfollow with solid fill">
            <a:extLst>
              <a:ext uri="{FF2B5EF4-FFF2-40B4-BE49-F238E27FC236}">
                <a16:creationId xmlns:a16="http://schemas.microsoft.com/office/drawing/2014/main" id="{CCF636FD-E4BF-2471-F114-5D138381C5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68018" y="5453414"/>
            <a:ext cx="394145" cy="394145"/>
          </a:xfrm>
          <a:prstGeom prst="rect">
            <a:avLst/>
          </a:prstGeom>
        </p:spPr>
      </p:pic>
      <p:pic>
        <p:nvPicPr>
          <p:cNvPr id="43" name="Graphic 42" descr="Checkbox Crossed with solid fill">
            <a:extLst>
              <a:ext uri="{FF2B5EF4-FFF2-40B4-BE49-F238E27FC236}">
                <a16:creationId xmlns:a16="http://schemas.microsoft.com/office/drawing/2014/main" id="{D51CCF7B-5740-3532-9019-E4AAA9D64C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32263" y="2165125"/>
            <a:ext cx="591313" cy="591313"/>
          </a:xfrm>
          <a:prstGeom prst="rect">
            <a:avLst/>
          </a:prstGeom>
        </p:spPr>
      </p:pic>
      <p:pic>
        <p:nvPicPr>
          <p:cNvPr id="44" name="Graphic 43" descr="Checkbox Crossed with solid fill">
            <a:extLst>
              <a:ext uri="{FF2B5EF4-FFF2-40B4-BE49-F238E27FC236}">
                <a16:creationId xmlns:a16="http://schemas.microsoft.com/office/drawing/2014/main" id="{A4AC7E66-F58C-752D-181D-E2C8AB9D34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64041" y="3466611"/>
            <a:ext cx="591313" cy="591313"/>
          </a:xfrm>
          <a:prstGeom prst="rect">
            <a:avLst/>
          </a:prstGeom>
        </p:spPr>
      </p:pic>
      <p:pic>
        <p:nvPicPr>
          <p:cNvPr id="45" name="Graphic 44" descr="Checkbox Crossed with solid fill">
            <a:extLst>
              <a:ext uri="{FF2B5EF4-FFF2-40B4-BE49-F238E27FC236}">
                <a16:creationId xmlns:a16="http://schemas.microsoft.com/office/drawing/2014/main" id="{C57154DB-F2E6-E561-A1ED-BEA4B8CC82F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086208"/>
            <a:ext cx="591313" cy="591313"/>
          </a:xfrm>
          <a:prstGeom prst="rect">
            <a:avLst/>
          </a:prstGeom>
        </p:spPr>
      </p:pic>
      <p:pic>
        <p:nvPicPr>
          <p:cNvPr id="46" name="Graphic 45" descr="Checkbox Crossed with solid fill">
            <a:extLst>
              <a:ext uri="{FF2B5EF4-FFF2-40B4-BE49-F238E27FC236}">
                <a16:creationId xmlns:a16="http://schemas.microsoft.com/office/drawing/2014/main" id="{D07F2312-EA40-56D4-3D44-213DE7C0851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1283" y="4746666"/>
            <a:ext cx="591313" cy="591313"/>
          </a:xfrm>
          <a:prstGeom prst="rect">
            <a:avLst/>
          </a:prstGeom>
        </p:spPr>
      </p:pic>
      <p:sp>
        <p:nvSpPr>
          <p:cNvPr id="47" name="TextBox 46">
            <a:extLst>
              <a:ext uri="{FF2B5EF4-FFF2-40B4-BE49-F238E27FC236}">
                <a16:creationId xmlns:a16="http://schemas.microsoft.com/office/drawing/2014/main" id="{1D00F6B3-A58D-2E69-623F-6A9C22C50782}"/>
              </a:ext>
            </a:extLst>
          </p:cNvPr>
          <p:cNvSpPr txBox="1"/>
          <p:nvPr/>
        </p:nvSpPr>
        <p:spPr>
          <a:xfrm>
            <a:off x="319085" y="3334907"/>
            <a:ext cx="3219643" cy="2647302"/>
          </a:xfrm>
          <a:prstGeom prst="rect">
            <a:avLst/>
          </a:prstGeom>
          <a:noFill/>
        </p:spPr>
        <p:txBody>
          <a:bodyPr wrap="square" rtlCol="0">
            <a:spAutoFit/>
          </a:bodyPr>
          <a:lstStyle/>
          <a:p>
            <a:r>
              <a:rPr lang="en-US"/>
              <a:t>APTIM occupies a middle ground between specialized program implementers and large consulting firms, leveraging its broad capabilities to provide integrated solutions that neither competitor offers independently.</a:t>
            </a:r>
          </a:p>
        </p:txBody>
      </p:sp>
      <p:sp>
        <p:nvSpPr>
          <p:cNvPr id="49" name="Rectangle 48">
            <a:extLst>
              <a:ext uri="{FF2B5EF4-FFF2-40B4-BE49-F238E27FC236}">
                <a16:creationId xmlns:a16="http://schemas.microsoft.com/office/drawing/2014/main" id="{ED9EE712-5BE8-F4BB-99EE-C5898161F377}"/>
              </a:ext>
            </a:extLst>
          </p:cNvPr>
          <p:cNvSpPr/>
          <p:nvPr/>
        </p:nvSpPr>
        <p:spPr>
          <a:xfrm>
            <a:off x="7907498" y="1130809"/>
            <a:ext cx="2063379" cy="4851400"/>
          </a:xfrm>
          <a:prstGeom prst="rect">
            <a:avLst/>
          </a:prstGeom>
          <a:noFill/>
          <a:ln w="762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152878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0" tmFilter="0, 0; .2, .5; .8, .5; 1, 0"/>
                                        <p:tgtEl>
                                          <p:spTgt spid="49"/>
                                        </p:tgtEl>
                                      </p:cBhvr>
                                    </p:animEffect>
                                    <p:animScale>
                                      <p:cBhvr>
                                        <p:cTn id="7" dur="250" autoRev="1" fill="hold"/>
                                        <p:tgtEl>
                                          <p:spTgt spid="49"/>
                                        </p:tgtEl>
                                      </p:cBhvr>
                                      <p:by x="105000" y="105000"/>
                                    </p:animScale>
                                  </p:childTnLst>
                                </p:cTn>
                              </p:par>
                              <p:par>
                                <p:cTn id="8" presetID="26" presetClass="emph" presetSubtype="0" fill="hold" grpId="0" nodeType="withEffect">
                                  <p:stCondLst>
                                    <p:cond delay="0"/>
                                  </p:stCondLst>
                                  <p:childTnLst>
                                    <p:animEffect transition="out" filter="fade">
                                      <p:cBhvr>
                                        <p:cTn id="9" dur="500" tmFilter="0, 0; .2, .5; .8, .5; 1, 0"/>
                                        <p:tgtEl>
                                          <p:spTgt spid="47"/>
                                        </p:tgtEl>
                                      </p:cBhvr>
                                    </p:animEffect>
                                    <p:animScale>
                                      <p:cBhvr>
                                        <p:cTn id="10" dur="250" autoRev="1" fill="hold"/>
                                        <p:tgtEl>
                                          <p:spTgt spid="47"/>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P spid="4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32</a:t>
            </a:fld>
            <a:endParaRPr lang="en-US"/>
          </a:p>
        </p:txBody>
      </p:sp>
    </p:spTree>
    <p:extLst>
      <p:ext uri="{BB962C8B-B14F-4D97-AF65-F5344CB8AC3E}">
        <p14:creationId xmlns:p14="http://schemas.microsoft.com/office/powerpoint/2010/main" val="250845290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33</a:t>
            </a:fld>
            <a:endParaRPr lang="en-US"/>
          </a:p>
        </p:txBody>
      </p:sp>
    </p:spTree>
    <p:extLst>
      <p:ext uri="{BB962C8B-B14F-4D97-AF65-F5344CB8AC3E}">
        <p14:creationId xmlns:p14="http://schemas.microsoft.com/office/powerpoint/2010/main" val="26657812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4239608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622591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7D1D9-0089-F069-D3BC-A2874382FC64}"/>
              </a:ext>
            </a:extLst>
          </p:cNvPr>
          <p:cNvSpPr>
            <a:spLocks noGrp="1"/>
          </p:cNvSpPr>
          <p:nvPr>
            <p:ph type="title"/>
          </p:nvPr>
        </p:nvSpPr>
        <p:spPr/>
        <p:txBody>
          <a:bodyPr/>
          <a:lstStyle/>
          <a:p>
            <a:r>
              <a:rPr lang="en-US"/>
              <a:t>Future/Scaling</a:t>
            </a:r>
          </a:p>
        </p:txBody>
      </p:sp>
      <p:sp>
        <p:nvSpPr>
          <p:cNvPr id="3" name="Content Placeholder 2">
            <a:extLst>
              <a:ext uri="{FF2B5EF4-FFF2-40B4-BE49-F238E27FC236}">
                <a16:creationId xmlns:a16="http://schemas.microsoft.com/office/drawing/2014/main" id="{4F32CF1A-84D7-4AA7-07D2-98446FE10F72}"/>
              </a:ext>
            </a:extLst>
          </p:cNvPr>
          <p:cNvSpPr>
            <a:spLocks noGrp="1"/>
          </p:cNvSpPr>
          <p:nvPr>
            <p:ph idx="1"/>
          </p:nvPr>
        </p:nvSpPr>
        <p:spPr/>
        <p:txBody>
          <a:bodyPr/>
          <a:lstStyle/>
          <a:p>
            <a:r>
              <a:rPr lang="en-US"/>
              <a:t>Program will expand to multiple states that we already have programs in once successful </a:t>
            </a:r>
          </a:p>
          <a:p>
            <a:pPr lvl="1"/>
            <a:r>
              <a:rPr lang="en-US"/>
              <a:t>Use Michigan as a pilot case then pitch its success internally to APTIM and approve it for the next state</a:t>
            </a:r>
          </a:p>
          <a:p>
            <a:pPr lvl="2"/>
            <a:r>
              <a:rPr lang="en-US"/>
              <a:t>Cali, Wisconsin, Louisiana, North Carolina</a:t>
            </a:r>
          </a:p>
          <a:p>
            <a:pPr lvl="2"/>
            <a:endParaRPr lang="en-US"/>
          </a:p>
          <a:p>
            <a:r>
              <a:rPr lang="en-US"/>
              <a:t>Possible updates</a:t>
            </a:r>
          </a:p>
        </p:txBody>
      </p:sp>
      <p:sp>
        <p:nvSpPr>
          <p:cNvPr id="4" name="Footer Placeholder 3">
            <a:extLst>
              <a:ext uri="{FF2B5EF4-FFF2-40B4-BE49-F238E27FC236}">
                <a16:creationId xmlns:a16="http://schemas.microsoft.com/office/drawing/2014/main" id="{0F398C98-03E6-94C1-75D5-49F5F8482AD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30E6C8E-5C79-218B-34A6-A5742B678C80}"/>
              </a:ext>
            </a:extLst>
          </p:cNvPr>
          <p:cNvSpPr>
            <a:spLocks noGrp="1"/>
          </p:cNvSpPr>
          <p:nvPr>
            <p:ph type="sldNum" sz="quarter" idx="12"/>
          </p:nvPr>
        </p:nvSpPr>
        <p:spPr/>
        <p:txBody>
          <a:bodyPr/>
          <a:lstStyle/>
          <a:p>
            <a:fld id="{F8F6B9CD-BE6B-498B-93B3-0FAD7ADE75E3}" type="slidenum">
              <a:rPr lang="en-US" smtClean="0"/>
              <a:t>36</a:t>
            </a:fld>
            <a:endParaRPr lang="en-US"/>
          </a:p>
        </p:txBody>
      </p:sp>
    </p:spTree>
    <p:extLst>
      <p:ext uri="{BB962C8B-B14F-4D97-AF65-F5344CB8AC3E}">
        <p14:creationId xmlns:p14="http://schemas.microsoft.com/office/powerpoint/2010/main" val="16474001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Client Use Case: Why Michigan?</a:t>
            </a:r>
            <a:r>
              <a:rPr lang="en-US">
                <a:solidFill>
                  <a:srgbClr val="002856"/>
                </a:solidFill>
              </a:rPr>
              <a:t> (update/fix)</a:t>
            </a:r>
            <a:endParaRPr>
              <a:solidFill>
                <a:srgbClr val="002856"/>
              </a:solidFill>
            </a:endParaRPr>
          </a:p>
        </p:txBody>
      </p:sp>
      <p:sp>
        <p:nvSpPr>
          <p:cNvPr id="3" name="TextBox 2"/>
          <p:cNvSpPr txBox="1"/>
          <p:nvPr/>
        </p:nvSpPr>
        <p:spPr>
          <a:xfrm>
            <a:off x="457200" y="914400"/>
            <a:ext cx="11247120" cy="365760"/>
          </a:xfrm>
          <a:prstGeom prst="rect">
            <a:avLst/>
          </a:prstGeom>
          <a:noFill/>
        </p:spPr>
        <p:txBody>
          <a:bodyPr wrap="square">
            <a:spAutoFit/>
          </a:bodyPr>
          <a:lstStyle/>
          <a:p>
            <a:r>
              <a:rPr sz="1300" i="1">
                <a:solidFill>
                  <a:srgbClr val="404040"/>
                </a:solidFill>
                <a:latin typeface="Arial"/>
              </a:rPr>
              <a:t>Michigan presents the strongest combination of regulatory need, storage demand, and pilot feasibility.</a:t>
            </a:r>
          </a:p>
        </p:txBody>
      </p:sp>
      <p:sp>
        <p:nvSpPr>
          <p:cNvPr id="4" name="Rounded Rectangle 3"/>
          <p:cNvSpPr/>
          <p:nvPr/>
        </p:nvSpPr>
        <p:spPr>
          <a:xfrm>
            <a:off x="457200" y="1508760"/>
            <a:ext cx="5410047" cy="393192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B71B"/>
                </a:solidFill>
                <a:latin typeface="Arial"/>
              </a:rPr>
              <a:t>Why Michigan?</a:t>
            </a:r>
            <a:endParaRPr lang="en-US" b="1">
              <a:solidFill>
                <a:srgbClr val="FFB71B"/>
              </a:solidFill>
              <a:latin typeface="Arial"/>
            </a:endParaRPr>
          </a:p>
          <a:p>
            <a:pPr>
              <a:spcAft>
                <a:spcPts val="1000"/>
              </a:spcAft>
            </a:pPr>
            <a:r>
              <a:rPr sz="1400" b="1">
                <a:solidFill>
                  <a:srgbClr val="FFB71B"/>
                </a:solidFill>
                <a:latin typeface="Arial"/>
              </a:rPr>
              <a:t>✓  </a:t>
            </a:r>
            <a:r>
              <a:rPr sz="1400">
                <a:solidFill>
                  <a:srgbClr val="FFFFFF"/>
                </a:solidFill>
                <a:latin typeface="Arial"/>
              </a:rPr>
              <a:t>2,500 MW statewide storage target</a:t>
            </a:r>
          </a:p>
          <a:p>
            <a:pPr>
              <a:spcAft>
                <a:spcPts val="1000"/>
              </a:spcAft>
            </a:pPr>
            <a:r>
              <a:rPr sz="1400" b="1">
                <a:solidFill>
                  <a:srgbClr val="FFB71B"/>
                </a:solidFill>
                <a:latin typeface="Arial"/>
              </a:rPr>
              <a:t>✓  </a:t>
            </a:r>
            <a:r>
              <a:rPr sz="1400">
                <a:solidFill>
                  <a:srgbClr val="FFFFFF"/>
                </a:solidFill>
                <a:latin typeface="Arial"/>
              </a:rPr>
              <a:t>DTE identified 850+ MW storage need</a:t>
            </a:r>
          </a:p>
          <a:p>
            <a:pPr>
              <a:spcAft>
                <a:spcPts val="1000"/>
              </a:spcAft>
            </a:pPr>
            <a:r>
              <a:rPr sz="1400" b="1">
                <a:solidFill>
                  <a:srgbClr val="FFB71B"/>
                </a:solidFill>
                <a:latin typeface="Arial"/>
              </a:rPr>
              <a:t>✓  </a:t>
            </a:r>
            <a:r>
              <a:rPr sz="1400">
                <a:solidFill>
                  <a:srgbClr val="FFFFFF"/>
                </a:solidFill>
                <a:latin typeface="Arial"/>
              </a:rPr>
              <a:t>Growing demand from electrification and data centers</a:t>
            </a:r>
          </a:p>
          <a:p>
            <a:pPr>
              <a:spcAft>
                <a:spcPts val="1000"/>
              </a:spcAft>
            </a:pPr>
            <a:r>
              <a:rPr sz="1400" b="1">
                <a:solidFill>
                  <a:srgbClr val="FFB71B"/>
                </a:solidFill>
                <a:latin typeface="Arial"/>
              </a:rPr>
              <a:t>✓  </a:t>
            </a:r>
            <a:r>
              <a:rPr sz="1400">
                <a:solidFill>
                  <a:srgbClr val="FFFFFF"/>
                </a:solidFill>
                <a:latin typeface="Arial"/>
              </a:rPr>
              <a:t>Utility-scale battery deployment already underway</a:t>
            </a:r>
          </a:p>
        </p:txBody>
      </p:sp>
      <p:sp>
        <p:nvSpPr>
          <p:cNvPr id="5" name="Rounded Rectangle 4"/>
          <p:cNvSpPr/>
          <p:nvPr/>
        </p:nvSpPr>
        <p:spPr>
          <a:xfrm>
            <a:off x="6324447" y="1508760"/>
            <a:ext cx="5410047" cy="3931920"/>
          </a:xfrm>
          <a:prstGeom prst="roundRect">
            <a:avLst>
              <a:gd name="adj" fmla="val 6000"/>
            </a:avLst>
          </a:prstGeom>
          <a:solidFill>
            <a:srgbClr val="00A19B"/>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tIns="228600" rIns="228600" rtlCol="0" anchor="ctr"/>
          <a:lstStyle/>
          <a:p>
            <a:pPr algn="ctr">
              <a:spcAft>
                <a:spcPts val="1000"/>
              </a:spcAft>
            </a:pPr>
            <a:r>
              <a:rPr sz="1800" b="1">
                <a:solidFill>
                  <a:srgbClr val="FFFFFF"/>
                </a:solidFill>
                <a:latin typeface="Arial"/>
              </a:rPr>
              <a:t>Why Ann Arbor?</a:t>
            </a:r>
            <a:endParaRPr lang="en-US" sz="1800" b="1">
              <a:solidFill>
                <a:srgbClr val="FFFFFF"/>
              </a:solidFill>
              <a:latin typeface="Arial"/>
            </a:endParaRPr>
          </a:p>
          <a:p>
            <a:pPr>
              <a:spcAft>
                <a:spcPts val="1000"/>
              </a:spcAft>
            </a:pPr>
            <a:r>
              <a:rPr sz="1400" b="1">
                <a:solidFill>
                  <a:srgbClr val="E8FFFC"/>
                </a:solidFill>
                <a:latin typeface="Arial"/>
              </a:rPr>
              <a:t>✓  </a:t>
            </a:r>
            <a:r>
              <a:rPr sz="1400">
                <a:solidFill>
                  <a:srgbClr val="FFFFFF"/>
                </a:solidFill>
                <a:latin typeface="Arial"/>
              </a:rPr>
              <a:t>DTE service territory</a:t>
            </a:r>
          </a:p>
          <a:p>
            <a:pPr>
              <a:spcAft>
                <a:spcPts val="1000"/>
              </a:spcAft>
            </a:pPr>
            <a:r>
              <a:rPr sz="1400" b="1">
                <a:solidFill>
                  <a:srgbClr val="E8FFFC"/>
                </a:solidFill>
                <a:latin typeface="Arial"/>
              </a:rPr>
              <a:t>✓  </a:t>
            </a:r>
            <a:r>
              <a:rPr sz="1400">
                <a:solidFill>
                  <a:srgbClr val="FFFFFF"/>
                </a:solidFill>
                <a:latin typeface="Arial"/>
              </a:rPr>
              <a:t>50,000+ households</a:t>
            </a:r>
          </a:p>
          <a:p>
            <a:pPr>
              <a:spcAft>
                <a:spcPts val="1000"/>
              </a:spcAft>
            </a:pPr>
            <a:r>
              <a:rPr sz="1400" b="1">
                <a:solidFill>
                  <a:srgbClr val="E8FFFC"/>
                </a:solidFill>
                <a:latin typeface="Arial"/>
              </a:rPr>
              <a:t>✓  </a:t>
            </a:r>
            <a:r>
              <a:rPr sz="1400">
                <a:solidFill>
                  <a:srgbClr val="FFFFFF"/>
                </a:solidFill>
                <a:latin typeface="Arial"/>
              </a:rPr>
              <a:t>Strong sustainability culture</a:t>
            </a:r>
          </a:p>
          <a:p>
            <a:pPr>
              <a:spcAft>
                <a:spcPts val="1000"/>
              </a:spcAft>
            </a:pPr>
            <a:r>
              <a:rPr sz="1400" b="1">
                <a:solidFill>
                  <a:srgbClr val="E8FFFC"/>
                </a:solidFill>
                <a:latin typeface="Arial"/>
              </a:rPr>
              <a:t>✓  </a:t>
            </a:r>
            <a:r>
              <a:rPr sz="1400">
                <a:solidFill>
                  <a:srgbClr val="FFFFFF"/>
                </a:solidFill>
                <a:latin typeface="Arial"/>
              </a:rPr>
              <a:t>High solar adoption potential</a:t>
            </a:r>
          </a:p>
          <a:p>
            <a:pPr>
              <a:spcAft>
                <a:spcPts val="1000"/>
              </a:spcAft>
            </a:pPr>
            <a:r>
              <a:rPr sz="1400" b="1">
                <a:solidFill>
                  <a:srgbClr val="E8FFFC"/>
                </a:solidFill>
                <a:latin typeface="Arial"/>
              </a:rPr>
              <a:t>✓  </a:t>
            </a:r>
            <a:r>
              <a:rPr sz="1400">
                <a:solidFill>
                  <a:srgbClr val="FFFFFF"/>
                </a:solidFill>
                <a:latin typeface="Arial"/>
              </a:rPr>
              <a:t>Pilot participation target = ~1% of households</a:t>
            </a:r>
          </a:p>
        </p:txBody>
      </p:sp>
      <p:sp>
        <p:nvSpPr>
          <p:cNvPr id="6" name="Rounded Rectangle 5"/>
          <p:cNvSpPr/>
          <p:nvPr/>
        </p:nvSpPr>
        <p:spPr>
          <a:xfrm>
            <a:off x="457200" y="5623560"/>
            <a:ext cx="11247120" cy="777240"/>
          </a:xfrm>
          <a:prstGeom prst="roundRect">
            <a:avLst>
              <a:gd name="adj" fmla="val 6000"/>
            </a:avLst>
          </a:prstGeom>
          <a:solidFill>
            <a:srgbClr val="FF8200"/>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lang="en-US" sz="1400" b="1">
                <a:solidFill>
                  <a:srgbClr val="FFFFFF"/>
                </a:solidFill>
                <a:latin typeface="Arial"/>
              </a:rPr>
              <a:t>Ann Arbor was selected to maximize pilot success, generate operational data, and reduce deployment risk before broader expansion</a:t>
            </a:r>
            <a:endParaRPr sz="1400" b="1">
              <a:solidFill>
                <a:srgbClr val="FFFFFF"/>
              </a:solidFill>
              <a:latin typeface="Arial"/>
            </a:endParaRPr>
          </a:p>
        </p:txBody>
      </p:sp>
      <p:sp>
        <p:nvSpPr>
          <p:cNvPr id="7" name="TextBox 6"/>
          <p:cNvSpPr txBox="1"/>
          <p:nvPr/>
        </p:nvSpPr>
        <p:spPr>
          <a:xfrm>
            <a:off x="3657600" y="6583680"/>
            <a:ext cx="5760720"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2055623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a:solidFill>
                  <a:srgbClr val="002856"/>
                </a:solidFill>
              </a:rPr>
              <a:t>Michigan Pilot Deployment Model</a:t>
            </a:r>
            <a:r>
              <a:rPr lang="en-US">
                <a:solidFill>
                  <a:srgbClr val="002856"/>
                </a:solidFill>
              </a:rPr>
              <a:t> (update/fix)</a:t>
            </a:r>
            <a:endParaRPr>
              <a:solidFill>
                <a:srgbClr val="002856"/>
              </a:solidFill>
            </a:endParaRPr>
          </a:p>
        </p:txBody>
      </p:sp>
      <p:sp>
        <p:nvSpPr>
          <p:cNvPr id="4" name="Rounded Rectangle 3"/>
          <p:cNvSpPr/>
          <p:nvPr/>
        </p:nvSpPr>
        <p:spPr>
          <a:xfrm>
            <a:off x="365760"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Participant
Requirements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DTE customer</a:t>
            </a:r>
          </a:p>
          <a:p>
            <a:pPr>
              <a:spcAft>
                <a:spcPts val="700"/>
              </a:spcAft>
            </a:pPr>
            <a:r>
              <a:rPr sz="1100" b="1">
                <a:solidFill>
                  <a:srgbClr val="FF8200"/>
                </a:solidFill>
                <a:latin typeface="Arial"/>
              </a:rPr>
              <a:t>•  </a:t>
            </a:r>
            <a:r>
              <a:rPr sz="1100">
                <a:solidFill>
                  <a:srgbClr val="404040"/>
                </a:solidFill>
                <a:latin typeface="Arial"/>
              </a:rPr>
              <a:t>Owner occupied</a:t>
            </a:r>
          </a:p>
          <a:p>
            <a:pPr>
              <a:spcAft>
                <a:spcPts val="700"/>
              </a:spcAft>
            </a:pPr>
            <a:r>
              <a:rPr sz="1100" b="1">
                <a:solidFill>
                  <a:srgbClr val="FF8200"/>
                </a:solidFill>
                <a:latin typeface="Arial"/>
              </a:rPr>
              <a:t>•  </a:t>
            </a:r>
            <a:r>
              <a:rPr sz="1100">
                <a:solidFill>
                  <a:srgbClr val="404040"/>
                </a:solidFill>
                <a:latin typeface="Arial"/>
              </a:rPr>
              <a:t>Suitable roof condition</a:t>
            </a:r>
          </a:p>
          <a:p>
            <a:pPr>
              <a:spcAft>
                <a:spcPts val="700"/>
              </a:spcAft>
            </a:pPr>
            <a:r>
              <a:rPr sz="1100" b="1">
                <a:solidFill>
                  <a:srgbClr val="FF8200"/>
                </a:solidFill>
                <a:latin typeface="Arial"/>
              </a:rPr>
              <a:t>•  </a:t>
            </a:r>
            <a:r>
              <a:rPr sz="1100">
                <a:solidFill>
                  <a:srgbClr val="404040"/>
                </a:solidFill>
                <a:latin typeface="Arial"/>
              </a:rPr>
              <a:t>Minimal shading</a:t>
            </a:r>
          </a:p>
          <a:p>
            <a:pPr>
              <a:spcAft>
                <a:spcPts val="700"/>
              </a:spcAft>
            </a:pPr>
            <a:r>
              <a:rPr sz="1100" b="1">
                <a:solidFill>
                  <a:srgbClr val="FF8200"/>
                </a:solidFill>
                <a:latin typeface="Arial"/>
              </a:rPr>
              <a:t>•  </a:t>
            </a:r>
            <a:r>
              <a:rPr sz="1100">
                <a:solidFill>
                  <a:srgbClr val="404040"/>
                </a:solidFill>
                <a:latin typeface="Arial"/>
              </a:rPr>
              <a:t>South-facing roof preferred</a:t>
            </a:r>
          </a:p>
          <a:p>
            <a:pPr>
              <a:spcAft>
                <a:spcPts val="700"/>
              </a:spcAft>
            </a:pPr>
            <a:r>
              <a:rPr sz="1100" b="1">
                <a:solidFill>
                  <a:srgbClr val="FF8200"/>
                </a:solidFill>
                <a:latin typeface="Arial"/>
              </a:rPr>
              <a:t>•  </a:t>
            </a:r>
            <a:r>
              <a:rPr sz="1100">
                <a:solidFill>
                  <a:srgbClr val="404040"/>
                </a:solidFill>
                <a:latin typeface="Arial"/>
              </a:rPr>
              <a:t>Long-term residency likelihood</a:t>
            </a:r>
          </a:p>
        </p:txBody>
      </p:sp>
      <p:sp>
        <p:nvSpPr>
          <p:cNvPr id="5" name="Rounded Rectangle 4"/>
          <p:cNvSpPr/>
          <p:nvPr/>
        </p:nvSpPr>
        <p:spPr>
          <a:xfrm>
            <a:off x="9311335" y="1417320"/>
            <a:ext cx="2514600" cy="4069080"/>
          </a:xfrm>
          <a:prstGeom prst="roundRect">
            <a:avLst>
              <a:gd name="adj" fmla="val 6000"/>
            </a:avLst>
          </a:prstGeom>
          <a:solidFill>
            <a:srgbClr val="F4F6F9"/>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164592" tIns="164592" rIns="109728" rtlCol="0" anchor="ctr"/>
          <a:lstStyle/>
          <a:p>
            <a:pPr algn="ctr">
              <a:spcAft>
                <a:spcPts val="700"/>
              </a:spcAft>
            </a:pPr>
            <a:r>
              <a:rPr sz="1600" b="1">
                <a:solidFill>
                  <a:srgbClr val="002856"/>
                </a:solidFill>
                <a:latin typeface="Arial"/>
              </a:rPr>
              <a:t>Pilot
Specifications</a:t>
            </a:r>
            <a:endParaRPr lang="en-US" sz="1600" b="1">
              <a:solidFill>
                <a:srgbClr val="002856"/>
              </a:solidFill>
              <a:latin typeface="Arial"/>
            </a:endParaRPr>
          </a:p>
          <a:p>
            <a:pPr algn="ctr">
              <a:spcAft>
                <a:spcPts val="700"/>
              </a:spcAft>
            </a:pPr>
            <a:endParaRPr lang="en-US" sz="1300" b="1">
              <a:solidFill>
                <a:srgbClr val="002856"/>
              </a:solidFill>
              <a:latin typeface="Arial"/>
            </a:endParaRPr>
          </a:p>
          <a:p>
            <a:pPr>
              <a:spcAft>
                <a:spcPts val="700"/>
              </a:spcAft>
            </a:pPr>
            <a:r>
              <a:rPr sz="1100" b="1">
                <a:solidFill>
                  <a:srgbClr val="FF8200"/>
                </a:solidFill>
                <a:latin typeface="Arial"/>
              </a:rPr>
              <a:t>•  </a:t>
            </a:r>
            <a:r>
              <a:rPr sz="1100">
                <a:solidFill>
                  <a:srgbClr val="404040"/>
                </a:solidFill>
                <a:latin typeface="Arial"/>
              </a:rPr>
              <a:t>500 qualified homes</a:t>
            </a:r>
          </a:p>
          <a:p>
            <a:pPr>
              <a:spcAft>
                <a:spcPts val="700"/>
              </a:spcAft>
            </a:pPr>
            <a:r>
              <a:rPr sz="1100" b="1">
                <a:solidFill>
                  <a:srgbClr val="FF8200"/>
                </a:solidFill>
                <a:latin typeface="Arial"/>
              </a:rPr>
              <a:t>•  </a:t>
            </a:r>
            <a:r>
              <a:rPr sz="1100">
                <a:solidFill>
                  <a:srgbClr val="404040"/>
                </a:solidFill>
                <a:latin typeface="Arial"/>
              </a:rPr>
              <a:t>6 kW solar / home</a:t>
            </a:r>
          </a:p>
          <a:p>
            <a:pPr>
              <a:spcAft>
                <a:spcPts val="700"/>
              </a:spcAft>
            </a:pPr>
            <a:r>
              <a:rPr sz="1100" b="1">
                <a:solidFill>
                  <a:srgbClr val="FF8200"/>
                </a:solidFill>
                <a:latin typeface="Arial"/>
              </a:rPr>
              <a:t>•  </a:t>
            </a:r>
            <a:r>
              <a:rPr sz="1100">
                <a:solidFill>
                  <a:srgbClr val="404040"/>
                </a:solidFill>
                <a:latin typeface="Arial"/>
              </a:rPr>
              <a:t>15 kWh battery / home</a:t>
            </a:r>
          </a:p>
          <a:p>
            <a:pPr>
              <a:spcAft>
                <a:spcPts val="700"/>
              </a:spcAft>
            </a:pPr>
            <a:r>
              <a:rPr sz="1100" b="1">
                <a:solidFill>
                  <a:srgbClr val="FF8200"/>
                </a:solidFill>
                <a:latin typeface="Arial"/>
              </a:rPr>
              <a:t>•  </a:t>
            </a:r>
            <a:r>
              <a:rPr sz="1100">
                <a:solidFill>
                  <a:srgbClr val="404040"/>
                </a:solidFill>
                <a:latin typeface="Arial"/>
              </a:rPr>
              <a:t>3-year pilot</a:t>
            </a:r>
          </a:p>
          <a:p>
            <a:pPr>
              <a:spcAft>
                <a:spcPts val="700"/>
              </a:spcAft>
            </a:pPr>
            <a:r>
              <a:rPr sz="1100" b="1">
                <a:solidFill>
                  <a:srgbClr val="FF8200"/>
                </a:solidFill>
                <a:latin typeface="Arial"/>
              </a:rPr>
              <a:t>•  </a:t>
            </a:r>
            <a:r>
              <a:rPr sz="1100">
                <a:solidFill>
                  <a:srgbClr val="404040"/>
                </a:solidFill>
                <a:latin typeface="Arial"/>
              </a:rPr>
              <a:t>Utility-owned assets</a:t>
            </a:r>
          </a:p>
        </p:txBody>
      </p:sp>
      <p:sp>
        <p:nvSpPr>
          <p:cNvPr id="6" name="TextBox 5"/>
          <p:cNvSpPr txBox="1"/>
          <p:nvPr/>
        </p:nvSpPr>
        <p:spPr>
          <a:xfrm>
            <a:off x="3200400" y="2468880"/>
            <a:ext cx="5790895" cy="320040"/>
          </a:xfrm>
          <a:prstGeom prst="rect">
            <a:avLst/>
          </a:prstGeom>
          <a:noFill/>
        </p:spPr>
        <p:txBody>
          <a:bodyPr wrap="none">
            <a:spAutoFit/>
          </a:bodyPr>
          <a:lstStyle/>
          <a:p>
            <a:pPr algn="ctr"/>
            <a:r>
              <a:rPr sz="1100" b="1">
                <a:solidFill>
                  <a:srgbClr val="FF8200"/>
                </a:solidFill>
                <a:latin typeface="Arial"/>
              </a:rPr>
              <a:t>THE PILOT FLOW</a:t>
            </a:r>
          </a:p>
        </p:txBody>
      </p:sp>
      <p:sp>
        <p:nvSpPr>
          <p:cNvPr id="7" name="Chevron 6"/>
          <p:cNvSpPr/>
          <p:nvPr/>
        </p:nvSpPr>
        <p:spPr>
          <a:xfrm>
            <a:off x="3200400" y="2880360"/>
            <a:ext cx="1319113"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8" name="Chevron 7"/>
          <p:cNvSpPr/>
          <p:nvPr/>
        </p:nvSpPr>
        <p:spPr>
          <a:xfrm>
            <a:off x="4318345" y="2880360"/>
            <a:ext cx="1319113"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9" name="Chevron 8"/>
          <p:cNvSpPr/>
          <p:nvPr/>
        </p:nvSpPr>
        <p:spPr>
          <a:xfrm>
            <a:off x="5436290" y="2880360"/>
            <a:ext cx="1319113"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Certified Installers</a:t>
            </a:r>
          </a:p>
        </p:txBody>
      </p:sp>
      <p:sp>
        <p:nvSpPr>
          <p:cNvPr id="10" name="Chevron 9"/>
          <p:cNvSpPr/>
          <p:nvPr/>
        </p:nvSpPr>
        <p:spPr>
          <a:xfrm>
            <a:off x="6322435" y="2880360"/>
            <a:ext cx="1550914" cy="960120"/>
          </a:xfrm>
          <a:prstGeom prst="chevron">
            <a:avLst>
              <a:gd name="adj" fmla="val 30000"/>
            </a:avLst>
          </a:prstGeom>
          <a:solidFill>
            <a:srgbClr val="00A19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500</a:t>
            </a:r>
            <a:r>
              <a:rPr lang="en-US" sz="1050" b="1">
                <a:solidFill>
                  <a:srgbClr val="FFFFFF"/>
                </a:solidFill>
                <a:latin typeface="Arial"/>
              </a:rPr>
              <a:t> </a:t>
            </a:r>
            <a:r>
              <a:rPr sz="1050" b="1">
                <a:solidFill>
                  <a:srgbClr val="FFFFFF"/>
                </a:solidFill>
                <a:latin typeface="Arial"/>
              </a:rPr>
              <a:t>Homes</a:t>
            </a:r>
          </a:p>
        </p:txBody>
      </p:sp>
      <p:sp>
        <p:nvSpPr>
          <p:cNvPr id="11" name="Chevron 10"/>
          <p:cNvSpPr/>
          <p:nvPr/>
        </p:nvSpPr>
        <p:spPr>
          <a:xfrm>
            <a:off x="7440380" y="2880360"/>
            <a:ext cx="1550914" cy="960120"/>
          </a:xfrm>
          <a:prstGeom prst="chevron">
            <a:avLst>
              <a:gd name="adj" fmla="val 30000"/>
            </a:avLst>
          </a:prstGeom>
          <a:solidFill>
            <a:srgbClr val="A3203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3 MW Solar + 7.5 MWh</a:t>
            </a:r>
          </a:p>
        </p:txBody>
      </p:sp>
      <p:sp>
        <p:nvSpPr>
          <p:cNvPr id="12" name="Rounded Rectangle 11"/>
          <p:cNvSpPr/>
          <p:nvPr/>
        </p:nvSpPr>
        <p:spPr>
          <a:xfrm>
            <a:off x="457200" y="5623560"/>
            <a:ext cx="11247120" cy="777240"/>
          </a:xfrm>
          <a:prstGeom prst="roundRect">
            <a:avLst>
              <a:gd name="adj" fmla="val 6000"/>
            </a:avLst>
          </a:prstGeom>
          <a:solidFill>
            <a:srgbClr val="002856"/>
          </a:solidFill>
          <a:ln>
            <a:noFill/>
          </a:ln>
          <a:effectLst>
            <a:outerShdw blurRad="90000" dist="30000" dir="5400000"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wrap="square" lIns="274320" rIns="274320" rtlCol="0" anchor="ctr"/>
          <a:lstStyle/>
          <a:p>
            <a:pPr algn="ctr"/>
            <a:r>
              <a:rPr sz="1300" b="1">
                <a:solidFill>
                  <a:srgbClr val="FFFFFF"/>
                </a:solidFill>
                <a:latin typeface="Arial"/>
              </a:rPr>
              <a:t>APTIM leverages existing program administration, contractor management, inspection, and reporting capabilities to support DTE-owned distributed energy assets.</a:t>
            </a:r>
          </a:p>
        </p:txBody>
      </p:sp>
      <p:sp>
        <p:nvSpPr>
          <p:cNvPr id="13" name="TextBox 12"/>
          <p:cNvSpPr txBox="1"/>
          <p:nvPr/>
        </p:nvSpPr>
        <p:spPr>
          <a:xfrm>
            <a:off x="3360716" y="6537960"/>
            <a:ext cx="6057603"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
        <p:nvSpPr>
          <p:cNvPr id="15" name="Chevron 6">
            <a:extLst>
              <a:ext uri="{FF2B5EF4-FFF2-40B4-BE49-F238E27FC236}">
                <a16:creationId xmlns:a16="http://schemas.microsoft.com/office/drawing/2014/main" id="{FD940902-E366-166E-AA29-AC852237FA35}"/>
              </a:ext>
            </a:extLst>
          </p:cNvPr>
          <p:cNvSpPr/>
          <p:nvPr/>
        </p:nvSpPr>
        <p:spPr>
          <a:xfrm>
            <a:off x="2953513" y="2880360"/>
            <a:ext cx="1550914" cy="960120"/>
          </a:xfrm>
          <a:prstGeom prst="chevron">
            <a:avLst>
              <a:gd name="adj" fmla="val 30000"/>
            </a:avLst>
          </a:prstGeom>
          <a:solidFill>
            <a:srgbClr val="00285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DTE Energy</a:t>
            </a:r>
          </a:p>
          <a:p>
            <a:pPr algn="ctr"/>
            <a:r>
              <a:rPr sz="800" i="1">
                <a:solidFill>
                  <a:srgbClr val="FFFFFF"/>
                </a:solidFill>
                <a:latin typeface="Arial"/>
              </a:rPr>
              <a:t>Owns Assets</a:t>
            </a:r>
          </a:p>
        </p:txBody>
      </p:sp>
      <p:sp>
        <p:nvSpPr>
          <p:cNvPr id="16" name="Chevron 7">
            <a:extLst>
              <a:ext uri="{FF2B5EF4-FFF2-40B4-BE49-F238E27FC236}">
                <a16:creationId xmlns:a16="http://schemas.microsoft.com/office/drawing/2014/main" id="{356814F6-8896-C25C-6AE4-996AD36F2B8C}"/>
              </a:ext>
            </a:extLst>
          </p:cNvPr>
          <p:cNvSpPr/>
          <p:nvPr/>
        </p:nvSpPr>
        <p:spPr>
          <a:xfrm>
            <a:off x="4071458" y="2880360"/>
            <a:ext cx="1550914" cy="960120"/>
          </a:xfrm>
          <a:prstGeom prst="chevron">
            <a:avLst>
              <a:gd name="adj" fmla="val 30000"/>
            </a:avLst>
          </a:prstGeom>
          <a:solidFill>
            <a:srgbClr val="FF82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sz="1050" b="1">
                <a:solidFill>
                  <a:srgbClr val="FFFFFF"/>
                </a:solidFill>
                <a:latin typeface="Arial"/>
              </a:rPr>
              <a:t>APTIM</a:t>
            </a:r>
          </a:p>
          <a:p>
            <a:pPr algn="ctr"/>
            <a:r>
              <a:rPr sz="800" i="1">
                <a:solidFill>
                  <a:srgbClr val="FFFFFF"/>
                </a:solidFill>
                <a:latin typeface="Arial"/>
              </a:rPr>
              <a:t>Administ</a:t>
            </a:r>
            <a:r>
              <a:rPr lang="en-US" sz="800" i="1">
                <a:solidFill>
                  <a:srgbClr val="FFFFFF"/>
                </a:solidFill>
                <a:latin typeface="Arial"/>
              </a:rPr>
              <a:t>er</a:t>
            </a:r>
            <a:r>
              <a:rPr sz="800" i="1">
                <a:solidFill>
                  <a:srgbClr val="FFFFFF"/>
                </a:solidFill>
                <a:latin typeface="Arial"/>
              </a:rPr>
              <a:t>s</a:t>
            </a:r>
          </a:p>
        </p:txBody>
      </p:sp>
      <p:sp>
        <p:nvSpPr>
          <p:cNvPr id="17" name="Chevron 8">
            <a:extLst>
              <a:ext uri="{FF2B5EF4-FFF2-40B4-BE49-F238E27FC236}">
                <a16:creationId xmlns:a16="http://schemas.microsoft.com/office/drawing/2014/main" id="{C87636EF-B3A6-42E9-70A3-CD66801EA60B}"/>
              </a:ext>
            </a:extLst>
          </p:cNvPr>
          <p:cNvSpPr/>
          <p:nvPr/>
        </p:nvSpPr>
        <p:spPr>
          <a:xfrm>
            <a:off x="5189403" y="2880360"/>
            <a:ext cx="1550914" cy="960120"/>
          </a:xfrm>
          <a:prstGeom prst="chevron">
            <a:avLst>
              <a:gd name="adj" fmla="val 30000"/>
            </a:avLst>
          </a:prstGeom>
          <a:solidFill>
            <a:srgbClr val="3D7CC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wrap="square" lIns="45720" rIns="228600" rtlCol="0" anchor="ctr"/>
          <a:lstStyle/>
          <a:p>
            <a:pPr algn="ctr"/>
            <a:r>
              <a:rPr lang="en-US" sz="1050" b="1">
                <a:solidFill>
                  <a:srgbClr val="FFFFFF"/>
                </a:solidFill>
                <a:latin typeface="Arial"/>
              </a:rPr>
              <a:t>3</a:t>
            </a:r>
            <a:r>
              <a:rPr lang="en-US" sz="1050" b="1" baseline="30000">
                <a:solidFill>
                  <a:srgbClr val="FFFFFF"/>
                </a:solidFill>
                <a:latin typeface="Arial"/>
              </a:rPr>
              <a:t>rd</a:t>
            </a:r>
            <a:r>
              <a:rPr lang="en-US" sz="1050" b="1">
                <a:solidFill>
                  <a:srgbClr val="FFFFFF"/>
                </a:solidFill>
                <a:latin typeface="Arial"/>
              </a:rPr>
              <a:t> Party</a:t>
            </a:r>
          </a:p>
          <a:p>
            <a:pPr algn="ctr"/>
            <a:r>
              <a:rPr sz="1050" b="1">
                <a:solidFill>
                  <a:srgbClr val="FFFFFF"/>
                </a:solidFill>
                <a:latin typeface="Arial"/>
              </a:rPr>
              <a:t>Certified Installers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39</a:t>
            </a:fld>
            <a:endParaRPr lang="en-US"/>
          </a:p>
        </p:txBody>
      </p:sp>
    </p:spTree>
    <p:extLst>
      <p:ext uri="{BB962C8B-B14F-4D97-AF65-F5344CB8AC3E}">
        <p14:creationId xmlns:p14="http://schemas.microsoft.com/office/powerpoint/2010/main" val="1452315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40</a:t>
            </a:fld>
            <a:endParaRPr lang="en-US"/>
          </a:p>
        </p:txBody>
      </p:sp>
    </p:spTree>
    <p:extLst>
      <p:ext uri="{BB962C8B-B14F-4D97-AF65-F5344CB8AC3E}">
        <p14:creationId xmlns:p14="http://schemas.microsoft.com/office/powerpoint/2010/main" val="17543130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41</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42</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43</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7FC4E-5EB1-9B4A-A64B-43E13F4822BB}"/>
              </a:ext>
            </a:extLst>
          </p:cNvPr>
          <p:cNvSpPr>
            <a:spLocks noGrp="1"/>
          </p:cNvSpPr>
          <p:nvPr>
            <p:ph type="title"/>
          </p:nvPr>
        </p:nvSpPr>
        <p:spPr/>
        <p:txBody>
          <a:bodyPr/>
          <a:lstStyle/>
          <a:p>
            <a:r>
              <a:rPr lang="en-US">
                <a:latin typeface="Arial Black"/>
                <a:cs typeface="Arial"/>
              </a:rPr>
              <a:t>Client Use Case: Michigan </a:t>
            </a:r>
            <a:endParaRPr lang="en-US"/>
          </a:p>
        </p:txBody>
      </p:sp>
      <p:sp>
        <p:nvSpPr>
          <p:cNvPr id="3" name="Content Placeholder 2">
            <a:extLst>
              <a:ext uri="{FF2B5EF4-FFF2-40B4-BE49-F238E27FC236}">
                <a16:creationId xmlns:a16="http://schemas.microsoft.com/office/drawing/2014/main" id="{4807D548-9562-720A-B58C-2EAAF354AACD}"/>
              </a:ext>
            </a:extLst>
          </p:cNvPr>
          <p:cNvSpPr>
            <a:spLocks noGrp="1"/>
          </p:cNvSpPr>
          <p:nvPr>
            <p:ph idx="1"/>
          </p:nvPr>
        </p:nvSpPr>
        <p:spPr/>
        <p:txBody>
          <a:bodyPr vert="horz" lIns="0" tIns="0" rIns="0" bIns="0" rtlCol="0" anchor="t">
            <a:noAutofit/>
          </a:bodyPr>
          <a:lstStyle/>
          <a:p>
            <a:pPr marL="233045" indent="-233045"/>
            <a:r>
              <a:rPr lang="en-US">
                <a:latin typeface="Arial"/>
                <a:cs typeface="Arial"/>
              </a:rPr>
              <a:t>Walk through program implementation in Michigan </a:t>
            </a:r>
          </a:p>
          <a:p>
            <a:pPr marL="233045" indent="-233045"/>
            <a:r>
              <a:rPr lang="en-US">
                <a:latin typeface="Arial"/>
                <a:cs typeface="Arial"/>
              </a:rPr>
              <a:t>1-2 slides</a:t>
            </a:r>
          </a:p>
          <a:p>
            <a:pPr marL="233045" indent="-233045"/>
            <a:r>
              <a:rPr lang="en-US">
                <a:latin typeface="Arial"/>
                <a:cs typeface="Arial"/>
              </a:rPr>
              <a:t>Laws/utility workings, how we would pitch/win the bid</a:t>
            </a:r>
          </a:p>
          <a:p>
            <a:pPr marL="233045" indent="-233045"/>
            <a:r>
              <a:rPr lang="en-US">
                <a:latin typeface="Arial"/>
                <a:cs typeface="Arial"/>
              </a:rPr>
              <a:t>Implementation: third party installers, where the </a:t>
            </a:r>
            <a:r>
              <a:rPr lang="en-US" err="1">
                <a:latin typeface="Arial"/>
                <a:cs typeface="Arial"/>
              </a:rPr>
              <a:t>reseources</a:t>
            </a:r>
            <a:r>
              <a:rPr lang="en-US">
                <a:latin typeface="Arial"/>
                <a:cs typeface="Arial"/>
              </a:rPr>
              <a:t> come from/are paid for</a:t>
            </a:r>
          </a:p>
          <a:p>
            <a:pPr marL="233045" indent="-233045"/>
            <a:r>
              <a:rPr lang="en-US">
                <a:latin typeface="Arial"/>
                <a:cs typeface="Arial"/>
              </a:rPr>
              <a:t>Operation and maintenance: who operates, how often are replacements/duration of program</a:t>
            </a:r>
          </a:p>
          <a:p>
            <a:pPr marL="233045" indent="-233045"/>
            <a:r>
              <a:rPr lang="en-US">
                <a:latin typeface="Arial"/>
                <a:cs typeface="Arial"/>
              </a:rPr>
              <a:t>Cost: money, time, resources, manpower (how many </a:t>
            </a:r>
            <a:r>
              <a:rPr lang="en-US" err="1">
                <a:latin typeface="Arial"/>
                <a:cs typeface="Arial"/>
              </a:rPr>
              <a:t>aptim</a:t>
            </a:r>
            <a:r>
              <a:rPr lang="en-US">
                <a:latin typeface="Arial"/>
                <a:cs typeface="Arial"/>
              </a:rPr>
              <a:t> employees need to be hired?) </a:t>
            </a:r>
          </a:p>
          <a:p>
            <a:pPr marL="233045" indent="-233045"/>
            <a:endParaRPr lang="en-US">
              <a:latin typeface="Arial"/>
              <a:cs typeface="Arial"/>
            </a:endParaRPr>
          </a:p>
          <a:p>
            <a:pPr marL="233045" indent="-233045"/>
            <a:r>
              <a:rPr lang="en-US">
                <a:latin typeface="Arial"/>
                <a:cs typeface="Arial"/>
              </a:rPr>
              <a:t>Example of our service concept in "action"</a:t>
            </a:r>
          </a:p>
          <a:p>
            <a:pPr marL="233045" indent="-233045"/>
            <a:r>
              <a:rPr lang="en-US">
                <a:latin typeface="Arial"/>
                <a:cs typeface="Arial"/>
              </a:rPr>
              <a:t>Interview APTIM people in the same sector/scope of work our idea would be useful for</a:t>
            </a:r>
          </a:p>
          <a:p>
            <a:pPr marL="233045" indent="-233045"/>
            <a:r>
              <a:rPr lang="en-US">
                <a:latin typeface="Arial"/>
                <a:cs typeface="Arial"/>
              </a:rPr>
              <a:t>Maybe get an old case study and apply our idea to it, see how much it would have benefited in the moment</a:t>
            </a:r>
          </a:p>
          <a:p>
            <a:pPr marL="233045" indent="-233045"/>
            <a:endParaRPr lang="en-US"/>
          </a:p>
          <a:p>
            <a:pPr marL="233045" indent="-233045"/>
            <a:r>
              <a:rPr lang="en-US">
                <a:latin typeface="Arial"/>
                <a:cs typeface="Arial"/>
              </a:rPr>
              <a:t>Put example maybe of </a:t>
            </a:r>
            <a:r>
              <a:rPr lang="en-US" err="1">
                <a:latin typeface="Arial"/>
                <a:cs typeface="Arial"/>
              </a:rPr>
              <a:t>california</a:t>
            </a:r>
            <a:r>
              <a:rPr lang="en-US">
                <a:latin typeface="Arial"/>
                <a:cs typeface="Arial"/>
              </a:rPr>
              <a:t> </a:t>
            </a:r>
            <a:endParaRPr lang="en-US"/>
          </a:p>
        </p:txBody>
      </p:sp>
      <p:sp>
        <p:nvSpPr>
          <p:cNvPr id="4" name="Footer Placeholder 3">
            <a:extLst>
              <a:ext uri="{FF2B5EF4-FFF2-40B4-BE49-F238E27FC236}">
                <a16:creationId xmlns:a16="http://schemas.microsoft.com/office/drawing/2014/main" id="{BFB8D1B4-B6F4-79EF-AC5D-0C98DAB17697}"/>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4D3582-8F73-C210-7E9B-C0C156A34FCB}"/>
              </a:ext>
            </a:extLst>
          </p:cNvPr>
          <p:cNvSpPr>
            <a:spLocks noGrp="1"/>
          </p:cNvSpPr>
          <p:nvPr>
            <p:ph type="sldNum" sz="quarter" idx="12"/>
          </p:nvPr>
        </p:nvSpPr>
        <p:spPr/>
        <p:txBody>
          <a:bodyPr/>
          <a:lstStyle/>
          <a:p>
            <a:fld id="{F8F6B9CD-BE6B-498B-93B3-0FAD7ADE75E3}" type="slidenum">
              <a:rPr lang="en-US" smtClean="0"/>
              <a:t>44</a:t>
            </a:fld>
            <a:endParaRPr lang="en-US"/>
          </a:p>
        </p:txBody>
      </p:sp>
    </p:spTree>
    <p:extLst>
      <p:ext uri="{BB962C8B-B14F-4D97-AF65-F5344CB8AC3E}">
        <p14:creationId xmlns:p14="http://schemas.microsoft.com/office/powerpoint/2010/main" val="12628144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4466B-3D64-B88E-EDCF-A21EE2B7CFB7}"/>
              </a:ext>
            </a:extLst>
          </p:cNvPr>
          <p:cNvSpPr>
            <a:spLocks noGrp="1"/>
          </p:cNvSpPr>
          <p:nvPr>
            <p:ph type="title"/>
          </p:nvPr>
        </p:nvSpPr>
        <p:spPr/>
        <p:txBody>
          <a:bodyPr/>
          <a:lstStyle/>
          <a:p>
            <a:r>
              <a:rPr lang="en-US"/>
              <a:t>Client Use – Why Michigan</a:t>
            </a:r>
          </a:p>
        </p:txBody>
      </p:sp>
      <p:sp>
        <p:nvSpPr>
          <p:cNvPr id="3" name="Content Placeholder 2">
            <a:extLst>
              <a:ext uri="{FF2B5EF4-FFF2-40B4-BE49-F238E27FC236}">
                <a16:creationId xmlns:a16="http://schemas.microsoft.com/office/drawing/2014/main" id="{483014B8-B971-64FE-F714-32050272825B}"/>
              </a:ext>
            </a:extLst>
          </p:cNvPr>
          <p:cNvSpPr>
            <a:spLocks noGrp="1"/>
          </p:cNvSpPr>
          <p:nvPr>
            <p:ph idx="1"/>
          </p:nvPr>
        </p:nvSpPr>
        <p:spPr/>
        <p:txBody>
          <a:bodyPr/>
          <a:lstStyle/>
          <a:p>
            <a:pPr fontAlgn="t">
              <a:lnSpc>
                <a:spcPts val="1500"/>
              </a:lnSpc>
              <a:buNone/>
            </a:pPr>
            <a:r>
              <a:rPr lang="en-US" sz="1050" b="1">
                <a:latin typeface="Segoe UI" panose="020B0502040204020203" pitchFamily="34" charset="0"/>
              </a:rPr>
              <a:t>Slide 15</a:t>
            </a:r>
          </a:p>
          <a:p>
            <a:pPr fontAlgn="t">
              <a:lnSpc>
                <a:spcPts val="1500"/>
              </a:lnSpc>
              <a:buNone/>
            </a:pPr>
            <a:r>
              <a:rPr lang="en-US" sz="1050">
                <a:latin typeface="Segoe UI" panose="020B0502040204020203" pitchFamily="34" charset="0"/>
              </a:rPr>
              <a:t>Operational Story</a:t>
            </a:r>
          </a:p>
          <a:p>
            <a:pPr fontAlgn="t">
              <a:lnSpc>
                <a:spcPts val="1500"/>
              </a:lnSpc>
              <a:buNone/>
            </a:pPr>
            <a:r>
              <a:rPr lang="en-US" sz="1050">
                <a:latin typeface="Segoe UI" panose="020B0502040204020203" pitchFamily="34" charset="0"/>
              </a:rPr>
              <a:t>Answer:</a:t>
            </a:r>
          </a:p>
          <a:p>
            <a:pPr fontAlgn="t">
              <a:lnSpc>
                <a:spcPts val="1500"/>
              </a:lnSpc>
              <a:buFont typeface="Arial" panose="020B0604020202020204" pitchFamily="34" charset="0"/>
              <a:buChar char="•"/>
            </a:pPr>
            <a:r>
              <a:rPr lang="en-US" sz="1050">
                <a:latin typeface="Segoe UI" panose="020B0502040204020203" pitchFamily="34" charset="0"/>
              </a:rPr>
              <a:t>Why Michigan?</a:t>
            </a:r>
          </a:p>
          <a:p>
            <a:pPr fontAlgn="t">
              <a:lnSpc>
                <a:spcPts val="1500"/>
              </a:lnSpc>
              <a:buFont typeface="Arial" panose="020B0604020202020204" pitchFamily="34" charset="0"/>
              <a:buChar char="•"/>
            </a:pPr>
            <a:r>
              <a:rPr lang="en-US" sz="1050">
                <a:latin typeface="Segoe UI" panose="020B0502040204020203" pitchFamily="34" charset="0"/>
              </a:rPr>
              <a:t>Why DTE?</a:t>
            </a:r>
          </a:p>
          <a:p>
            <a:pPr fontAlgn="t">
              <a:lnSpc>
                <a:spcPts val="1500"/>
              </a:lnSpc>
              <a:buFont typeface="Arial" panose="020B0604020202020204" pitchFamily="34" charset="0"/>
              <a:buChar char="•"/>
            </a:pPr>
            <a:r>
              <a:rPr lang="en-US" sz="1050">
                <a:latin typeface="Segoe UI" panose="020B0502040204020203" pitchFamily="34" charset="0"/>
              </a:rPr>
              <a:t>Why Ann Arbor?</a:t>
            </a:r>
          </a:p>
          <a:p>
            <a:pPr fontAlgn="t">
              <a:lnSpc>
                <a:spcPts val="1500"/>
              </a:lnSpc>
              <a:buFont typeface="Arial" panose="020B0604020202020204" pitchFamily="34" charset="0"/>
              <a:buChar char="•"/>
            </a:pPr>
            <a:r>
              <a:rPr lang="en-US" sz="1050">
                <a:latin typeface="Segoe UI" panose="020B0502040204020203" pitchFamily="34" charset="0"/>
              </a:rPr>
              <a:t>Who owns the assets?</a:t>
            </a:r>
          </a:p>
          <a:p>
            <a:pPr fontAlgn="t">
              <a:lnSpc>
                <a:spcPts val="1500"/>
              </a:lnSpc>
              <a:buFont typeface="Arial" panose="020B0604020202020204" pitchFamily="34" charset="0"/>
              <a:buChar char="•"/>
            </a:pPr>
            <a:r>
              <a:rPr lang="en-US" sz="1050">
                <a:latin typeface="Segoe UI" panose="020B0502040204020203" pitchFamily="34" charset="0"/>
              </a:rPr>
              <a:t>How many homes?</a:t>
            </a:r>
          </a:p>
          <a:p>
            <a:pPr fontAlgn="t">
              <a:lnSpc>
                <a:spcPts val="1500"/>
              </a:lnSpc>
              <a:buFont typeface="Arial" panose="020B0604020202020204" pitchFamily="34" charset="0"/>
              <a:buChar char="•"/>
            </a:pPr>
            <a:r>
              <a:rPr lang="en-US" sz="1050">
                <a:latin typeface="Segoe UI" panose="020B0502040204020203" pitchFamily="34" charset="0"/>
              </a:rPr>
              <a:t>How does implementation work?</a:t>
            </a:r>
          </a:p>
          <a:p>
            <a:endParaRPr lang="en-US"/>
          </a:p>
        </p:txBody>
      </p:sp>
      <p:sp>
        <p:nvSpPr>
          <p:cNvPr id="4" name="Footer Placeholder 3">
            <a:extLst>
              <a:ext uri="{FF2B5EF4-FFF2-40B4-BE49-F238E27FC236}">
                <a16:creationId xmlns:a16="http://schemas.microsoft.com/office/drawing/2014/main" id="{BF5A6703-102F-DF1B-0850-4CA271F469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1BE9309-F5A6-B247-CA67-F31E493E8F9B}"/>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21037680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37904D-EFA7-31D6-0D96-B35D4AAF8C8A}"/>
              </a:ext>
            </a:extLst>
          </p:cNvPr>
          <p:cNvSpPr>
            <a:spLocks noGrp="1"/>
          </p:cNvSpPr>
          <p:nvPr>
            <p:ph type="title"/>
          </p:nvPr>
        </p:nvSpPr>
        <p:spPr/>
        <p:txBody>
          <a:bodyPr/>
          <a:lstStyle/>
          <a:p>
            <a:r>
              <a:rPr lang="en-US"/>
              <a:t>Client Use – The Nitty Gritty </a:t>
            </a:r>
          </a:p>
        </p:txBody>
      </p:sp>
      <p:sp>
        <p:nvSpPr>
          <p:cNvPr id="3" name="Content Placeholder 2">
            <a:extLst>
              <a:ext uri="{FF2B5EF4-FFF2-40B4-BE49-F238E27FC236}">
                <a16:creationId xmlns:a16="http://schemas.microsoft.com/office/drawing/2014/main" id="{A3AA03B0-14CF-4C94-0EDE-43712E5356A5}"/>
              </a:ext>
            </a:extLst>
          </p:cNvPr>
          <p:cNvSpPr>
            <a:spLocks noGrp="1"/>
          </p:cNvSpPr>
          <p:nvPr>
            <p:ph idx="1"/>
          </p:nvPr>
        </p:nvSpPr>
        <p:spPr/>
        <p:txBody>
          <a:bodyPr/>
          <a:lstStyle/>
          <a:p>
            <a:pPr fontAlgn="t">
              <a:lnSpc>
                <a:spcPts val="1500"/>
              </a:lnSpc>
              <a:buFont typeface="Arial" panose="020B0604020202020204" pitchFamily="34" charset="0"/>
              <a:buChar char="•"/>
            </a:pPr>
            <a:r>
              <a:rPr lang="en-US" sz="1050">
                <a:latin typeface="Segoe UI" panose="020B0502040204020203" pitchFamily="34" charset="0"/>
              </a:rPr>
              <a:t>Capital cost</a:t>
            </a:r>
          </a:p>
          <a:p>
            <a:pPr fontAlgn="t">
              <a:lnSpc>
                <a:spcPts val="1500"/>
              </a:lnSpc>
              <a:buFont typeface="Arial" panose="020B0604020202020204" pitchFamily="34" charset="0"/>
              <a:buChar char="•"/>
            </a:pPr>
            <a:r>
              <a:rPr lang="en-US" sz="1050">
                <a:latin typeface="Segoe UI" panose="020B0502040204020203" pitchFamily="34" charset="0"/>
              </a:rPr>
              <a:t>Administrative cost</a:t>
            </a:r>
          </a:p>
          <a:p>
            <a:pPr fontAlgn="t">
              <a:lnSpc>
                <a:spcPts val="1500"/>
              </a:lnSpc>
              <a:buFont typeface="Arial" panose="020B0604020202020204" pitchFamily="34" charset="0"/>
              <a:buChar char="•"/>
            </a:pPr>
            <a:r>
              <a:rPr lang="en-US" sz="1050">
                <a:latin typeface="Segoe UI" panose="020B0502040204020203" pitchFamily="34" charset="0"/>
              </a:rPr>
              <a:t>APTIM revenue</a:t>
            </a:r>
          </a:p>
          <a:p>
            <a:pPr fontAlgn="t">
              <a:lnSpc>
                <a:spcPts val="1500"/>
              </a:lnSpc>
              <a:buFont typeface="Arial" panose="020B0604020202020204" pitchFamily="34" charset="0"/>
              <a:buChar char="•"/>
            </a:pPr>
            <a:r>
              <a:rPr lang="en-US" sz="1050">
                <a:latin typeface="Segoe UI" panose="020B0502040204020203" pitchFamily="34" charset="0"/>
              </a:rPr>
              <a:t>Utility benefits</a:t>
            </a:r>
          </a:p>
          <a:p>
            <a:pPr fontAlgn="t">
              <a:lnSpc>
                <a:spcPts val="1500"/>
              </a:lnSpc>
              <a:buFont typeface="Arial" panose="020B0604020202020204" pitchFamily="34" charset="0"/>
              <a:buChar char="•"/>
            </a:pPr>
            <a:r>
              <a:rPr lang="en-US" sz="1050">
                <a:latin typeface="Segoe UI" panose="020B0502040204020203" pitchFamily="34" charset="0"/>
              </a:rPr>
              <a:t>ROI</a:t>
            </a:r>
          </a:p>
          <a:p>
            <a:pPr fontAlgn="t">
              <a:lnSpc>
                <a:spcPts val="1500"/>
              </a:lnSpc>
              <a:buFont typeface="Arial" panose="020B0604020202020204" pitchFamily="34" charset="0"/>
              <a:buChar char="•"/>
            </a:pPr>
            <a:r>
              <a:rPr lang="en-US" sz="1050">
                <a:latin typeface="Segoe UI" panose="020B0502040204020203" pitchFamily="34" charset="0"/>
              </a:rPr>
              <a:t>Success metrics</a:t>
            </a:r>
          </a:p>
          <a:p>
            <a:pPr fontAlgn="t">
              <a:lnSpc>
                <a:spcPts val="1500"/>
              </a:lnSpc>
              <a:buNone/>
            </a:pPr>
            <a:r>
              <a:rPr lang="en-US" sz="1050">
                <a:latin typeface="Segoe UI" panose="020B0502040204020203" pitchFamily="34" charset="0"/>
              </a:rPr>
              <a:t>Honestly, the financial slide is likely where leadership will spend most of their questions.</a:t>
            </a:r>
          </a:p>
          <a:p>
            <a:endParaRPr lang="en-US"/>
          </a:p>
        </p:txBody>
      </p:sp>
      <p:sp>
        <p:nvSpPr>
          <p:cNvPr id="4" name="Footer Placeholder 3">
            <a:extLst>
              <a:ext uri="{FF2B5EF4-FFF2-40B4-BE49-F238E27FC236}">
                <a16:creationId xmlns:a16="http://schemas.microsoft.com/office/drawing/2014/main" id="{177FD5CE-65FE-3B63-D05D-23F5E31D5C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B53356C-F443-724D-AF57-2DEA1AA60D26}"/>
              </a:ext>
            </a:extLst>
          </p:cNvPr>
          <p:cNvSpPr>
            <a:spLocks noGrp="1"/>
          </p:cNvSpPr>
          <p:nvPr>
            <p:ph type="sldNum" sz="quarter" idx="12"/>
          </p:nvPr>
        </p:nvSpPr>
        <p:spPr/>
        <p:txBody>
          <a:bodyPr/>
          <a:lstStyle/>
          <a:p>
            <a:fld id="{F8F6B9CD-BE6B-498B-93B3-0FAD7ADE75E3}" type="slidenum">
              <a:rPr lang="en-US" smtClean="0"/>
              <a:t>46</a:t>
            </a:fld>
            <a:endParaRPr lang="en-US"/>
          </a:p>
        </p:txBody>
      </p:sp>
    </p:spTree>
    <p:extLst>
      <p:ext uri="{BB962C8B-B14F-4D97-AF65-F5344CB8AC3E}">
        <p14:creationId xmlns:p14="http://schemas.microsoft.com/office/powerpoint/2010/main" val="206547014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47</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48</a:t>
            </a:fld>
            <a:endParaRPr lang="en-US"/>
          </a:p>
        </p:txBody>
      </p:sp>
    </p:spTree>
    <p:extLst>
      <p:ext uri="{BB962C8B-B14F-4D97-AF65-F5344CB8AC3E}">
        <p14:creationId xmlns:p14="http://schemas.microsoft.com/office/powerpoint/2010/main" val="27049970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49</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FBA4D2-53D6-12CE-7F01-0CC557CDDB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DB70B5-27B1-117A-C2D8-00EE0E2A0A49}"/>
              </a:ext>
            </a:extLst>
          </p:cNvPr>
          <p:cNvSpPr>
            <a:spLocks noGrp="1"/>
          </p:cNvSpPr>
          <p:nvPr>
            <p:ph type="title"/>
          </p:nvPr>
        </p:nvSpPr>
        <p:spPr/>
        <p:txBody>
          <a:bodyPr/>
          <a:lstStyle/>
          <a:p>
            <a:r>
              <a:rPr lang="en-US">
                <a:latin typeface="Arial Black"/>
                <a:cs typeface="Arial"/>
              </a:rPr>
              <a:t>Strategic Fit (edit with notes)</a:t>
            </a:r>
            <a:endParaRPr lang="en-US"/>
          </a:p>
        </p:txBody>
      </p:sp>
      <p:sp>
        <p:nvSpPr>
          <p:cNvPr id="4" name="Footer Placeholder 3">
            <a:extLst>
              <a:ext uri="{FF2B5EF4-FFF2-40B4-BE49-F238E27FC236}">
                <a16:creationId xmlns:a16="http://schemas.microsoft.com/office/drawing/2014/main" id="{F4E1F611-FB9D-3CDE-15DE-AB6704619A06}"/>
              </a:ext>
            </a:extLst>
          </p:cNvPr>
          <p:cNvSpPr>
            <a:spLocks noGrp="1"/>
          </p:cNvSpPr>
          <p:nvPr>
            <p:ph type="ftr" sz="quarter" idx="11"/>
          </p:nvPr>
        </p:nvSpPr>
        <p:spPr>
          <a:xfrm>
            <a:off x="2430435" y="6439532"/>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76C58C1C-4FA4-7947-8185-42F5B60EF8E3}"/>
              </a:ext>
            </a:extLst>
          </p:cNvPr>
          <p:cNvSpPr>
            <a:spLocks noGrp="1"/>
          </p:cNvSpPr>
          <p:nvPr>
            <p:ph type="sldNum" sz="quarter" idx="12"/>
          </p:nvPr>
        </p:nvSpPr>
        <p:spPr>
          <a:xfrm>
            <a:off x="11286341" y="6542211"/>
            <a:ext cx="285135" cy="251845"/>
          </a:xfrm>
        </p:spPr>
        <p:txBody>
          <a:bodyPr/>
          <a:lstStyle/>
          <a:p>
            <a:fld id="{F8F6B9CD-BE6B-498B-93B3-0FAD7ADE75E3}" type="slidenum">
              <a:rPr lang="en-US" smtClean="0"/>
              <a:t>50</a:t>
            </a:fld>
            <a:endParaRPr lang="en-US"/>
          </a:p>
        </p:txBody>
      </p:sp>
      <p:graphicFrame>
        <p:nvGraphicFramePr>
          <p:cNvPr id="3" name="Diagram 2">
            <a:extLst>
              <a:ext uri="{FF2B5EF4-FFF2-40B4-BE49-F238E27FC236}">
                <a16:creationId xmlns:a16="http://schemas.microsoft.com/office/drawing/2014/main" id="{9F5F34CF-28FE-B21A-EAF3-23128AC71FEE}"/>
              </a:ext>
            </a:extLst>
          </p:cNvPr>
          <p:cNvGraphicFramePr/>
          <p:nvPr/>
        </p:nvGraphicFramePr>
        <p:xfrm>
          <a:off x="1507300" y="1105714"/>
          <a:ext cx="8953754" cy="526967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9" name="Graphic 8" descr="Person with idea with solid fill">
            <a:extLst>
              <a:ext uri="{FF2B5EF4-FFF2-40B4-BE49-F238E27FC236}">
                <a16:creationId xmlns:a16="http://schemas.microsoft.com/office/drawing/2014/main" id="{C855B078-C25E-C170-7669-00EF4A6E64E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2038" y="1950539"/>
            <a:ext cx="804735" cy="804735"/>
          </a:xfrm>
          <a:prstGeom prst="rect">
            <a:avLst/>
          </a:prstGeom>
        </p:spPr>
      </p:pic>
      <p:pic>
        <p:nvPicPr>
          <p:cNvPr id="11" name="Graphic 10" descr="Bar graph with upward trend with solid fill">
            <a:extLst>
              <a:ext uri="{FF2B5EF4-FFF2-40B4-BE49-F238E27FC236}">
                <a16:creationId xmlns:a16="http://schemas.microsoft.com/office/drawing/2014/main" id="{D576A904-4A32-8EC2-3A8B-6747B46FBF6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2038" y="4722688"/>
            <a:ext cx="804735" cy="804735"/>
          </a:xfrm>
          <a:prstGeom prst="rect">
            <a:avLst/>
          </a:prstGeom>
        </p:spPr>
      </p:pic>
      <p:pic>
        <p:nvPicPr>
          <p:cNvPr id="13" name="Graphic 12" descr="Hammer1 with solid fill">
            <a:extLst>
              <a:ext uri="{FF2B5EF4-FFF2-40B4-BE49-F238E27FC236}">
                <a16:creationId xmlns:a16="http://schemas.microsoft.com/office/drawing/2014/main" id="{03820E17-1316-1CBD-6FD9-E4D651087D9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788587" y="4722688"/>
            <a:ext cx="804736" cy="804736"/>
          </a:xfrm>
          <a:prstGeom prst="rect">
            <a:avLst/>
          </a:prstGeom>
        </p:spPr>
      </p:pic>
      <p:pic>
        <p:nvPicPr>
          <p:cNvPr id="19" name="Graphic 18" descr="Bullseye with solid fill">
            <a:extLst>
              <a:ext uri="{FF2B5EF4-FFF2-40B4-BE49-F238E27FC236}">
                <a16:creationId xmlns:a16="http://schemas.microsoft.com/office/drawing/2014/main" id="{FC17959F-1843-A7A2-6611-FACDCA64E0E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788587" y="2011928"/>
            <a:ext cx="804735" cy="804735"/>
          </a:xfrm>
          <a:prstGeom prst="rect">
            <a:avLst/>
          </a:prstGeom>
        </p:spPr>
      </p:pic>
      <p:pic>
        <p:nvPicPr>
          <p:cNvPr id="21" name="Graphic 20" descr="Empty battery with solid fill">
            <a:extLst>
              <a:ext uri="{FF2B5EF4-FFF2-40B4-BE49-F238E27FC236}">
                <a16:creationId xmlns:a16="http://schemas.microsoft.com/office/drawing/2014/main" id="{5130CA7F-6787-80EF-BA41-AEA358EEBC4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378259" y="3033732"/>
            <a:ext cx="1413637" cy="1413637"/>
          </a:xfrm>
          <a:prstGeom prst="rect">
            <a:avLst/>
          </a:prstGeom>
        </p:spPr>
      </p:pic>
      <p:sp>
        <p:nvSpPr>
          <p:cNvPr id="22" name="Rectangle 21">
            <a:extLst>
              <a:ext uri="{FF2B5EF4-FFF2-40B4-BE49-F238E27FC236}">
                <a16:creationId xmlns:a16="http://schemas.microsoft.com/office/drawing/2014/main" id="{8745CABD-BFF6-4A0E-CF32-5C07F0C96FC3}"/>
              </a:ext>
            </a:extLst>
          </p:cNvPr>
          <p:cNvSpPr/>
          <p:nvPr/>
        </p:nvSpPr>
        <p:spPr>
          <a:xfrm>
            <a:off x="5585206" y="3501581"/>
            <a:ext cx="192024" cy="436047"/>
          </a:xfrm>
          <a:prstGeom prst="rect">
            <a:avLst/>
          </a:prstGeom>
          <a:solidFill>
            <a:schemeClr val="accent1">
              <a:lumMod val="10000"/>
              <a:lumOff val="90000"/>
            </a:schemeClr>
          </a:solidFill>
          <a:ln>
            <a:solidFill>
              <a:schemeClr val="accent1">
                <a:lumMod val="10000"/>
                <a:lumOff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255BAD8-3E78-0FFB-8321-C3AE705749F0}"/>
              </a:ext>
            </a:extLst>
          </p:cNvPr>
          <p:cNvSpPr/>
          <p:nvPr/>
        </p:nvSpPr>
        <p:spPr>
          <a:xfrm>
            <a:off x="555751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8320BA1-D5B0-C0CB-632E-10017F4145FB}"/>
              </a:ext>
            </a:extLst>
          </p:cNvPr>
          <p:cNvSpPr/>
          <p:nvPr/>
        </p:nvSpPr>
        <p:spPr>
          <a:xfrm>
            <a:off x="5792153"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Rounded Corners 26">
            <a:extLst>
              <a:ext uri="{FF2B5EF4-FFF2-40B4-BE49-F238E27FC236}">
                <a16:creationId xmlns:a16="http://schemas.microsoft.com/office/drawing/2014/main" id="{901A12DB-F95E-CAFB-DF5D-F0375698A7E1}"/>
              </a:ext>
            </a:extLst>
          </p:cNvPr>
          <p:cNvSpPr/>
          <p:nvPr/>
        </p:nvSpPr>
        <p:spPr>
          <a:xfrm>
            <a:off x="6037579"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5A9D464B-17D1-87DE-1598-6FC1E41119C4}"/>
              </a:ext>
            </a:extLst>
          </p:cNvPr>
          <p:cNvSpPr/>
          <p:nvPr/>
        </p:nvSpPr>
        <p:spPr>
          <a:xfrm>
            <a:off x="6276728" y="3526942"/>
            <a:ext cx="192024" cy="436047"/>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Graphic 44" descr="Empty battery with solid fill">
            <a:extLst>
              <a:ext uri="{FF2B5EF4-FFF2-40B4-BE49-F238E27FC236}">
                <a16:creationId xmlns:a16="http://schemas.microsoft.com/office/drawing/2014/main" id="{D29A5BD0-1B6A-69B0-DD18-AE4B46FB48A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78259" y="3033732"/>
            <a:ext cx="1413637" cy="1413637"/>
          </a:xfrm>
          <a:prstGeom prst="rect">
            <a:avLst/>
          </a:prstGeom>
        </p:spPr>
      </p:pic>
      <p:sp>
        <p:nvSpPr>
          <p:cNvPr id="46" name="Rectangle: Rounded Corners 45">
            <a:extLst>
              <a:ext uri="{FF2B5EF4-FFF2-40B4-BE49-F238E27FC236}">
                <a16:creationId xmlns:a16="http://schemas.microsoft.com/office/drawing/2014/main" id="{4275315E-D897-42A0-38DE-F080D43A185D}"/>
              </a:ext>
            </a:extLst>
          </p:cNvPr>
          <p:cNvSpPr/>
          <p:nvPr/>
        </p:nvSpPr>
        <p:spPr>
          <a:xfrm>
            <a:off x="555751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Rounded Corners 46">
            <a:extLst>
              <a:ext uri="{FF2B5EF4-FFF2-40B4-BE49-F238E27FC236}">
                <a16:creationId xmlns:a16="http://schemas.microsoft.com/office/drawing/2014/main" id="{65442A76-1E1A-709F-AD61-940C99D702EC}"/>
              </a:ext>
            </a:extLst>
          </p:cNvPr>
          <p:cNvSpPr/>
          <p:nvPr/>
        </p:nvSpPr>
        <p:spPr>
          <a:xfrm>
            <a:off x="5792153"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Rounded Corners 47">
            <a:extLst>
              <a:ext uri="{FF2B5EF4-FFF2-40B4-BE49-F238E27FC236}">
                <a16:creationId xmlns:a16="http://schemas.microsoft.com/office/drawing/2014/main" id="{D3B57EF1-187B-11DC-3B3E-9D665E12F02A}"/>
              </a:ext>
            </a:extLst>
          </p:cNvPr>
          <p:cNvSpPr/>
          <p:nvPr/>
        </p:nvSpPr>
        <p:spPr>
          <a:xfrm>
            <a:off x="6037579"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Rounded Corners 48">
            <a:extLst>
              <a:ext uri="{FF2B5EF4-FFF2-40B4-BE49-F238E27FC236}">
                <a16:creationId xmlns:a16="http://schemas.microsoft.com/office/drawing/2014/main" id="{A7BBEC6D-30F4-EA7E-7D03-04DC242C521E}"/>
              </a:ext>
            </a:extLst>
          </p:cNvPr>
          <p:cNvSpPr/>
          <p:nvPr/>
        </p:nvSpPr>
        <p:spPr>
          <a:xfrm>
            <a:off x="6276728" y="3526942"/>
            <a:ext cx="192024" cy="436047"/>
          </a:xfrm>
          <a:prstGeom prst="roundRect">
            <a:avLst/>
          </a:prstGeom>
          <a:solidFill>
            <a:srgbClr val="92D050"/>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Graphic 49" descr="Person with idea with solid fill">
            <a:extLst>
              <a:ext uri="{FF2B5EF4-FFF2-40B4-BE49-F238E27FC236}">
                <a16:creationId xmlns:a16="http://schemas.microsoft.com/office/drawing/2014/main" id="{901F8F3D-2929-24E1-3614-75E02ED423D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62037" y="1950538"/>
            <a:ext cx="804735" cy="804735"/>
          </a:xfrm>
          <a:prstGeom prst="rect">
            <a:avLst/>
          </a:prstGeom>
        </p:spPr>
      </p:pic>
      <p:pic>
        <p:nvPicPr>
          <p:cNvPr id="51" name="Graphic 50" descr="Bar graph with upward trend with solid fill">
            <a:extLst>
              <a:ext uri="{FF2B5EF4-FFF2-40B4-BE49-F238E27FC236}">
                <a16:creationId xmlns:a16="http://schemas.microsoft.com/office/drawing/2014/main" id="{0E07FAA5-604A-0038-B05C-C983639322EA}"/>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2037" y="4722687"/>
            <a:ext cx="804735" cy="804735"/>
          </a:xfrm>
          <a:prstGeom prst="rect">
            <a:avLst/>
          </a:prstGeom>
        </p:spPr>
      </p:pic>
      <p:pic>
        <p:nvPicPr>
          <p:cNvPr id="52" name="Graphic 51" descr="Hammer1 with solid fill">
            <a:extLst>
              <a:ext uri="{FF2B5EF4-FFF2-40B4-BE49-F238E27FC236}">
                <a16:creationId xmlns:a16="http://schemas.microsoft.com/office/drawing/2014/main" id="{94EE82BA-8AF3-99E6-4D0D-0062CD7D4F4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0784471" y="4722687"/>
            <a:ext cx="804736" cy="804736"/>
          </a:xfrm>
          <a:prstGeom prst="rect">
            <a:avLst/>
          </a:prstGeom>
        </p:spPr>
      </p:pic>
      <p:pic>
        <p:nvPicPr>
          <p:cNvPr id="53" name="Graphic 52" descr="Bullseye with solid fill">
            <a:extLst>
              <a:ext uri="{FF2B5EF4-FFF2-40B4-BE49-F238E27FC236}">
                <a16:creationId xmlns:a16="http://schemas.microsoft.com/office/drawing/2014/main" id="{45ADD649-6C55-31E4-58A3-33DFDA6C8425}"/>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88587" y="2011927"/>
            <a:ext cx="804735" cy="804735"/>
          </a:xfrm>
          <a:prstGeom prst="rect">
            <a:avLst/>
          </a:prstGeom>
        </p:spPr>
      </p:pic>
    </p:spTree>
    <p:extLst>
      <p:ext uri="{BB962C8B-B14F-4D97-AF65-F5344CB8AC3E}">
        <p14:creationId xmlns:p14="http://schemas.microsoft.com/office/powerpoint/2010/main" val="381994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51</a:t>
            </a:fld>
            <a:endParaRPr lang="en-US"/>
          </a:p>
        </p:txBody>
      </p:sp>
    </p:spTree>
    <p:extLst>
      <p:ext uri="{BB962C8B-B14F-4D97-AF65-F5344CB8AC3E}">
        <p14:creationId xmlns:p14="http://schemas.microsoft.com/office/powerpoint/2010/main" val="23005613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52</a:t>
            </a:fld>
            <a:endParaRPr lang="en-US"/>
          </a:p>
        </p:txBody>
      </p:sp>
    </p:spTree>
    <p:extLst>
      <p:ext uri="{BB962C8B-B14F-4D97-AF65-F5344CB8AC3E}">
        <p14:creationId xmlns:p14="http://schemas.microsoft.com/office/powerpoint/2010/main" val="28936045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53</a:t>
            </a:fld>
            <a:endParaRPr lang="en-US"/>
          </a:p>
        </p:txBody>
      </p:sp>
    </p:spTree>
    <p:extLst>
      <p:ext uri="{BB962C8B-B14F-4D97-AF65-F5344CB8AC3E}">
        <p14:creationId xmlns:p14="http://schemas.microsoft.com/office/powerpoint/2010/main" val="20555952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54</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55</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56</a:t>
            </a:fld>
            <a:endParaRPr lang="en-US"/>
          </a:p>
        </p:txBody>
      </p:sp>
    </p:spTree>
    <p:extLst>
      <p:ext uri="{BB962C8B-B14F-4D97-AF65-F5344CB8AC3E}">
        <p14:creationId xmlns:p14="http://schemas.microsoft.com/office/powerpoint/2010/main" val="18627052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57</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58</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59</a:t>
            </a:fld>
            <a:endParaRPr lang="en-US"/>
          </a:p>
        </p:txBody>
      </p:sp>
    </p:spTree>
    <p:extLst>
      <p:ext uri="{BB962C8B-B14F-4D97-AF65-F5344CB8AC3E}">
        <p14:creationId xmlns:p14="http://schemas.microsoft.com/office/powerpoint/2010/main" val="315597480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60</a:t>
            </a:fld>
            <a:endParaRPr lang="en-US"/>
          </a:p>
        </p:txBody>
      </p:sp>
    </p:spTree>
    <p:extLst>
      <p:ext uri="{BB962C8B-B14F-4D97-AF65-F5344CB8AC3E}">
        <p14:creationId xmlns:p14="http://schemas.microsoft.com/office/powerpoint/2010/main" val="389764630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61</a:t>
            </a:fld>
            <a:endParaRPr lang="en-US"/>
          </a:p>
        </p:txBody>
      </p:sp>
    </p:spTree>
    <p:extLst>
      <p:ext uri="{BB962C8B-B14F-4D97-AF65-F5344CB8AC3E}">
        <p14:creationId xmlns:p14="http://schemas.microsoft.com/office/powerpoint/2010/main" val="17140140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62</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63</a:t>
            </a:fld>
            <a:endParaRPr lang="en-US"/>
          </a:p>
        </p:txBody>
      </p:sp>
    </p:spTree>
    <p:extLst>
      <p:ext uri="{BB962C8B-B14F-4D97-AF65-F5344CB8AC3E}">
        <p14:creationId xmlns:p14="http://schemas.microsoft.com/office/powerpoint/2010/main" val="384858123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64</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65</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66</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haredContentType xmlns="Microsoft.SharePoint.Taxonomy.ContentTypeSync" SourceId="daf5a3b8-19fe-4aaf-8551-0b725c993cda" ContentTypeId="0x0101" PreviousValue="false"/>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A3605C4-03E5-4AAA-A5E9-706881023D5D}">
  <ds:schemaRefs>
    <ds:schemaRef ds:uri="http://schemas.microsoft.com/sharepoint/v3/contenttype/forms"/>
  </ds:schemaRefs>
</ds:datastoreItem>
</file>

<file path=customXml/itemProps2.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66</Slides>
  <Notes>26</Notes>
  <HiddenSlides>20</HiddenSlides>
  <ScaleCrop>false</ScaleCrop>
  <HeadingPairs>
    <vt:vector size="4" baseType="variant">
      <vt:variant>
        <vt:lpstr>Theme</vt:lpstr>
      </vt:variant>
      <vt:variant>
        <vt:i4>2</vt:i4>
      </vt:variant>
      <vt:variant>
        <vt:lpstr>Slide Titles</vt:lpstr>
      </vt:variant>
      <vt:variant>
        <vt:i4>66</vt:i4>
      </vt:variant>
    </vt:vector>
  </HeadingPairs>
  <TitlesOfParts>
    <vt:vector size="68" baseType="lpstr">
      <vt:lpstr>1_APTIM THEME</vt:lpstr>
      <vt:lpstr>2_APTIM THEME TITLES</vt:lpstr>
      <vt:lpstr>Evolving Energy Programs Under Funding Uncertainty</vt:lpstr>
      <vt:lpstr>The Dream Team</vt:lpstr>
      <vt:lpstr>What is the Problem? </vt:lpstr>
      <vt:lpstr>Pain Point</vt:lpstr>
      <vt:lpstr>Key Goals</vt:lpstr>
      <vt:lpstr>PowerPoint Presentation</vt:lpstr>
      <vt:lpstr>PowerPoint Presentation</vt:lpstr>
      <vt:lpstr>National Competitive Landscape</vt:lpstr>
      <vt:lpstr>Market Analysis: Opportunity Assessment</vt:lpstr>
      <vt:lpstr>Market Analysis: State Opportunities and APTIM Role</vt:lpstr>
      <vt:lpstr>Market Analysis: Market Size and APTIM's Goal</vt:lpstr>
      <vt:lpstr>PowerPoint Presentation</vt:lpstr>
      <vt:lpstr>Michigan specific</vt:lpstr>
      <vt:lpstr>How APTIM Wins</vt:lpstr>
      <vt:lpstr>Why Michigan?</vt:lpstr>
      <vt:lpstr>PowerPoint Presentation</vt:lpstr>
      <vt:lpstr>Ann Arbor Deployment Model</vt:lpstr>
      <vt:lpstr>Business Case: Value Proposition  </vt:lpstr>
      <vt:lpstr>Business Case: Financial Summary </vt:lpstr>
      <vt:lpstr>Strategic Fit </vt:lpstr>
      <vt:lpstr> Growth Timeline (Re format)</vt:lpstr>
      <vt:lpstr>Thank you!</vt:lpstr>
      <vt:lpstr>PowerPoint Presentation</vt:lpstr>
      <vt:lpstr>Thank you!</vt:lpstr>
      <vt:lpstr>Business Case: Financial Summary </vt:lpstr>
      <vt:lpstr>PowerPoint Presentation</vt:lpstr>
      <vt:lpstr>Market Analysis (Christian Quick Market slide, delete if needed)</vt:lpstr>
      <vt:lpstr>Appendix</vt:lpstr>
      <vt:lpstr>PowerPoint Presentation</vt:lpstr>
      <vt:lpstr>Competitive Landscape (update with research)</vt:lpstr>
      <vt:lpstr>Competitive Landscape (update with new research) </vt:lpstr>
      <vt:lpstr>Goal of presentation </vt:lpstr>
      <vt:lpstr>Given big blurb</vt:lpstr>
      <vt:lpstr>Given Scope Focus</vt:lpstr>
      <vt:lpstr>Given Output</vt:lpstr>
      <vt:lpstr>Future/Scaling</vt:lpstr>
      <vt:lpstr>Client Use Case: Why Michigan? (update/fix)</vt:lpstr>
      <vt:lpstr>Michigan Pilot Deployment Model (update/fix)</vt:lpstr>
      <vt:lpstr>The Problem </vt:lpstr>
      <vt:lpstr>The Problem </vt:lpstr>
      <vt:lpstr>PowerPoint Presentation</vt:lpstr>
      <vt:lpstr>Project Scope</vt:lpstr>
      <vt:lpstr>Strategic Fit (format needs fix) (merge slides)  </vt:lpstr>
      <vt:lpstr>Client Use Case: Michigan </vt:lpstr>
      <vt:lpstr>Client Use – Why Michigan</vt:lpstr>
      <vt:lpstr>Client Use – The Nitty Gritty </vt:lpstr>
      <vt:lpstr>Strategic Fit (format needs fix) (merge slides)  </vt:lpstr>
      <vt:lpstr>Strategic Fit (fix wording/choose format) </vt:lpstr>
      <vt:lpstr>Project Scope</vt:lpstr>
      <vt:lpstr>Strategic Fit (edit with notes)</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27</cp:revision>
  <dcterms:created xsi:type="dcterms:W3CDTF">2026-06-05T13:41:22Z</dcterms:created>
  <dcterms:modified xsi:type="dcterms:W3CDTF">2026-07-29T20:20:52Z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
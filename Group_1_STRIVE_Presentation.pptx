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0" r:id="rId63"/>
    <p:sldId id="304" r:id="rId14"/>
    <p:sldId id="575" r:id="rId20"/>
    <p:sldId id="299" r:id="rId21"/>
    <p:sldId id="573" r:id="rId22"/>
    <p:sldId id="578" r:id="rId17"/>
    <p:sldId id="570" r:id="rId23"/>
    <p:sldId id="577" r:id="rId26"/>
    <p:sldId id="296" r:id="rId25"/>
    <p:sldId id="300" r:id="rId27"/>
    <p:sldId id="302" r:id="rId28"/>
    <p:sldId id="275" r:id="rId29"/>
    <p:sldId id="292" r:id="rId30"/>
    <p:sldId id="307" r:id="rId31"/>
    <p:sldId id="565" r:id="rId32"/>
    <p:sldId id="566" r:id="rId33"/>
    <p:sldId id="564" r:id="rId34"/>
    <p:sldId id="574" r:id="rId35"/>
    <p:sldId id="572" r:id="rId36"/>
    <p:sldId id="297" r:id="rId37"/>
    <p:sldId id="5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2.xml"/><Relationship Id="rId17" Type="http://schemas.openxmlformats.org/officeDocument/2006/relationships/slide" Target="slides/slide16.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7.xml"/><Relationship Id="rId24" Type="http://schemas.openxmlformats.org/officeDocument/2006/relationships/slide" Target="slides/slide19.xml"/><Relationship Id="rId25" Type="http://schemas.openxmlformats.org/officeDocument/2006/relationships/slide" Target="slides/slide19.xml"/><Relationship Id="rId26" Type="http://schemas.openxmlformats.org/officeDocument/2006/relationships/slide" Target="slides/slide18.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Tie directly to final concept, audience already has scope (maybe delete) </a:t>
            </a:r>
          </a:p>
          <a:p>
            <a:r>
              <a:rPr lang="en-US">
                <a:latin typeface="Calibri"/>
                <a:ea typeface="Calibri"/>
                <a:cs typeface="Calibri"/>
              </a:rP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probably needs to go much earlier in the presentation (after key goals)</a:t>
            </a:r>
          </a:p>
          <a:p/>
          <a:p>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0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0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Key Goals</a:t>
            </a:r>
          </a:p>
        </p:txBody>
      </p:sp>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a:xfrm>
            <a:off x="11297412" y="6469380"/>
            <a:ext cx="285292" cy="251460"/>
          </a:xfrm>
        </p:spPr>
        <p:txBody>
          <a:bodyPr/>
          <a:lstStyle/>
          <a:p>
            <a:fld id="{F8F6B9CD-BE6B-498B-93B3-0FAD7ADE75E3}" type="slidenum">
              <a:rPr lang="en-US" smtClean="0"/>
              <a:t>5</a:t>
            </a:fld>
            <a:endParaRPr lang="en-US"/>
          </a:p>
        </p:txBody>
      </p:sp>
      <p:sp>
        <p:nvSpPr>
          <p:cNvPr id="34" name="TextBox 33"/>
          <p:cNvSpPr txBox="1"/>
          <p:nvPr/>
        </p:nvSpPr>
        <p:spPr>
          <a:xfrm>
            <a:off x="640080" y="1371600"/>
            <a:ext cx="10881360" cy="4754880"/>
          </a:xfrm>
          <a:prstGeom prst="rect">
            <a:avLst/>
          </a:prstGeom>
          <a:noFill/>
        </p:spPr>
        <p:txBody>
          <a:bodyPr wrap="square">
            <a:spAutoFit/>
          </a:bodyPr>
          <a:lstStyle/>
          <a:p>
            <a:pPr>
              <a:spcAft>
                <a:spcPts val="200"/>
              </a:spcAft>
            </a:pPr>
            <a:r>
              <a:rPr b="1" sz="1800">
                <a:solidFill>
                  <a:srgbClr val="002856"/>
                </a:solidFill>
                <a:latin typeface="Arial"/>
              </a:rPr>
              <a:t>✓  Answer funding uncertainty directly</a:t>
            </a:r>
          </a:p>
          <a:p>
            <a:pPr>
              <a:spcAft>
                <a:spcPts val="1400"/>
              </a:spcAft>
            </a:pPr>
            <a:r>
              <a:rPr sz="1300" i="1">
                <a:solidFill>
                  <a:srgbClr val="595959"/>
                </a:solidFill>
                <a:latin typeface="Arial"/>
              </a:rPr>
              <a:t>      Ratepayer-financed, not grant-dependent -- insulated from federal budget swings</a:t>
            </a:r>
          </a:p>
          <a:p>
            <a:pPr>
              <a:spcAft>
                <a:spcPts val="200"/>
              </a:spcAft>
            </a:pPr>
            <a:r>
              <a:rPr b="1" sz="1800">
                <a:solidFill>
                  <a:srgbClr val="002856"/>
                </a:solidFill>
                <a:latin typeface="Arial"/>
              </a:rPr>
              <a:t>✓  Leverage APTIM's existing strengths</a:t>
            </a:r>
          </a:p>
          <a:p>
            <a:pPr>
              <a:spcAft>
                <a:spcPts val="1400"/>
              </a:spcAft>
            </a:pPr>
            <a:r>
              <a:rPr sz="1300" i="1">
                <a:solidFill>
                  <a:srgbClr val="595959"/>
                </a:solidFill>
                <a:latin typeface="Arial"/>
              </a:rPr>
              <a:t>      Program administration, contractor management, compliance reporting -- no new capability required</a:t>
            </a:r>
          </a:p>
          <a:p>
            <a:pPr>
              <a:spcAft>
                <a:spcPts val="200"/>
              </a:spcAft>
            </a:pPr>
            <a:r>
              <a:rPr b="1" sz="1800">
                <a:solidFill>
                  <a:srgbClr val="002856"/>
                </a:solidFill>
                <a:latin typeface="Arial"/>
              </a:rPr>
              <a:t>✓  Build a scalable, multi-state model</a:t>
            </a:r>
          </a:p>
          <a:p>
            <a:pPr>
              <a:spcAft>
                <a:spcPts val="1400"/>
              </a:spcAft>
            </a:pPr>
            <a:r>
              <a:rPr sz="1300" i="1">
                <a:solidFill>
                  <a:srgbClr val="595959"/>
                </a:solidFill>
                <a:latin typeface="Arial"/>
              </a:rPr>
              <a:t>      Michigan pilot proves the concept; Wisconsin, Louisiana, and others follow</a:t>
            </a:r>
          </a:p>
          <a:p>
            <a:pPr>
              <a:spcAft>
                <a:spcPts val="200"/>
              </a:spcAft>
            </a:pPr>
            <a:r>
              <a:rPr b="1" sz="1800">
                <a:solidFill>
                  <a:srgbClr val="002856"/>
                </a:solidFill>
                <a:latin typeface="Arial"/>
              </a:rPr>
              <a:t>✓  Deliver within 1-3 years</a:t>
            </a:r>
          </a:p>
          <a:p>
            <a:pPr>
              <a:spcAft>
                <a:spcPts val="1400"/>
              </a:spcAft>
            </a:pPr>
            <a:r>
              <a:rPr sz="1300" i="1">
                <a:solidFill>
                  <a:srgbClr val="595959"/>
                </a:solidFill>
                <a:latin typeface="Arial"/>
              </a:rPr>
              <a:t>      Matches the prompt's feasibility window -- pilot approval and operation, not a decade-long build</a:t>
            </a:r>
          </a:p>
          <a:p>
            <a:pPr>
              <a:spcAft>
                <a:spcPts val="200"/>
              </a:spcAft>
            </a:pPr>
            <a:r>
              <a:rPr b="1" sz="1800">
                <a:solidFill>
                  <a:srgbClr val="002856"/>
                </a:solidFill>
                <a:latin typeface="Arial"/>
              </a:rPr>
              <a:t>✓  Create a new, resilient revenue stream</a:t>
            </a:r>
          </a:p>
          <a:p>
            <a:pPr>
              <a:spcAft>
                <a:spcPts val="1400"/>
              </a:spcAft>
            </a:pPr>
            <a:r>
              <a:rPr sz="1300" i="1">
                <a:solidFill>
                  <a:srgbClr val="595959"/>
                </a:solidFill>
                <a:latin typeface="Arial"/>
              </a:rPr>
              <a:t>      Recurring administration fees tied to infrastructure, not incentive cycles</a:t>
            </a:r>
          </a:p>
        </p:txBody>
      </p:sp>
      <p:sp>
        <p:nvSpPr>
          <p:cNvPr id="35" name="TextBox 34"/>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Five commitments this program makes to answer the prompt</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Prioritization Framework: Why Battery + Solar Administration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rPr/>
                        <a:t>Approach Considered</a:t>
                      </a:r>
                    </a:p>
                  </a:txBody>
                  <a:tcPr>
                    <a:solidFill>
                      <a:srgbClr val="002856"/>
                    </a:solidFill>
                  </a:tcPr>
                </a:tc>
                <a:tc>
                  <a:txBody>
                    <a:bodyPr/>
                    <a:lstStyle/>
                    <a:p>
                      <a:pPr>
                        <a:defRPr sz="1100" b="1">
                          <a:solidFill>
                            <a:srgbClr val="FFFFFF"/>
                          </a:solidFill>
                          <a:latin typeface="Arial"/>
                        </a:defRPr>
                      </a:pPr>
                      <a:r>
                        <a:rPr/>
                        <a:t>1-3 Yr Feasibility</a:t>
                      </a:r>
                    </a:p>
                  </a:txBody>
                  <a:tcPr>
                    <a:solidFill>
                      <a:srgbClr val="002856"/>
                    </a:solidFill>
                  </a:tcPr>
                </a:tc>
                <a:tc>
                  <a:txBody>
                    <a:bodyPr/>
                    <a:lstStyle/>
                    <a:p>
                      <a:pPr>
                        <a:defRPr sz="1100" b="1">
                          <a:solidFill>
                            <a:srgbClr val="FFFFFF"/>
                          </a:solidFill>
                          <a:latin typeface="Arial"/>
                        </a:defRPr>
                      </a:pPr>
                      <a:r>
                        <a:rPr/>
                        <a:t>Alignment with Prompt</a:t>
                      </a:r>
                    </a:p>
                  </a:txBody>
                  <a:tcPr>
                    <a:solidFill>
                      <a:srgbClr val="002856"/>
                    </a:solidFill>
                  </a:tcPr>
                </a:tc>
                <a:tc>
                  <a:txBody>
                    <a:bodyPr/>
                    <a:lstStyle/>
                    <a:p>
                      <a:pPr>
                        <a:defRPr sz="1100" b="1">
                          <a:solidFill>
                            <a:srgbClr val="FFFFFF"/>
                          </a:solidFill>
                          <a:latin typeface="Arial"/>
                        </a:defRPr>
                      </a:pPr>
                      <a:r>
                        <a:rPr/>
                        <a:t>Verdict</a:t>
                      </a:r>
                    </a:p>
                  </a:txBody>
                  <a:tcPr>
                    <a:solidFill>
                      <a:srgbClr val="002856"/>
                    </a:solidFill>
                  </a:tcPr>
                </a:tc>
              </a:tr>
              <a:tr h="701040">
                <a:tc>
                  <a:txBody>
                    <a:bodyPr/>
                    <a:lstStyle/>
                    <a:p>
                      <a:pPr>
                        <a:defRPr sz="1100">
                          <a:solidFill>
                            <a:srgbClr val="002856"/>
                          </a:solidFill>
                          <a:latin typeface="Arial"/>
                        </a:defRPr>
                      </a:pPr>
                      <a:r>
                        <a:rP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rP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rP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rPr/>
                        <a:t>NOT SELECTED as standalone pitch</a:t>
                      </a:r>
                    </a:p>
                  </a:txBody>
                  <a:tcPr>
                    <a:solidFill>
                      <a:srgbClr val="F5E4E7"/>
                    </a:solidFill>
                  </a:tcPr>
                </a:tc>
              </a:tr>
              <a:tr h="701040">
                <a:tc>
                  <a:txBody>
                    <a:bodyPr/>
                    <a:lstStyle/>
                    <a:p>
                      <a:pPr>
                        <a:defRPr sz="1100">
                          <a:solidFill>
                            <a:srgbClr val="002856"/>
                          </a:solidFill>
                          <a:latin typeface="Arial"/>
                        </a:defRPr>
                      </a:pPr>
                      <a:r>
                        <a:rPr/>
                        <a:t>Utility-Owned Battery + Solar Fleet, APTIM-Administered</a:t>
                      </a:r>
                    </a:p>
                  </a:txBody>
                  <a:tcPr>
                    <a:solidFill>
                      <a:srgbClr val="E0F2F1"/>
                    </a:solidFill>
                  </a:tcPr>
                </a:tc>
                <a:tc>
                  <a:txBody>
                    <a:bodyPr/>
                    <a:lstStyle/>
                    <a:p>
                      <a:pPr>
                        <a:defRPr sz="1100">
                          <a:solidFill>
                            <a:srgbClr val="002856"/>
                          </a:solidFill>
                          <a:latin typeface="Arial"/>
                        </a:defRPr>
                      </a:pPr>
                      <a:r>
                        <a:rPr/>
                        <a:t>High -- matches an existing, proven APTIM capability</a:t>
                      </a:r>
                    </a:p>
                  </a:txBody>
                  <a:tcPr>
                    <a:solidFill>
                      <a:srgbClr val="E0F2F1"/>
                    </a:solidFill>
                  </a:tcPr>
                </a:tc>
                <a:tc>
                  <a:txBody>
                    <a:bodyPr/>
                    <a:lstStyle/>
                    <a:p>
                      <a:pPr>
                        <a:defRPr sz="1100">
                          <a:solidFill>
                            <a:srgbClr val="002856"/>
                          </a:solidFill>
                          <a:latin typeface="Arial"/>
                        </a:defRPr>
                      </a:pPr>
                      <a:r>
                        <a:rP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rPr/>
                        <a:t>SELECTED</a:t>
                      </a:r>
                    </a:p>
                  </a:txBody>
                  <a:tcPr>
                    <a:solidFill>
                      <a:srgbClr val="E0F2F1"/>
                    </a:solidFill>
                  </a:tcPr>
                </a:tc>
              </a:tr>
            </a:tbl>
          </a:graphicData>
        </a:graphic>
      </p:graphicFrame>
      <p:sp>
        <p:nvSpPr>
          <p:cNvPr id="5" name="Rectangle 4"/>
          <p:cNvSpPr/>
          <p:nvPr/>
        </p:nvSpPr>
        <p:spPr>
          <a:xfrm>
            <a:off x="457200" y="3611880"/>
            <a:ext cx="11247120" cy="260604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800"/>
              </a:spcAft>
            </a:pPr>
            <a:r>
              <a:rPr b="1" sz="1500">
                <a:solidFill>
                  <a:srgbClr val="002856"/>
                </a:solidFill>
                <a:latin typeface="Arial"/>
              </a:rPr>
              <a:t>Why We Didn't Stop at the Toolkit</a:t>
            </a:r>
          </a:p>
          <a:p>
            <a:pPr>
              <a:spcAft>
                <a:spcPts val="600"/>
              </a:spcAft>
            </a:pPr>
            <a:r>
              <a:rPr sz="1300">
                <a:solidFill>
                  <a:srgbClr val="002856"/>
                </a:solidFill>
                <a:latin typeface="Arial"/>
              </a:rPr>
              <a:t>•  Describes HOW APTIM operates -- not a sellable program</a:t>
            </a:r>
          </a:p>
          <a:p>
            <a:pPr>
              <a:spcAft>
                <a:spcPts val="600"/>
              </a:spcAft>
            </a:pPr>
            <a:r>
              <a:rPr sz="1300">
                <a:solidFill>
                  <a:srgbClr val="002856"/>
                </a:solidFill>
                <a:latin typeface="Arial"/>
              </a:rPr>
              <a:t>•  Leadership asked for one specific offer, not a capability list</a:t>
            </a:r>
          </a:p>
          <a:p>
            <a:pPr>
              <a:spcAft>
                <a:spcPts val="600"/>
              </a:spcAft>
            </a:pPr>
            <a:r>
              <a:rPr sz="1300">
                <a:solidFill>
                  <a:srgbClr val="002856"/>
                </a:solidFill>
                <a:latin typeface="Arial"/>
              </a:rPr>
              <a:t>•  Not DTE's generation strategy -- a distribution-resilience play (see notes)</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a:spcAft>
                <a:spcPts val="300"/>
              </a:spcAft>
              <a:buNone/>
            </a:pPr>
            <a:r>
              <a:rPr b="1" sz="1300">
                <a:solidFill>
                  <a:srgbClr val="002856"/>
                </a:solidFill>
              </a:rPr>
              <a:t>The funding gap is real and current:</a:t>
            </a:r>
          </a:p>
          <a:p>
            <a:pPr>
              <a:spcAft>
                <a:spcPts val="400"/>
              </a:spcAft>
              <a:buNone/>
            </a:pPr>
            <a:r>
              <a:rPr sz="1200">
                <a:solidFill>
                  <a:srgbClr val="002856"/>
                </a:solidFill>
              </a:rPr>
              <a:t>•  $8.8B IRA HOMES/HEAR rebates frozen Jan 2025 -- only 23 states live by Feb 2026</a:t>
            </a:r>
          </a:p>
          <a:p>
            <a:pPr>
              <a:spcAft>
                <a:spcPts val="400"/>
              </a:spcAft>
              <a:buNone/>
            </a:pPr>
            <a:r>
              <a:rPr sz="1200">
                <a:solidFill>
                  <a:srgbClr val="002856"/>
                </a:solidFill>
              </a:rPr>
              <a:t>•  25C/25D consumer tax credits eliminated Dec 31, 2025</a:t>
            </a:r>
          </a:p>
          <a:p>
            <a:pPr>
              <a:spcAft>
                <a:spcPts val="1000"/>
              </a:spcAft>
              <a:buNone/>
            </a:pPr>
            <a:r>
              <a:rPr sz="1200">
                <a:solidFill>
                  <a:srgbClr val="002856"/>
                </a:solidFill>
              </a:rPr>
              <a:t>•  26 states + DC still have legal savings mandates utilities must hit regardless</a:t>
            </a:r>
          </a:p>
          <a:p>
            <a:pPr>
              <a:spcAft>
                <a:spcPts val="300"/>
              </a:spcAft>
              <a:buNone/>
            </a:pPr>
            <a:r>
              <a:rPr b="1" sz="1300">
                <a:solidFill>
                  <a:srgbClr val="002856"/>
                </a:solidFill>
              </a:rPr>
              <a:t>Utilities are already reacting:</a:t>
            </a:r>
          </a:p>
          <a:p>
            <a:pPr>
              <a:spcAft>
                <a:spcPts val="400"/>
              </a:spcAft>
              <a:buNone/>
            </a:pPr>
            <a:r>
              <a:rPr sz="1200">
                <a:solidFill>
                  <a:srgbClr val="002856"/>
                </a:solidFill>
              </a:rPr>
              <a:t>•  Duke Energy (NC) withdrew 3 residential programs in 2025</a:t>
            </a:r>
          </a:p>
          <a:p>
            <a:pPr>
              <a:spcAft>
                <a:spcPts val="400"/>
              </a:spcAft>
              <a:buNone/>
            </a:pPr>
            <a:r>
              <a:rPr sz="1200">
                <a:solidFill>
                  <a:srgbClr val="002856"/>
                </a:solidFill>
              </a:rPr>
              <a:t>•  Louisiana ended its entire 2026 efficiency program</a:t>
            </a:r>
          </a:p>
          <a:p>
            <a:pPr>
              <a:spcAft>
                <a:spcPts val="1000"/>
              </a:spcAft>
              <a:buNone/>
            </a:pPr>
            <a:r>
              <a:rPr sz="1200">
                <a:solidFill>
                  <a:srgbClr val="002856"/>
                </a:solidFill>
              </a:rPr>
              <a:t>•  California paused a $290M rebate program citing uncertainty</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600200"/>
          <a:ext cx="5906174" cy="4206240"/>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rPr sz="1200" b="1"/>
                        <a:t>State</a:t>
                      </a:r>
                    </a:p>
                  </a:txBody>
                  <a:tcPr/>
                </a:tc>
                <a:tc>
                  <a:txBody>
                    <a:bodyPr/>
                    <a:lstStyle/>
                    <a:p>
                      <a:r>
                        <a:rPr sz="1200" b="1"/>
                        <a:t>Market Status</a:t>
                      </a:r>
                    </a:p>
                  </a:txBody>
                  <a:tcPr/>
                </a:tc>
                <a:tc>
                  <a:txBody>
                    <a:bodyPr/>
                    <a:lstStyle/>
                    <a:p>
                      <a:r>
                        <a:rPr sz="1200" b="1"/>
                        <a:t>Challenge</a:t>
                      </a:r>
                    </a:p>
                  </a:txBody>
                  <a:tcPr/>
                </a:tc>
                <a:tc>
                  <a:txBody>
                    <a:bodyPr/>
                    <a:lstStyle/>
                    <a:p>
                      <a:r>
                        <a:rPr sz="1200" b="1"/>
                        <a:t>Opportunity</a:t>
                      </a:r>
                    </a:p>
                  </a:txBody>
                  <a:tcPr/>
                </a:tc>
                <a:extLst>
                  <a:ext uri="{0D108BD9-81ED-4DB2-BD59-A6C34878D82A}">
                    <a16:rowId xmlns:a16="http://schemas.microsoft.com/office/drawing/2014/main" val="2062150352"/>
                  </a:ext>
                </a:extLst>
              </a:tr>
              <a:tr h="487680">
                <a:tc>
                  <a:txBody>
                    <a:bodyPr/>
                    <a:lstStyle/>
                    <a:p>
                      <a:r>
                        <a:rPr sz="1200"/>
                        <a:t>California</a:t>
                      </a:r>
                    </a:p>
                  </a:txBody>
                  <a:tcPr/>
                </a:tc>
                <a:tc>
                  <a:txBody>
                    <a:bodyPr/>
                    <a:lstStyle/>
                    <a:p>
                      <a:r>
                        <a:rPr sz="1200"/>
                        <a:t>Mature</a:t>
                      </a:r>
                    </a:p>
                  </a:txBody>
                  <a:tcPr/>
                </a:tc>
                <a:tc>
                  <a:txBody>
                    <a:bodyPr/>
                    <a:lstStyle/>
                    <a:p>
                      <a:r>
                        <a:rPr sz="1200"/>
                        <a:t>Highly saturated -- competitors entrenched</a:t>
                      </a:r>
                    </a:p>
                  </a:txBody>
                  <a:tcPr/>
                </a:tc>
                <a:tc>
                  <a:txBody>
                    <a:bodyPr/>
                    <a:lstStyle/>
                    <a:p>
                      <a:r>
                        <a:rPr sz="1200"/>
                        <a:t>Reference case proving the model works</a:t>
                      </a:r>
                    </a:p>
                  </a:txBody>
                  <a:tcPr/>
                </a:tc>
                <a:extLst>
                  <a:ext uri="{0D108BD9-81ED-4DB2-BD59-A6C34878D82A}">
                    <a16:rowId xmlns:a16="http://schemas.microsoft.com/office/drawing/2014/main" val="4077176013"/>
                  </a:ext>
                </a:extLst>
              </a:tr>
              <a:tr h="965200">
                <a:tc>
                  <a:txBody>
                    <a:bodyPr/>
                    <a:lstStyle/>
                    <a:p>
                      <a:r>
                        <a:rPr sz="1200"/>
                        <a:t>North Carolina</a:t>
                      </a:r>
                    </a:p>
                  </a:txBody>
                  <a:tcPr/>
                </a:tc>
                <a:tc>
                  <a:txBody>
                    <a:bodyPr/>
                    <a:lstStyle/>
                    <a:p>
                      <a:r>
                        <a:rPr sz="1200"/>
                        <a:t>Growing</a:t>
                      </a:r>
                    </a:p>
                  </a:txBody>
                  <a:tcPr/>
                </a:tc>
                <a:tc>
                  <a:txBody>
                    <a:bodyPr/>
                    <a:lstStyle/>
                    <a:p>
                      <a:r>
                        <a:rPr sz="1200"/>
                        <a:t>Solar adoption straining the grid</a:t>
                      </a:r>
                    </a:p>
                  </a:txBody>
                  <a:tcPr/>
                </a:tc>
                <a:tc>
                  <a:txBody>
                    <a:bodyPr/>
                    <a:lstStyle/>
                    <a:p>
                      <a:r>
                        <a:rPr sz="1200"/>
                        <a:t>Duke PowerPair fully subscribed -- proves demand exists</a:t>
                      </a:r>
                    </a:p>
                  </a:txBody>
                  <a:tcPr/>
                </a:tc>
                <a:extLst>
                  <a:ext uri="{0D108BD9-81ED-4DB2-BD59-A6C34878D82A}">
                    <a16:rowId xmlns:a16="http://schemas.microsoft.com/office/drawing/2014/main" val="1662102389"/>
                  </a:ext>
                </a:extLst>
              </a:tr>
              <a:tr h="1463039">
                <a:tc>
                  <a:txBody>
                    <a:bodyPr/>
                    <a:lstStyle/>
                    <a:p>
                      <a:r>
                        <a:rPr sz="1200"/>
                        <a:t>Michigan</a:t>
                      </a:r>
                    </a:p>
                  </a:txBody>
                  <a:tcPr/>
                </a:tc>
                <a:tc>
                  <a:txBody>
                    <a:bodyPr/>
                    <a:lstStyle/>
                    <a:p>
                      <a:r>
                        <a:rPr sz="1200"/>
                        <a:t>Emerging (pilot)</a:t>
                      </a:r>
                    </a:p>
                  </a:txBody>
                  <a:tcPr/>
                </a:tc>
                <a:tc>
                  <a:txBody>
                    <a:bodyPr/>
                    <a:lstStyle/>
                    <a:p>
                      <a:r>
                        <a:rPr sz="1200"/>
                        <a:t>No residential storage program exists yet</a:t>
                      </a:r>
                    </a:p>
                  </a:txBody>
                  <a:tcPr/>
                </a:tc>
                <a:tc>
                  <a:txBody>
                    <a:bodyPr/>
                    <a:lstStyle/>
                    <a:p>
                      <a:r>
                        <a:rPr sz="1200"/>
                        <a:t>Worst outages in the nation + statutory storage mandate</a:t>
                      </a:r>
                    </a:p>
                  </a:txBody>
                  <a:tcPr/>
                </a:tc>
                <a:extLst>
                  <a:ext uri="{0D108BD9-81ED-4DB2-BD59-A6C34878D82A}">
                    <a16:rowId xmlns:a16="http://schemas.microsoft.com/office/drawing/2014/main" val="3893195930"/>
                  </a:ext>
                </a:extLst>
              </a:tr>
              <a:tr h="1463039">
                <a:tc>
                  <a:txBody>
                    <a:bodyPr/>
                    <a:lstStyle/>
                    <a:p>
                      <a:r>
                        <a:rPr sz="1200">
                          <a:solidFill>
                            <a:srgbClr val="002856"/>
                          </a:solidFill>
                        </a:rPr>
                        <a:t>Wisconsin</a:t>
                      </a:r>
                    </a:p>
                  </a:txBody>
                  <a:tcPr/>
                </a:tc>
                <a:tc>
                  <a:txBody>
                    <a:bodyPr/>
                    <a:lstStyle/>
                    <a:p>
                      <a:r>
                        <a:rPr sz="1200">
                          <a:solidFill>
                            <a:srgbClr val="002856"/>
                          </a:solidFill>
                        </a:rPr>
                        <a:t>Incumbent base</a:t>
                      </a:r>
                    </a:p>
                  </a:txBody>
                  <a:tcPr/>
                </a:tc>
                <a:tc>
                  <a:txBody>
                    <a:bodyPr/>
                    <a:lstStyle/>
                    <a:p>
                      <a:r>
                        <a:rPr sz="1200">
                          <a:solidFill>
                            <a:srgbClr val="002856"/>
                          </a:solidFill>
                        </a:rPr>
                        <a:t>Focus on Energy budget already strained by demand</a:t>
                      </a:r>
                    </a:p>
                  </a:txBody>
                  <a:tcPr/>
                </a:tc>
                <a:tc>
                  <a:txBody>
                    <a:bodyPr/>
                    <a:lstStyle/>
                    <a:p>
                      <a:r>
                        <a:rPr sz="1200">
                          <a:solidFill>
                            <a:srgbClr val="002856"/>
                          </a:solidFill>
                        </a:rPr>
                        <a:t>APTIM holds the administrator seat -- fastest expansion path</a:t>
                      </a:r>
                    </a:p>
                  </a:txBody>
                  <a:tcPr/>
                </a:tc>
                <a:extLst>
                  <a:ext uri="{0D108BD9-81ED-4DB2-BD59-A6C34878D82A}">
                    <a16:rowId xmlns:a16="http://schemas.microsoft.com/office/drawing/2014/main" val="3893195930"/>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a:t>
            </a:r>
            <a:r>
              <a:rPr lang="en-US" err="1" sz="2600" b="1">
                <a:solidFill>
                  <a:srgbClr val="002856"/>
                </a:solidFill>
                <a:latin typeface="Arial"/>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300"/>
              </a:spcAft>
              <a:buNone/>
            </a:pPr>
            <a:r>
              <a:rPr b="1" sz="1300">
                <a:solidFill>
                  <a:srgbClr val="002856"/>
                </a:solidFill>
              </a:rPr>
              <a:t>TAM -- Total Addressable Market</a:t>
            </a:r>
          </a:p>
          <a:p>
            <a:pPr>
              <a:spcAft>
                <a:spcPts val="1000"/>
              </a:spcAft>
              <a:buNone/>
            </a:pPr>
            <a:r>
              <a:rPr sz="1200">
                <a:solidFill>
                  <a:srgbClr val="002856"/>
                </a:solidFill>
              </a:rPr>
              <a:t>National utility program administration: APTIM alone already manages $75M+ in annual incentives, $3B+ lifetime rebates</a:t>
            </a:r>
          </a:p>
          <a:p>
            <a:pPr>
              <a:spcAft>
                <a:spcPts val="300"/>
              </a:spcAft>
              <a:buNone/>
            </a:pPr>
            <a:r>
              <a:rPr b="1" sz="1300">
                <a:solidFill>
                  <a:srgbClr val="002856"/>
                </a:solidFill>
              </a:rPr>
              <a:t>SAM -- Serviceable Addressable Market</a:t>
            </a:r>
          </a:p>
          <a:p>
            <a:pPr>
              <a:spcAft>
                <a:spcPts val="1000"/>
              </a:spcAft>
              <a:buNone/>
            </a:pPr>
            <a:r>
              <a:rPr sz="1200">
                <a:solidFill>
                  <a:srgbClr val="002856"/>
                </a:solidFill>
              </a:rPr>
              <a:t>States with storage mandates + vertically integrated utilities -- where a rate-based fleet is legally buildable today</a:t>
            </a:r>
          </a:p>
          <a:p>
            <a:pPr>
              <a:spcAft>
                <a:spcPts val="300"/>
              </a:spcAft>
              <a:buNone/>
            </a:pPr>
            <a:r>
              <a:rPr b="1" sz="1300">
                <a:solidFill>
                  <a:srgbClr val="002856"/>
                </a:solidFill>
              </a:rPr>
              <a:t>SOM -- Serviceable Obtainable Market</a:t>
            </a:r>
          </a:p>
          <a:p>
            <a:pPr>
              <a:spcAft>
                <a:spcPts val="1000"/>
              </a:spcAft>
              <a:buNone/>
            </a:pPr>
            <a:r>
              <a:rPr sz="1200">
                <a:solidFill>
                  <a:srgbClr val="002856"/>
                </a:solidFill>
              </a:rPr>
              <a:t>Michigan pilot + first expansion states -- recurring administration fees, not one-time grants</a:t>
            </a:r>
          </a:p>
          <a:p>
            <a:pPr>
              <a:spcAft>
                <a:spcPts val="300"/>
              </a:spcAft>
              <a:buNone/>
            </a:pPr>
            <a:r>
              <a:rPr b="1" sz="1300">
                <a:solidFill>
                  <a:srgbClr val="002856"/>
                </a:solidFill>
              </a:rPr>
              <a:t>Why this market grows</a:t>
            </a:r>
          </a:p>
          <a:p>
            <a:pPr>
              <a:spcAft>
                <a:spcPts val="1000"/>
              </a:spcAft>
              <a:buNone/>
            </a:pPr>
            <a:r>
              <a:rPr sz="1200">
                <a:solidFill>
                  <a:srgbClr val="002856"/>
                </a:solidFill>
              </a:rPr>
              <a:t>Ratepayer-financed programs are insulated from the federal swings on the prior slide -- demand shifts toward exactly this model</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rPr sz="1200" b="1"/>
                        <a:t>Value</a:t>
                      </a:r>
                    </a:p>
                  </a:txBody>
                  <a:tcPr/>
                </a:tc>
                <a:tc gridSpan="2">
                  <a:txBody>
                    <a:bodyPr/>
                    <a:lstStyle/>
                    <a:p>
                      <a:r>
                        <a:rPr sz="1200" b="1"/>
                        <a:t>Basis</a:t>
                      </a:r>
                    </a:p>
                  </a:txBody>
                  <a:tcPr/>
                </a:tc>
                <a:tc hMerge="1">
                  <a:txBody>
                    <a:bodyPr/>
                    <a:lstStyle/>
                    <a:p/>
                  </a:txBody>
                  <a:tcPr/>
                </a:tc>
                <a:extLst>
                  <a:ext uri="{0D108BD9-81ED-4DB2-BD59-A6C34878D82A}">
                    <a16:rowId xmlns:a16="http://schemas.microsoft.com/office/drawing/2014/main" val="2090497449"/>
                  </a:ext>
                </a:extLst>
              </a:tr>
              <a:tr h="370840">
                <a:tc>
                  <a:txBody>
                    <a:bodyPr/>
                    <a:lstStyle/>
                    <a:p>
                      <a:r>
                        <a:rPr sz="1200"/>
                        <a:t>TAM</a:t>
                      </a:r>
                    </a:p>
                  </a:txBody>
                  <a:tcPr/>
                </a:tc>
                <a:tc>
                  <a:txBody>
                    <a:bodyPr/>
                    <a:lstStyle/>
                    <a:p>
                      <a:r>
                        <a:rPr sz="1200"/>
                        <a:t>$8.8B</a:t>
                      </a:r>
                    </a:p>
                  </a:txBody>
                  <a:tcPr/>
                </a:tc>
                <a:tc gridSpan="2">
                  <a:txBody>
                    <a:bodyPr/>
                    <a:lstStyle/>
                    <a:p>
                      <a:r>
                        <a:rPr sz="1200"/>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rPr sz="1200"/>
                        <a:t>SAM</a:t>
                      </a:r>
                    </a:p>
                  </a:txBody>
                  <a:tcPr/>
                </a:tc>
                <a:tc>
                  <a:txBody>
                    <a:bodyPr/>
                    <a:lstStyle/>
                    <a:p>
                      <a:r>
                        <a:rPr sz="1200"/>
                        <a:t>~$1-2B</a:t>
                      </a:r>
                    </a:p>
                  </a:txBody>
                  <a:tcPr/>
                </a:tc>
                <a:tc gridSpan="2">
                  <a:txBody>
                    <a:bodyPr/>
                    <a:lstStyle/>
                    <a:p>
                      <a:r>
                        <a:rPr sz="1200"/>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rPr sz="1200"/>
                        <a:t>SOM</a:t>
                      </a:r>
                    </a:p>
                  </a:txBody>
                  <a:tcPr/>
                </a:tc>
                <a:tc>
                  <a:txBody>
                    <a:bodyPr/>
                    <a:lstStyle/>
                    <a:p>
                      <a:r>
                        <a:rPr sz="1200"/>
                        <a:t>$1.5M-$4.5M/yr</a:t>
                      </a:r>
                    </a:p>
                  </a:txBody>
                  <a:tcPr/>
                </a:tc>
                <a:tc gridSpan="2">
                  <a:txBody>
                    <a:bodyPr/>
                    <a:lstStyle/>
                    <a:p>
                      <a:r>
                        <a:rPr sz="1200"/>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8</a:t>
            </a:r>
            <a:endParaRPr lang="en-US"/>
          </a:p>
        </p:txBody>
      </p:sp>
      <p:sp>
        <p:nvSpPr>
          <p:cNvPr id="10" name="TextBox 9"/>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Sizing the opportunity from national market to Michigan pilot</a:t>
            </a:r>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The Big Picture: How This Program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Before the mechanics -- the simple version of what we're proposing</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200">
                <a:solidFill>
                  <a:srgbClr val="FFFFFF"/>
                </a:solidFill>
                <a:latin typeface="Arial"/>
              </a:rPr>
              <a:t>Utilities must keep energy programs
running, but federal funding is
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2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2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2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595959"/>
                </a:solidFill>
                <a:latin typeface="Arial"/>
              </a:rPr>
              <a:t>The next slide breaks down exactly how this works -- who owns what, how money flows, and how APTIM gets paid.</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Utility-Owned Battery + Solar Fleet</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The utility owns the fleet. APTIM administers it. The household hosts it at no cost.</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371600"/>
            <a:ext cx="3483864" cy="1554480"/>
          </a:xfrm>
          <a:prstGeom prst="rect">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2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371600"/>
            <a:ext cx="3483864" cy="155448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2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371600"/>
            <a:ext cx="3483864" cy="155448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2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192024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192024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3063240"/>
            <a:ext cx="11247120" cy="59436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2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17" name="TextBox 16"/>
          <p:cNvSpPr txBox="1"/>
          <p:nvPr/>
        </p:nvSpPr>
        <p:spPr>
          <a:xfrm>
            <a:off x="457200" y="3657600"/>
            <a:ext cx="3606698" cy="320040"/>
          </a:xfrm>
          <a:prstGeom prst="rect">
            <a:avLst/>
          </a:prstGeom>
          <a:noFill/>
        </p:spPr>
        <p:txBody>
          <a:bodyPr wrap="none">
            <a:spAutoFit/>
          </a:bodyPr>
          <a:lstStyle/>
          <a:p>
            <a:r>
              <a:rPr b="1" sz="1300">
                <a:solidFill>
                  <a:srgbClr val="FF8200"/>
                </a:solidFill>
                <a:latin typeface="Arial"/>
              </a:rPr>
              <a:t>How APTIM Gets Paid</a:t>
            </a:r>
          </a:p>
        </p:txBody>
      </p:sp>
      <p:sp>
        <p:nvSpPr>
          <p:cNvPr id="18" name="TextBox 17"/>
          <p:cNvSpPr txBox="1"/>
          <p:nvPr/>
        </p:nvSpPr>
        <p:spPr>
          <a:xfrm>
            <a:off x="457200" y="4023360"/>
            <a:ext cx="3606698" cy="2286000"/>
          </a:xfrm>
          <a:prstGeom prst="rect">
            <a:avLst/>
          </a:prstGeom>
          <a:noFill/>
        </p:spPr>
        <p:txBody>
          <a:bodyPr wrap="square">
            <a:spAutoFit/>
          </a:bodyPr>
          <a:lstStyle/>
          <a:p>
            <a:pPr>
              <a:spcAft>
                <a:spcPts val="600"/>
              </a:spcAft>
            </a:pPr>
            <a:r>
              <a:rPr b="1" sz="1200">
                <a:solidFill>
                  <a:srgbClr val="002856"/>
                </a:solidFill>
                <a:latin typeface="Arial"/>
              </a:rPr>
              <a:t>Model: </a:t>
            </a:r>
            <a:r>
              <a:rPr sz="1200">
                <a:solidFill>
                  <a:srgbClr val="002856"/>
                </a:solidFill>
                <a:latin typeface="Arial"/>
              </a:rPr>
              <a:t>Base fee as % of program budget + performance bonus overlay</a:t>
            </a:r>
          </a:p>
          <a:p>
            <a:pPr>
              <a:spcAft>
                <a:spcPts val="600"/>
              </a:spcAft>
            </a:pPr>
            <a:r>
              <a:rPr b="1" sz="1200">
                <a:solidFill>
                  <a:srgbClr val="002856"/>
                </a:solidFill>
                <a:latin typeface="Arial"/>
              </a:rPr>
              <a:t>Precedent: </a:t>
            </a:r>
            <a:r>
              <a:rPr sz="1200">
                <a:solidFill>
                  <a:srgbClr val="002856"/>
                </a:solidFill>
                <a:latin typeface="Arial"/>
              </a:rPr>
              <a:t>APTIM's real Focus on Energy contract (2023-2026) uses this exact structure</a:t>
            </a:r>
          </a:p>
          <a:p>
            <a:pPr>
              <a:spcAft>
                <a:spcPts val="600"/>
              </a:spcAft>
            </a:pPr>
            <a:r>
              <a:rPr b="1" sz="1200">
                <a:solidFill>
                  <a:srgbClr val="002856"/>
                </a:solidFill>
                <a:latin typeface="Arial"/>
              </a:rPr>
              <a:t>Benchmark: </a:t>
            </a:r>
            <a:r>
              <a:rPr sz="1200">
                <a:solidFill>
                  <a:srgbClr val="002856"/>
                </a:solidFill>
                <a:latin typeface="Arial"/>
              </a:rPr>
              <a:t>Federal EECBG caps admin fees at 10% of funds -- a citable floor</a:t>
            </a:r>
          </a:p>
          <a:p>
            <a:pPr>
              <a:spcAft>
                <a:spcPts val="600"/>
              </a:spcAft>
            </a:pPr>
            <a:r>
              <a:rPr b="1" sz="1200">
                <a:solidFill>
                  <a:srgbClr val="002856"/>
                </a:solidFill>
                <a:latin typeface="Arial"/>
              </a:rPr>
              <a:t>Exact %: </a:t>
            </a:r>
            <a:r>
              <a:rPr sz="1200">
                <a:solidFill>
                  <a:srgbClr val="002856"/>
                </a:solidFill>
                <a:latin typeface="Arial"/>
              </a:rPr>
              <a:t>Negotiated at RFP stage, not fixed here</a:t>
            </a:r>
          </a:p>
        </p:txBody>
      </p:sp>
      <p:sp>
        <p:nvSpPr>
          <p:cNvPr id="19" name="TextBox 18"/>
          <p:cNvSpPr txBox="1"/>
          <p:nvPr/>
        </p:nvSpPr>
        <p:spPr>
          <a:xfrm>
            <a:off x="4292498" y="3657600"/>
            <a:ext cx="3606698" cy="320040"/>
          </a:xfrm>
          <a:prstGeom prst="rect">
            <a:avLst/>
          </a:prstGeom>
          <a:noFill/>
        </p:spPr>
        <p:txBody>
          <a:bodyPr wrap="none">
            <a:spAutoFit/>
          </a:bodyPr>
          <a:lstStyle/>
          <a:p>
            <a:r>
              <a:rPr b="1" sz="1300">
                <a:solidFill>
                  <a:srgbClr val="FF8200"/>
                </a:solidFill>
                <a:latin typeface="Arial"/>
              </a:rPr>
              <a:t>Why All Parties Say Yes</a:t>
            </a:r>
          </a:p>
        </p:txBody>
      </p:sp>
      <p:sp>
        <p:nvSpPr>
          <p:cNvPr id="20" name="TextBox 19"/>
          <p:cNvSpPr txBox="1"/>
          <p:nvPr/>
        </p:nvSpPr>
        <p:spPr>
          <a:xfrm>
            <a:off x="4292498" y="4023360"/>
            <a:ext cx="3606698" cy="2286000"/>
          </a:xfrm>
          <a:prstGeom prst="rect">
            <a:avLst/>
          </a:prstGeom>
          <a:noFill/>
        </p:spPr>
        <p:txBody>
          <a:bodyPr wrap="square">
            <a:spAutoFit/>
          </a:bodyPr>
          <a:lstStyle/>
          <a:p>
            <a:pPr>
              <a:spcAft>
                <a:spcPts val="600"/>
              </a:spcAft>
            </a:pPr>
            <a:r>
              <a:rPr b="1" sz="1200">
                <a:solidFill>
                  <a:srgbClr val="002856"/>
                </a:solidFill>
                <a:latin typeface="Arial"/>
              </a:rPr>
              <a:t>Utility: </a:t>
            </a:r>
            <a:r>
              <a:rPr sz="1200">
                <a:solidFill>
                  <a:srgbClr val="002856"/>
                </a:solidFill>
                <a:latin typeface="Arial"/>
              </a:rPr>
              <a:t>Meets storage mandate, grows rate base, cheaper than new peaker capacity</a:t>
            </a:r>
          </a:p>
          <a:p>
            <a:pPr>
              <a:spcAft>
                <a:spcPts val="600"/>
              </a:spcAft>
            </a:pPr>
            <a:r>
              <a:rPr b="1" sz="1200">
                <a:solidFill>
                  <a:srgbClr val="002856"/>
                </a:solidFill>
                <a:latin typeface="Arial"/>
              </a:rPr>
              <a:t>Household: </a:t>
            </a:r>
            <a:r>
              <a:rPr sz="1200">
                <a:solidFill>
                  <a:srgbClr val="002856"/>
                </a:solidFill>
                <a:latin typeface="Arial"/>
              </a:rPr>
              <a:t>Free backup power, zero upfront or monthly cost</a:t>
            </a:r>
          </a:p>
          <a:p>
            <a:pPr>
              <a:spcAft>
                <a:spcPts val="600"/>
              </a:spcAft>
            </a:pPr>
            <a:r>
              <a:rPr b="1" sz="1200">
                <a:solidFill>
                  <a:srgbClr val="002856"/>
                </a:solidFill>
                <a:latin typeface="Arial"/>
              </a:rPr>
              <a:t>APTIM: </a:t>
            </a:r>
            <a:r>
              <a:rPr sz="1200">
                <a:solidFill>
                  <a:srgbClr val="002856"/>
                </a:solidFill>
                <a:latin typeface="Arial"/>
              </a:rPr>
              <a:t>Recurring fee + Michigan market entry, filling an unadministered service niche</a:t>
            </a:r>
          </a:p>
          <a:p>
            <a:pPr>
              <a:spcAft>
                <a:spcPts val="600"/>
              </a:spcAft>
            </a:pPr>
            <a:r>
              <a:rPr b="1" sz="1200">
                <a:solidFill>
                  <a:srgbClr val="002856"/>
                </a:solidFill>
                <a:latin typeface="Arial"/>
              </a:rPr>
              <a:t>Regulator: </a:t>
            </a:r>
            <a:r>
              <a:rPr sz="1200">
                <a:solidFill>
                  <a:srgbClr val="002856"/>
                </a:solidFill>
                <a:latin typeface="Arial"/>
              </a:rPr>
              <a:t>Resilience delivered without a new tax; performance-linked fee keeps utility accountable</a:t>
            </a:r>
          </a:p>
        </p:txBody>
      </p:sp>
      <p:sp>
        <p:nvSpPr>
          <p:cNvPr id="21" name="TextBox 20"/>
          <p:cNvSpPr txBox="1"/>
          <p:nvPr/>
        </p:nvSpPr>
        <p:spPr>
          <a:xfrm>
            <a:off x="8127796" y="3657600"/>
            <a:ext cx="3606698" cy="320040"/>
          </a:xfrm>
          <a:prstGeom prst="rect">
            <a:avLst/>
          </a:prstGeom>
          <a:noFill/>
        </p:spPr>
        <p:txBody>
          <a:bodyPr wrap="none">
            <a:spAutoFit/>
          </a:bodyPr>
          <a:lstStyle/>
          <a:p>
            <a:r>
              <a:rPr b="1" sz="1300">
                <a:solidFill>
                  <a:srgbClr val="FF8200"/>
                </a:solidFill>
                <a:latin typeface="Arial"/>
              </a:rPr>
              <a:t>Design &amp; Rollout</a:t>
            </a:r>
          </a:p>
        </p:txBody>
      </p:sp>
      <p:sp>
        <p:nvSpPr>
          <p:cNvPr id="22" name="TextBox 21"/>
          <p:cNvSpPr txBox="1"/>
          <p:nvPr/>
        </p:nvSpPr>
        <p:spPr>
          <a:xfrm>
            <a:off x="8127796" y="4023360"/>
            <a:ext cx="3606698" cy="2286000"/>
          </a:xfrm>
          <a:prstGeom prst="rect">
            <a:avLst/>
          </a:prstGeom>
          <a:noFill/>
        </p:spPr>
        <p:txBody>
          <a:bodyPr wrap="square">
            <a:spAutoFit/>
          </a:bodyPr>
          <a:lstStyle/>
          <a:p>
            <a:pPr>
              <a:spcAft>
                <a:spcPts val="600"/>
              </a:spcAft>
            </a:pPr>
            <a:r>
              <a:rPr b="1" sz="1200">
                <a:solidFill>
                  <a:srgbClr val="002856"/>
                </a:solidFill>
                <a:latin typeface="Arial"/>
              </a:rPr>
              <a:t>Cold weather: </a:t>
            </a:r>
            <a:r>
              <a:rPr sz="1200">
                <a:solidFill>
                  <a:srgbClr val="002856"/>
                </a:solidFill>
                <a:latin typeface="Arial"/>
              </a:rPr>
              <a:t>Thermally-managed battery chemistry, sized with a winter capacity buffer -- Michigan's worst outages are winter/ice-storm driven</a:t>
            </a:r>
          </a:p>
          <a:p>
            <a:pPr>
              <a:spcAft>
                <a:spcPts val="600"/>
              </a:spcAft>
            </a:pPr>
            <a:r>
              <a:rPr b="1" sz="1200">
                <a:solidFill>
                  <a:srgbClr val="002856"/>
                </a:solidFill>
                <a:latin typeface="Arial"/>
              </a:rPr>
              <a:t>Maintenance: </a:t>
            </a:r>
            <a:r>
              <a:rPr sz="1200">
                <a:solidFill>
                  <a:srgbClr val="002856"/>
                </a:solidFill>
                <a:latin typeface="Arial"/>
              </a:rPr>
              <a:t>Utility owns the fleet, so utility (via APTIM's contractor network) maintains it -- zero burden on the household</a:t>
            </a:r>
          </a:p>
          <a:p>
            <a:pPr>
              <a:spcAft>
                <a:spcPts val="600"/>
              </a:spcAft>
            </a:pPr>
            <a:r>
              <a:rPr b="1" sz="1200">
                <a:solidFill>
                  <a:srgbClr val="002856"/>
                </a:solidFill>
                <a:latin typeface="Arial"/>
              </a:rPr>
              <a:t>Pilot targeting: </a:t>
            </a:r>
            <a:r>
              <a:rPr sz="1200">
                <a:solidFill>
                  <a:srgbClr val="002856"/>
                </a:solidFill>
                <a:latin typeface="Arial"/>
              </a:rPr>
              <a:t>Phase 1 enrolls qualifying, stable homeowners to prove the model; Phase 2 expands to higher-need areas</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Deeper Dive: Why This Approach, How It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002856"/>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002856"/>
                </a:solidFill>
                <a:latin typeface="Arial"/>
              </a:rPr>
              <a:t>✓  A specific program, not a capability list</a:t>
            </a:r>
          </a:p>
          <a:p>
            <a:pPr>
              <a:spcAft>
                <a:spcPts val="1600"/>
              </a:spcAft>
            </a:pPr>
            <a:r>
              <a:rPr sz="1500">
                <a:solidFill>
                  <a:srgbClr val="002856"/>
                </a:solidFill>
                <a:latin typeface="Arial"/>
              </a:rPr>
              <a:t>✓  Not a generation strategy -- a distribution-resilience play</a:t>
            </a:r>
          </a:p>
          <a:p>
            <a:pPr>
              <a:spcAft>
                <a:spcPts val="1600"/>
              </a:spcAft>
            </a:pPr>
            <a:r>
              <a:rPr sz="1500">
                <a:solidFill>
                  <a:srgbClr val="002856"/>
                </a:solidFill>
                <a:latin typeface="Arial"/>
              </a:rPr>
              <a:t>✓  Fits DTE's existing $1B/yr Distribution Grid Plan</a:t>
            </a:r>
          </a:p>
          <a:p>
            <a:pPr>
              <a:spcAft>
                <a:spcPts val="1600"/>
              </a:spcAft>
            </a:pPr>
            <a:r>
              <a:rPr sz="1500">
                <a:solidFill>
                  <a:srgbClr val="002856"/>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002856"/>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002856"/>
                </a:solidFill>
                <a:latin typeface="Arial"/>
              </a:rPr>
              <a:t>✓  Ownership settled: utility owns, homeowner-loan math rejected</a:t>
            </a:r>
          </a:p>
          <a:p>
            <a:pPr>
              <a:spcAft>
                <a:spcPts val="1600"/>
              </a:spcAft>
            </a:pPr>
            <a:r>
              <a:rPr sz="1500">
                <a:solidFill>
                  <a:srgbClr val="002856"/>
                </a:solidFill>
                <a:latin typeface="Arial"/>
              </a:rPr>
              <a:t>✓  Engineered for Michigan winters -- cold-rated battery chemistry</a:t>
            </a:r>
          </a:p>
          <a:p>
            <a:pPr>
              <a:spcAft>
                <a:spcPts val="1600"/>
              </a:spcAft>
            </a:pPr>
            <a:r>
              <a:rPr sz="1500">
                <a:solidFill>
                  <a:srgbClr val="002856"/>
                </a:solidFill>
                <a:latin typeface="Arial"/>
              </a:rPr>
              <a:t>✓  Utility owns it, utility maintains it -- zero burden on host</a:t>
            </a:r>
          </a:p>
          <a:p>
            <a:pPr>
              <a:spcAft>
                <a:spcPts val="1600"/>
              </a:spcAft>
            </a:pPr>
            <a:r>
              <a:rPr sz="1500">
                <a:solidFill>
                  <a:srgbClr val="002856"/>
                </a:solidFill>
                <a:latin typeface="Arial"/>
              </a:rPr>
              <a:t>✓  Phase 1: stable homeowners. Phase 2: higher-need areas</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Competitive Landscape</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sits between specialized implementers and large engineering firms</a:t>
            </a:r>
          </a:p>
        </p:txBody>
      </p:sp>
      <p:graphicFrame>
        <p:nvGraphicFramePr>
          <p:cNvPr id="4" name="Table 3"/>
          <p:cNvGraphicFramePr>
            <a:graphicFrameLocks noGrp="1"/>
          </p:cNvGraphicFramePr>
          <p:nvPr/>
        </p:nvGraphicFramePr>
        <p:xfrm>
          <a:off x="457200" y="1280160"/>
          <a:ext cx="11247120" cy="2377440"/>
        </p:xfrm>
        <a:graphic>
          <a:graphicData uri="http://schemas.openxmlformats.org/drawingml/2006/table">
            <a:tbl>
              <a:tblPr firstRow="1" bandRow="1">
                <a:tableStyleId>{5C22544A-7EE6-4342-B048-85BDC9FD1C3A}</a:tableStyleId>
              </a:tblPr>
              <a:tblGrid>
                <a:gridCol w="3931920"/>
                <a:gridCol w="1828800"/>
                <a:gridCol w="1828800"/>
                <a:gridCol w="1828800"/>
                <a:gridCol w="1828800"/>
              </a:tblGrid>
              <a:tr h="396240">
                <a:tc>
                  <a:txBody>
                    <a:bodyPr/>
                    <a:lstStyle/>
                    <a:p>
                      <a:pPr algn="ctr">
                        <a:defRPr sz="1200" b="1">
                          <a:solidFill>
                            <a:srgbClr val="FFFFFF"/>
                          </a:solidFill>
                          <a:latin typeface="Arial"/>
                        </a:defRPr>
                      </a:pPr>
                    </a:p>
                  </a:txBody>
                  <a:tcPr>
                    <a:solidFill>
                      <a:srgbClr val="002856"/>
                    </a:solidFill>
                  </a:tcPr>
                </a:tc>
                <a:tc>
                  <a:txBody>
                    <a:bodyPr/>
                    <a:lstStyle/>
                    <a:p>
                      <a:pPr algn="ctr">
                        <a:defRPr sz="1200" b="1">
                          <a:solidFill>
                            <a:srgbClr val="FFFFFF"/>
                          </a:solidFill>
                          <a:latin typeface="Arial"/>
                        </a:defRPr>
                      </a:pPr>
                      <a:r>
                        <a:rPr/>
                        <a:t>CLEAResult</a:t>
                      </a:r>
                    </a:p>
                  </a:txBody>
                  <a:tcPr>
                    <a:solidFill>
                      <a:srgbClr val="002856"/>
                    </a:solidFill>
                  </a:tcPr>
                </a:tc>
                <a:tc>
                  <a:txBody>
                    <a:bodyPr/>
                    <a:lstStyle/>
                    <a:p>
                      <a:pPr algn="ctr">
                        <a:defRPr sz="1200" b="1">
                          <a:solidFill>
                            <a:srgbClr val="FFFFFF"/>
                          </a:solidFill>
                          <a:latin typeface="Arial"/>
                        </a:defRPr>
                      </a:pPr>
                      <a:r>
                        <a:rPr/>
                        <a:t>ICF</a:t>
                      </a:r>
                    </a:p>
                  </a:txBody>
                  <a:tcPr>
                    <a:solidFill>
                      <a:srgbClr val="002856"/>
                    </a:solidFill>
                  </a:tcPr>
                </a:tc>
                <a:tc>
                  <a:txBody>
                    <a:bodyPr/>
                    <a:lstStyle/>
                    <a:p>
                      <a:pPr algn="ctr">
                        <a:defRPr sz="1200" b="1">
                          <a:solidFill>
                            <a:srgbClr val="FFFFFF"/>
                          </a:solidFill>
                          <a:latin typeface="Arial"/>
                        </a:defRPr>
                      </a:pPr>
                      <a:r>
                        <a:rPr/>
                        <a:t>Stantec</a:t>
                      </a:r>
                    </a:p>
                  </a:txBody>
                  <a:tcPr>
                    <a:solidFill>
                      <a:srgbClr val="002856"/>
                    </a:solidFill>
                  </a:tcPr>
                </a:tc>
                <a:tc>
                  <a:txBody>
                    <a:bodyPr/>
                    <a:lstStyle/>
                    <a:p>
                      <a:pPr algn="ctr">
                        <a:defRPr sz="1200" b="1">
                          <a:solidFill>
                            <a:srgbClr val="FFFFFF"/>
                          </a:solidFill>
                          <a:latin typeface="Arial"/>
                        </a:defRPr>
                      </a:pPr>
                      <a:r>
                        <a:rPr/>
                        <a:t>APTIM</a:t>
                      </a:r>
                    </a:p>
                  </a:txBody>
                  <a:tcPr>
                    <a:solidFill>
                      <a:srgbClr val="002856"/>
                    </a:solidFill>
                  </a:tcPr>
                </a:tc>
              </a:tr>
              <a:tr h="396240">
                <a:tc>
                  <a:txBody>
                    <a:bodyPr/>
                    <a:lstStyle/>
                    <a:p>
                      <a:pPr>
                        <a:defRPr sz="1200">
                          <a:solidFill>
                            <a:srgbClr val="002856"/>
                          </a:solidFill>
                          <a:latin typeface="Arial"/>
                        </a:defRPr>
                      </a:pPr>
                      <a:r>
                        <a:rPr/>
                        <a:t>Energy Efficiency Programs</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r>
              <a:tr h="396240">
                <a:tc>
                  <a:txBody>
                    <a:bodyPr/>
                    <a:lstStyle/>
                    <a:p>
                      <a:pPr>
                        <a:defRPr sz="1200">
                          <a:solidFill>
                            <a:srgbClr val="002856"/>
                          </a:solidFill>
                          <a:latin typeface="Arial"/>
                        </a:defRPr>
                      </a:pPr>
                      <a:r>
                        <a:rPr/>
                        <a:t>Rebate Administration</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r>
              <a:tr h="396240">
                <a:tc>
                  <a:txBody>
                    <a:bodyPr/>
                    <a:lstStyle/>
                    <a:p>
                      <a:pPr>
                        <a:defRPr sz="1200">
                          <a:solidFill>
                            <a:srgbClr val="002856"/>
                          </a:solidFill>
                          <a:latin typeface="Arial"/>
                        </a:defRPr>
                      </a:pPr>
                      <a:r>
                        <a:rPr/>
                        <a:t>Government Programs</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r>
              <a:tr h="396240">
                <a:tc>
                  <a:txBody>
                    <a:bodyPr/>
                    <a:lstStyle/>
                    <a:p>
                      <a:pPr>
                        <a:defRPr sz="1200">
                          <a:solidFill>
                            <a:srgbClr val="002856"/>
                          </a:solidFill>
                          <a:latin typeface="Arial"/>
                        </a:defRPr>
                      </a:pPr>
                      <a:r>
                        <a:rPr/>
                        <a:t>Engineering &amp; Infrastructure</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r>
              <a:tr h="396240">
                <a:tc>
                  <a:txBody>
                    <a:bodyPr/>
                    <a:lstStyle/>
                    <a:p>
                      <a:pPr>
                        <a:defRPr sz="1200">
                          <a:solidFill>
                            <a:srgbClr val="002856"/>
                          </a:solidFill>
                          <a:latin typeface="Arial"/>
                        </a:defRPr>
                      </a:pPr>
                      <a:r>
                        <a:rPr/>
                        <a:t>Utility-Owned Fleet Admin</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 (only one)</a:t>
                      </a:r>
                    </a:p>
                  </a:txBody>
                  <a:tcPr>
                    <a:solidFill>
                      <a:srgbClr val="E9EEF5"/>
                    </a:solidFill>
                  </a:tcPr>
                </a:tc>
              </a:tr>
            </a:tbl>
          </a:graphicData>
        </a:graphic>
      </p:graphicFrame>
      <p:sp>
        <p:nvSpPr>
          <p:cNvPr id="5" name="TextBox 4"/>
          <p:cNvSpPr txBox="1"/>
          <p:nvPr/>
        </p:nvSpPr>
        <p:spPr>
          <a:xfrm>
            <a:off x="457200" y="3749039"/>
            <a:ext cx="11247120" cy="274320"/>
          </a:xfrm>
          <a:prstGeom prst="rect">
            <a:avLst/>
          </a:prstGeom>
          <a:noFill/>
        </p:spPr>
        <p:txBody>
          <a:bodyPr wrap="none">
            <a:spAutoFit/>
          </a:bodyPr>
          <a:lstStyle/>
          <a:p>
            <a:r>
              <a:rPr sz="1200" i="1">
                <a:solidFill>
                  <a:srgbClr val="595959"/>
                </a:solidFill>
                <a:latin typeface="Arial"/>
              </a:rPr>
              <a:t>● Core service     ◐ Secondary service     ○ Not offered / weak</a:t>
            </a:r>
          </a:p>
        </p:txBody>
      </p:sp>
      <p:sp>
        <p:nvSpPr>
          <p:cNvPr id="6" name="Rounded Rectangle 5"/>
          <p:cNvSpPr/>
          <p:nvPr/>
        </p:nvSpPr>
        <p:spPr>
          <a:xfrm>
            <a:off x="457200" y="4160520"/>
            <a:ext cx="11247120" cy="1965960"/>
          </a:xfrm>
          <a:prstGeom prst="roundRect">
            <a:avLst>
              <a:gd name="adj" fmla="val 6000"/>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500">
                <a:solidFill>
                  <a:srgbClr val="002856"/>
                </a:solidFill>
                <a:latin typeface="Arial"/>
              </a:rPr>
              <a:t>The Gap: Nobody Administers Utility-Owned Residential Fleets</a:t>
            </a:r>
          </a:p>
          <a:p>
            <a:pPr>
              <a:spcAft>
                <a:spcPts val="600"/>
              </a:spcAft>
            </a:pPr>
            <a:r>
              <a:rPr b="1" sz="1200">
                <a:solidFill>
                  <a:srgbClr val="FF8200"/>
                </a:solidFill>
                <a:latin typeface="Arial"/>
              </a:rPr>
              <a:t>•  CLEAResult:</a:t>
            </a:r>
            <a:r>
              <a:rPr sz="1200">
                <a:solidFill>
                  <a:srgbClr val="002856"/>
                </a:solidFill>
                <a:latin typeface="Arial"/>
              </a:rPr>
              <a:t> largest EE implementer, but only administers customer-owned (BYOD) programs</a:t>
            </a:r>
          </a:p>
          <a:p>
            <a:pPr>
              <a:spcAft>
                <a:spcPts val="600"/>
              </a:spcAft>
            </a:pPr>
            <a:r>
              <a:rPr b="1" sz="1200">
                <a:solidFill>
                  <a:srgbClr val="FF8200"/>
                </a:solidFill>
                <a:latin typeface="Arial"/>
              </a:rPr>
              <a:t>•  ICF:</a:t>
            </a:r>
            <a:r>
              <a:rPr sz="1200">
                <a:solidFill>
                  <a:srgbClr val="002856"/>
                </a:solidFill>
                <a:latin typeface="Arial"/>
              </a:rPr>
              <a:t> strong analytics and program design, no utility-owned asset administration</a:t>
            </a:r>
          </a:p>
          <a:p>
            <a:pPr>
              <a:spcAft>
                <a:spcPts val="600"/>
              </a:spcAft>
            </a:pPr>
            <a:r>
              <a:rPr b="1" sz="1200">
                <a:solidFill>
                  <a:srgbClr val="FF8200"/>
                </a:solidFill>
                <a:latin typeface="Arial"/>
              </a:rPr>
              <a:t>•  Stantec:</a:t>
            </a:r>
            <a:r>
              <a:rPr sz="1200">
                <a:solidFill>
                  <a:srgbClr val="002856"/>
                </a:solidFill>
                <a:latin typeface="Arial"/>
              </a:rPr>
              <a:t> engineering and infrastructure, not day-to-day program delivery</a:t>
            </a:r>
          </a:p>
          <a:p>
            <a:pPr>
              <a:spcAft>
                <a:spcPts val="600"/>
              </a:spcAft>
            </a:pPr>
            <a:r>
              <a:rPr b="1" sz="1200">
                <a:solidFill>
                  <a:srgbClr val="FF8200"/>
                </a:solidFill>
                <a:latin typeface="Arial"/>
              </a:rPr>
              <a:t>•  Proof:</a:t>
            </a:r>
            <a:r>
              <a:rPr sz="1200">
                <a:solidFill>
                  <a:srgbClr val="002856"/>
                </a:solidFill>
                <a:latin typeface="Arial"/>
              </a:rPr>
              <a:t> Green Mountain Power -- the largest utility-owned fleet in the US -- had to build this role in-house because no company sells it</a:t>
            </a:r>
          </a:p>
        </p:txBody>
      </p:sp>
      <p:sp>
        <p:nvSpPr>
          <p:cNvPr id="7" name="TextBox 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 name="TextBox 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12</a:t>
            </a:r>
          </a:p>
        </p:txBody>
      </p:sp>
    </p:spTree>
    <p:extLst>
      <p:ext uri="{BB962C8B-B14F-4D97-AF65-F5344CB8AC3E}">
        <p14:creationId xmlns:p14="http://schemas.microsoft.com/office/powerpoint/2010/main" val="3574166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3D7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002856"/>
                </a:solidFill>
                <a:latin typeface="Arial"/>
              </a:rPr>
              <a:t>Existing capabilities + trusted relationships + a differentiated market position = a scalable win for APTIM.</a:t>
            </a:r>
          </a:p>
        </p:txBody>
      </p:sp>
      <p:sp>
        <p:nvSpPr>
          <p:cNvPr id="87" name="TextBox 8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8" name="TextBox 8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13</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Client Use Case: Michigan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Legal pathway, feasibility,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500">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storage target by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A32036"/>
                </a:solidFill>
                <a:latin typeface="Arial"/>
              </a:rPr>
              <a:t>Known risk: </a:t>
            </a:r>
            <a:r>
              <a:rPr sz="1200">
                <a:solidFill>
                  <a:srgbClr val="002856"/>
                </a:solidFill>
                <a:latin typeface="Arial"/>
              </a:rPr>
              <a:t>DTE's prior residential battery pilot was rejected -- exact rationale unverified, case number needs docket confirmation.</a:t>
            </a:r>
          </a:p>
        </p:txBody>
      </p:sp>
      <p:sp>
        <p:nvSpPr>
          <p:cNvPr id="7" name="TextBox 6"/>
          <p:cNvSpPr txBox="1"/>
          <p:nvPr/>
        </p:nvSpPr>
        <p:spPr>
          <a:xfrm>
            <a:off x="365760" y="4343400"/>
            <a:ext cx="5486400" cy="274320"/>
          </a:xfrm>
          <a:prstGeom prst="rect">
            <a:avLst/>
          </a:prstGeom>
          <a:noFill/>
        </p:spPr>
        <p:txBody>
          <a:bodyPr wrap="none">
            <a:spAutoFit/>
          </a:bodyPr>
          <a:lstStyle/>
          <a:p>
            <a:r>
              <a:rPr b="1" sz="1500">
                <a:solidFill>
                  <a:srgbClr val="FF8200"/>
                </a:solidFill>
                <a:latin typeface="Arial"/>
              </a:rPr>
              <a:t>Why We Win the Bid</a:t>
            </a:r>
          </a:p>
        </p:txBody>
      </p:sp>
      <p:sp>
        <p:nvSpPr>
          <p:cNvPr id="8" name="TextBox 7"/>
          <p:cNvSpPr txBox="1"/>
          <p:nvPr/>
        </p:nvSpPr>
        <p:spPr>
          <a:xfrm>
            <a:off x="365760" y="4663440"/>
            <a:ext cx="5486400" cy="1005840"/>
          </a:xfrm>
          <a:prstGeom prst="rect">
            <a:avLst/>
          </a:prstGeom>
          <a:noFill/>
        </p:spPr>
        <p:txBody>
          <a:bodyPr wrap="square">
            <a:spAutoFit/>
          </a:bodyPr>
          <a:lstStyle/>
          <a:p>
            <a:pPr>
              <a:spcAft>
                <a:spcPts val="800"/>
              </a:spcAft>
            </a:pPr>
            <a:r>
              <a:rPr sz="1200">
                <a:solidFill>
                  <a:srgbClr val="002856"/>
                </a:solidFill>
                <a:latin typeface="Arial"/>
              </a:rPr>
              <a:t>✓  File as a low-exposure capped pilot, not a rate case</a:t>
            </a:r>
          </a:p>
          <a:p>
            <a:pPr>
              <a:spcAft>
                <a:spcPts val="800"/>
              </a:spcAft>
            </a:pPr>
            <a:r>
              <a:rPr sz="1200">
                <a:solidFill>
                  <a:srgbClr val="002856"/>
                </a:solidFill>
                <a:latin typeface="Arial"/>
              </a:rPr>
              <a:t>✓  APTIM brings the track record DTE lacked in 2022</a:t>
            </a:r>
          </a:p>
          <a:p>
            <a:pPr>
              <a:spcAft>
                <a:spcPts val="800"/>
              </a:spcAft>
            </a:pPr>
            <a:r>
              <a:rPr sz="1200">
                <a:solidFill>
                  <a:srgbClr val="002856"/>
                </a:solidFill>
                <a:latin typeface="Arial"/>
              </a:rPr>
              <a:t>✓  Local installer subcontracting defuses market pushback</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FF8200"/>
                </a:solidFill>
                <a:latin typeface="Arial"/>
              </a:rPr>
              <a:t>Pros vs. Cons (Mitigated)</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rPr/>
                        <a:t>Pros</a:t>
                      </a:r>
                    </a:p>
                  </a:txBody>
                  <a:tcPr>
                    <a:solidFill>
                      <a:srgbClr val="002856"/>
                    </a:solidFill>
                  </a:tcPr>
                </a:tc>
                <a:tc>
                  <a:txBody>
                    <a:bodyPr/>
                    <a:lstStyle/>
                    <a:p>
                      <a:pPr>
                        <a:defRPr sz="1100" b="1">
                          <a:solidFill>
                            <a:srgbClr val="FFFFFF"/>
                          </a:solidFill>
                          <a:latin typeface="Arial"/>
                        </a:defRPr>
                      </a:pPr>
                      <a:r>
                        <a:rPr/>
                        <a:t>Cons (Addressed Above)</a:t>
                      </a:r>
                    </a:p>
                  </a:txBody>
                  <a:tcPr>
                    <a:solidFill>
                      <a:srgbClr val="002856"/>
                    </a:solidFill>
                  </a:tcPr>
                </a:tc>
              </a:tr>
              <a:tr h="434340">
                <a:tc>
                  <a:txBody>
                    <a:bodyPr/>
                    <a:lstStyle/>
                    <a:p>
                      <a:pPr>
                        <a:defRPr sz="1100">
                          <a:solidFill>
                            <a:srgbClr val="002856"/>
                          </a:solidFill>
                          <a:latin typeface="Arial"/>
                        </a:defRPr>
                      </a:pPr>
                      <a:r>
                        <a:rPr/>
                        <a:t>No statutory ban on utility DER ownership</a:t>
                      </a:r>
                    </a:p>
                  </a:txBody>
                  <a:tcPr>
                    <a:solidFill>
                      <a:srgbClr val="E9EEF5"/>
                    </a:solidFill>
                  </a:tcPr>
                </a:tc>
                <a:tc>
                  <a:txBody>
                    <a:bodyPr/>
                    <a:lstStyle/>
                    <a:p>
                      <a:pPr>
                        <a:defRPr sz="1100">
                          <a:solidFill>
                            <a:srgbClr val="002856"/>
                          </a:solidFill>
                          <a:latin typeface="Arial"/>
                        </a:defRPr>
                      </a:pPr>
                      <a:r>
                        <a:rPr/>
                        <a:t>One prior attempt rejected</a:t>
                      </a:r>
                    </a:p>
                  </a:txBody>
                  <a:tcPr>
                    <a:solidFill>
                      <a:srgbClr val="E9EEF5"/>
                    </a:solidFill>
                  </a:tcPr>
                </a:tc>
              </a:tr>
              <a:tr h="434340">
                <a:tc>
                  <a:txBody>
                    <a:bodyPr/>
                    <a:lstStyle/>
                    <a:p>
                      <a:pPr>
                        <a:defRPr sz="1100">
                          <a:solidFill>
                            <a:srgbClr val="002856"/>
                          </a:solidFill>
                          <a:latin typeface="Arial"/>
                        </a:defRPr>
                      </a:pPr>
                      <a:r>
                        <a:rPr/>
                        <a:t>Real 2026 utility-owned storage precedent</a:t>
                      </a:r>
                    </a:p>
                  </a:txBody>
                  <a:tcPr>
                    <a:solidFill>
                      <a:srgbClr val="FFFFFF"/>
                    </a:solidFill>
                  </a:tcPr>
                </a:tc>
                <a:tc>
                  <a:txBody>
                    <a:bodyPr/>
                    <a:lstStyle/>
                    <a:p>
                      <a:pPr>
                        <a:defRPr sz="1100">
                          <a:solidFill>
                            <a:srgbClr val="002856"/>
                          </a:solidFill>
                          <a:latin typeface="Arial"/>
                        </a:defRPr>
                      </a:pPr>
                      <a:r>
                        <a:rPr/>
                        <a:t>Active rate-case political climate</a:t>
                      </a:r>
                    </a:p>
                  </a:txBody>
                  <a:tcPr>
                    <a:solidFill>
                      <a:srgbClr val="FFFFFF"/>
                    </a:solidFill>
                  </a:tcPr>
                </a:tc>
              </a:tr>
              <a:tr h="434340">
                <a:tc>
                  <a:txBody>
                    <a:bodyPr/>
                    <a:lstStyle/>
                    <a:p>
                      <a:pPr>
                        <a:defRPr sz="1100">
                          <a:solidFill>
                            <a:srgbClr val="002856"/>
                          </a:solidFill>
                          <a:latin typeface="Arial"/>
                        </a:defRPr>
                      </a:pPr>
                      <a:r>
                        <a:rPr/>
                        <a:t>Purpose-built expedited pilot pathway exists</a:t>
                      </a:r>
                    </a:p>
                  </a:txBody>
                  <a:tcPr>
                    <a:solidFill>
                      <a:srgbClr val="E9EEF5"/>
                    </a:solidFill>
                  </a:tcPr>
                </a:tc>
                <a:tc>
                  <a:txBody>
                    <a:bodyPr/>
                    <a:lstStyle/>
                    <a:p>
                      <a:pPr>
                        <a:defRPr sz="1100">
                          <a:solidFill>
                            <a:srgbClr val="002856"/>
                          </a:solidFill>
                          <a:latin typeface="Arial"/>
                        </a:defRPr>
                      </a:pPr>
                      <a:r>
                        <a:rPr/>
                        <a:t>No settled template for in-home equipment</a:t>
                      </a:r>
                    </a:p>
                  </a:txBody>
                  <a:tcPr>
                    <a:solidFill>
                      <a:srgbClr val="E9EEF5"/>
                    </a:solidFill>
                  </a:tcPr>
                </a:tc>
              </a:tr>
            </a:tbl>
          </a:graphicData>
        </a:graphic>
      </p:graphicFrame>
      <p:sp>
        <p:nvSpPr>
          <p:cNvPr id="11" name="TextBox 10"/>
          <p:cNvSpPr txBox="1"/>
          <p:nvPr/>
        </p:nvSpPr>
        <p:spPr>
          <a:xfrm>
            <a:off x="6172200" y="3429000"/>
            <a:ext cx="5577840" cy="274320"/>
          </a:xfrm>
          <a:prstGeom prst="rect">
            <a:avLst/>
          </a:prstGeom>
          <a:noFill/>
        </p:spPr>
        <p:txBody>
          <a:bodyPr wrap="none">
            <a:spAutoFit/>
          </a:bodyPr>
          <a:lstStyle/>
          <a:p>
            <a:r>
              <a:rPr b="1" sz="1500">
                <a:solidFill>
                  <a:srgbClr val="FF8200"/>
                </a:solidFill>
                <a:latin typeface="Arial"/>
              </a:rPr>
              <a:t>Timeline</a:t>
            </a:r>
          </a:p>
        </p:txBody>
      </p:sp>
      <p:sp>
        <p:nvSpPr>
          <p:cNvPr id="12" name="TextBox 11"/>
          <p:cNvSpPr txBox="1"/>
          <p:nvPr/>
        </p:nvSpPr>
        <p:spPr>
          <a:xfrm>
            <a:off x="6172200" y="3749039"/>
            <a:ext cx="5577840" cy="1920240"/>
          </a:xfrm>
          <a:prstGeom prst="rect">
            <a:avLst/>
          </a:prstGeom>
          <a:noFill/>
        </p:spPr>
        <p:txBody>
          <a:bodyPr wrap="square">
            <a:spAutoFit/>
          </a:bodyPr>
          <a:lstStyle/>
          <a:p>
            <a:pPr>
              <a:spcAft>
                <a:spcPts val="1000"/>
              </a:spcAft>
            </a:pPr>
            <a:r>
              <a:rPr b="1" sz="1200">
                <a:solidFill>
                  <a:srgbClr val="002856"/>
                </a:solidFill>
                <a:latin typeface="Arial"/>
              </a:rPr>
              <a:t>Year 1-2:</a:t>
            </a:r>
            <a:r>
              <a:rPr sz="1200">
                <a:solidFill>
                  <a:srgbClr val="002856"/>
                </a:solidFill>
                <a:latin typeface="Arial"/>
              </a:rPr>
              <a:t> Pilot filing, MPSC review, Phase 1 enrollment of qualifying homeowners</a:t>
            </a:r>
          </a:p>
          <a:p>
            <a:pPr>
              <a:spcAft>
                <a:spcPts val="1000"/>
              </a:spcAft>
            </a:pPr>
            <a:r>
              <a:rPr b="1" sz="1200">
                <a:solidFill>
                  <a:srgbClr val="002856"/>
                </a:solidFill>
                <a:latin typeface="Arial"/>
              </a:rPr>
              <a:t>Year 2-3:</a:t>
            </a:r>
            <a:r>
              <a:rPr sz="1200">
                <a:solidFill>
                  <a:srgbClr val="002856"/>
                </a:solidFill>
                <a:latin typeface="Arial"/>
              </a:rPr>
              <a:t> Fleet operational; results support a follow-on rate case</a:t>
            </a:r>
          </a:p>
          <a:p>
            <a:pPr>
              <a:spcAft>
                <a:spcPts val="1000"/>
              </a:spcAft>
            </a:pPr>
            <a:r>
              <a:rPr b="1" sz="1200">
                <a:solidFill>
                  <a:srgbClr val="002856"/>
                </a:solidFill>
                <a:latin typeface="Arial"/>
              </a:rPr>
              <a:t>Honest note:</a:t>
            </a:r>
            <a:r>
              <a:rPr sz="1200">
                <a:solidFill>
                  <a:srgbClr val="002856"/>
                </a:solidFill>
                <a:latin typeface="Arial"/>
              </a:rPr>
              <a:t> full-scale rate-basing may extend past year 3 -- pilot operation is the 1-3 year deliverable</a:t>
            </a:r>
          </a:p>
        </p:txBody>
      </p:sp>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200">
                <a:solidFill>
                  <a:srgbClr val="002856"/>
                </a:solidFill>
                <a:latin typeface="Arial"/>
              </a:rPr>
              <a:t>Answers the prompt: </a:t>
            </a:r>
            <a:r>
              <a:rPr sz="12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Tree>
    <p:extLst>
      <p:ext uri="{BB962C8B-B14F-4D97-AF65-F5344CB8AC3E}">
        <p14:creationId xmlns:p14="http://schemas.microsoft.com/office/powerpoint/2010/main" val="12628144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Future / Scaling</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One pilot, then a repeatable path to every state where APTIM already operates</a:t>
            </a:r>
          </a:p>
        </p:txBody>
      </p:sp>
      <p:sp>
        <p:nvSpPr>
          <p:cNvPr id="4" name="Rounded Rectangle 3"/>
          <p:cNvSpPr/>
          <p:nvPr/>
        </p:nvSpPr>
        <p:spPr>
          <a:xfrm>
            <a:off x="457200" y="1463040"/>
            <a:ext cx="3483864" cy="283464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352544" y="1463040"/>
            <a:ext cx="3483864" cy="283464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FFFF"/>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8247888" y="1463040"/>
            <a:ext cx="3483864" cy="283464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986784" y="2651760"/>
            <a:ext cx="320040" cy="457200"/>
          </a:xfrm>
          <a:prstGeom prst="rect">
            <a:avLst/>
          </a:prstGeom>
          <a:noFill/>
        </p:spPr>
        <p:txBody>
          <a:bodyPr wrap="none">
            <a:spAutoFit/>
          </a:bodyPr>
          <a:lstStyle/>
          <a:p>
            <a:pPr algn="ctr"/>
            <a:r>
              <a:rPr sz="2200" b="1">
                <a:solidFill>
                  <a:srgbClr val="002856"/>
                </a:solidFill>
              </a:rPr>
              <a:t>→</a:t>
            </a:r>
          </a:p>
        </p:txBody>
      </p:sp>
      <p:sp>
        <p:nvSpPr>
          <p:cNvPr id="8" name="TextBox 7"/>
          <p:cNvSpPr txBox="1"/>
          <p:nvPr/>
        </p:nvSpPr>
        <p:spPr>
          <a:xfrm>
            <a:off x="7882128" y="2651760"/>
            <a:ext cx="320040" cy="457200"/>
          </a:xfrm>
          <a:prstGeom prst="rect">
            <a:avLst/>
          </a:prstGeom>
          <a:noFill/>
        </p:spPr>
        <p:txBody>
          <a:bodyPr wrap="none">
            <a:spAutoFit/>
          </a:bodyPr>
          <a:lstStyle/>
          <a:p>
            <a:pPr algn="ctr"/>
            <a:r>
              <a:rPr sz="2200" b="1">
                <a:solidFill>
                  <a:srgbClr val="002856"/>
                </a:solidFill>
              </a:rPr>
              <a:t>→</a:t>
            </a:r>
          </a:p>
        </p:txBody>
      </p:sp>
      <p:sp>
        <p:nvSpPr>
          <p:cNvPr id="9" name="Rounded Rectangle 8"/>
          <p:cNvSpPr/>
          <p:nvPr/>
        </p:nvSpPr>
        <p:spPr>
          <a:xfrm>
            <a:off x="457200" y="4572000"/>
            <a:ext cx="10972800" cy="118872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002856"/>
                </a:solidFill>
                <a:latin typeface="Arial"/>
              </a:rPr>
              <a:t>Scaling logic: </a:t>
            </a:r>
            <a:r>
              <a:rPr sz="1300">
                <a:solidFill>
                  <a:srgbClr val="002856"/>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1" name="TextBox 10"/>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15</a:t>
            </a:r>
          </a:p>
        </p:txBody>
      </p:sp>
    </p:spTree>
    <p:extLst>
      <p:ext uri="{BB962C8B-B14F-4D97-AF65-F5344CB8AC3E}">
        <p14:creationId xmlns:p14="http://schemas.microsoft.com/office/powerpoint/2010/main" val="16474001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How APTIM Wins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387993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spTree>
    <p:extLst>
      <p:ext uri="{BB962C8B-B14F-4D97-AF65-F5344CB8AC3E}">
        <p14:creationId xmlns:p14="http://schemas.microsoft.com/office/powerpoint/2010/main" val="24153850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B71B"/>
                </a:highlight>
                <a:latin typeface="Arial"/>
                <a:cs typeface="Arial"/>
              </a:rPr>
              <a:t>– Problem Definition (Pain point)</a:t>
            </a:r>
          </a:p>
          <a:p>
            <a:pPr marL="233045" indent="-233045">
              <a:buNone/>
            </a:pPr>
            <a:r>
              <a:rPr lang="en-US">
                <a:highlight>
                  <a:srgbClr val="FFB71B"/>
                </a:highlight>
                <a:latin typeface="Arial"/>
                <a:cs typeface="Arial"/>
              </a:rPr>
              <a:t>– Market/Policy Analysis: (current state, changes impacting space)</a:t>
            </a:r>
          </a:p>
          <a:p>
            <a:pPr marL="233045" indent="-233045">
              <a:buNone/>
            </a:pPr>
            <a:r>
              <a:rPr lang="en-US">
                <a:highlight>
                  <a:srgbClr val="FFB71B"/>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002856"/>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002856"/>
              </a:solidFill>
            </a:endParaRPr>
          </a:p>
          <a:p>
            <a:pPr marL="233045" indent="-233045"/>
            <a:r>
              <a:rPr lang="en-US" sz="1600">
                <a:solidFill>
                  <a:srgbClr val="002856"/>
                </a:solidFill>
              </a:rPr>
              <a:t>Scales Through Existing Relationships </a:t>
            </a:r>
          </a:p>
          <a:p>
            <a:pPr marL="574357" lvl="1" indent="-233045"/>
            <a:r>
              <a:rPr lang="en-US" sz="1400">
                <a:solidFill>
                  <a:srgbClr val="002856"/>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002856"/>
              </a:solidFill>
            </a:endParaRPr>
          </a:p>
          <a:p>
            <a:pPr marL="233045" indent="-233045"/>
            <a:r>
              <a:rPr lang="en-US" sz="1600">
                <a:solidFill>
                  <a:srgbClr val="002856"/>
                </a:solidFill>
              </a:rPr>
              <a:t>Creates More Resilient Revenue Streams</a:t>
            </a:r>
          </a:p>
          <a:p>
            <a:pPr marL="574357" lvl="1" indent="-233045"/>
            <a:r>
              <a:rPr lang="en-US" sz="1400">
                <a:solidFill>
                  <a:srgbClr val="002856"/>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002856"/>
                </a:solidFill>
              </a:rPr>
              <a:t>Bottom Text to highlight point</a:t>
            </a:r>
          </a:p>
          <a:p>
            <a:pPr marL="574357" lvl="1" indent="-233045"/>
            <a:r>
              <a:rPr lang="en-US" b="1">
                <a:solidFill>
                  <a:srgbClr val="002856"/>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002856"/>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002856"/>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
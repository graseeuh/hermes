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777777"/>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777777"/>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777777"/>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777777"/>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777777"/>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333333"/>
                          </a:solidFill>
                          <a:latin typeface="Arial"/>
                        </a:defRPr>
                      </a:pPr>
                      <a:r>
                        <a:t>Broad "Program Resilience Toolkit" (multi-module: adaptation support, funding navigation, compliance/reporting, contractor continuity)</a:t>
                      </a:r>
                    </a:p>
                  </a:txBody>
                  <a:tcPr>
                    <a:solidFill>
                      <a:srgbClr val="FCE9E9"/>
                    </a:solidFill>
                  </a:tcPr>
                </a:tc>
                <a:tc>
                  <a:txBody>
                    <a:bodyPr/>
                    <a:lstStyle/>
                    <a:p>
                      <a:pPr>
                        <a:defRPr sz="1100">
                          <a:solidFill>
                            <a:srgbClr val="333333"/>
                          </a:solidFill>
                          <a:latin typeface="Arial"/>
                        </a:defRPr>
                      </a:pPr>
                      <a:r>
                        <a:t>Medium -- every module individually feasible, but no single concrete offering</a:t>
                      </a:r>
                    </a:p>
                  </a:txBody>
                  <a:tcPr>
                    <a:solidFill>
                      <a:srgbClr val="FCE9E9"/>
                    </a:solidFill>
                  </a:tcPr>
                </a:tc>
                <a:tc>
                  <a:txBody>
                    <a:bodyPr/>
                    <a:lstStyle/>
                    <a:p>
                      <a:pPr>
                        <a:defRPr sz="1100">
                          <a:solidFill>
                            <a:srgbClr val="333333"/>
                          </a:solidFill>
                          <a:latin typeface="Arial"/>
                        </a:defRPr>
                      </a:pPr>
                      <a:r>
                        <a:t>Partial -- leadership explicitly asked for a specific program, not a broad toolkit; prompt calls for a focused solution, not a general capability set</a:t>
                      </a:r>
                    </a:p>
                  </a:txBody>
                  <a:tcPr>
                    <a:solidFill>
                      <a:srgbClr val="FCE9E9"/>
                    </a:solidFill>
                  </a:tcPr>
                </a:tc>
                <a:tc>
                  <a:txBody>
                    <a:bodyPr/>
                    <a:lstStyle/>
                    <a:p>
                      <a:pPr>
                        <a:defRPr sz="1100">
                          <a:solidFill>
                            <a:srgbClr val="333333"/>
                          </a:solidFill>
                          <a:latin typeface="Arial"/>
                        </a:defRPr>
                      </a:pPr>
                      <a:r>
                        <a:t>NOT SELECTED as standalone pitch</a:t>
                      </a:r>
                    </a:p>
                  </a:txBody>
                  <a:tcPr>
                    <a:solidFill>
                      <a:srgbClr val="FCE9E9"/>
                    </a:solidFill>
                  </a:tcPr>
                </a:tc>
              </a:tr>
              <a:tr h="701040">
                <a:tc>
                  <a:txBody>
                    <a:bodyPr/>
                    <a:lstStyle/>
                    <a:p>
                      <a:pPr>
                        <a:defRPr sz="1100">
                          <a:solidFill>
                            <a:srgbClr val="333333"/>
                          </a:solidFill>
                          <a:latin typeface="Arial"/>
                        </a:defRPr>
                      </a:pPr>
                      <a:r>
                        <a:t>Utility-Owned Battery + Solar Fleet, APTIM-Administered</a:t>
                      </a:r>
                    </a:p>
                  </a:txBody>
                  <a:tcPr>
                    <a:solidFill>
                      <a:srgbClr val="E3F2E1"/>
                    </a:solidFill>
                  </a:tcPr>
                </a:tc>
                <a:tc>
                  <a:txBody>
                    <a:bodyPr/>
                    <a:lstStyle/>
                    <a:p>
                      <a:pPr>
                        <a:defRPr sz="1100">
                          <a:solidFill>
                            <a:srgbClr val="333333"/>
                          </a:solidFill>
                          <a:latin typeface="Arial"/>
                        </a:defRPr>
                      </a:pPr>
                      <a:r>
                        <a:t>High -- matches an existing, proven APTIM capability</a:t>
                      </a:r>
                    </a:p>
                  </a:txBody>
                  <a:tcPr>
                    <a:solidFill>
                      <a:srgbClr val="E3F2E1"/>
                    </a:solidFill>
                  </a:tcPr>
                </a:tc>
                <a:tc>
                  <a:txBody>
                    <a:bodyPr/>
                    <a:lstStyle/>
                    <a:p>
                      <a:pPr>
                        <a:defRPr sz="1100">
                          <a:solidFill>
                            <a:srgbClr val="333333"/>
                          </a:solidFill>
                          <a:latin typeface="Arial"/>
                        </a:defRPr>
                      </a:pPr>
                      <a:r>
                        <a:t>Full -- single client group (utilities), no new technology, leverages current APTIM capabilities, achievable in 1-3 years, scalable across states</a:t>
                      </a:r>
                    </a:p>
                  </a:txBody>
                  <a:tcPr>
                    <a:solidFill>
                      <a:srgbClr val="E3F2E1"/>
                    </a:solidFill>
                  </a:tcPr>
                </a:tc>
                <a:tc>
                  <a:txBody>
                    <a:bodyPr/>
                    <a:lstStyle/>
                    <a:p>
                      <a:pPr>
                        <a:defRPr sz="1100">
                          <a:solidFill>
                            <a:srgbClr val="333333"/>
                          </a:solidFill>
                          <a:latin typeface="Arial"/>
                        </a:defRPr>
                      </a:pPr>
                      <a:r>
                        <a:t>SELECTED</a:t>
                      </a:r>
                    </a:p>
                  </a:txBody>
                  <a:tcPr>
                    <a:solidFill>
                      <a:srgbClr val="E3F2E1"/>
                    </a:solidFill>
                  </a:tcPr>
                </a:tc>
              </a:tr>
            </a:tbl>
          </a:graphicData>
        </a:graphic>
      </p:graphicFrame>
      <p:sp>
        <p:nvSpPr>
          <p:cNvPr id="5" name="Rectangle 4"/>
          <p:cNvSpPr/>
          <p:nvPr/>
        </p:nvSpPr>
        <p:spPr>
          <a:xfrm>
            <a:off x="457200" y="3611880"/>
            <a:ext cx="11247120" cy="260604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333333"/>
                </a:solidFill>
                <a:latin typeface="Arial"/>
              </a:rPr>
              <a:t>•  Describes HOW APTIM operates -- not a sellable program</a:t>
            </a:r>
          </a:p>
          <a:p>
            <a:pPr>
              <a:spcAft>
                <a:spcPts val="600"/>
              </a:spcAft>
            </a:pPr>
            <a:r>
              <a:rPr sz="1300">
                <a:solidFill>
                  <a:srgbClr val="333333"/>
                </a:solidFill>
                <a:latin typeface="Arial"/>
              </a:rPr>
              <a:t>•  Leadership asked for one specific offer, not a capability list</a:t>
            </a:r>
          </a:p>
          <a:p>
            <a:pPr>
              <a:spcAft>
                <a:spcPts val="600"/>
              </a:spcAft>
            </a:pPr>
            <a:r>
              <a:rPr sz="1300">
                <a:solidFill>
                  <a:srgbClr val="333333"/>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002856"/>
                </a:solidFill>
                <a:latin typeface="Arial"/>
              </a:rPr>
              <a:t>APTIM's Role</a:t>
            </a:r>
          </a:p>
          <a:p>
            <a:pPr>
              <a:spcAft>
                <a:spcPts val="1000"/>
              </a:spcAft>
            </a:pPr>
            <a:r>
              <a:rPr b="1" sz="1300">
                <a:solidFill>
                  <a:srgbClr val="002856"/>
                </a:solidFill>
                <a:latin typeface="Arial"/>
              </a:rPr>
              <a:t>•  Program administrator</a:t>
            </a:r>
            <a:r>
              <a:rPr sz="1300">
                <a:solidFill>
                  <a:srgbClr val="333333"/>
                </a:solidFill>
                <a:latin typeface="Arial"/>
              </a:rPr>
              <a:t> in multiple states -- Wisconsin (Focus on Energy) is our proof point</a:t>
            </a:r>
          </a:p>
          <a:p>
            <a:pPr>
              <a:spcAft>
                <a:spcPts val="1000"/>
              </a:spcAft>
            </a:pPr>
            <a:r>
              <a:rPr b="1" sz="1300">
                <a:solidFill>
                  <a:srgbClr val="002856"/>
                </a:solidFill>
                <a:latin typeface="Arial"/>
              </a:rPr>
              <a:t>•  Market shift:</a:t>
            </a:r>
            <a:r>
              <a:rPr sz="1300">
                <a:solidFill>
                  <a:srgbClr val="333333"/>
                </a:solidFill>
                <a:latin typeface="Arial"/>
              </a:rPr>
              <a:t> utilities moving from broad electrification programs toward demand response, grid management, and storage</a:t>
            </a:r>
          </a:p>
          <a:p>
            <a:pPr>
              <a:spcAft>
                <a:spcPts val="1000"/>
              </a:spcAft>
            </a:pPr>
            <a:r>
              <a:rPr b="1" sz="1300">
                <a:solidFill>
                  <a:srgbClr val="002856"/>
                </a:solidFill>
                <a:latin typeface="Arial"/>
              </a:rPr>
              <a:t>•  Why now:</a:t>
            </a:r>
            <a:r>
              <a:rPr sz="1300">
                <a:solidFill>
                  <a:srgbClr val="333333"/>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002856"/>
                </a:solidFill>
                <a:latin typeface="Arial"/>
              </a:rPr>
              <a:t>TAM</a:t>
            </a:r>
          </a:p>
          <a:p>
            <a:pPr>
              <a:spcAft>
                <a:spcPts val="1600"/>
              </a:spcAft>
            </a:pPr>
            <a:r>
              <a:rPr sz="1100" i="1">
                <a:solidFill>
                  <a:srgbClr val="333333"/>
                </a:solidFill>
                <a:latin typeface="Arial"/>
              </a:rPr>
              <a:t>Total Addressable Market</a:t>
            </a:r>
          </a:p>
          <a:p>
            <a:pPr>
              <a:spcAft>
                <a:spcPts val="200"/>
              </a:spcAft>
            </a:pPr>
            <a:r>
              <a:rPr b="1" sz="1500">
                <a:solidFill>
                  <a:srgbClr val="002856"/>
                </a:solidFill>
                <a:latin typeface="Arial"/>
              </a:rPr>
              <a:t>SAM</a:t>
            </a:r>
          </a:p>
          <a:p>
            <a:pPr>
              <a:spcAft>
                <a:spcPts val="1600"/>
              </a:spcAft>
            </a:pPr>
            <a:r>
              <a:rPr sz="1100" i="1">
                <a:solidFill>
                  <a:srgbClr val="333333"/>
                </a:solidFill>
                <a:latin typeface="Arial"/>
              </a:rPr>
              <a:t>Serviceable Addressable Market</a:t>
            </a:r>
          </a:p>
          <a:p>
            <a:pPr>
              <a:spcAft>
                <a:spcPts val="200"/>
              </a:spcAft>
            </a:pPr>
            <a:r>
              <a:rPr b="1" sz="1500">
                <a:solidFill>
                  <a:srgbClr val="002856"/>
                </a:solidFill>
                <a:latin typeface="Arial"/>
              </a:rPr>
              <a:t>SOM</a:t>
            </a:r>
          </a:p>
          <a:p>
            <a:r>
              <a:rPr sz="1100" i="1">
                <a:solidFill>
                  <a:srgbClr val="333333"/>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333333"/>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777777"/>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1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1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1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FF6E8"/>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664E1A"/>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800">
                <a:solidFill>
                  <a:srgbClr val="888888"/>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100">
                <a:solidFill>
                  <a:srgbClr val="002856"/>
                </a:solidFill>
                <a:latin typeface="Arial"/>
              </a:rPr>
              <a:t>Model: </a:t>
            </a:r>
            <a:r>
              <a:rPr sz="1100">
                <a:solidFill>
                  <a:srgbClr val="333333"/>
                </a:solidFill>
                <a:latin typeface="Arial"/>
              </a:rPr>
              <a:t>Base fee as % of program budget + performance bonus overlay</a:t>
            </a:r>
          </a:p>
          <a:p>
            <a:pPr>
              <a:spcAft>
                <a:spcPts val="600"/>
              </a:spcAft>
            </a:pPr>
            <a:r>
              <a:rPr b="1" sz="1100">
                <a:solidFill>
                  <a:srgbClr val="002856"/>
                </a:solidFill>
                <a:latin typeface="Arial"/>
              </a:rPr>
              <a:t>Precedent: </a:t>
            </a:r>
            <a:r>
              <a:rPr sz="1100">
                <a:solidFill>
                  <a:srgbClr val="333333"/>
                </a:solidFill>
                <a:latin typeface="Arial"/>
              </a:rPr>
              <a:t>APTIM's real Focus on Energy contract (2023-2026) uses this exact structure</a:t>
            </a:r>
          </a:p>
          <a:p>
            <a:pPr>
              <a:spcAft>
                <a:spcPts val="600"/>
              </a:spcAft>
            </a:pPr>
            <a:r>
              <a:rPr b="1" sz="1100">
                <a:solidFill>
                  <a:srgbClr val="002856"/>
                </a:solidFill>
                <a:latin typeface="Arial"/>
              </a:rPr>
              <a:t>Benchmark: </a:t>
            </a:r>
            <a:r>
              <a:rPr sz="1100">
                <a:solidFill>
                  <a:srgbClr val="333333"/>
                </a:solidFill>
                <a:latin typeface="Arial"/>
              </a:rPr>
              <a:t>Federal EECBG caps admin fees at 10% of funds -- a citable floor</a:t>
            </a:r>
          </a:p>
          <a:p>
            <a:pPr>
              <a:spcAft>
                <a:spcPts val="600"/>
              </a:spcAft>
            </a:pPr>
            <a:r>
              <a:rPr b="1" sz="1100">
                <a:solidFill>
                  <a:srgbClr val="002856"/>
                </a:solidFill>
                <a:latin typeface="Arial"/>
              </a:rPr>
              <a:t>Exact %: </a:t>
            </a:r>
            <a:r>
              <a:rPr sz="1100">
                <a:solidFill>
                  <a:srgbClr val="333333"/>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100">
                <a:solidFill>
                  <a:srgbClr val="002856"/>
                </a:solidFill>
                <a:latin typeface="Arial"/>
              </a:rPr>
              <a:t>Utility: </a:t>
            </a:r>
            <a:r>
              <a:rPr sz="1100">
                <a:solidFill>
                  <a:srgbClr val="333333"/>
                </a:solidFill>
                <a:latin typeface="Arial"/>
              </a:rPr>
              <a:t>Meets storage mandate, grows rate base, cheaper than new peaker capacity</a:t>
            </a:r>
          </a:p>
          <a:p>
            <a:pPr>
              <a:spcAft>
                <a:spcPts val="600"/>
              </a:spcAft>
            </a:pPr>
            <a:r>
              <a:rPr b="1" sz="1100">
                <a:solidFill>
                  <a:srgbClr val="002856"/>
                </a:solidFill>
                <a:latin typeface="Arial"/>
              </a:rPr>
              <a:t>Household: </a:t>
            </a:r>
            <a:r>
              <a:rPr sz="1100">
                <a:solidFill>
                  <a:srgbClr val="333333"/>
                </a:solidFill>
                <a:latin typeface="Arial"/>
              </a:rPr>
              <a:t>Free backup power, zero upfront or monthly cost</a:t>
            </a:r>
          </a:p>
          <a:p>
            <a:pPr>
              <a:spcAft>
                <a:spcPts val="600"/>
              </a:spcAft>
            </a:pPr>
            <a:r>
              <a:rPr b="1" sz="1100">
                <a:solidFill>
                  <a:srgbClr val="002856"/>
                </a:solidFill>
                <a:latin typeface="Arial"/>
              </a:rPr>
              <a:t>APTIM: </a:t>
            </a:r>
            <a:r>
              <a:rPr sz="1100">
                <a:solidFill>
                  <a:srgbClr val="333333"/>
                </a:solidFill>
                <a:latin typeface="Arial"/>
              </a:rPr>
              <a:t>Recurring fee + Michigan market entry, filling an unadministered service niche</a:t>
            </a:r>
          </a:p>
          <a:p>
            <a:pPr>
              <a:spcAft>
                <a:spcPts val="600"/>
              </a:spcAft>
            </a:pPr>
            <a:r>
              <a:rPr b="1" sz="1100">
                <a:solidFill>
                  <a:srgbClr val="002856"/>
                </a:solidFill>
                <a:latin typeface="Arial"/>
              </a:rPr>
              <a:t>Regulator: </a:t>
            </a:r>
            <a:r>
              <a:rPr sz="1100">
                <a:solidFill>
                  <a:srgbClr val="333333"/>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100">
                <a:solidFill>
                  <a:srgbClr val="002856"/>
                </a:solidFill>
                <a:latin typeface="Arial"/>
              </a:rPr>
              <a:t>Cold weather: </a:t>
            </a:r>
            <a:r>
              <a:rPr sz="1100">
                <a:solidFill>
                  <a:srgbClr val="333333"/>
                </a:solidFill>
                <a:latin typeface="Arial"/>
              </a:rPr>
              <a:t>Thermally-managed battery chemistry, sized with a winter capacity buffer -- Michigan's worst outages are winter/ice-storm driven</a:t>
            </a:r>
          </a:p>
          <a:p>
            <a:pPr>
              <a:spcAft>
                <a:spcPts val="600"/>
              </a:spcAft>
            </a:pPr>
            <a:r>
              <a:rPr b="1" sz="1100">
                <a:solidFill>
                  <a:srgbClr val="002856"/>
                </a:solidFill>
                <a:latin typeface="Arial"/>
              </a:rPr>
              <a:t>Maintenance: </a:t>
            </a:r>
            <a:r>
              <a:rPr sz="1100">
                <a:solidFill>
                  <a:srgbClr val="333333"/>
                </a:solidFill>
                <a:latin typeface="Arial"/>
              </a:rPr>
              <a:t>Utility owns the fleet, so utility (via APTIM's contractor network) maintains it -- zero burden on the household</a:t>
            </a:r>
          </a:p>
          <a:p>
            <a:pPr>
              <a:spcAft>
                <a:spcPts val="600"/>
              </a:spcAft>
            </a:pPr>
            <a:r>
              <a:rPr b="1" sz="1100">
                <a:solidFill>
                  <a:srgbClr val="002856"/>
                </a:solidFill>
                <a:latin typeface="Arial"/>
              </a:rPr>
              <a:t>Pilot targeting: </a:t>
            </a:r>
            <a:r>
              <a:rPr sz="1100">
                <a:solidFill>
                  <a:srgbClr val="333333"/>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333333"/>
                </a:solidFill>
                <a:latin typeface="Arial"/>
              </a:rPr>
              <a:t>✓  A specific program, not a capability list</a:t>
            </a:r>
          </a:p>
          <a:p>
            <a:pPr>
              <a:spcAft>
                <a:spcPts val="1600"/>
              </a:spcAft>
            </a:pPr>
            <a:r>
              <a:rPr sz="1500">
                <a:solidFill>
                  <a:srgbClr val="333333"/>
                </a:solidFill>
                <a:latin typeface="Arial"/>
              </a:rPr>
              <a:t>✓  Not a generation strategy -- a distribution-resilience play</a:t>
            </a:r>
          </a:p>
          <a:p>
            <a:pPr>
              <a:spcAft>
                <a:spcPts val="1600"/>
              </a:spcAft>
            </a:pPr>
            <a:r>
              <a:rPr sz="1500">
                <a:solidFill>
                  <a:srgbClr val="333333"/>
                </a:solidFill>
                <a:latin typeface="Arial"/>
              </a:rPr>
              <a:t>✓  Fits DTE's existing $1B/yr Distribution Grid Plan</a:t>
            </a:r>
          </a:p>
          <a:p>
            <a:pPr>
              <a:spcAft>
                <a:spcPts val="1600"/>
              </a:spcAft>
            </a:pPr>
            <a:r>
              <a:rPr sz="1500">
                <a:solidFill>
                  <a:srgbClr val="333333"/>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333333"/>
                </a:solidFill>
                <a:latin typeface="Arial"/>
              </a:rPr>
              <a:t>✓  Ownership settled: utility owns, homeowner-loan math rejected</a:t>
            </a:r>
          </a:p>
          <a:p>
            <a:pPr>
              <a:spcAft>
                <a:spcPts val="1600"/>
              </a:spcAft>
            </a:pPr>
            <a:r>
              <a:rPr sz="1500">
                <a:solidFill>
                  <a:srgbClr val="333333"/>
                </a:solidFill>
                <a:latin typeface="Arial"/>
              </a:rPr>
              <a:t>✓  Engineered for Michigan winters -- cold-rated battery chemistry</a:t>
            </a:r>
          </a:p>
          <a:p>
            <a:pPr>
              <a:spcAft>
                <a:spcPts val="1600"/>
              </a:spcAft>
            </a:pPr>
            <a:r>
              <a:rPr sz="1500">
                <a:solidFill>
                  <a:srgbClr val="333333"/>
                </a:solidFill>
                <a:latin typeface="Arial"/>
              </a:rPr>
              <a:t>✓  Utility owns it, utility maintains it -- zero burden on host</a:t>
            </a:r>
          </a:p>
          <a:p>
            <a:pPr>
              <a:spcAft>
                <a:spcPts val="1600"/>
              </a:spcAft>
            </a:pPr>
            <a:r>
              <a:rPr sz="1500">
                <a:solidFill>
                  <a:srgbClr val="333333"/>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333333"/>
                          </a:solidFill>
                          <a:latin typeface="Arial"/>
                        </a:defRPr>
                      </a:pPr>
                      <a:r>
                        <a:t>Energy Efficiency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Rebate Administration</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Government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Engineering &amp; Infrastructure</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Utility-Owned Fleet Admin</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 (only one)</a:t>
                      </a:r>
                    </a:p>
                  </a:txBody>
                  <a:tcPr>
                    <a:solidFill>
                      <a:srgbClr val="F4F6F9"/>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000" i="1">
                <a:solidFill>
                  <a:srgbClr val="777777"/>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333333"/>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333333"/>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333333"/>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333333"/>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5A7D9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2E7D5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333333"/>
                </a:solidFill>
                <a:latin typeface="Arial"/>
              </a:rPr>
              <a:t>✓  MPSC precedent: 1,332 MW utility-owned storage approved (Mar 2026)</a:t>
            </a:r>
          </a:p>
          <a:p>
            <a:pPr>
              <a:spcAft>
                <a:spcPts val="800"/>
              </a:spcAft>
            </a:pPr>
            <a:r>
              <a:rPr sz="1300">
                <a:solidFill>
                  <a:srgbClr val="333333"/>
                </a:solidFill>
                <a:latin typeface="Arial"/>
              </a:rPr>
              <a:t>✓  PA 235 mandate: 2,500 MW statewide storage target by 2029</a:t>
            </a:r>
          </a:p>
          <a:p>
            <a:pPr>
              <a:spcAft>
                <a:spcPts val="800"/>
              </a:spcAft>
            </a:pPr>
            <a:r>
              <a:rPr sz="1300">
                <a:solidFill>
                  <a:srgbClr val="333333"/>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B02A2A"/>
                </a:solidFill>
                <a:latin typeface="Arial"/>
              </a:rPr>
              <a:t>Known risk: </a:t>
            </a:r>
            <a:r>
              <a:rPr sz="1200">
                <a:solidFill>
                  <a:srgbClr val="333333"/>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333333"/>
                </a:solidFill>
                <a:latin typeface="Arial"/>
              </a:rPr>
              <a:t>✓  File as a low-exposure capped pilot, not a rate case</a:t>
            </a:r>
          </a:p>
          <a:p>
            <a:pPr>
              <a:spcAft>
                <a:spcPts val="800"/>
              </a:spcAft>
            </a:pPr>
            <a:r>
              <a:rPr sz="1200">
                <a:solidFill>
                  <a:srgbClr val="333333"/>
                </a:solidFill>
                <a:latin typeface="Arial"/>
              </a:rPr>
              <a:t>✓  APTIM brings the track record DTE lacked in 2022</a:t>
            </a:r>
          </a:p>
          <a:p>
            <a:pPr>
              <a:spcAft>
                <a:spcPts val="800"/>
              </a:spcAft>
            </a:pPr>
            <a:r>
              <a:rPr sz="1200">
                <a:solidFill>
                  <a:srgbClr val="333333"/>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050">
                          <a:solidFill>
                            <a:srgbClr val="333333"/>
                          </a:solidFill>
                          <a:latin typeface="Arial"/>
                        </a:defRPr>
                      </a:pPr>
                      <a:r>
                        <a:t>No statutory ban on utility DER ownership</a:t>
                      </a:r>
                    </a:p>
                  </a:txBody>
                  <a:tcPr>
                    <a:solidFill>
                      <a:srgbClr val="F4F6F9"/>
                    </a:solidFill>
                  </a:tcPr>
                </a:tc>
                <a:tc>
                  <a:txBody>
                    <a:bodyPr/>
                    <a:lstStyle/>
                    <a:p>
                      <a:pPr>
                        <a:defRPr sz="1050">
                          <a:solidFill>
                            <a:srgbClr val="333333"/>
                          </a:solidFill>
                          <a:latin typeface="Arial"/>
                        </a:defRPr>
                      </a:pPr>
                      <a:r>
                        <a:t>One prior attempt rejected</a:t>
                      </a:r>
                    </a:p>
                  </a:txBody>
                  <a:tcPr>
                    <a:solidFill>
                      <a:srgbClr val="F4F6F9"/>
                    </a:solidFill>
                  </a:tcPr>
                </a:tc>
              </a:tr>
              <a:tr h="434340">
                <a:tc>
                  <a:txBody>
                    <a:bodyPr/>
                    <a:lstStyle/>
                    <a:p>
                      <a:pPr>
                        <a:defRPr sz="1050">
                          <a:solidFill>
                            <a:srgbClr val="333333"/>
                          </a:solidFill>
                          <a:latin typeface="Arial"/>
                        </a:defRPr>
                      </a:pPr>
                      <a:r>
                        <a:t>Real 2026 utility-owned storage precedent</a:t>
                      </a:r>
                    </a:p>
                  </a:txBody>
                  <a:tcPr>
                    <a:solidFill>
                      <a:srgbClr val="FFFFFF"/>
                    </a:solidFill>
                  </a:tcPr>
                </a:tc>
                <a:tc>
                  <a:txBody>
                    <a:bodyPr/>
                    <a:lstStyle/>
                    <a:p>
                      <a:pPr>
                        <a:defRPr sz="1050">
                          <a:solidFill>
                            <a:srgbClr val="333333"/>
                          </a:solidFill>
                          <a:latin typeface="Arial"/>
                        </a:defRPr>
                      </a:pPr>
                      <a:r>
                        <a:t>Active rate-case political climate</a:t>
                      </a:r>
                    </a:p>
                  </a:txBody>
                  <a:tcPr>
                    <a:solidFill>
                      <a:srgbClr val="FFFFFF"/>
                    </a:solidFill>
                  </a:tcPr>
                </a:tc>
              </a:tr>
              <a:tr h="434340">
                <a:tc>
                  <a:txBody>
                    <a:bodyPr/>
                    <a:lstStyle/>
                    <a:p>
                      <a:pPr>
                        <a:defRPr sz="1050">
                          <a:solidFill>
                            <a:srgbClr val="333333"/>
                          </a:solidFill>
                          <a:latin typeface="Arial"/>
                        </a:defRPr>
                      </a:pPr>
                      <a:r>
                        <a:t>Purpose-built expedited pilot pathway exists</a:t>
                      </a:r>
                    </a:p>
                  </a:txBody>
                  <a:tcPr>
                    <a:solidFill>
                      <a:srgbClr val="F4F6F9"/>
                    </a:solidFill>
                  </a:tcPr>
                </a:tc>
                <a:tc>
                  <a:txBody>
                    <a:bodyPr/>
                    <a:lstStyle/>
                    <a:p>
                      <a:pPr>
                        <a:defRPr sz="1050">
                          <a:solidFill>
                            <a:srgbClr val="333333"/>
                          </a:solidFill>
                          <a:latin typeface="Arial"/>
                        </a:defRPr>
                      </a:pPr>
                      <a:r>
                        <a:t>No settled template for in-home equipment</a:t>
                      </a:r>
                    </a:p>
                  </a:txBody>
                  <a:tcPr>
                    <a:solidFill>
                      <a:srgbClr val="F4F6F9"/>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333333"/>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333333"/>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333333"/>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3F2E1"/>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333333"/>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333333"/>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
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2.xml"/><Relationship Id="rId17" Type="http://schemas.openxmlformats.org/officeDocument/2006/relationships/slide" Target="slides/slide16.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9.xml"/><Relationship Id="rId25" Type="http://schemas.openxmlformats.org/officeDocument/2006/relationships/slide" Target="slides/slide19.xml"/><Relationship Id="rId26" Type="http://schemas.openxmlformats.org/officeDocument/2006/relationships/slide" Target="slides/slide18.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probably needs to go much earlier in the presentation (after key goals)</a:t>
            </a:r>
          </a:p>
          <a:p/>
          <a:p>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0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0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sp>
        <p:nvSpPr>
          <p:cNvPr id="34" name="TextBox 33"/>
          <p:cNvSpPr txBox="1"/>
          <p:nvPr/>
        </p:nvSpPr>
        <p:spPr>
          <a:xfrm>
            <a:off x="640080" y="1371600"/>
            <a:ext cx="10881360" cy="475488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595959"/>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595959"/>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595959"/>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595959"/>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595959"/>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rPr/>
                        <a:t>Approach Considered</a:t>
                      </a:r>
                    </a:p>
                  </a:txBody>
                  <a:tcPr>
                    <a:solidFill>
                      <a:srgbClr val="002856"/>
                    </a:solidFill>
                  </a:tcPr>
                </a:tc>
                <a:tc>
                  <a:txBody>
                    <a:bodyPr/>
                    <a:lstStyle/>
                    <a:p>
                      <a:pPr>
                        <a:defRPr sz="1100" b="1">
                          <a:solidFill>
                            <a:srgbClr val="FFFFFF"/>
                          </a:solidFill>
                          <a:latin typeface="Arial"/>
                        </a:defRPr>
                      </a:pPr>
                      <a:r>
                        <a:rPr/>
                        <a:t>1-3 Yr Feasibility</a:t>
                      </a:r>
                    </a:p>
                  </a:txBody>
                  <a:tcPr>
                    <a:solidFill>
                      <a:srgbClr val="002856"/>
                    </a:solidFill>
                  </a:tcPr>
                </a:tc>
                <a:tc>
                  <a:txBody>
                    <a:bodyPr/>
                    <a:lstStyle/>
                    <a:p>
                      <a:pPr>
                        <a:defRPr sz="1100" b="1">
                          <a:solidFill>
                            <a:srgbClr val="FFFFFF"/>
                          </a:solidFill>
                          <a:latin typeface="Arial"/>
                        </a:defRPr>
                      </a:pPr>
                      <a:r>
                        <a:rPr/>
                        <a:t>Alignment with Prompt</a:t>
                      </a:r>
                    </a:p>
                  </a:txBody>
                  <a:tcPr>
                    <a:solidFill>
                      <a:srgbClr val="002856"/>
                    </a:solidFill>
                  </a:tcPr>
                </a:tc>
                <a:tc>
                  <a:txBody>
                    <a:bodyPr/>
                    <a:lstStyle/>
                    <a:p>
                      <a:pPr>
                        <a:defRPr sz="1100" b="1">
                          <a:solidFill>
                            <a:srgbClr val="FFFFFF"/>
                          </a:solidFill>
                          <a:latin typeface="Arial"/>
                        </a:defRPr>
                      </a:pPr>
                      <a:r>
                        <a:rPr/>
                        <a:t>Verdict</a:t>
                      </a:r>
                    </a:p>
                  </a:txBody>
                  <a:tcPr>
                    <a:solidFill>
                      <a:srgbClr val="002856"/>
                    </a:solidFill>
                  </a:tcPr>
                </a:tc>
              </a:tr>
              <a:tr h="701040">
                <a:tc>
                  <a:txBody>
                    <a:bodyPr/>
                    <a:lstStyle/>
                    <a:p>
                      <a:pPr>
                        <a:defRPr sz="1100">
                          <a:solidFill>
                            <a:srgbClr val="002856"/>
                          </a:solidFill>
                          <a:latin typeface="Arial"/>
                        </a:defRPr>
                      </a:pPr>
                      <a:r>
                        <a:rP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rP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rP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rPr/>
                        <a:t>NOT SELECTED as standalone pitch</a:t>
                      </a:r>
                    </a:p>
                  </a:txBody>
                  <a:tcPr>
                    <a:solidFill>
                      <a:srgbClr val="F5E4E7"/>
                    </a:solidFill>
                  </a:tcPr>
                </a:tc>
              </a:tr>
              <a:tr h="701040">
                <a:tc>
                  <a:txBody>
                    <a:bodyPr/>
                    <a:lstStyle/>
                    <a:p>
                      <a:pPr>
                        <a:defRPr sz="1100">
                          <a:solidFill>
                            <a:srgbClr val="002856"/>
                          </a:solidFill>
                          <a:latin typeface="Arial"/>
                        </a:defRPr>
                      </a:pPr>
                      <a:r>
                        <a:rPr/>
                        <a:t>Utility-Owned Battery + Solar Fleet, APTIM-Administered</a:t>
                      </a:r>
                    </a:p>
                  </a:txBody>
                  <a:tcPr>
                    <a:solidFill>
                      <a:srgbClr val="E0F2F1"/>
                    </a:solidFill>
                  </a:tcPr>
                </a:tc>
                <a:tc>
                  <a:txBody>
                    <a:bodyPr/>
                    <a:lstStyle/>
                    <a:p>
                      <a:pPr>
                        <a:defRPr sz="1100">
                          <a:solidFill>
                            <a:srgbClr val="002856"/>
                          </a:solidFill>
                          <a:latin typeface="Arial"/>
                        </a:defRPr>
                      </a:pPr>
                      <a:r>
                        <a:rPr/>
                        <a:t>High -- matches an existing, proven APTIM capability</a:t>
                      </a:r>
                    </a:p>
                  </a:txBody>
                  <a:tcPr>
                    <a:solidFill>
                      <a:srgbClr val="E0F2F1"/>
                    </a:solidFill>
                  </a:tcPr>
                </a:tc>
                <a:tc>
                  <a:txBody>
                    <a:bodyPr/>
                    <a:lstStyle/>
                    <a:p>
                      <a:pPr>
                        <a:defRPr sz="1100">
                          <a:solidFill>
                            <a:srgbClr val="002856"/>
                          </a:solidFill>
                          <a:latin typeface="Arial"/>
                        </a:defRPr>
                      </a:pPr>
                      <a:r>
                        <a:rP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rPr/>
                        <a:t>SELECTED</a:t>
                      </a:r>
                    </a:p>
                  </a:txBody>
                  <a:tcPr>
                    <a:solidFill>
                      <a:srgbClr val="E0F2F1"/>
                    </a:solidFill>
                  </a:tcPr>
                </a:tc>
              </a:tr>
            </a:tbl>
          </a:graphicData>
        </a:graphic>
      </p:graphicFrame>
      <p:sp>
        <p:nvSpPr>
          <p:cNvPr id="5" name="Rectangle 4"/>
          <p:cNvSpPr/>
          <p:nvPr/>
        </p:nvSpPr>
        <p:spPr>
          <a:xfrm>
            <a:off x="457200" y="3611880"/>
            <a:ext cx="11247120" cy="260604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002856"/>
                </a:solidFill>
                <a:latin typeface="Arial"/>
              </a:rPr>
              <a:t>Why We Didn't Stop at the Toolkit</a:t>
            </a:r>
          </a:p>
          <a:p>
            <a:pPr>
              <a:spcAft>
                <a:spcPts val="600"/>
              </a:spcAft>
            </a:pPr>
            <a:r>
              <a:rPr sz="1300">
                <a:solidFill>
                  <a:srgbClr val="002856"/>
                </a:solidFill>
                <a:latin typeface="Arial"/>
              </a:rPr>
              <a:t>•  Describes HOW APTIM operates -- not a sellable program</a:t>
            </a:r>
          </a:p>
          <a:p>
            <a:pPr>
              <a:spcAft>
                <a:spcPts val="600"/>
              </a:spcAft>
            </a:pPr>
            <a:r>
              <a:rPr sz="1300">
                <a:solidFill>
                  <a:srgbClr val="002856"/>
                </a:solidFill>
                <a:latin typeface="Arial"/>
              </a:rPr>
              <a:t>•  Leadership asked for one specific offer, not a capability list</a:t>
            </a:r>
          </a:p>
          <a:p>
            <a:pPr>
              <a:spcAft>
                <a:spcPts val="600"/>
              </a:spcAft>
            </a:pPr>
            <a:r>
              <a:rPr sz="1300">
                <a:solidFill>
                  <a:srgbClr val="002856"/>
                </a:solidFill>
                <a:latin typeface="Arial"/>
              </a:rPr>
              <a:t>•  Not DTE's generation strategy -- a distribution-resilience play (see notes)</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a:spcAft>
                <a:spcPts val="300"/>
              </a:spcAft>
              <a:buNone/>
            </a:pPr>
            <a:r>
              <a:rPr b="1" sz="1300">
                <a:solidFill>
                  <a:srgbClr val="002856"/>
                </a:solidFill>
              </a:rPr>
              <a:t>The funding gap is real and current:</a:t>
            </a:r>
          </a:p>
          <a:p>
            <a:pPr>
              <a:spcAft>
                <a:spcPts val="400"/>
              </a:spcAft>
              <a:buNone/>
            </a:pPr>
            <a:r>
              <a:rPr sz="1200">
                <a:solidFill>
                  <a:srgbClr val="002856"/>
                </a:solidFill>
              </a:rPr>
              <a:t>•  $8.8B IRA HOMES/HEAR rebates frozen Jan 2025 -- only 23 states live by Feb 2026</a:t>
            </a:r>
          </a:p>
          <a:p>
            <a:pPr>
              <a:spcAft>
                <a:spcPts val="400"/>
              </a:spcAft>
              <a:buNone/>
            </a:pPr>
            <a:r>
              <a:rPr sz="1200">
                <a:solidFill>
                  <a:srgbClr val="002856"/>
                </a:solidFill>
              </a:rPr>
              <a:t>•  25C/25D consumer tax credits eliminated Dec 31, 2025</a:t>
            </a:r>
          </a:p>
          <a:p>
            <a:pPr>
              <a:spcAft>
                <a:spcPts val="1000"/>
              </a:spcAft>
              <a:buNone/>
            </a:pPr>
            <a:r>
              <a:rPr sz="1200">
                <a:solidFill>
                  <a:srgbClr val="002856"/>
                </a:solidFill>
              </a:rPr>
              <a:t>•  26 states + DC still have legal savings mandates utilities must hit regardless</a:t>
            </a:r>
          </a:p>
          <a:p>
            <a:pPr>
              <a:spcAft>
                <a:spcPts val="300"/>
              </a:spcAft>
              <a:buNone/>
            </a:pPr>
            <a:r>
              <a:rPr b="1" sz="1300">
                <a:solidFill>
                  <a:srgbClr val="002856"/>
                </a:solidFill>
              </a:rPr>
              <a:t>Utilities are already reacting:</a:t>
            </a:r>
          </a:p>
          <a:p>
            <a:pPr>
              <a:spcAft>
                <a:spcPts val="400"/>
              </a:spcAft>
              <a:buNone/>
            </a:pPr>
            <a:r>
              <a:rPr sz="1200">
                <a:solidFill>
                  <a:srgbClr val="002856"/>
                </a:solidFill>
              </a:rPr>
              <a:t>•  Duke Energy (NC) withdrew 3 residential programs in 2025</a:t>
            </a:r>
          </a:p>
          <a:p>
            <a:pPr>
              <a:spcAft>
                <a:spcPts val="400"/>
              </a:spcAft>
              <a:buNone/>
            </a:pPr>
            <a:r>
              <a:rPr sz="1200">
                <a:solidFill>
                  <a:srgbClr val="002856"/>
                </a:solidFill>
              </a:rPr>
              <a:t>•  Louisiana ended its entire 2026 efficiency program</a:t>
            </a:r>
          </a:p>
          <a:p>
            <a:pPr>
              <a:spcAft>
                <a:spcPts val="1000"/>
              </a:spcAft>
              <a:buNone/>
            </a:pPr>
            <a:r>
              <a:rPr sz="1200">
                <a:solidFill>
                  <a:srgbClr val="002856"/>
                </a:solidFill>
              </a:rPr>
              <a:t>•  California paused a $290M rebate program citing uncertainty</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600200"/>
          <a:ext cx="5906174" cy="4206240"/>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487680">
                <a:tc>
                  <a:txBody>
                    <a:bodyPr/>
                    <a:lstStyle/>
                    <a:p>
                      <a:r>
                        <a:rPr sz="1200"/>
                        <a:t>California</a:t>
                      </a:r>
                    </a:p>
                  </a:txBody>
                  <a:tcPr/>
                </a:tc>
                <a:tc>
                  <a:txBody>
                    <a:bodyPr/>
                    <a:lstStyle/>
                    <a:p>
                      <a:r>
                        <a:rPr sz="1200"/>
                        <a:t>Mature</a:t>
                      </a:r>
                    </a:p>
                  </a:txBody>
                  <a:tcPr/>
                </a:tc>
                <a:tc>
                  <a:txBody>
                    <a:bodyPr/>
                    <a:lstStyle/>
                    <a:p>
                      <a:r>
                        <a:rPr sz="1200"/>
                        <a:t>Highly saturated -- competitors entrenched</a:t>
                      </a:r>
                    </a:p>
                  </a:txBody>
                  <a:tcPr/>
                </a:tc>
                <a:tc>
                  <a:txBody>
                    <a:bodyPr/>
                    <a:lstStyle/>
                    <a:p>
                      <a:r>
                        <a:rPr sz="1200"/>
                        <a:t>Reference case proving the model works</a:t>
                      </a:r>
                    </a:p>
                  </a:txBody>
                  <a:tcPr/>
                </a:tc>
                <a:extLst>
                  <a:ext uri="{0D108BD9-81ED-4DB2-BD59-A6C34878D82A}">
                    <a16:rowId xmlns:a16="http://schemas.microsoft.com/office/drawing/2014/main" val="4077176013"/>
                  </a:ext>
                </a:extLst>
              </a:tr>
              <a:tr h="965200">
                <a:tc>
                  <a:txBody>
                    <a:bodyPr/>
                    <a:lstStyle/>
                    <a:p>
                      <a:r>
                        <a:rPr sz="1200"/>
                        <a:t>North Carolina</a:t>
                      </a:r>
                    </a:p>
                  </a:txBody>
                  <a:tcPr/>
                </a:tc>
                <a:tc>
                  <a:txBody>
                    <a:bodyPr/>
                    <a:lstStyle/>
                    <a:p>
                      <a:r>
                        <a:rPr sz="1200"/>
                        <a:t>Growing</a:t>
                      </a:r>
                    </a:p>
                  </a:txBody>
                  <a:tcPr/>
                </a:tc>
                <a:tc>
                  <a:txBody>
                    <a:bodyPr/>
                    <a:lstStyle/>
                    <a:p>
                      <a:r>
                        <a:rPr sz="1200"/>
                        <a:t>Solar adoption straining the grid</a:t>
                      </a:r>
                    </a:p>
                  </a:txBody>
                  <a:tcPr/>
                </a:tc>
                <a:tc>
                  <a:txBody>
                    <a:bodyPr/>
                    <a:lstStyle/>
                    <a:p>
                      <a:r>
                        <a:rPr sz="1200"/>
                        <a:t>Duke PowerPair fully subscribed -- proves demand exists</a:t>
                      </a:r>
                    </a:p>
                  </a:txBody>
                  <a:tcPr/>
                </a:tc>
                <a:extLst>
                  <a:ext uri="{0D108BD9-81ED-4DB2-BD59-A6C34878D82A}">
                    <a16:rowId xmlns:a16="http://schemas.microsoft.com/office/drawing/2014/main" val="1662102389"/>
                  </a:ext>
                </a:extLst>
              </a:tr>
              <a:tr h="1463039">
                <a:tc>
                  <a:txBody>
                    <a:bodyPr/>
                    <a:lstStyle/>
                    <a:p>
                      <a:r>
                        <a:rPr sz="1200"/>
                        <a:t>Michigan</a:t>
                      </a:r>
                    </a:p>
                  </a:txBody>
                  <a:tcPr/>
                </a:tc>
                <a:tc>
                  <a:txBody>
                    <a:bodyPr/>
                    <a:lstStyle/>
                    <a:p>
                      <a:r>
                        <a:rPr sz="1200"/>
                        <a:t>Emerging (pilot)</a:t>
                      </a:r>
                    </a:p>
                  </a:txBody>
                  <a:tcPr/>
                </a:tc>
                <a:tc>
                  <a:txBody>
                    <a:bodyPr/>
                    <a:lstStyle/>
                    <a:p>
                      <a:r>
                        <a:rPr sz="1200"/>
                        <a:t>No residential storage program exists yet</a:t>
                      </a:r>
                    </a:p>
                  </a:txBody>
                  <a:tcPr/>
                </a:tc>
                <a:tc>
                  <a:txBody>
                    <a:bodyPr/>
                    <a:lstStyle/>
                    <a:p>
                      <a:r>
                        <a:rPr sz="1200"/>
                        <a:t>Worst outages in the nation + statutory storage mandate</a:t>
                      </a:r>
                    </a:p>
                  </a:txBody>
                  <a:tcPr/>
                </a:tc>
                <a:extLst>
                  <a:ext uri="{0D108BD9-81ED-4DB2-BD59-A6C34878D82A}">
                    <a16:rowId xmlns:a16="http://schemas.microsoft.com/office/drawing/2014/main" val="3893195930"/>
                  </a:ext>
                </a:extLst>
              </a:tr>
              <a:tr h="1463039">
                <a:tc>
                  <a:txBody>
                    <a:bodyPr/>
                    <a:lstStyle/>
                    <a:p>
                      <a:r>
                        <a:rPr sz="1200">
                          <a:solidFill>
                            <a:srgbClr val="002856"/>
                          </a:solidFill>
                        </a:rPr>
                        <a:t>Wisconsin</a:t>
                      </a:r>
                    </a:p>
                  </a:txBody>
                  <a:tcPr/>
                </a:tc>
                <a:tc>
                  <a:txBody>
                    <a:bodyPr/>
                    <a:lstStyle/>
                    <a:p>
                      <a:r>
                        <a:rPr sz="1200">
                          <a:solidFill>
                            <a:srgbClr val="002856"/>
                          </a:solidFill>
                        </a:rPr>
                        <a:t>Incumbent base</a:t>
                      </a:r>
                    </a:p>
                  </a:txBody>
                  <a:tcPr/>
                </a:tc>
                <a:tc>
                  <a:txBody>
                    <a:bodyPr/>
                    <a:lstStyle/>
                    <a:p>
                      <a:r>
                        <a:rPr sz="1200">
                          <a:solidFill>
                            <a:srgbClr val="002856"/>
                          </a:solidFill>
                        </a:rPr>
                        <a:t>Focus on Energy budget already strained by demand</a:t>
                      </a:r>
                    </a:p>
                  </a:txBody>
                  <a:tcPr/>
                </a:tc>
                <a:tc>
                  <a:txBody>
                    <a:bodyPr/>
                    <a:lstStyle/>
                    <a:p>
                      <a:r>
                        <a:rPr sz="1200">
                          <a:solidFill>
                            <a:srgbClr val="002856"/>
                          </a:solidFill>
                        </a:rPr>
                        <a:t>APTIM holds the administrator seat -- fastest expansion path</a:t>
                      </a:r>
                    </a:p>
                  </a:txBody>
                  <a:tcPr/>
                </a:tc>
                <a:extLst>
                  <a:ext uri="{0D108BD9-81ED-4DB2-BD59-A6C34878D82A}">
                    <a16:rowId xmlns:a16="http://schemas.microsoft.com/office/drawing/2014/main" val="3893195930"/>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300"/>
              </a:spcAft>
              <a:buNone/>
            </a:pPr>
            <a:r>
              <a:rPr b="1" sz="1300">
                <a:solidFill>
                  <a:srgbClr val="002856"/>
                </a:solidFill>
              </a:rPr>
              <a:t>TAM -- Total Addressable Market</a:t>
            </a:r>
          </a:p>
          <a:p>
            <a:pPr>
              <a:spcAft>
                <a:spcPts val="1000"/>
              </a:spcAft>
              <a:buNone/>
            </a:pPr>
            <a:r>
              <a:rPr sz="1200">
                <a:solidFill>
                  <a:srgbClr val="002856"/>
                </a:solidFill>
              </a:rPr>
              <a:t>National utility program administration: APTIM alone already manages $75M+ in annual incentives, $3B+ lifetime rebates</a:t>
            </a:r>
          </a:p>
          <a:p>
            <a:pPr>
              <a:spcAft>
                <a:spcPts val="300"/>
              </a:spcAft>
              <a:buNone/>
            </a:pPr>
            <a:r>
              <a:rPr b="1" sz="1300">
                <a:solidFill>
                  <a:srgbClr val="002856"/>
                </a:solidFill>
              </a:rPr>
              <a:t>SAM -- Serviceable Addressable Market</a:t>
            </a:r>
          </a:p>
          <a:p>
            <a:pPr>
              <a:spcAft>
                <a:spcPts val="1000"/>
              </a:spcAft>
              <a:buNone/>
            </a:pPr>
            <a:r>
              <a:rPr sz="1200">
                <a:solidFill>
                  <a:srgbClr val="002856"/>
                </a:solidFill>
              </a:rPr>
              <a:t>States with storage mandates + vertically integrated utilities -- where a rate-based fleet is legally buildable today</a:t>
            </a:r>
          </a:p>
          <a:p>
            <a:pPr>
              <a:spcAft>
                <a:spcPts val="300"/>
              </a:spcAft>
              <a:buNone/>
            </a:pPr>
            <a:r>
              <a:rPr b="1" sz="1300">
                <a:solidFill>
                  <a:srgbClr val="002856"/>
                </a:solidFill>
              </a:rPr>
              <a:t>SOM -- Serviceable Obtainable Market</a:t>
            </a:r>
          </a:p>
          <a:p>
            <a:pPr>
              <a:spcAft>
                <a:spcPts val="1000"/>
              </a:spcAft>
              <a:buNone/>
            </a:pPr>
            <a:r>
              <a:rPr sz="1200">
                <a:solidFill>
                  <a:srgbClr val="002856"/>
                </a:solidFill>
              </a:rPr>
              <a:t>Michigan pilot + first expansion states -- recurring administration fees, not one-time grants</a:t>
            </a:r>
          </a:p>
          <a:p>
            <a:pPr>
              <a:spcAft>
                <a:spcPts val="300"/>
              </a:spcAft>
              <a:buNone/>
            </a:pPr>
            <a:r>
              <a:rPr b="1" sz="1300">
                <a:solidFill>
                  <a:srgbClr val="002856"/>
                </a:solidFill>
              </a:rPr>
              <a:t>Why this market grows</a:t>
            </a:r>
          </a:p>
          <a:p>
            <a:pPr>
              <a:spcAft>
                <a:spcPts val="1000"/>
              </a:spcAft>
              <a:buNone/>
            </a:pPr>
            <a:r>
              <a:rPr sz="1200">
                <a:solidFill>
                  <a:srgbClr val="002856"/>
                </a:solidFill>
              </a:rPr>
              <a:t>Ratepayer-financed programs are insulated from the federal swings on the prior slide -- demand shifts toward exactly this model</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rPr sz="1200" b="1"/>
                        <a:t>Value</a:t>
                      </a:r>
                    </a:p>
                  </a:txBody>
                  <a:tcPr/>
                </a:tc>
                <a:tc gridSpan="2">
                  <a:txBody>
                    <a:bodyPr/>
                    <a:lstStyle/>
                    <a:p>
                      <a:r>
                        <a:rPr sz="1200" b="1"/>
                        <a:t>Basis</a:t>
                      </a:r>
                    </a:p>
                  </a:txBody>
                  <a:tcPr/>
                </a:tc>
                <a:tc hMerge="1">
                  <a:txBody>
                    <a:bodyPr/>
                    <a:lstStyle/>
                    <a:p/>
                  </a:txBody>
                  <a:tcPr/>
                </a:tc>
                <a:extLst>
                  <a:ext uri="{0D108BD9-81ED-4DB2-BD59-A6C34878D82A}">
                    <a16:rowId xmlns:a16="http://schemas.microsoft.com/office/drawing/2014/main" val="2090497449"/>
                  </a:ext>
                </a:extLst>
              </a:tr>
              <a:tr h="370840">
                <a:tc>
                  <a:txBody>
                    <a:bodyPr/>
                    <a:lstStyle/>
                    <a:p>
                      <a:r>
                        <a:rPr sz="1200"/>
                        <a:t>TAM</a:t>
                      </a:r>
                    </a:p>
                  </a:txBody>
                  <a:tcPr/>
                </a:tc>
                <a:tc>
                  <a:txBody>
                    <a:bodyPr/>
                    <a:lstStyle/>
                    <a:p>
                      <a:r>
                        <a:rPr sz="1200"/>
                        <a:t>$8.8B</a:t>
                      </a:r>
                    </a:p>
                  </a:txBody>
                  <a:tcPr/>
                </a:tc>
                <a:tc gridSpan="2">
                  <a:txBody>
                    <a:bodyPr/>
                    <a:lstStyle/>
                    <a:p>
                      <a:r>
                        <a:rPr sz="1200"/>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rPr sz="1200"/>
                        <a:t>SAM</a:t>
                      </a:r>
                    </a:p>
                  </a:txBody>
                  <a:tcPr/>
                </a:tc>
                <a:tc>
                  <a:txBody>
                    <a:bodyPr/>
                    <a:lstStyle/>
                    <a:p>
                      <a:r>
                        <a:rPr sz="1200"/>
                        <a:t>~$1-2B</a:t>
                      </a:r>
                    </a:p>
                  </a:txBody>
                  <a:tcPr/>
                </a:tc>
                <a:tc gridSpan="2">
                  <a:txBody>
                    <a:bodyPr/>
                    <a:lstStyle/>
                    <a:p>
                      <a:r>
                        <a:rPr sz="1200"/>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rPr sz="1200"/>
                        <a:t>SOM</a:t>
                      </a:r>
                    </a:p>
                  </a:txBody>
                  <a:tcPr/>
                </a:tc>
                <a:tc>
                  <a:txBody>
                    <a:bodyPr/>
                    <a:lstStyle/>
                    <a:p>
                      <a:r>
                        <a:rPr sz="1200"/>
                        <a:t>$1.5M-$4.5M/yr</a:t>
                      </a:r>
                    </a:p>
                  </a:txBody>
                  <a:tcPr/>
                </a:tc>
                <a:tc gridSpan="2">
                  <a:txBody>
                    <a:bodyPr/>
                    <a:lstStyle/>
                    <a:p>
                      <a:r>
                        <a:rPr sz="1200"/>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Before the mechanics -- the simple version of what we're proposing</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200">
                <a:solidFill>
                  <a:srgbClr val="FFFFFF"/>
                </a:solidFill>
                <a:latin typeface="Arial"/>
              </a:rPr>
              <a:t>Utilities must keep energy programs
running, but federal funding is
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2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2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2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595959"/>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483864" cy="1554480"/>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2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371600"/>
            <a:ext cx="3483864" cy="155448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2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371600"/>
            <a:ext cx="3483864" cy="155448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2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192024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192024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2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4023360"/>
            <a:ext cx="3606698" cy="2286000"/>
          </a:xfrm>
          <a:prstGeom prst="rect">
            <a:avLst/>
          </a:prstGeom>
          <a:noFill/>
        </p:spPr>
        <p:txBody>
          <a:bodyPr wrap="square">
            <a:spAutoFit/>
          </a:bodyPr>
          <a:lstStyle/>
          <a:p>
            <a:pPr>
              <a:spcAft>
                <a:spcPts val="600"/>
              </a:spcAft>
            </a:pPr>
            <a:r>
              <a:rPr b="1" sz="1200">
                <a:solidFill>
                  <a:srgbClr val="002856"/>
                </a:solidFill>
                <a:latin typeface="Arial"/>
              </a:rPr>
              <a:t>Model: </a:t>
            </a:r>
            <a:r>
              <a:rPr sz="1200">
                <a:solidFill>
                  <a:srgbClr val="002856"/>
                </a:solidFill>
                <a:latin typeface="Arial"/>
              </a:rPr>
              <a:t>Base fee as % of program budget + performance bonus overlay</a:t>
            </a:r>
          </a:p>
          <a:p>
            <a:pPr>
              <a:spcAft>
                <a:spcPts val="600"/>
              </a:spcAft>
            </a:pPr>
            <a:r>
              <a:rPr b="1" sz="1200">
                <a:solidFill>
                  <a:srgbClr val="002856"/>
                </a:solidFill>
                <a:latin typeface="Arial"/>
              </a:rPr>
              <a:t>Precedent: </a:t>
            </a:r>
            <a:r>
              <a:rPr sz="1200">
                <a:solidFill>
                  <a:srgbClr val="002856"/>
                </a:solidFill>
                <a:latin typeface="Arial"/>
              </a:rPr>
              <a:t>APTIM's real Focus on Energy contract (2023-2026) uses this exact structure</a:t>
            </a:r>
          </a:p>
          <a:p>
            <a:pPr>
              <a:spcAft>
                <a:spcPts val="600"/>
              </a:spcAft>
            </a:pPr>
            <a:r>
              <a:rPr b="1" sz="1200">
                <a:solidFill>
                  <a:srgbClr val="002856"/>
                </a:solidFill>
                <a:latin typeface="Arial"/>
              </a:rPr>
              <a:t>Benchmark: </a:t>
            </a:r>
            <a:r>
              <a:rPr sz="1200">
                <a:solidFill>
                  <a:srgbClr val="002856"/>
                </a:solidFill>
                <a:latin typeface="Arial"/>
              </a:rPr>
              <a:t>Federal EECBG caps admin fees at 10% of funds -- a citable floor</a:t>
            </a:r>
          </a:p>
          <a:p>
            <a:pPr>
              <a:spcAft>
                <a:spcPts val="600"/>
              </a:spcAft>
            </a:pPr>
            <a:r>
              <a:rPr b="1" sz="1200">
                <a:solidFill>
                  <a:srgbClr val="002856"/>
                </a:solidFill>
                <a:latin typeface="Arial"/>
              </a:rPr>
              <a:t>Exact %: </a:t>
            </a:r>
            <a:r>
              <a:rPr sz="1200">
                <a:solidFill>
                  <a:srgbClr val="002856"/>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4023360"/>
            <a:ext cx="3606698" cy="2286000"/>
          </a:xfrm>
          <a:prstGeom prst="rect">
            <a:avLst/>
          </a:prstGeom>
          <a:noFill/>
        </p:spPr>
        <p:txBody>
          <a:bodyPr wrap="square">
            <a:spAutoFit/>
          </a:bodyPr>
          <a:lstStyle/>
          <a:p>
            <a:pPr>
              <a:spcAft>
                <a:spcPts val="600"/>
              </a:spcAft>
            </a:pPr>
            <a:r>
              <a:rPr b="1" sz="1200">
                <a:solidFill>
                  <a:srgbClr val="002856"/>
                </a:solidFill>
                <a:latin typeface="Arial"/>
              </a:rPr>
              <a:t>Utility: </a:t>
            </a:r>
            <a:r>
              <a:rPr sz="1200">
                <a:solidFill>
                  <a:srgbClr val="002856"/>
                </a:solidFill>
                <a:latin typeface="Arial"/>
              </a:rPr>
              <a:t>Meets storage mandate, grows rate base, cheaper than new peaker capacity</a:t>
            </a:r>
          </a:p>
          <a:p>
            <a:pPr>
              <a:spcAft>
                <a:spcPts val="600"/>
              </a:spcAft>
            </a:pPr>
            <a:r>
              <a:rPr b="1" sz="1200">
                <a:solidFill>
                  <a:srgbClr val="002856"/>
                </a:solidFill>
                <a:latin typeface="Arial"/>
              </a:rPr>
              <a:t>Household: </a:t>
            </a:r>
            <a:r>
              <a:rPr sz="1200">
                <a:solidFill>
                  <a:srgbClr val="002856"/>
                </a:solidFill>
                <a:latin typeface="Arial"/>
              </a:rPr>
              <a:t>Free backup power, zero upfront or monthly cost</a:t>
            </a:r>
          </a:p>
          <a:p>
            <a:pPr>
              <a:spcAft>
                <a:spcPts val="600"/>
              </a:spcAft>
            </a:pPr>
            <a:r>
              <a:rPr b="1" sz="1200">
                <a:solidFill>
                  <a:srgbClr val="002856"/>
                </a:solidFill>
                <a:latin typeface="Arial"/>
              </a:rPr>
              <a:t>APTIM: </a:t>
            </a:r>
            <a:r>
              <a:rPr sz="1200">
                <a:solidFill>
                  <a:srgbClr val="002856"/>
                </a:solidFill>
                <a:latin typeface="Arial"/>
              </a:rPr>
              <a:t>Recurring fee + Michigan market entry, filling an unadministered service niche</a:t>
            </a:r>
          </a:p>
          <a:p>
            <a:pPr>
              <a:spcAft>
                <a:spcPts val="600"/>
              </a:spcAft>
            </a:pPr>
            <a:r>
              <a:rPr b="1" sz="1200">
                <a:solidFill>
                  <a:srgbClr val="002856"/>
                </a:solidFill>
                <a:latin typeface="Arial"/>
              </a:rPr>
              <a:t>Regulator: </a:t>
            </a:r>
            <a:r>
              <a:rPr sz="1200">
                <a:solidFill>
                  <a:srgbClr val="002856"/>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4023360"/>
            <a:ext cx="3606698" cy="2286000"/>
          </a:xfrm>
          <a:prstGeom prst="rect">
            <a:avLst/>
          </a:prstGeom>
          <a:noFill/>
        </p:spPr>
        <p:txBody>
          <a:bodyPr wrap="square">
            <a:spAutoFit/>
          </a:bodyPr>
          <a:lstStyle/>
          <a:p>
            <a:pPr>
              <a:spcAft>
                <a:spcPts val="600"/>
              </a:spcAft>
            </a:pPr>
            <a:r>
              <a:rPr b="1" sz="1200">
                <a:solidFill>
                  <a:srgbClr val="002856"/>
                </a:solidFill>
                <a:latin typeface="Arial"/>
              </a:rPr>
              <a:t>Cold weather: </a:t>
            </a:r>
            <a:r>
              <a:rPr sz="1200">
                <a:solidFill>
                  <a:srgbClr val="002856"/>
                </a:solidFill>
                <a:latin typeface="Arial"/>
              </a:rPr>
              <a:t>Thermally-managed battery chemistry, sized with a winter capacity buffer -- Michigan's worst outages are winter/ice-storm driven</a:t>
            </a:r>
          </a:p>
          <a:p>
            <a:pPr>
              <a:spcAft>
                <a:spcPts val="600"/>
              </a:spcAft>
            </a:pPr>
            <a:r>
              <a:rPr b="1" sz="1200">
                <a:solidFill>
                  <a:srgbClr val="002856"/>
                </a:solidFill>
                <a:latin typeface="Arial"/>
              </a:rPr>
              <a:t>Maintenance: </a:t>
            </a:r>
            <a:r>
              <a:rPr sz="1200">
                <a:solidFill>
                  <a:srgbClr val="002856"/>
                </a:solidFill>
                <a:latin typeface="Arial"/>
              </a:rPr>
              <a:t>Utility owns the fleet, so utility (via APTIM's contractor network) maintains it -- zero burden on the household</a:t>
            </a:r>
          </a:p>
          <a:p>
            <a:pPr>
              <a:spcAft>
                <a:spcPts val="600"/>
              </a:spcAft>
            </a:pPr>
            <a:r>
              <a:rPr b="1" sz="1200">
                <a:solidFill>
                  <a:srgbClr val="002856"/>
                </a:solidFill>
                <a:latin typeface="Arial"/>
              </a:rPr>
              <a:t>Pilot targeting: </a:t>
            </a:r>
            <a:r>
              <a:rPr sz="1200">
                <a:solidFill>
                  <a:srgbClr val="002856"/>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002856"/>
                </a:solidFill>
                <a:latin typeface="Arial"/>
              </a:rPr>
              <a:t>✓  A specific program, not a capability list</a:t>
            </a:r>
          </a:p>
          <a:p>
            <a:pPr>
              <a:spcAft>
                <a:spcPts val="1600"/>
              </a:spcAft>
            </a:pPr>
            <a:r>
              <a:rPr sz="1500">
                <a:solidFill>
                  <a:srgbClr val="002856"/>
                </a:solidFill>
                <a:latin typeface="Arial"/>
              </a:rPr>
              <a:t>✓  Not a generation strategy -- a distribution-resilience play</a:t>
            </a:r>
          </a:p>
          <a:p>
            <a:pPr>
              <a:spcAft>
                <a:spcPts val="1600"/>
              </a:spcAft>
            </a:pPr>
            <a:r>
              <a:rPr sz="1500">
                <a:solidFill>
                  <a:srgbClr val="002856"/>
                </a:solidFill>
                <a:latin typeface="Arial"/>
              </a:rPr>
              <a:t>✓  Fits DTE's existing $1B/yr Distribution Grid Plan</a:t>
            </a:r>
          </a:p>
          <a:p>
            <a:pPr>
              <a:spcAft>
                <a:spcPts val="1600"/>
              </a:spcAft>
            </a:pPr>
            <a:r>
              <a:rPr sz="1500">
                <a:solidFill>
                  <a:srgbClr val="002856"/>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002856"/>
                </a:solidFill>
                <a:latin typeface="Arial"/>
              </a:rPr>
              <a:t>✓  Ownership settled: utility owns, homeowner-loan math rejected</a:t>
            </a:r>
          </a:p>
          <a:p>
            <a:pPr>
              <a:spcAft>
                <a:spcPts val="1600"/>
              </a:spcAft>
            </a:pPr>
            <a:r>
              <a:rPr sz="1500">
                <a:solidFill>
                  <a:srgbClr val="002856"/>
                </a:solidFill>
                <a:latin typeface="Arial"/>
              </a:rPr>
              <a:t>✓  Engineered for Michigan winters -- cold-rated battery chemistry</a:t>
            </a:r>
          </a:p>
          <a:p>
            <a:pPr>
              <a:spcAft>
                <a:spcPts val="1600"/>
              </a:spcAft>
            </a:pPr>
            <a:r>
              <a:rPr sz="1500">
                <a:solidFill>
                  <a:srgbClr val="002856"/>
                </a:solidFill>
                <a:latin typeface="Arial"/>
              </a:rPr>
              <a:t>✓  Utility owns it, utility maintains it -- zero burden on host</a:t>
            </a:r>
          </a:p>
          <a:p>
            <a:pPr>
              <a:spcAft>
                <a:spcPts val="1600"/>
              </a:spcAft>
            </a:pPr>
            <a:r>
              <a:rPr sz="1500">
                <a:solidFill>
                  <a:srgbClr val="002856"/>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Mapping who does what today -- and the seat nobody fills</a:t>
            </a:r>
          </a:p>
        </p:txBody>
      </p:sp>
      <p:sp>
        <p:nvSpPr>
          <p:cNvPr id="7" name="TextBox 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12</a:t>
            </a:r>
          </a:p>
        </p:txBody>
      </p:sp>
      <p:sp>
        <p:nvSpPr>
          <p:cNvPr id="9" name="Rectangle 8"/>
          <p:cNvSpPr/>
          <p:nvPr/>
        </p:nvSpPr>
        <p:spPr>
          <a:xfrm>
            <a:off x="822960" y="1554480"/>
            <a:ext cx="6400800" cy="3840480"/>
          </a:xfrm>
          <a:prstGeom prst="rect">
            <a:avLst/>
          </a:prstGeom>
          <a:solidFill>
            <a:srgbClr val="E9EEF5"/>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023360" y="1554480"/>
            <a:ext cx="3200400" cy="1920240"/>
          </a:xfrm>
          <a:prstGeom prst="rect">
            <a:avLst/>
          </a:prstGeom>
          <a:solidFill>
            <a:srgbClr val="FDF1D9"/>
          </a:solidFill>
          <a:ln w="19050">
            <a:solidFill>
              <a:srgbClr val="FF8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22960" y="3474720"/>
            <a:ext cx="640080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1554480"/>
            <a:ext cx="0" cy="38404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5440680"/>
            <a:ext cx="6400800" cy="274320"/>
          </a:xfrm>
          <a:prstGeom prst="rect">
            <a:avLst/>
          </a:prstGeom>
          <a:noFill/>
        </p:spPr>
        <p:txBody>
          <a:bodyPr wrap="square">
            <a:spAutoFit/>
          </a:bodyPr>
          <a:lstStyle/>
          <a:p>
            <a:pPr algn="ctr"/>
            <a:r>
              <a:rPr sz="1200" b="0" i="1">
                <a:solidFill>
                  <a:srgbClr val="595959"/>
                </a:solidFill>
                <a:latin typeface="Arial"/>
              </a:rPr>
              <a:t>Program administration depth  →</a:t>
            </a:r>
          </a:p>
        </p:txBody>
      </p:sp>
      <p:sp>
        <p:nvSpPr>
          <p:cNvPr id="15" name="TextBox 14"/>
          <p:cNvSpPr txBox="1"/>
          <p:nvPr/>
        </p:nvSpPr>
        <p:spPr>
          <a:xfrm>
            <a:off x="4160520" y="1664207"/>
            <a:ext cx="2926080" cy="502920"/>
          </a:xfrm>
          <a:prstGeom prst="rect">
            <a:avLst/>
          </a:prstGeom>
          <a:noFill/>
        </p:spPr>
        <p:txBody>
          <a:bodyPr wrap="square">
            <a:spAutoFit/>
          </a:bodyPr>
          <a:lstStyle/>
          <a:p>
            <a:pPr algn="ctr"/>
            <a:r>
              <a:rPr sz="1300" b="1" i="0">
                <a:solidFill>
                  <a:srgbClr val="FF8200"/>
                </a:solidFill>
                <a:latin typeface="Arial"/>
              </a:rPr>
              <a:t>THE EMPTY SEAT: utility-owned residential fleet administration</a:t>
            </a:r>
          </a:p>
        </p:txBody>
      </p:sp>
      <p:sp>
        <p:nvSpPr>
          <p:cNvPr id="16" name="Oval 15"/>
          <p:cNvSpPr/>
          <p:nvPr/>
        </p:nvSpPr>
        <p:spPr>
          <a:xfrm>
            <a:off x="5733288" y="4621377"/>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6904" y="4776825"/>
            <a:ext cx="1737360" cy="457200"/>
          </a:xfrm>
          <a:prstGeom prst="rect">
            <a:avLst/>
          </a:prstGeom>
          <a:noFill/>
        </p:spPr>
        <p:txBody>
          <a:bodyPr wrap="square">
            <a:spAutoFit/>
          </a:bodyPr>
          <a:lstStyle/>
          <a:p>
            <a:pPr algn="ctr"/>
            <a:r>
              <a:rPr sz="1100" b="1" i="0">
                <a:solidFill>
                  <a:srgbClr val="002856"/>
                </a:solidFill>
                <a:latin typeface="Arial"/>
              </a:rPr>
              <a:t>CLEAResult</a:t>
            </a:r>
          </a:p>
          <a:p>
            <a:pPr algn="ctr"/>
            <a:r>
              <a:rPr sz="1000" b="0" i="1">
                <a:solidFill>
                  <a:srgbClr val="595959"/>
                </a:solidFill>
                <a:latin typeface="Arial"/>
              </a:rPr>
              <a:t>(BYOD programs only)</a:t>
            </a:r>
          </a:p>
        </p:txBody>
      </p:sp>
      <p:sp>
        <p:nvSpPr>
          <p:cNvPr id="18" name="Oval 17"/>
          <p:cNvSpPr/>
          <p:nvPr/>
        </p:nvSpPr>
        <p:spPr>
          <a:xfrm>
            <a:off x="4965192" y="4314139"/>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78808" y="4469587"/>
            <a:ext cx="1737360" cy="457200"/>
          </a:xfrm>
          <a:prstGeom prst="rect">
            <a:avLst/>
          </a:prstGeom>
          <a:noFill/>
        </p:spPr>
        <p:txBody>
          <a:bodyPr wrap="square">
            <a:spAutoFit/>
          </a:bodyPr>
          <a:lstStyle/>
          <a:p>
            <a:pPr algn="ctr"/>
            <a:r>
              <a:rPr sz="1100" b="1" i="0">
                <a:solidFill>
                  <a:srgbClr val="002856"/>
                </a:solidFill>
                <a:latin typeface="Arial"/>
              </a:rPr>
              <a:t>ICF</a:t>
            </a:r>
          </a:p>
        </p:txBody>
      </p:sp>
      <p:sp>
        <p:nvSpPr>
          <p:cNvPr id="20" name="Oval 19"/>
          <p:cNvSpPr/>
          <p:nvPr/>
        </p:nvSpPr>
        <p:spPr>
          <a:xfrm>
            <a:off x="4261104" y="4774996"/>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0" y="4930444"/>
            <a:ext cx="1737360" cy="457200"/>
          </a:xfrm>
          <a:prstGeom prst="rect">
            <a:avLst/>
          </a:prstGeom>
          <a:noFill/>
        </p:spPr>
        <p:txBody>
          <a:bodyPr wrap="square">
            <a:spAutoFit/>
          </a:bodyPr>
          <a:lstStyle/>
          <a:p>
            <a:pPr algn="ctr"/>
            <a:r>
              <a:rPr sz="1100" b="1" i="0">
                <a:solidFill>
                  <a:srgbClr val="002856"/>
                </a:solidFill>
                <a:latin typeface="Arial"/>
              </a:rPr>
              <a:t>Franklin Energy</a:t>
            </a:r>
          </a:p>
        </p:txBody>
      </p:sp>
      <p:sp>
        <p:nvSpPr>
          <p:cNvPr id="22" name="Oval 21"/>
          <p:cNvSpPr/>
          <p:nvPr/>
        </p:nvSpPr>
        <p:spPr>
          <a:xfrm>
            <a:off x="1892808" y="4160520"/>
            <a:ext cx="164592" cy="164592"/>
          </a:xfrm>
          <a:prstGeom prst="ellipse">
            <a:avLst/>
          </a:prstGeom>
          <a:solidFill>
            <a:srgbClr val="00A1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315968"/>
            <a:ext cx="1737360" cy="457200"/>
          </a:xfrm>
          <a:prstGeom prst="rect">
            <a:avLst/>
          </a:prstGeom>
          <a:noFill/>
        </p:spPr>
        <p:txBody>
          <a:bodyPr wrap="square">
            <a:spAutoFit/>
          </a:bodyPr>
          <a:lstStyle/>
          <a:p>
            <a:pPr algn="ctr"/>
            <a:r>
              <a:rPr sz="1100" b="1" i="0">
                <a:solidFill>
                  <a:srgbClr val="002856"/>
                </a:solidFill>
                <a:latin typeface="Arial"/>
              </a:rPr>
              <a:t>Stantec</a:t>
            </a:r>
          </a:p>
          <a:p>
            <a:pPr algn="ctr"/>
            <a:r>
              <a:rPr sz="1000" b="0" i="1">
                <a:solidFill>
                  <a:srgbClr val="595959"/>
                </a:solidFill>
                <a:latin typeface="Arial"/>
              </a:rPr>
              <a:t>(engineering only)</a:t>
            </a:r>
          </a:p>
        </p:txBody>
      </p:sp>
      <p:sp>
        <p:nvSpPr>
          <p:cNvPr id="24" name="Oval 23"/>
          <p:cNvSpPr/>
          <p:nvPr/>
        </p:nvSpPr>
        <p:spPr>
          <a:xfrm>
            <a:off x="1764792" y="3008376"/>
            <a:ext cx="164592" cy="164592"/>
          </a:xfrm>
          <a:prstGeom prst="ellipse">
            <a:avLst/>
          </a:prstGeom>
          <a:solidFill>
            <a:srgbClr val="00A1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3163824"/>
            <a:ext cx="1737360" cy="457200"/>
          </a:xfrm>
          <a:prstGeom prst="rect">
            <a:avLst/>
          </a:prstGeom>
          <a:noFill/>
        </p:spPr>
        <p:txBody>
          <a:bodyPr wrap="square">
            <a:spAutoFit/>
          </a:bodyPr>
          <a:lstStyle/>
          <a:p>
            <a:pPr algn="ctr"/>
            <a:r>
              <a:rPr sz="1100" b="1" i="0">
                <a:solidFill>
                  <a:srgbClr val="002856"/>
                </a:solidFill>
                <a:latin typeface="Arial"/>
              </a:rPr>
              <a:t>Tesla / EnergyHub</a:t>
            </a:r>
          </a:p>
          <a:p>
            <a:pPr algn="ctr"/>
            <a:r>
              <a:rPr sz="1000" b="0" i="1">
                <a:solidFill>
                  <a:srgbClr val="595959"/>
                </a:solidFill>
                <a:latin typeface="Arial"/>
              </a:rPr>
              <a:t>(software &amp; dispatch)</a:t>
            </a:r>
          </a:p>
        </p:txBody>
      </p:sp>
      <p:sp>
        <p:nvSpPr>
          <p:cNvPr id="26" name="Oval 25"/>
          <p:cNvSpPr/>
          <p:nvPr/>
        </p:nvSpPr>
        <p:spPr>
          <a:xfrm>
            <a:off x="2532888" y="2240280"/>
            <a:ext cx="164592" cy="164592"/>
          </a:xfrm>
          <a:prstGeom prst="ellipse">
            <a:avLst/>
          </a:prstGeom>
          <a:solidFill>
            <a:srgbClr val="A32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46504" y="2395728"/>
            <a:ext cx="1737360" cy="457200"/>
          </a:xfrm>
          <a:prstGeom prst="rect">
            <a:avLst/>
          </a:prstGeom>
          <a:noFill/>
        </p:spPr>
        <p:txBody>
          <a:bodyPr wrap="square">
            <a:spAutoFit/>
          </a:bodyPr>
          <a:lstStyle/>
          <a:p>
            <a:pPr algn="ctr"/>
            <a:r>
              <a:rPr sz="1100" b="1" i="0">
                <a:solidFill>
                  <a:srgbClr val="002856"/>
                </a:solidFill>
                <a:latin typeface="Arial"/>
              </a:rPr>
              <a:t>Sunrun</a:t>
            </a:r>
          </a:p>
          <a:p>
            <a:pPr algn="ctr"/>
            <a:r>
              <a:rPr sz="1000" b="0" i="1">
                <a:solidFill>
                  <a:srgbClr val="595959"/>
                </a:solidFill>
                <a:latin typeface="Arial"/>
              </a:rPr>
              <a:t>(owns fleets, CA-centric)</a:t>
            </a:r>
          </a:p>
        </p:txBody>
      </p:sp>
      <p:sp>
        <p:nvSpPr>
          <p:cNvPr id="28" name="TextBox 27"/>
          <p:cNvSpPr txBox="1"/>
          <p:nvPr/>
        </p:nvSpPr>
        <p:spPr>
          <a:xfrm>
            <a:off x="4654296" y="2582265"/>
            <a:ext cx="365760" cy="365760"/>
          </a:xfrm>
          <a:prstGeom prst="rect">
            <a:avLst/>
          </a:prstGeom>
          <a:noFill/>
        </p:spPr>
        <p:txBody>
          <a:bodyPr wrap="none">
            <a:spAutoFit/>
          </a:bodyPr>
          <a:lstStyle/>
          <a:p>
            <a:r>
              <a:rPr sz="2200" b="1">
                <a:solidFill>
                  <a:srgbClr val="A32036"/>
                </a:solidFill>
              </a:rPr>
              <a:t>✕</a:t>
            </a:r>
          </a:p>
        </p:txBody>
      </p:sp>
      <p:sp>
        <p:nvSpPr>
          <p:cNvPr id="29" name="TextBox 28"/>
          <p:cNvSpPr txBox="1"/>
          <p:nvPr/>
        </p:nvSpPr>
        <p:spPr>
          <a:xfrm>
            <a:off x="3922776" y="2911449"/>
            <a:ext cx="1737360" cy="457200"/>
          </a:xfrm>
          <a:prstGeom prst="rect">
            <a:avLst/>
          </a:prstGeom>
          <a:noFill/>
        </p:spPr>
        <p:txBody>
          <a:bodyPr wrap="square">
            <a:spAutoFit/>
          </a:bodyPr>
          <a:lstStyle/>
          <a:p>
            <a:pPr algn="ctr"/>
            <a:r>
              <a:rPr sz="1100" b="1" i="0">
                <a:solidFill>
                  <a:srgbClr val="A32036"/>
                </a:solidFill>
                <a:latin typeface="Arial"/>
              </a:rPr>
              <a:t>Swell Energy</a:t>
            </a:r>
          </a:p>
          <a:p>
            <a:pPr algn="ctr"/>
            <a:r>
              <a:rPr sz="1000" b="0" i="1">
                <a:solidFill>
                  <a:srgbClr val="595959"/>
                </a:solidFill>
                <a:latin typeface="Arial"/>
              </a:rPr>
              <a:t>(insolvent 2024)</a:t>
            </a:r>
          </a:p>
        </p:txBody>
      </p:sp>
      <p:sp>
        <p:nvSpPr>
          <p:cNvPr id="30" name="5-Point Star 29"/>
          <p:cNvSpPr/>
          <p:nvPr/>
        </p:nvSpPr>
        <p:spPr>
          <a:xfrm>
            <a:off x="5815583" y="2066543"/>
            <a:ext cx="512064" cy="512064"/>
          </a:xfrm>
          <a:prstGeom prst="star5">
            <a:avLst/>
          </a:prstGeom>
          <a:solidFill>
            <a:srgbClr val="FF8200"/>
          </a:solidFill>
          <a:ln w="19050">
            <a:solidFill>
              <a:srgbClr val="0028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02936" y="2596896"/>
            <a:ext cx="1737360" cy="320040"/>
          </a:xfrm>
          <a:prstGeom prst="rect">
            <a:avLst/>
          </a:prstGeom>
          <a:noFill/>
        </p:spPr>
        <p:txBody>
          <a:bodyPr wrap="none">
            <a:spAutoFit/>
          </a:bodyPr>
          <a:lstStyle/>
          <a:p>
            <a:pPr algn="ctr"/>
            <a:r>
              <a:rPr sz="1300" b="1">
                <a:solidFill>
                  <a:srgbClr val="002856"/>
                </a:solidFill>
                <a:latin typeface="Arial"/>
              </a:rPr>
              <a:t>APTIM</a:t>
            </a:r>
          </a:p>
        </p:txBody>
      </p:sp>
      <p:sp>
        <p:nvSpPr>
          <p:cNvPr id="32" name="Rounded Rectangle 31"/>
          <p:cNvSpPr/>
          <p:nvPr/>
        </p:nvSpPr>
        <p:spPr>
          <a:xfrm>
            <a:off x="7635240" y="1325880"/>
            <a:ext cx="4114800" cy="4572000"/>
          </a:xfrm>
          <a:prstGeom prst="roundRect">
            <a:avLst>
              <a:gd name="adj" fmla="val 5000"/>
            </a:avLst>
          </a:prstGeom>
          <a:solidFill>
            <a:srgbClr val="002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home_battery_icon.png"/>
          <p:cNvPicPr>
            <a:picLocks noChangeAspect="1"/>
          </p:cNvPicPr>
          <p:nvPr/>
        </p:nvPicPr>
        <p:blipFill>
          <a:blip r:embed="rId6"/>
          <a:stretch>
            <a:fillRect/>
          </a:stretch>
        </p:blipFill>
        <p:spPr>
          <a:xfrm>
            <a:off x="9189720" y="1554480"/>
            <a:ext cx="1005840" cy="1005840"/>
          </a:xfrm>
          <a:prstGeom prst="rect">
            <a:avLst/>
          </a:prstGeom>
        </p:spPr>
      </p:pic>
      <p:sp>
        <p:nvSpPr>
          <p:cNvPr id="34" name="TextBox 33"/>
          <p:cNvSpPr txBox="1"/>
          <p:nvPr/>
        </p:nvSpPr>
        <p:spPr>
          <a:xfrm>
            <a:off x="7818120" y="2651760"/>
            <a:ext cx="3749039" cy="365760"/>
          </a:xfrm>
          <a:prstGeom prst="rect">
            <a:avLst/>
          </a:prstGeom>
          <a:noFill/>
        </p:spPr>
        <p:txBody>
          <a:bodyPr wrap="square">
            <a:spAutoFit/>
          </a:bodyPr>
          <a:lstStyle/>
          <a:p>
            <a:pPr algn="ctr"/>
            <a:r>
              <a:rPr sz="1600" b="1" i="0">
                <a:solidFill>
                  <a:srgbClr val="FFFFFF"/>
                </a:solidFill>
                <a:latin typeface="Arial"/>
              </a:rPr>
              <a:t>Why the Seat Is Empty</a:t>
            </a:r>
          </a:p>
        </p:txBody>
      </p:sp>
      <p:sp>
        <p:nvSpPr>
          <p:cNvPr id="35" name="TextBox 34"/>
          <p:cNvSpPr txBox="1"/>
          <p:nvPr/>
        </p:nvSpPr>
        <p:spPr>
          <a:xfrm>
            <a:off x="7863840" y="3063240"/>
            <a:ext cx="3657600" cy="2743200"/>
          </a:xfrm>
          <a:prstGeom prst="rect">
            <a:avLst/>
          </a:prstGeom>
          <a:noFill/>
        </p:spPr>
        <p:txBody>
          <a:bodyPr wrap="square">
            <a:spAutoFit/>
          </a:bodyPr>
          <a:lstStyle/>
          <a:p>
            <a:r>
              <a:rPr sz="1250" b="1">
                <a:solidFill>
                  <a:srgbClr val="FFB71B"/>
                </a:solidFill>
                <a:latin typeface="Arial"/>
              </a:rPr>
              <a:t>Nobody sells this role.</a:t>
            </a:r>
          </a:p>
          <a:p>
            <a:pPr>
              <a:spcAft>
                <a:spcPts val="1000"/>
              </a:spcAft>
            </a:pPr>
            <a:r>
              <a:rPr sz="1200">
                <a:solidFill>
                  <a:srgbClr val="FFFFFF"/>
                </a:solidFill>
                <a:latin typeface="Arial"/>
              </a:rPr>
              <a:t>Green Mountain Power runs the largest US fleet (~9,000 batteries) -- it had to build administration in-house.</a:t>
            </a:r>
          </a:p>
          <a:p>
            <a:r>
              <a:rPr sz="1250" b="1">
                <a:solidFill>
                  <a:srgbClr val="FFB71B"/>
                </a:solidFill>
                <a:latin typeface="Arial"/>
              </a:rPr>
              <a:t>The one who tried, failed on financing.</a:t>
            </a:r>
          </a:p>
          <a:p>
            <a:pPr>
              <a:spcAft>
                <a:spcPts val="1000"/>
              </a:spcAft>
            </a:pPr>
            <a:r>
              <a:rPr sz="1200">
                <a:solidFill>
                  <a:srgbClr val="FFFFFF"/>
                </a:solidFill>
                <a:latin typeface="Arial"/>
              </a:rPr>
              <a:t>Swell Energy went insolvent in 2024 carrying hardware risk. APTIM's fee-for-service model carries none.</a:t>
            </a:r>
          </a:p>
          <a:p>
            <a:r>
              <a:rPr sz="1250" b="1">
                <a:solidFill>
                  <a:srgbClr val="FFB71B"/>
                </a:solidFill>
                <a:latin typeface="Arial"/>
              </a:rPr>
              <a:t>Incumbents stop at BYOD.</a:t>
            </a:r>
          </a:p>
          <a:p>
            <a:pPr>
              <a:spcAft>
                <a:spcPts val="1000"/>
              </a:spcAft>
            </a:pPr>
            <a:r>
              <a:rPr sz="1200">
                <a:solidFill>
                  <a:srgbClr val="FFFFFF"/>
                </a:solidFill>
                <a:latin typeface="Arial"/>
              </a:rPr>
              <a:t>CLEAResult, ICF, and Franklin administer customer-owned devices only -- never utility-owned assets.</a:t>
            </a:r>
          </a:p>
        </p:txBody>
      </p:sp>
      <p:sp>
        <p:nvSpPr>
          <p:cNvPr id="36" name="TextBox 35"/>
          <p:cNvSpPr txBox="1"/>
          <p:nvPr/>
        </p:nvSpPr>
        <p:spPr>
          <a:xfrm rot="16200000">
            <a:off x="-1074420" y="3314700"/>
            <a:ext cx="3108960" cy="320040"/>
          </a:xfrm>
          <a:prstGeom prst="rect">
            <a:avLst/>
          </a:prstGeom>
          <a:noFill/>
        </p:spPr>
        <p:txBody>
          <a:bodyPr wrap="none">
            <a:spAutoFit/>
          </a:bodyPr>
          <a:lstStyle/>
          <a:p>
            <a:pPr algn="ctr"/>
            <a:r>
              <a:rPr sz="1200" i="1">
                <a:solidFill>
                  <a:srgbClr val="595959"/>
                </a:solidFill>
                <a:latin typeface="Arial"/>
              </a:rPr>
              <a:t>Residential fleet operations  →</a:t>
            </a:r>
          </a:p>
        </p:txBody>
      </p:sp>
    </p:spTree>
    <p:extLst>
      <p:ext uri="{BB962C8B-B14F-4D97-AF65-F5344CB8AC3E}">
        <p14:creationId xmlns:p14="http://schemas.microsoft.com/office/powerpoint/2010/main" val="3574166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3D7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13</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A32036"/>
                </a:solidFill>
                <a:latin typeface="Arial"/>
              </a:rPr>
              <a:t>Known risk: </a:t>
            </a:r>
            <a:r>
              <a:rPr sz="1200">
                <a:solidFill>
                  <a:srgbClr val="002856"/>
                </a:solidFill>
                <a:latin typeface="Arial"/>
              </a:rPr>
              <a:t>DTE's prior residential battery pilot was rejected -- exact rationale unverified, case number needs docket confirmation.</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002856"/>
                </a:solidFill>
                <a:latin typeface="Arial"/>
              </a:rPr>
              <a:t>✓  File as a low-exposure capped pilot, not a rate case</a:t>
            </a:r>
          </a:p>
          <a:p>
            <a:pPr>
              <a:spcAft>
                <a:spcPts val="800"/>
              </a:spcAft>
            </a:pPr>
            <a:r>
              <a:rPr sz="1200">
                <a:solidFill>
                  <a:srgbClr val="002856"/>
                </a:solidFill>
                <a:latin typeface="Arial"/>
              </a:rPr>
              <a:t>✓  APTIM brings the track record DTE lacked in 2022</a:t>
            </a:r>
          </a:p>
          <a:p>
            <a:pPr>
              <a:spcAft>
                <a:spcPts val="800"/>
              </a:spcAft>
            </a:pPr>
            <a:r>
              <a:rPr sz="1200">
                <a:solidFill>
                  <a:srgbClr val="002856"/>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rPr/>
                        <a:t>Pros</a:t>
                      </a:r>
                    </a:p>
                  </a:txBody>
                  <a:tcPr>
                    <a:solidFill>
                      <a:srgbClr val="002856"/>
                    </a:solidFill>
                  </a:tcPr>
                </a:tc>
                <a:tc>
                  <a:txBody>
                    <a:bodyPr/>
                    <a:lstStyle/>
                    <a:p>
                      <a:pPr>
                        <a:defRPr sz="1100" b="1">
                          <a:solidFill>
                            <a:srgbClr val="FFFFFF"/>
                          </a:solidFill>
                          <a:latin typeface="Arial"/>
                        </a:defRPr>
                      </a:pPr>
                      <a:r>
                        <a:rPr/>
                        <a:t>Cons (Addressed Above)</a:t>
                      </a:r>
                    </a:p>
                  </a:txBody>
                  <a:tcPr>
                    <a:solidFill>
                      <a:srgbClr val="002856"/>
                    </a:solidFill>
                  </a:tcPr>
                </a:tc>
              </a:tr>
              <a:tr h="434340">
                <a:tc>
                  <a:txBody>
                    <a:bodyPr/>
                    <a:lstStyle/>
                    <a:p>
                      <a:pPr>
                        <a:defRPr sz="1100">
                          <a:solidFill>
                            <a:srgbClr val="002856"/>
                          </a:solidFill>
                          <a:latin typeface="Arial"/>
                        </a:defRPr>
                      </a:pPr>
                      <a:r>
                        <a:rPr/>
                        <a:t>No statutory ban on utility DER ownership</a:t>
                      </a:r>
                    </a:p>
                  </a:txBody>
                  <a:tcPr>
                    <a:solidFill>
                      <a:srgbClr val="E9EEF5"/>
                    </a:solidFill>
                  </a:tcPr>
                </a:tc>
                <a:tc>
                  <a:txBody>
                    <a:bodyPr/>
                    <a:lstStyle/>
                    <a:p>
                      <a:pPr>
                        <a:defRPr sz="1100">
                          <a:solidFill>
                            <a:srgbClr val="002856"/>
                          </a:solidFill>
                          <a:latin typeface="Arial"/>
                        </a:defRPr>
                      </a:pPr>
                      <a:r>
                        <a:rPr/>
                        <a:t>One prior attempt rejected</a:t>
                      </a:r>
                    </a:p>
                  </a:txBody>
                  <a:tcPr>
                    <a:solidFill>
                      <a:srgbClr val="E9EEF5"/>
                    </a:solidFill>
                  </a:tcPr>
                </a:tc>
              </a:tr>
              <a:tr h="434340">
                <a:tc>
                  <a:txBody>
                    <a:bodyPr/>
                    <a:lstStyle/>
                    <a:p>
                      <a:pPr>
                        <a:defRPr sz="1100">
                          <a:solidFill>
                            <a:srgbClr val="002856"/>
                          </a:solidFill>
                          <a:latin typeface="Arial"/>
                        </a:defRPr>
                      </a:pPr>
                      <a:r>
                        <a:rPr/>
                        <a:t>Real 2026 utility-owned storage precedent</a:t>
                      </a:r>
                    </a:p>
                  </a:txBody>
                  <a:tcPr>
                    <a:solidFill>
                      <a:srgbClr val="FFFFFF"/>
                    </a:solidFill>
                  </a:tcPr>
                </a:tc>
                <a:tc>
                  <a:txBody>
                    <a:bodyPr/>
                    <a:lstStyle/>
                    <a:p>
                      <a:pPr>
                        <a:defRPr sz="1100">
                          <a:solidFill>
                            <a:srgbClr val="002856"/>
                          </a:solidFill>
                          <a:latin typeface="Arial"/>
                        </a:defRPr>
                      </a:pPr>
                      <a:r>
                        <a:rPr/>
                        <a:t>Active rate-case political climate</a:t>
                      </a:r>
                    </a:p>
                  </a:txBody>
                  <a:tcPr>
                    <a:solidFill>
                      <a:srgbClr val="FFFFFF"/>
                    </a:solidFill>
                  </a:tcPr>
                </a:tc>
              </a:tr>
              <a:tr h="434340">
                <a:tc>
                  <a:txBody>
                    <a:bodyPr/>
                    <a:lstStyle/>
                    <a:p>
                      <a:pPr>
                        <a:defRPr sz="1100">
                          <a:solidFill>
                            <a:srgbClr val="002856"/>
                          </a:solidFill>
                          <a:latin typeface="Arial"/>
                        </a:defRPr>
                      </a:pPr>
                      <a:r>
                        <a:rPr/>
                        <a:t>Purpose-built expedited pilot pathway exists</a:t>
                      </a:r>
                    </a:p>
                  </a:txBody>
                  <a:tcPr>
                    <a:solidFill>
                      <a:srgbClr val="E9EEF5"/>
                    </a:solidFill>
                  </a:tcPr>
                </a:tc>
                <a:tc>
                  <a:txBody>
                    <a:bodyPr/>
                    <a:lstStyle/>
                    <a:p>
                      <a:pPr>
                        <a:defRPr sz="1100">
                          <a:solidFill>
                            <a:srgbClr val="002856"/>
                          </a:solidFill>
                          <a:latin typeface="Arial"/>
                        </a:defRPr>
                      </a:pPr>
                      <a:r>
                        <a:rPr/>
                        <a:t>No settled template for in-home equipment</a:t>
                      </a:r>
                    </a:p>
                  </a:txBody>
                  <a:tcPr>
                    <a:solidFill>
                      <a:srgbClr val="E9EEF5"/>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002856"/>
                </a:solidFill>
                <a:latin typeface="Arial"/>
              </a:rPr>
              <a:t>Year 1-2:</a:t>
            </a:r>
            <a:r>
              <a:rPr sz="1200">
                <a:solidFill>
                  <a:srgbClr val="002856"/>
                </a:solidFill>
                <a:latin typeface="Arial"/>
              </a:rPr>
              <a:t> Pilot filing, MPSC review, Phase 1 enrollment of qualifying homeowners</a:t>
            </a:r>
          </a:p>
          <a:p>
            <a:pPr>
              <a:spcAft>
                <a:spcPts val="1000"/>
              </a:spcAft>
            </a:pPr>
            <a:r>
              <a:rPr b="1" sz="1200">
                <a:solidFill>
                  <a:srgbClr val="002856"/>
                </a:solidFill>
                <a:latin typeface="Arial"/>
              </a:rPr>
              <a:t>Year 2-3:</a:t>
            </a:r>
            <a:r>
              <a:rPr sz="1200">
                <a:solidFill>
                  <a:srgbClr val="002856"/>
                </a:solidFill>
                <a:latin typeface="Arial"/>
              </a:rPr>
              <a:t> Fleet operational; results support a follow-on rate case</a:t>
            </a:r>
          </a:p>
          <a:p>
            <a:pPr>
              <a:spcAft>
                <a:spcPts val="1000"/>
              </a:spcAft>
            </a:pPr>
            <a:r>
              <a:rPr b="1" sz="1200">
                <a:solidFill>
                  <a:srgbClr val="002856"/>
                </a:solidFill>
                <a:latin typeface="Arial"/>
              </a:rPr>
              <a:t>Honest note:</a:t>
            </a:r>
            <a:r>
              <a:rPr sz="1200">
                <a:solidFill>
                  <a:srgbClr val="002856"/>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200">
                <a:solidFill>
                  <a:srgbClr val="002856"/>
                </a:solidFill>
                <a:latin typeface="Arial"/>
              </a:rPr>
              <a:t>Answers the prompt: </a:t>
            </a:r>
            <a:r>
              <a:rPr sz="12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Tree>
    <p:extLst>
      <p:ext uri="{BB962C8B-B14F-4D97-AF65-F5344CB8AC3E}">
        <p14:creationId xmlns:p14="http://schemas.microsoft.com/office/powerpoint/2010/main" val="1262814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One pilot, then a repeatable path to every state where APTIM already operates</a:t>
            </a:r>
          </a:p>
        </p:txBody>
      </p:sp>
      <p:sp>
        <p:nvSpPr>
          <p:cNvPr id="4" name="Rounded Rectangle 3"/>
          <p:cNvSpPr/>
          <p:nvPr/>
        </p:nvSpPr>
        <p:spPr>
          <a:xfrm>
            <a:off x="457200" y="1463040"/>
            <a:ext cx="3483864"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352544" y="1463040"/>
            <a:ext cx="3483864"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FFFF"/>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8247888" y="1463040"/>
            <a:ext cx="3483864" cy="283464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986784"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882128"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002856"/>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15</a:t>
            </a:r>
          </a:p>
        </p:txBody>
      </p:sp>
    </p:spTree>
    <p:extLst>
      <p:ext uri="{BB962C8B-B14F-4D97-AF65-F5344CB8AC3E}">
        <p14:creationId xmlns:p14="http://schemas.microsoft.com/office/powerpoint/2010/main" val="1647400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387993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spTree>
    <p:extLst>
      <p:ext uri="{BB962C8B-B14F-4D97-AF65-F5344CB8AC3E}">
        <p14:creationId xmlns:p14="http://schemas.microsoft.com/office/powerpoint/2010/main" val="241538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B71B"/>
                </a:highlight>
                <a:latin typeface="Arial"/>
                <a:cs typeface="Arial"/>
              </a:rPr>
              <a:t>– Problem Definition (Pain point)</a:t>
            </a:r>
          </a:p>
          <a:p>
            <a:pPr marL="233045" indent="-233045">
              <a:buNone/>
            </a:pPr>
            <a:r>
              <a:rPr lang="en-US">
                <a:highlight>
                  <a:srgbClr val="FFB71B"/>
                </a:highlight>
                <a:latin typeface="Arial"/>
                <a:cs typeface="Arial"/>
              </a:rPr>
              <a:t>– Market/Policy Analysis: (current state, changes impacting space)</a:t>
            </a:r>
          </a:p>
          <a:p>
            <a:pPr marL="233045" indent="-233045">
              <a:buNone/>
            </a:pPr>
            <a:r>
              <a:rPr lang="en-US">
                <a:highlight>
                  <a:srgbClr val="FFB71B"/>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002856"/>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002856"/>
              </a:solidFill>
            </a:endParaRPr>
          </a:p>
          <a:p>
            <a:pPr marL="233045" indent="-233045"/>
            <a:r>
              <a:rPr lang="en-US" sz="1600">
                <a:solidFill>
                  <a:srgbClr val="002856"/>
                </a:solidFill>
              </a:rPr>
              <a:t>Scales Through Existing Relationships </a:t>
            </a:r>
          </a:p>
          <a:p>
            <a:pPr marL="574357" lvl="1" indent="-233045"/>
            <a:r>
              <a:rPr lang="en-US" sz="1400">
                <a:solidFill>
                  <a:srgbClr val="002856"/>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002856"/>
              </a:solidFill>
            </a:endParaRPr>
          </a:p>
          <a:p>
            <a:pPr marL="233045" indent="-233045"/>
            <a:r>
              <a:rPr lang="en-US" sz="1600">
                <a:solidFill>
                  <a:srgbClr val="002856"/>
                </a:solidFill>
              </a:rPr>
              <a:t>Creates More Resilient Revenue Streams</a:t>
            </a:r>
          </a:p>
          <a:p>
            <a:pPr marL="574357" lvl="1" indent="-233045"/>
            <a:r>
              <a:rPr lang="en-US" sz="1400">
                <a:solidFill>
                  <a:srgbClr val="002856"/>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002856"/>
                </a:solidFill>
              </a:rPr>
              <a:t>Bottom Text to highlight point</a:t>
            </a:r>
          </a:p>
          <a:p>
            <a:pPr marL="574357" lvl="1" indent="-233045"/>
            <a:r>
              <a:rPr lang="en-US" b="1">
                <a:solidFill>
                  <a:srgbClr val="002856"/>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002856"/>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002856"/>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